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2.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3.xml" ContentType="application/vnd.openxmlformats-officedocument.presentationml.comments+xml"/>
  <Override PartName="/ppt/notesSlides/notesSlide10.xml" ContentType="application/vnd.openxmlformats-officedocument.presentationml.notesSlide+xml"/>
  <Override PartName="/ppt/comments/comment4.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6.xml" ContentType="application/vnd.openxmlformats-officedocument.presentationml.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Lst>
  <p:notesMasterIdLst>
    <p:notesMasterId r:id="rId2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9" r:id="rId22"/>
    <p:sldId id="278" r:id="rId23"/>
  </p:sldIdLst>
  <p:sldSz cx="12192000" cy="6858000"/>
  <p:notesSz cx="6858000" cy="12192000"/>
  <p:embeddedFontLst>
    <p:embeddedFont>
      <p:font typeface="Consolas" panose="020B0609020204030204" pitchFamily="49" charset="0"/>
      <p:regular r:id="rId25"/>
      <p:bold r:id="rId26"/>
      <p:italic r:id="rId27"/>
      <p:boldItalic r:id="rId28"/>
    </p:embeddedFont>
    <p:embeddedFont>
      <p:font typeface="DM Sans" pitchFamily="2" charset="77"/>
      <p:regular r:id="rId29"/>
      <p:bold r:id="rId30"/>
      <p:italic r:id="rId31"/>
      <p:boldItalic r:id="rId32"/>
    </p:embeddedFont>
    <p:embeddedFont>
      <p:font typeface="DM Sans Light" pitchFamily="2" charset="77"/>
      <p:regular r:id="rId33"/>
      <p:bold r:id="rId34"/>
      <p:italic r:id="rId35"/>
      <p:boldItalic r:id="rId36"/>
    </p:embeddedFont>
    <p:embeddedFont>
      <p:font typeface="Fraunces" pitchFamily="2" charset="77"/>
      <p:regular r:id="rId37"/>
      <p:bold r:id="rId38"/>
      <p:italic r:id="rId39"/>
      <p:boldItalic r:id="rId40"/>
    </p:embeddedFont>
    <p:embeddedFont>
      <p:font typeface="Montserrat" pitchFamily="2" charset="77"/>
      <p:regular r:id="rId41"/>
      <p:bold r:id="rId42"/>
      <p:italic r:id="rId43"/>
      <p:boldItalic r:id="rId44"/>
    </p:embeddedFont>
    <p:embeddedFont>
      <p:font typeface="Montserrat Black" panose="00000A00000000000000" pitchFamily="2" charset="77"/>
      <p:bold r:id="rId45"/>
      <p:italic r:id="rId46"/>
      <p:boldItalic r:id="rId47"/>
    </p:embeddedFont>
    <p:embeddedFont>
      <p:font typeface="Montserrat Medium" panose="00000600000000000000"/>
      <p:regular r:id="rId48"/>
      <p:bold r:id="rId49"/>
      <p:italic r:id="rId50"/>
      <p:boldItalic r:id="rId51"/>
    </p:embeddedFont>
    <p:embeddedFont>
      <p:font typeface="Roboto" panose="02000000000000000000" pitchFamily="2" charset="0"/>
      <p:regular r:id="rId52"/>
      <p:bold r:id="rId53"/>
      <p:italic r:id="rId54"/>
      <p:boldItalic r:id="rId55"/>
    </p:embeddedFont>
    <p:embeddedFont>
      <p:font typeface="Roboto SemiBold" panose="02000000000000000000"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m Busuttil" initials="" lastIdx="6" clrIdx="0"/>
  <p:cmAuthor id="1" name="Denise Gosnell" initials="" lastIdx="6"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5342"/>
  </p:normalViewPr>
  <p:slideViewPr>
    <p:cSldViewPr snapToGrid="0">
      <p:cViewPr varScale="1">
        <p:scale>
          <a:sx n="107" d="100"/>
          <a:sy n="107" d="100"/>
        </p:scale>
        <p:origin x="76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55" Type="http://schemas.openxmlformats.org/officeDocument/2006/relationships/font" Target="fonts/font31.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font" Target="fonts/font29.fntdata"/><Relationship Id="rId58" Type="http://schemas.openxmlformats.org/officeDocument/2006/relationships/font" Target="fonts/font34.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56" Type="http://schemas.openxmlformats.org/officeDocument/2006/relationships/font" Target="fonts/font32.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59" Type="http://schemas.openxmlformats.org/officeDocument/2006/relationships/font" Target="fonts/font35.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font" Target="fonts/font30.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 Id="rId57" Type="http://schemas.openxmlformats.org/officeDocument/2006/relationships/font" Target="fonts/font33.fntdata"/><Relationship Id="rId10" Type="http://schemas.openxmlformats.org/officeDocument/2006/relationships/slide" Target="slides/slide9.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font" Target="fonts/font28.fntdata"/><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4-24T14:03:17.552" idx="1">
    <p:pos x="389" y="2050"/>
    <p:text>i see where the list answers Who I am.  but it is harder to connect where it speaks to "Why this idea exists.  ".  is this something you will address when talking on this slide?</p:text>
  </p:cm>
  <p:cm authorId="1" dt="2026-04-24T14:03:17.552" idx="1">
    <p:pos x="389" y="2050"/>
    <p:text>Great question. I will update the slide to include "I love in the space where data meets real business decisions"</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6-04-24T14:08:09.034" idx="2">
    <p:pos x="6000" y="0"/>
    <p:text>I think you might want to consider one more slide or update this one slightly so that on the slide the audience can visually see this idea of latency that you mention in the slide notes.  while you will tell them when you speak on this slide i think it would help for the visual people to also see words about the delay / latency issue.</p:text>
  </p:cm>
  <p:cm authorId="1" dt="2026-04-24T14:08:09.034" idx="2">
    <p:pos x="6000" y="0"/>
    <p:text>good call! added text for now. Future versions of this will be less texty.</p:text>
  </p:cm>
</p:cmLst>
</file>

<file path=ppt/comments/comment3.xml><?xml version="1.0" encoding="utf-8"?>
<p:cmLst xmlns:a="http://schemas.openxmlformats.org/drawingml/2006/main" xmlns:r="http://schemas.openxmlformats.org/officeDocument/2006/relationships" xmlns:p="http://schemas.openxmlformats.org/presentationml/2006/main">
  <p:cm authorId="0" dt="2026-04-24T14:10:18.464" idx="3">
    <p:pos x="6000" y="0"/>
    <p:text>if i only look at the slide and not connect to the words you'll say (pretending i am in the audience) my mind is confused by the header that says scale means 2 things and then below there are 1, 2 and 3.  does that make sense?  
you might need again an additional slide - one that displays the 2 things about scale: throughput and working with human minds across complex siloed architectures and then another slide that shows how to address it: 1. connect across silos, 2. meet engineers where they are and 3 figure out if AI fits</p:text>
  </p:cm>
  <p:cm authorId="1" dt="2026-04-24T14:10:18.464" idx="3">
    <p:pos x="6000" y="0"/>
    <p:text>I changed to "different" and will adjust here as I harden the talk track in practice sessions. Thank you!</p:text>
  </p:cm>
</p:cmLst>
</file>

<file path=ppt/comments/comment4.xml><?xml version="1.0" encoding="utf-8"?>
<p:cmLst xmlns:a="http://schemas.openxmlformats.org/drawingml/2006/main" xmlns:r="http://schemas.openxmlformats.org/officeDocument/2006/relationships" xmlns:p="http://schemas.openxmlformats.org/presentationml/2006/main">
  <p:cm authorId="0" dt="2026-04-24T14:11:32.994" idx="4">
    <p:pos x="6000" y="0"/>
    <p:text>on this slide i would add at the top something to represent the "where do you want humans in the loop and where does AI take over" from your commentary below of "After you've done that collaborative work of defining the domain model and the user experience, the question becomes: where do you want to put a human in the loop, and where do you let AI take over?"
because something whose mind gets distracted during the talk or who is more visual would really benefit from seeing the question you answer with SQL is the line, above the line ...below the line.</p:text>
  </p:cm>
  <p:cm authorId="1" dt="2026-04-24T14:11:32.994" idx="4">
    <p:pos x="6000" y="0"/>
    <p:text>Perfect - thank you! New header</p:text>
  </p:cm>
</p:cmLst>
</file>

<file path=ppt/comments/comment5.xml><?xml version="1.0" encoding="utf-8"?>
<p:cmLst xmlns:a="http://schemas.openxmlformats.org/drawingml/2006/main" xmlns:r="http://schemas.openxmlformats.org/officeDocument/2006/relationships" xmlns:p="http://schemas.openxmlformats.org/presentationml/2006/main">
  <p:cm authorId="0" dt="2026-04-24T14:11:56.074" idx="5">
    <p:pos x="6000" y="0"/>
    <p:text>all the pieces are meaningful but thinking it is too much for 1 slide here.  break it up?</p:text>
  </p:cm>
  <p:cm authorId="1" dt="2026-04-24T14:11:56.074" idx="5">
    <p:pos x="6000" y="0"/>
    <p:text>good call. I will break this into two slides.</p:text>
  </p:cm>
</p:cmLst>
</file>

<file path=ppt/comments/comment6.xml><?xml version="1.0" encoding="utf-8"?>
<p:cmLst xmlns:a="http://schemas.openxmlformats.org/drawingml/2006/main" xmlns:r="http://schemas.openxmlformats.org/officeDocument/2006/relationships" xmlns:p="http://schemas.openxmlformats.org/presentationml/2006/main">
  <p:cm authorId="0" dt="2026-04-24T14:23:45.337" idx="6">
    <p:pos x="6000" y="0"/>
    <p:text>i wonder if it would be possible to bring back the problem that the coalesce of humans and ai thanks to SQL solves - the latency mentioned at the very beginning?</p:text>
  </p:cm>
  <p:cm authorId="1" dt="2026-04-24T14:23:45.337" idx="6">
    <p:pos x="6000" y="0"/>
    <p:text>I will make that a part of the verbal talk track. Good call!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g3d9b5c7f57f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g3d9b5c7f57f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Walk-on title card</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Wait for the intro, walk on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No script on this slide</a:t>
            </a:r>
          </a:p>
          <a:p>
            <a:pPr marL="0" lvl="0" indent="0" algn="l" rtl="0">
              <a:spcBef>
                <a:spcPts val="0"/>
              </a:spcBef>
              <a:spcAft>
                <a:spcPts val="0"/>
              </a:spcAft>
              <a:buNone/>
            </a:pPr>
            <a:endParaRPr/>
          </a:p>
        </p:txBody>
      </p:sp>
      <p:sp>
        <p:nvSpPr>
          <p:cNvPr id="22" name="Google Shape;22;g3d9b5c7f57f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 name="Google Shape;3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Title: Rethinking the Operational Flow of Data Engineering</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promise: simplifying the longest feedback loop in enterprise data</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No script on this slide. Move to SELECT.</a:t>
            </a:r>
          </a:p>
          <a:p>
            <a:pPr marL="0" lvl="0" indent="0" algn="l" rtl="0">
              <a:spcBef>
                <a:spcPts val="0"/>
              </a:spcBef>
              <a:spcAft>
                <a:spcPts val="0"/>
              </a:spcAft>
              <a:buNone/>
            </a:pPr>
            <a:endParaRPr/>
          </a:p>
        </p:txBody>
      </p:sp>
      <p:sp>
        <p:nvSpPr>
          <p:cNvPr id="36" name="Google Shape;3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SELECT: who I am, and why this idea exists (keep it brief)</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PhD: 350M-person graph identity system • 8-figure graph practice at DataStax • graph engine at AWS re:Invent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2x patents • 2x bestselling author</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Land the line: "I live in the space where data meets real business decisions."</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0"/>
              </a:spcBef>
              <a:spcAft>
                <a:spcPts val="0"/>
              </a:spcAft>
              <a:buNone/>
            </a:pPr>
            <a:r>
              <a:rPr lang="en-US">
                <a:latin typeface="DM Sans"/>
                <a:ea typeface="DM Sans"/>
                <a:cs typeface="DM Sans"/>
                <a:sym typeface="DM Sans"/>
              </a:rPr>
              <a:t>Brief intro then.</a:t>
            </a:r>
            <a:endParaRPr>
              <a:latin typeface="DM Sans"/>
              <a:ea typeface="DM Sans"/>
              <a:cs typeface="DM Sans"/>
              <a:sym typeface="DM Sans"/>
            </a:endParaRPr>
          </a:p>
          <a:p>
            <a:pPr marL="0" lvl="0" indent="0" algn="l" rtl="0">
              <a:lnSpc>
                <a:spcPct val="115000"/>
              </a:lnSpc>
              <a:spcBef>
                <a:spcPts val="1000"/>
              </a:spcBef>
              <a:spcAft>
                <a:spcPts val="0"/>
              </a:spcAft>
              <a:buNone/>
            </a:pPr>
            <a:r>
              <a:rPr lang="en-US">
                <a:latin typeface="DM Sans"/>
                <a:ea typeface="DM Sans"/>
                <a:cs typeface="DM Sans"/>
                <a:sym typeface="DM Sans"/>
              </a:rPr>
              <a:t>I live in the space where data meets real business decisions.</a:t>
            </a:r>
            <a:endParaRPr>
              <a:latin typeface="DM Sans"/>
              <a:ea typeface="DM Sans"/>
              <a:cs typeface="DM Sans"/>
              <a:sym typeface="DM Sans"/>
            </a:endParaRPr>
          </a:p>
          <a:p>
            <a:pPr marL="0" lvl="0" indent="0" algn="l" rtl="0">
              <a:lnSpc>
                <a:spcPct val="115000"/>
              </a:lnSpc>
              <a:spcBef>
                <a:spcPts val="1000"/>
              </a:spcBef>
              <a:spcAft>
                <a:spcPts val="0"/>
              </a:spcAft>
              <a:buNone/>
            </a:pPr>
            <a:endParaRPr>
              <a:latin typeface="DM Sans"/>
              <a:ea typeface="DM Sans"/>
              <a:cs typeface="DM Sans"/>
              <a:sym typeface="DM Sans"/>
            </a:endParaRPr>
          </a:p>
          <a:p>
            <a:pPr marL="0" lvl="0" indent="0" algn="l" rtl="0">
              <a:lnSpc>
                <a:spcPct val="115000"/>
              </a:lnSpc>
              <a:spcBef>
                <a:spcPts val="1000"/>
              </a:spcBef>
              <a:spcAft>
                <a:spcPts val="0"/>
              </a:spcAft>
              <a:buNone/>
            </a:pPr>
            <a:endParaRPr sz="1400">
              <a:latin typeface="DM Sans"/>
              <a:ea typeface="DM Sans"/>
              <a:cs typeface="DM Sans"/>
              <a:sym typeface="DM Sans"/>
            </a:endParaRPr>
          </a:p>
          <a:p>
            <a:pPr marL="0" lvl="0" indent="0" algn="l" rtl="0">
              <a:lnSpc>
                <a:spcPct val="115000"/>
              </a:lnSpc>
              <a:spcBef>
                <a:spcPts val="1000"/>
              </a:spcBef>
              <a:spcAft>
                <a:spcPts val="1000"/>
              </a:spcAft>
              <a:buNone/>
            </a:pPr>
            <a:endParaRPr sz="1800">
              <a:latin typeface="DM Sans"/>
              <a:ea typeface="DM Sans"/>
              <a:cs typeface="DM Sans"/>
              <a:sym typeface="DM Sans"/>
            </a:endParaRPr>
          </a:p>
        </p:txBody>
      </p:sp>
      <p:sp>
        <p:nvSpPr>
          <p:cNvPr id="49" name="Google Shape;49;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WITH: the origin story of this idea</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Mount Washington, Seattle, with Matthias: why is it so hard for cross-functional teams to share an understanding of their data?</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Conversation → outline → a year of writing → our O'Reilly book, The Practitioner's Guide to Graph Data</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book's argument: connect data across silos into a shared domain model and you see what was invisible (healthcare fraud, retail behavior chains, financial risk)</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book did well; people resonated. But the catch: it took 400 pages just to describe the collaboration, and teams found graph hard to adopt because everything converged on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Two truths: connected data is where the value is • tooling has to meet engineers where they are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AI wave forces the question of this talk: why does it still take weeks or months for that logic to reach production?</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Here's how we got to the idea behind this talk.</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 few years ago, we were standing on top of Mount Washington in Seattle.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We were deep in conversation about a problem that had been nagging both of us for a long time: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why is it so hard for cross-functional teams to collaborate on a shared understanding of their data?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That conversation turned into an outline. That outline turned into a year of writing. And that year turned into our O'Reilly book, The Practitioner's Guide to Graph Data.</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The book argued something that sounds simple on paper. </a:t>
            </a:r>
            <a:r>
              <a:rPr lang="en-US" sz="1000" b="1">
                <a:latin typeface="Montserrat"/>
                <a:ea typeface="Montserrat"/>
                <a:cs typeface="Montserrat"/>
                <a:sym typeface="Montserrat"/>
              </a:rPr>
              <a:t>When you connect data across organizational silos, when you build a shared domain model that everybody can see and contribute to, you get insights that were previously invisible. </a:t>
            </a:r>
            <a:r>
              <a:rPr lang="en-US" sz="1000">
                <a:latin typeface="Montserrat"/>
                <a:ea typeface="Montserrat"/>
                <a:cs typeface="Montserrat"/>
                <a:sym typeface="Montserrat"/>
              </a:rPr>
              <a:t>Fraud patterns in healthcare networks. Customer behavior chains in retail. Risk correlations in financial services. The connected view of data is where the real value lives.</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the book did well. People resonated with the idea. </a:t>
            </a:r>
            <a:r>
              <a:rPr lang="en-US" sz="1000" b="1">
                <a:latin typeface="Montserrat"/>
                <a:ea typeface="Montserrat"/>
                <a:cs typeface="Montserrat"/>
                <a:sym typeface="Montserrat"/>
              </a:rPr>
              <a:t>But there was a problem we kept running into</a:t>
            </a:r>
            <a:r>
              <a:rPr lang="en-US" sz="1000">
                <a:latin typeface="Montserrat"/>
                <a:ea typeface="Montserrat"/>
                <a:cs typeface="Montserrat"/>
                <a:sym typeface="Montserrat"/>
              </a:rPr>
              <a:t>, over and over again, across every enterprise we worked with. </a:t>
            </a:r>
            <a:r>
              <a:rPr lang="en-US" sz="1000" b="1">
                <a:latin typeface="Montserrat"/>
                <a:ea typeface="Montserrat"/>
                <a:cs typeface="Montserrat"/>
                <a:sym typeface="Montserrat"/>
              </a:rPr>
              <a:t>It took 400 pages just to describe how to collaborate on a cross-functional domain model and then use connected data technology to build insights from it. Four hundred pages.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AND YET - </a:t>
            </a:r>
            <a:r>
              <a:rPr lang="en-US" sz="1000">
                <a:latin typeface="Montserrat"/>
                <a:ea typeface="Montserrat"/>
                <a:cs typeface="Montserrat"/>
                <a:sym typeface="Montserrat"/>
              </a:rPr>
              <a:t>most data engineering teams found graph technology hard to adopt, because the rest of the data engineering world had converged on SQL. The tooling, the training, the hiring pipelines, the compliance frameworks. Everything points to SQL.</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So Matthias and I have been sitting with that tension for a long time. </a:t>
            </a:r>
            <a:r>
              <a:rPr lang="en-US" sz="1000">
                <a:latin typeface="Montserrat"/>
                <a:ea typeface="Montserrat"/>
                <a:cs typeface="Montserrat"/>
                <a:sym typeface="Montserrat"/>
              </a:rPr>
              <a:t>We know:</a:t>
            </a:r>
            <a:endParaRPr sz="1000">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Char char="●"/>
            </a:pPr>
            <a:r>
              <a:rPr lang="en-US" sz="1000">
                <a:latin typeface="Montserrat"/>
                <a:ea typeface="Montserrat"/>
                <a:cs typeface="Montserrat"/>
                <a:sym typeface="Montserrat"/>
              </a:rPr>
              <a:t>that connecting data across silos is where the value is. We also know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that the tooling has to meet engineers where they are.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And now We're in the middle of the AI wave.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And it's forcing every enterprise to ask a question that nobody has a clean answer to yet.</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That question is what this talk is about: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why does it still take weeks or months for that logic to reach production?</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1000"/>
              </a:spcAft>
              <a:buClr>
                <a:schemeClr val="dk1"/>
              </a:buClr>
              <a:buSzPts val="1100"/>
              <a:buFont typeface="Arial"/>
              <a:buNone/>
            </a:pPr>
            <a:endParaRPr sz="1000" b="1">
              <a:latin typeface="Montserrat"/>
              <a:ea typeface="Montserrat"/>
              <a:cs typeface="Montserrat"/>
              <a:sym typeface="Montserrat"/>
            </a:endParaRPr>
          </a:p>
        </p:txBody>
      </p:sp>
      <p:sp>
        <p:nvSpPr>
          <p:cNvPr id="63" name="Google Shape;6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d8e3027e51_0_12:notes"/>
          <p:cNvSpPr txBox="1">
            <a:spLocks noGrp="1"/>
          </p:cNvSpPr>
          <p:nvPr>
            <p:ph type="hdr" idx="2"/>
          </p:nvPr>
        </p:nvSpPr>
        <p:spPr>
          <a:xfrm>
            <a:off x="0" y="0"/>
            <a:ext cx="39624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74" name="Google Shape;74;g3d8e3027e51_0_12:notes"/>
          <p:cNvSpPr txBox="1">
            <a:spLocks noGrp="1"/>
          </p:cNvSpPr>
          <p:nvPr>
            <p:ph type="dt" idx="10"/>
          </p:nvPr>
        </p:nvSpPr>
        <p:spPr>
          <a:xfrm>
            <a:off x="5180013" y="0"/>
            <a:ext cx="39624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75" name="Google Shape;75;g3d8e3027e51_0_12:notes"/>
          <p:cNvSpPr>
            <a:spLocks noGrp="1" noRot="1" noChangeAspect="1"/>
          </p:cNvSpPr>
          <p:nvPr>
            <p:ph type="sldImg" idx="3"/>
          </p:nvPr>
        </p:nvSpPr>
        <p:spPr>
          <a:xfrm>
            <a:off x="1530350" y="684213"/>
            <a:ext cx="6083300" cy="34226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g3d8e3027e51_0_12:notes"/>
          <p:cNvSpPr txBox="1">
            <a:spLocks noGrp="1"/>
          </p:cNvSpPr>
          <p:nvPr>
            <p:ph type="body" idx="1"/>
          </p:nvPr>
        </p:nvSpPr>
        <p:spPr>
          <a:xfrm>
            <a:off x="914400" y="4334933"/>
            <a:ext cx="7315200" cy="4108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DESCRIBE: name the tension and the real problem [ANIMATION]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workflow hasn't changed: agree on logic by screen-sharing SQL → buried in thousands of files → wait days, weeks, months for the dashboard</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WHAT WORKS: the agreement. SQL is the shared language of trust between business and engineering.</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WHAT DOESN'T: weeks to get a metric into operations • native graph tooling (400 pages; the world converged on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NEW PRESSURE: if SQL is the ubiquitous language of data, why weeks or months to production?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From the business' perspective, the problem isn't the query language…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[click] …the problem is the infrastructure and latency that come after it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Preview the answer: align at SQL that defines pipelines, database views, and production-ready endpoints automatically</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AI automates the most mechanical parts of the analytics lifecycle, not to replace engineers or generate insights → a much shorter path from business logic to usable analytics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Tee up the open questions: where humans stay, where automation helps, why the most impactful AI may be the least flashy</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00000"/>
              </a:lnSpc>
              <a:spcBef>
                <a:spcPts val="0"/>
              </a:spcBef>
              <a:spcAft>
                <a:spcPts val="0"/>
              </a:spcAft>
              <a:buSzPts val="1100"/>
              <a:buNone/>
            </a:pPr>
            <a:r>
              <a:rPr lang="en-US" sz="1400" b="1">
                <a:latin typeface="DM Sans"/>
                <a:ea typeface="DM Sans"/>
                <a:cs typeface="DM Sans"/>
                <a:sym typeface="DM Sans"/>
              </a:rPr>
              <a:t>[SLIDE ANIMATION]</a:t>
            </a:r>
            <a:endParaRPr sz="1400" b="1">
              <a:latin typeface="DM Sans"/>
              <a:ea typeface="DM Sans"/>
              <a:cs typeface="DM Sans"/>
              <a:sym typeface="DM Sans"/>
            </a:endParaRPr>
          </a:p>
          <a:p>
            <a:pPr marL="0" lvl="0" indent="0" algn="l" rtl="0">
              <a:lnSpc>
                <a:spcPct val="100000"/>
              </a:lnSpc>
              <a:spcBef>
                <a:spcPts val="1000"/>
              </a:spcBef>
              <a:spcAft>
                <a:spcPts val="0"/>
              </a:spcAft>
              <a:buSzPts val="1100"/>
              <a:buNone/>
            </a:pPr>
            <a:r>
              <a:rPr lang="en-US" sz="1400" b="1">
                <a:latin typeface="DM Sans"/>
                <a:ea typeface="DM Sans"/>
                <a:cs typeface="DM Sans"/>
                <a:sym typeface="DM Sans"/>
              </a:rPr>
              <a:t>The problem: </a:t>
            </a:r>
            <a:endParaRPr sz="1400" b="1">
              <a:latin typeface="DM Sans"/>
              <a:ea typeface="DM Sans"/>
              <a:cs typeface="DM Sans"/>
              <a:sym typeface="DM Sans"/>
            </a:endParaRPr>
          </a:p>
          <a:p>
            <a:pPr marL="0" lvl="0" indent="0" algn="l" rtl="0">
              <a:lnSpc>
                <a:spcPct val="100000"/>
              </a:lnSpc>
              <a:spcBef>
                <a:spcPts val="1000"/>
              </a:spcBef>
              <a:spcAft>
                <a:spcPts val="0"/>
              </a:spcAft>
              <a:buSzPts val="1100"/>
              <a:buNone/>
            </a:pPr>
            <a:r>
              <a:rPr lang="en-US" sz="1400">
                <a:latin typeface="DM Sans Light"/>
                <a:ea typeface="DM Sans Light"/>
                <a:cs typeface="DM Sans Light"/>
                <a:sym typeface="DM Sans Light"/>
              </a:rPr>
              <a:t>For all the progress in modern data platforms, </a:t>
            </a:r>
            <a:r>
              <a:rPr lang="en-US" sz="1400" b="1">
                <a:latin typeface="DM Sans"/>
                <a:ea typeface="DM Sans"/>
                <a:cs typeface="DM Sans"/>
                <a:sym typeface="DM Sans"/>
              </a:rPr>
              <a:t>the core workflow of data engineering hasn't changed much. </a:t>
            </a:r>
            <a:r>
              <a:rPr lang="en-US" sz="1400">
                <a:latin typeface="DM Sans Light"/>
                <a:ea typeface="DM Sans Light"/>
                <a:cs typeface="DM Sans Light"/>
                <a:sym typeface="DM Sans Light"/>
              </a:rPr>
              <a:t>Business owners and data engineers agree on logic by screen-sharing SQL. That logic gets buried in thousands of files. And everyone waits days, weeks, or months for the result to show up in a dashboard, report, or email. </a:t>
            </a:r>
            <a:endParaRPr sz="1400">
              <a:latin typeface="DM Sans Light"/>
              <a:ea typeface="DM Sans Light"/>
              <a:cs typeface="DM Sans Light"/>
              <a:sym typeface="DM Sans Light"/>
            </a:endParaRPr>
          </a:p>
          <a:p>
            <a:pPr marL="0" lvl="0" indent="0" algn="l" rtl="0">
              <a:lnSpc>
                <a:spcPct val="100000"/>
              </a:lnSpc>
              <a:spcBef>
                <a:spcPts val="1000"/>
              </a:spcBef>
              <a:spcAft>
                <a:spcPts val="0"/>
              </a:spcAft>
              <a:buSzPts val="1100"/>
              <a:buNone/>
            </a:pPr>
            <a:endParaRPr sz="1400">
              <a:latin typeface="DM Sans Light"/>
              <a:ea typeface="DM Sans Light"/>
              <a:cs typeface="DM Sans Light"/>
              <a:sym typeface="DM Sans Light"/>
            </a:endParaRPr>
          </a:p>
          <a:p>
            <a:pPr marL="0" lvl="0" indent="0" algn="l" rtl="0">
              <a:lnSpc>
                <a:spcPct val="100000"/>
              </a:lnSpc>
              <a:spcBef>
                <a:spcPts val="1000"/>
              </a:spcBef>
              <a:spcAft>
                <a:spcPts val="0"/>
              </a:spcAft>
              <a:buSzPts val="1100"/>
              <a:buNone/>
            </a:pPr>
            <a:r>
              <a:rPr lang="en-US" sz="1400" b="1">
                <a:latin typeface="DM Sans"/>
                <a:ea typeface="DM Sans"/>
                <a:cs typeface="DM Sans"/>
                <a:sym typeface="DM Sans"/>
              </a:rPr>
              <a:t>WHAT WORKS: </a:t>
            </a:r>
            <a:endParaRPr sz="1400" b="1">
              <a:latin typeface="DM Sans"/>
              <a:ea typeface="DM Sans"/>
              <a:cs typeface="DM Sans"/>
              <a:sym typeface="DM Sans"/>
            </a:endParaRPr>
          </a:p>
          <a:p>
            <a:pPr marL="0" lvl="0" indent="0" algn="l" rtl="0">
              <a:lnSpc>
                <a:spcPct val="100000"/>
              </a:lnSpc>
              <a:spcBef>
                <a:spcPts val="1000"/>
              </a:spcBef>
              <a:spcAft>
                <a:spcPts val="0"/>
              </a:spcAft>
              <a:buSzPts val="1100"/>
              <a:buNone/>
            </a:pPr>
            <a:r>
              <a:rPr lang="en-US" sz="1400">
                <a:latin typeface="DM Sans Light"/>
                <a:ea typeface="DM Sans Light"/>
                <a:cs typeface="DM Sans Light"/>
                <a:sym typeface="DM Sans Light"/>
              </a:rPr>
              <a:t>The interesting thing is </a:t>
            </a:r>
            <a:r>
              <a:rPr lang="en-US" sz="1400" b="1">
                <a:latin typeface="DM Sans"/>
                <a:ea typeface="DM Sans"/>
                <a:cs typeface="DM Sans"/>
                <a:sym typeface="DM Sans"/>
              </a:rPr>
              <a:t>that the agreement part actually works. </a:t>
            </a:r>
            <a:endParaRPr sz="1400" b="1">
              <a:latin typeface="DM Sans"/>
              <a:ea typeface="DM Sans"/>
              <a:cs typeface="DM Sans"/>
              <a:sym typeface="DM Sans"/>
            </a:endParaRPr>
          </a:p>
          <a:p>
            <a:pPr marL="0" lvl="0" indent="0" algn="l" rtl="0">
              <a:lnSpc>
                <a:spcPct val="100000"/>
              </a:lnSpc>
              <a:spcBef>
                <a:spcPts val="1000"/>
              </a:spcBef>
              <a:spcAft>
                <a:spcPts val="0"/>
              </a:spcAft>
              <a:buSzPts val="1100"/>
              <a:buNone/>
            </a:pPr>
            <a:r>
              <a:rPr lang="en-US" sz="1400">
                <a:latin typeface="DM Sans Light"/>
                <a:ea typeface="DM Sans Light"/>
                <a:cs typeface="DM Sans Light"/>
                <a:sym typeface="DM Sans Light"/>
              </a:rPr>
              <a:t>SQL has quietly become the shared language of trust between business and engineering. </a:t>
            </a:r>
            <a:endParaRPr sz="1400">
              <a:latin typeface="DM Sans Light"/>
              <a:ea typeface="DM Sans Light"/>
              <a:cs typeface="DM Sans Light"/>
              <a:sym typeface="DM Sans Light"/>
            </a:endParaRPr>
          </a:p>
          <a:p>
            <a:pPr marL="0" lvl="0" indent="0" algn="l" rtl="0">
              <a:lnSpc>
                <a:spcPct val="100000"/>
              </a:lnSpc>
              <a:spcBef>
                <a:spcPts val="1000"/>
              </a:spcBef>
              <a:spcAft>
                <a:spcPts val="0"/>
              </a:spcAft>
              <a:buSzPts val="1100"/>
              <a:buNone/>
            </a:pPr>
            <a:endParaRPr sz="1400">
              <a:latin typeface="DM Sans Light"/>
              <a:ea typeface="DM Sans Light"/>
              <a:cs typeface="DM Sans Light"/>
              <a:sym typeface="DM Sans Light"/>
            </a:endParaRPr>
          </a:p>
          <a:p>
            <a:pPr marL="0" lvl="0" indent="0" algn="l" rtl="0">
              <a:lnSpc>
                <a:spcPct val="100000"/>
              </a:lnSpc>
              <a:spcBef>
                <a:spcPts val="1000"/>
              </a:spcBef>
              <a:spcAft>
                <a:spcPts val="0"/>
              </a:spcAft>
              <a:buSzPts val="1100"/>
              <a:buNone/>
            </a:pPr>
            <a:r>
              <a:rPr lang="en-US" sz="1400" b="1">
                <a:latin typeface="DM Sans"/>
                <a:ea typeface="DM Sans"/>
                <a:cs typeface="DM Sans"/>
                <a:sym typeface="DM Sans"/>
              </a:rPr>
              <a:t>WHAT DOESN’T</a:t>
            </a:r>
            <a:endParaRPr sz="1400" b="1">
              <a:latin typeface="DM Sans"/>
              <a:ea typeface="DM Sans"/>
              <a:cs typeface="DM Sans"/>
              <a:sym typeface="DM Sans"/>
            </a:endParaRPr>
          </a:p>
          <a:p>
            <a:pPr marL="0" lvl="0" indent="0" algn="l" rtl="0">
              <a:lnSpc>
                <a:spcPct val="100000"/>
              </a:lnSpc>
              <a:spcBef>
                <a:spcPts val="1000"/>
              </a:spcBef>
              <a:spcAft>
                <a:spcPts val="0"/>
              </a:spcAft>
              <a:buSzPts val="1100"/>
              <a:buNone/>
            </a:pPr>
            <a:r>
              <a:rPr lang="en-US" sz="1400">
                <a:latin typeface="DM Sans Light"/>
                <a:ea typeface="DM Sans Light"/>
                <a:cs typeface="DM Sans Light"/>
                <a:sym typeface="DM Sans Light"/>
              </a:rPr>
              <a:t>For one -</a:t>
            </a:r>
            <a:r>
              <a:rPr lang="en-US" sz="1400" b="1">
                <a:latin typeface="DM Sans"/>
                <a:ea typeface="DM Sans"/>
                <a:cs typeface="DM Sans"/>
                <a:sym typeface="DM Sans"/>
              </a:rPr>
              <a:t> waiting days or weeks to see that new metric merged into operational workflows.</a:t>
            </a:r>
            <a:endParaRPr sz="1400" b="1">
              <a:latin typeface="DM Sans"/>
              <a:ea typeface="DM Sans"/>
              <a:cs typeface="DM Sans"/>
              <a:sym typeface="DM Sans"/>
            </a:endParaRPr>
          </a:p>
          <a:p>
            <a:pPr marL="0" lvl="0" indent="0" algn="l" rtl="0">
              <a:lnSpc>
                <a:spcPct val="100000"/>
              </a:lnSpc>
              <a:spcBef>
                <a:spcPts val="1000"/>
              </a:spcBef>
              <a:spcAft>
                <a:spcPts val="0"/>
              </a:spcAft>
              <a:buSzPts val="1100"/>
              <a:buNone/>
            </a:pPr>
            <a:r>
              <a:rPr lang="en-US" sz="1400">
                <a:latin typeface="DM Sans Light"/>
                <a:ea typeface="DM Sans Light"/>
                <a:cs typeface="DM Sans Light"/>
                <a:sym typeface="DM Sans Light"/>
              </a:rPr>
              <a:t>From my personal experience - </a:t>
            </a:r>
            <a:r>
              <a:rPr lang="en-US" sz="1400" b="1">
                <a:latin typeface="DM Sans"/>
                <a:ea typeface="DM Sans"/>
                <a:cs typeface="DM Sans"/>
                <a:sym typeface="DM Sans"/>
              </a:rPr>
              <a:t>native graph tooling also isn’t working. It took 400 pages</a:t>
            </a:r>
            <a:r>
              <a:rPr lang="en-US" sz="1400">
                <a:latin typeface="DM Sans Light"/>
                <a:ea typeface="DM Sans Light"/>
                <a:cs typeface="DM Sans Light"/>
                <a:sym typeface="DM Sans Light"/>
              </a:rPr>
              <a:t> just to describe how to collaborate on a cross-functional domain model.  The rest of the data engineering world has converged on SQL.</a:t>
            </a:r>
            <a:endParaRPr sz="1400">
              <a:latin typeface="DM Sans Light"/>
              <a:ea typeface="DM Sans Light"/>
              <a:cs typeface="DM Sans Light"/>
              <a:sym typeface="DM Sans Light"/>
            </a:endParaRPr>
          </a:p>
          <a:p>
            <a:pPr marL="0" lvl="0" indent="0" algn="l" rtl="0">
              <a:lnSpc>
                <a:spcPct val="100000"/>
              </a:lnSpc>
              <a:spcBef>
                <a:spcPts val="1000"/>
              </a:spcBef>
              <a:spcAft>
                <a:spcPts val="0"/>
              </a:spcAft>
              <a:buSzPts val="1100"/>
              <a:buNone/>
            </a:pPr>
            <a:endParaRPr sz="1400">
              <a:latin typeface="DM Sans Light"/>
              <a:ea typeface="DM Sans Light"/>
              <a:cs typeface="DM Sans Light"/>
              <a:sym typeface="DM Sans Light"/>
            </a:endParaRPr>
          </a:p>
          <a:p>
            <a:pPr marL="0" lvl="0" indent="0" algn="l" rtl="0">
              <a:lnSpc>
                <a:spcPct val="100000"/>
              </a:lnSpc>
              <a:spcBef>
                <a:spcPts val="1000"/>
              </a:spcBef>
              <a:spcAft>
                <a:spcPts val="0"/>
              </a:spcAft>
              <a:buSzPts val="1100"/>
              <a:buNone/>
            </a:pPr>
            <a:r>
              <a:rPr lang="en-US" sz="1400" b="1">
                <a:latin typeface="DM Sans"/>
                <a:ea typeface="DM Sans"/>
                <a:cs typeface="DM Sans"/>
                <a:sym typeface="DM Sans"/>
              </a:rPr>
              <a:t>THE NEW PRESSURE</a:t>
            </a:r>
            <a:endParaRPr sz="1400" b="1">
              <a:latin typeface="DM Sans"/>
              <a:ea typeface="DM Sans"/>
              <a:cs typeface="DM Sans"/>
              <a:sym typeface="DM Sans"/>
            </a:endParaRPr>
          </a:p>
          <a:p>
            <a:pPr marL="0" lvl="0" indent="0" algn="l" rtl="0">
              <a:lnSpc>
                <a:spcPct val="100000"/>
              </a:lnSpc>
              <a:spcBef>
                <a:spcPts val="1000"/>
              </a:spcBef>
              <a:spcAft>
                <a:spcPts val="0"/>
              </a:spcAft>
              <a:buSzPts val="1800"/>
              <a:buNone/>
            </a:pPr>
            <a:r>
              <a:rPr lang="en-US" sz="1400" b="1">
                <a:latin typeface="DM Sans"/>
                <a:ea typeface="DM Sans"/>
                <a:cs typeface="DM Sans"/>
                <a:sym typeface="DM Sans"/>
              </a:rPr>
              <a:t>If SQL is the ubiquitous language of data</a:t>
            </a:r>
            <a:r>
              <a:rPr lang="en-US" sz="1400">
                <a:latin typeface="DM Sans Light"/>
                <a:ea typeface="DM Sans Light"/>
                <a:cs typeface="DM Sans Light"/>
                <a:sym typeface="DM Sans Light"/>
              </a:rPr>
              <a:t>, why does it still take weeks or months for that logic to reach production?</a:t>
            </a:r>
            <a:endParaRPr sz="1400">
              <a:latin typeface="DM Sans Light"/>
              <a:ea typeface="DM Sans Light"/>
              <a:cs typeface="DM Sans Light"/>
              <a:sym typeface="DM Sans Light"/>
            </a:endParaRPr>
          </a:p>
          <a:p>
            <a:pPr marL="0" lvl="0" indent="0" algn="l" rtl="0">
              <a:lnSpc>
                <a:spcPct val="100000"/>
              </a:lnSpc>
              <a:spcBef>
                <a:spcPts val="0"/>
              </a:spcBef>
              <a:spcAft>
                <a:spcPts val="0"/>
              </a:spcAft>
              <a:buSzPts val="1800"/>
              <a:buNone/>
            </a:pPr>
            <a:endParaRPr sz="1400">
              <a:latin typeface="DM Sans Light"/>
              <a:ea typeface="DM Sans Light"/>
              <a:cs typeface="DM Sans Light"/>
              <a:sym typeface="DM Sans Light"/>
            </a:endParaRPr>
          </a:p>
          <a:p>
            <a:pPr marL="0" lvl="0" indent="0" algn="l" rtl="0">
              <a:lnSpc>
                <a:spcPct val="100000"/>
              </a:lnSpc>
              <a:spcBef>
                <a:spcPts val="0"/>
              </a:spcBef>
              <a:spcAft>
                <a:spcPts val="0"/>
              </a:spcAft>
              <a:buSzPts val="1800"/>
              <a:buNone/>
            </a:pPr>
            <a:r>
              <a:rPr lang="en-US" sz="1400" b="1">
                <a:latin typeface="DM Sans"/>
                <a:ea typeface="DM Sans"/>
                <a:cs typeface="DM Sans"/>
                <a:sym typeface="DM Sans"/>
              </a:rPr>
              <a:t> From the business’ perspective.. the problem isn’t the query language. </a:t>
            </a:r>
            <a:endParaRPr sz="1400" b="1">
              <a:latin typeface="DM Sans"/>
              <a:ea typeface="DM Sans"/>
              <a:cs typeface="DM Sans"/>
              <a:sym typeface="DM Sans"/>
            </a:endParaRPr>
          </a:p>
          <a:p>
            <a:pPr marL="0" lvl="0" indent="0" algn="l" rtl="0">
              <a:lnSpc>
                <a:spcPct val="100000"/>
              </a:lnSpc>
              <a:spcBef>
                <a:spcPts val="0"/>
              </a:spcBef>
              <a:spcAft>
                <a:spcPts val="0"/>
              </a:spcAft>
              <a:buSzPts val="1800"/>
              <a:buNone/>
            </a:pPr>
            <a:endParaRPr sz="1400" b="1">
              <a:latin typeface="DM Sans"/>
              <a:ea typeface="DM Sans"/>
              <a:cs typeface="DM Sans"/>
              <a:sym typeface="DM Sans"/>
            </a:endParaRPr>
          </a:p>
          <a:p>
            <a:pPr marL="0" lvl="0" indent="0" algn="l" rtl="0">
              <a:lnSpc>
                <a:spcPct val="100000"/>
              </a:lnSpc>
              <a:spcBef>
                <a:spcPts val="0"/>
              </a:spcBef>
              <a:spcAft>
                <a:spcPts val="0"/>
              </a:spcAft>
              <a:buSzPts val="1800"/>
              <a:buNone/>
            </a:pPr>
            <a:r>
              <a:rPr lang="en-US" sz="1400" b="1">
                <a:latin typeface="DM Sans"/>
                <a:ea typeface="DM Sans"/>
                <a:cs typeface="DM Sans"/>
                <a:sym typeface="DM Sans"/>
              </a:rPr>
              <a:t>—---[click]----</a:t>
            </a:r>
            <a:endParaRPr sz="1400" b="1">
              <a:latin typeface="DM Sans"/>
              <a:ea typeface="DM Sans"/>
              <a:cs typeface="DM Sans"/>
              <a:sym typeface="DM Sans"/>
            </a:endParaRPr>
          </a:p>
          <a:p>
            <a:pPr marL="0" lvl="0" indent="0" algn="l" rtl="0">
              <a:lnSpc>
                <a:spcPct val="100000"/>
              </a:lnSpc>
              <a:spcBef>
                <a:spcPts val="0"/>
              </a:spcBef>
              <a:spcAft>
                <a:spcPts val="0"/>
              </a:spcAft>
              <a:buSzPts val="1800"/>
              <a:buNone/>
            </a:pPr>
            <a:endParaRPr sz="1400" b="1">
              <a:latin typeface="DM Sans"/>
              <a:ea typeface="DM Sans"/>
              <a:cs typeface="DM Sans"/>
              <a:sym typeface="DM Sans"/>
            </a:endParaRPr>
          </a:p>
          <a:p>
            <a:pPr marL="0" lvl="0" indent="0" algn="l" rtl="0">
              <a:lnSpc>
                <a:spcPct val="100000"/>
              </a:lnSpc>
              <a:spcBef>
                <a:spcPts val="0"/>
              </a:spcBef>
              <a:spcAft>
                <a:spcPts val="0"/>
              </a:spcAft>
              <a:buClr>
                <a:srgbClr val="6B7280"/>
              </a:buClr>
              <a:buSzPts val="1800"/>
              <a:buFont typeface="DM Sans"/>
              <a:buNone/>
            </a:pPr>
            <a:r>
              <a:rPr lang="en-US" sz="1400" b="1">
                <a:latin typeface="DM Sans"/>
                <a:ea typeface="DM Sans"/>
                <a:cs typeface="DM Sans"/>
                <a:sym typeface="DM Sans"/>
              </a:rPr>
              <a:t>The problem is the infrastructure and latency that come after it.</a:t>
            </a:r>
            <a:endParaRPr sz="1400" b="1">
              <a:latin typeface="DM Sans"/>
              <a:ea typeface="DM Sans"/>
              <a:cs typeface="DM Sans"/>
              <a:sym typeface="DM Sans"/>
            </a:endParaRPr>
          </a:p>
          <a:p>
            <a:pPr marL="0" lvl="0" indent="0" algn="l" rtl="0">
              <a:lnSpc>
                <a:spcPct val="100000"/>
              </a:lnSpc>
              <a:spcBef>
                <a:spcPts val="0"/>
              </a:spcBef>
              <a:spcAft>
                <a:spcPts val="0"/>
              </a:spcAft>
              <a:buClr>
                <a:schemeClr val="dk1"/>
              </a:buClr>
              <a:buSzPts val="1100"/>
              <a:buFont typeface="Arial"/>
              <a:buNone/>
            </a:pPr>
            <a:endParaRPr sz="1400">
              <a:latin typeface="DM Sans Light"/>
              <a:ea typeface="DM Sans Light"/>
              <a:cs typeface="DM Sans Light"/>
              <a:sym typeface="DM Sans Light"/>
            </a:endParaRPr>
          </a:p>
          <a:p>
            <a:pPr marL="0" lvl="0" indent="0" algn="l" rtl="0">
              <a:lnSpc>
                <a:spcPct val="100000"/>
              </a:lnSpc>
              <a:spcBef>
                <a:spcPts val="1000"/>
              </a:spcBef>
              <a:spcAft>
                <a:spcPts val="0"/>
              </a:spcAft>
              <a:buSzPts val="1100"/>
              <a:buNone/>
            </a:pPr>
            <a:r>
              <a:rPr lang="en-US" sz="1400" b="1">
                <a:latin typeface="DM Sans"/>
                <a:ea typeface="DM Sans"/>
                <a:cs typeface="DM Sans"/>
                <a:sym typeface="DM Sans"/>
              </a:rPr>
              <a:t>The solution:</a:t>
            </a:r>
            <a:endParaRPr sz="1400" b="1">
              <a:latin typeface="DM Sans"/>
              <a:ea typeface="DM Sans"/>
              <a:cs typeface="DM Sans"/>
              <a:sym typeface="DM Sans"/>
            </a:endParaRPr>
          </a:p>
          <a:p>
            <a:pPr marL="0" lvl="0" indent="0" algn="l" rtl="0">
              <a:lnSpc>
                <a:spcPct val="100000"/>
              </a:lnSpc>
              <a:spcBef>
                <a:spcPts val="1000"/>
              </a:spcBef>
              <a:spcAft>
                <a:spcPts val="0"/>
              </a:spcAft>
              <a:buClr>
                <a:schemeClr val="dk1"/>
              </a:buClr>
              <a:buSzPts val="1100"/>
              <a:buFont typeface="Arial"/>
              <a:buNone/>
            </a:pPr>
            <a:r>
              <a:rPr lang="en-US" sz="1400" b="1">
                <a:latin typeface="DM Sans"/>
                <a:ea typeface="DM Sans"/>
                <a:cs typeface="DM Sans"/>
                <a:sym typeface="DM Sans"/>
              </a:rPr>
              <a:t>What does our world look like if we align @ SQL?</a:t>
            </a:r>
            <a:endParaRPr sz="1400" b="1">
              <a:latin typeface="DM Sans"/>
              <a:ea typeface="DM Sans"/>
              <a:cs typeface="DM Sans"/>
              <a:sym typeface="DM Sans"/>
            </a:endParaRPr>
          </a:p>
          <a:p>
            <a:pPr marL="0" lvl="0" indent="0" algn="l" rtl="0">
              <a:lnSpc>
                <a:spcPct val="100000"/>
              </a:lnSpc>
              <a:spcBef>
                <a:spcPts val="1000"/>
              </a:spcBef>
              <a:spcAft>
                <a:spcPts val="0"/>
              </a:spcAft>
              <a:buClr>
                <a:schemeClr val="dk1"/>
              </a:buClr>
              <a:buSzPts val="1100"/>
              <a:buFont typeface="Arial"/>
              <a:buNone/>
            </a:pPr>
            <a:r>
              <a:rPr lang="en-US" sz="1400">
                <a:latin typeface="DM Sans Light"/>
                <a:ea typeface="DM Sans Light"/>
                <a:cs typeface="DM Sans Light"/>
                <a:sym typeface="DM Sans Light"/>
              </a:rPr>
              <a:t>that defines pipelines, database views, and production-ready endpoints automatically. Where AI is used not to replace engineers or generate insights, but to automate the most mechanical parts of the analytics lifecycle. The result is a much shorter path from business logic to usable analytics.</a:t>
            </a:r>
            <a:endParaRPr sz="1400">
              <a:latin typeface="DM Sans Light"/>
              <a:ea typeface="DM Sans Light"/>
              <a:cs typeface="DM Sans Light"/>
              <a:sym typeface="DM Sans Light"/>
            </a:endParaRPr>
          </a:p>
          <a:p>
            <a:pPr marL="0" lvl="0" indent="0" algn="l" rtl="0">
              <a:lnSpc>
                <a:spcPct val="100000"/>
              </a:lnSpc>
              <a:spcBef>
                <a:spcPts val="1000"/>
              </a:spcBef>
              <a:spcAft>
                <a:spcPts val="0"/>
              </a:spcAft>
              <a:buClr>
                <a:schemeClr val="dk1"/>
              </a:buClr>
              <a:buSzPts val="1100"/>
              <a:buFont typeface="Arial"/>
              <a:buNone/>
            </a:pPr>
            <a:r>
              <a:rPr lang="en-US" sz="1400" b="1">
                <a:latin typeface="DM Sans"/>
                <a:ea typeface="DM Sans"/>
                <a:cs typeface="DM Sans"/>
                <a:sym typeface="DM Sans"/>
              </a:rPr>
              <a:t>And the open questions: where should humans stay deeply involved, where does automation actually help, and why might the most impactful applications of AI be the least flashy?</a:t>
            </a:r>
            <a:endParaRPr sz="1400" b="1">
              <a:latin typeface="DM Sans"/>
              <a:ea typeface="DM Sans"/>
              <a:cs typeface="DM Sans"/>
              <a:sym typeface="DM Sans"/>
            </a:endParaRPr>
          </a:p>
          <a:p>
            <a:pPr marL="0" lvl="0" indent="0" algn="l" rtl="0">
              <a:lnSpc>
                <a:spcPct val="100000"/>
              </a:lnSpc>
              <a:spcBef>
                <a:spcPts val="1000"/>
              </a:spcBef>
              <a:spcAft>
                <a:spcPts val="0"/>
              </a:spcAft>
              <a:buClr>
                <a:schemeClr val="dk1"/>
              </a:buClr>
              <a:buSzPts val="1100"/>
              <a:buFont typeface="Arial"/>
              <a:buNone/>
            </a:pPr>
            <a:endParaRPr sz="1400" b="1">
              <a:latin typeface="DM Sans"/>
              <a:ea typeface="DM Sans"/>
              <a:cs typeface="DM Sans"/>
              <a:sym typeface="DM Sans"/>
            </a:endParaRPr>
          </a:p>
          <a:p>
            <a:pPr marL="0" lvl="0" indent="0" algn="l" rtl="0">
              <a:lnSpc>
                <a:spcPct val="100000"/>
              </a:lnSpc>
              <a:spcBef>
                <a:spcPts val="1000"/>
              </a:spcBef>
              <a:spcAft>
                <a:spcPts val="0"/>
              </a:spcAft>
              <a:buClr>
                <a:schemeClr val="dk1"/>
              </a:buClr>
              <a:buSzPts val="1100"/>
              <a:buFont typeface="Arial"/>
              <a:buNone/>
            </a:pPr>
            <a:endParaRPr sz="1400" b="1">
              <a:latin typeface="DM Sans"/>
              <a:ea typeface="DM Sans"/>
              <a:cs typeface="DM Sans"/>
              <a:sym typeface="DM Sans"/>
            </a:endParaRPr>
          </a:p>
          <a:p>
            <a:pPr marL="0" lvl="0" indent="0" algn="l" rtl="0">
              <a:lnSpc>
                <a:spcPct val="100000"/>
              </a:lnSpc>
              <a:spcBef>
                <a:spcPts val="1000"/>
              </a:spcBef>
              <a:spcAft>
                <a:spcPts val="0"/>
              </a:spcAft>
              <a:buClr>
                <a:schemeClr val="dk1"/>
              </a:buClr>
              <a:buSzPts val="1100"/>
              <a:buFont typeface="Arial"/>
              <a:buNone/>
            </a:pPr>
            <a:endParaRPr sz="1400" b="1">
              <a:latin typeface="DM Sans"/>
              <a:ea typeface="DM Sans"/>
              <a:cs typeface="DM Sans"/>
              <a:sym typeface="DM Sans"/>
            </a:endParaRPr>
          </a:p>
          <a:p>
            <a:pPr marL="0" lvl="0" indent="0" algn="l" rtl="0">
              <a:lnSpc>
                <a:spcPct val="100000"/>
              </a:lnSpc>
              <a:spcBef>
                <a:spcPts val="1000"/>
              </a:spcBef>
              <a:spcAft>
                <a:spcPts val="1000"/>
              </a:spcAft>
              <a:buClr>
                <a:schemeClr val="dk1"/>
              </a:buClr>
              <a:buSzPts val="1100"/>
              <a:buFont typeface="Arial"/>
              <a:buNone/>
            </a:pPr>
            <a:endParaRPr sz="1400">
              <a:latin typeface="DM Sans Light"/>
              <a:ea typeface="DM Sans Light"/>
              <a:cs typeface="DM Sans Light"/>
              <a:sym typeface="DM Sans Light"/>
            </a:endParaRPr>
          </a:p>
        </p:txBody>
      </p:sp>
      <p:sp>
        <p:nvSpPr>
          <p:cNvPr id="77" name="Google Shape;77;g3d8e3027e51_0_12:notes"/>
          <p:cNvSpPr txBox="1">
            <a:spLocks noGrp="1"/>
          </p:cNvSpPr>
          <p:nvPr>
            <p:ph type="ftr" idx="11"/>
          </p:nvPr>
        </p:nvSpPr>
        <p:spPr>
          <a:xfrm>
            <a:off x="0" y="8669867"/>
            <a:ext cx="3962400" cy="4551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78" name="Google Shape;78;g3d8e3027e51_0_12:notes"/>
          <p:cNvSpPr txBox="1">
            <a:spLocks noGrp="1"/>
          </p:cNvSpPr>
          <p:nvPr>
            <p:ph type="sldNum" idx="12"/>
          </p:nvPr>
        </p:nvSpPr>
        <p:spPr>
          <a:xfrm>
            <a:off x="5180013" y="8669867"/>
            <a:ext cx="3962400" cy="455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LAG: the old playbook, one system [ANIMATION]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Start with a data problem, work backwards from the user experience to define infrastructure, APIs, data model; pick tools; plan volume, throughput, SLAs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Walk the cycle: 1 copy &amp; replicate data → 2 build the model (repeat until good enough) → 3 build pipelines (until green) → 4 build APIs (until green) → 5 feedback loops (until minimum acceptable)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[click] Punchline: "all of that is per data system." (This is why engineers laugh or cry.)</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[SLIDE ANNIMATION]</a:t>
            </a:r>
            <a:endParaRPr sz="1300">
              <a:latin typeface="Roboto SemiBold"/>
              <a:ea typeface="Roboto SemiBold"/>
              <a:cs typeface="Roboto SemiBold"/>
              <a:sym typeface="Roboto SemiBold"/>
            </a:endParaRPr>
          </a:p>
          <a:p>
            <a:pPr marL="0" lvl="0" indent="0" algn="l" rtl="0">
              <a:lnSpc>
                <a:spcPct val="115000"/>
              </a:lnSpc>
              <a:spcBef>
                <a:spcPts val="1000"/>
              </a:spcBef>
              <a:spcAft>
                <a:spcPts val="0"/>
              </a:spcAft>
              <a:buClr>
                <a:schemeClr val="dk1"/>
              </a:buClr>
              <a:buSzPts val="1100"/>
              <a:buFont typeface="Arial"/>
              <a:buNone/>
            </a:pPr>
            <a:endParaRPr sz="1300">
              <a:latin typeface="Roboto SemiBold"/>
              <a:ea typeface="Roboto SemiBold"/>
              <a:cs typeface="Roboto SemiBold"/>
              <a:sym typeface="Roboto SemiBold"/>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If you've built data systems inside an enterprise, you know the old playbook.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You start with a data problem.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work backwards from the user experience with data to define:</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 the surface area of your infrastructure,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your APIs,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your data model.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select your tools.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get deep on planning fo</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r volume,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throughput,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SLAs, and your specific use case requirements.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set up the configuration of the build.</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b="1">
                <a:latin typeface="Montserrat"/>
                <a:ea typeface="Montserrat"/>
                <a:cs typeface="Montserrat"/>
                <a:sym typeface="Montserrat"/>
              </a:rPr>
              <a:t>And then the cycle on this slide begins.</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You copy and replicate data.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analyze data.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build your data model.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measure accuracy.</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 	You repeat until it's good enough.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Then you build your pipelines.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troubleshoot the flow</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 	You repeat until the flow is green.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Then you build your APIs.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troubleshoot your payloads.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repeat until green.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Then you build your feedback loops.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troubleshoot your low-hanging-fruit issues.</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 repeat until you meet your minimum acceptable criteria.</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b="1">
                <a:latin typeface="Montserrat"/>
                <a:ea typeface="Montserrat"/>
                <a:cs typeface="Montserrat"/>
                <a:sym typeface="Montserrat"/>
              </a:rPr>
              <a:t>—-- [click]-----</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And here's the part that makes experienced data engineers laugh (or cry): all of that is per data system.</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1200"/>
              </a:spcAft>
              <a:buClr>
                <a:schemeClr val="dk1"/>
              </a:buClr>
              <a:buSzPts val="1100"/>
              <a:buFont typeface="Arial"/>
              <a:buNone/>
            </a:pPr>
            <a:endParaRPr/>
          </a:p>
        </p:txBody>
      </p:sp>
      <p:sp>
        <p:nvSpPr>
          <p:cNvPr id="118" name="Google Shape;11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d92324cf16_0_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d92324cf16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LAG ×N: it multiplies, then it compounds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Multiply the whole cycle by every system: SQL, SparkSQL, Gremlin/Cypher, GraphQL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That alone isn't the kicker. You could parallelize it.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real kicker is dependencies: move one computation from Postgres to Neptune = a coordinated rewrite across four (upstream feed, Postgres, Neptune, API layer)</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Different owners, teams, backlogs: "You're not debugging code. You're negotiating calendars."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Land it: the old way doesn't just scale badly. It compounds badly.</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Every cross-system optimization becomes a multi-team coordination project. That's the old way.</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00000"/>
              </a:lnSpc>
              <a:spcBef>
                <a:spcPts val="0"/>
              </a:spcBef>
              <a:spcAft>
                <a:spcPts val="0"/>
              </a:spcAft>
              <a:buClr>
                <a:schemeClr val="dk1"/>
              </a:buClr>
              <a:buSzPts val="1100"/>
              <a:buFont typeface="Arial"/>
              <a:buNone/>
            </a:pPr>
            <a:endParaRPr sz="1300">
              <a:latin typeface="Roboto SemiBold"/>
              <a:ea typeface="Roboto SemiBold"/>
              <a:cs typeface="Roboto SemiBold"/>
              <a:sym typeface="Roboto SemiBold"/>
            </a:endParaRPr>
          </a:p>
          <a:p>
            <a:pPr marL="0" lvl="0" indent="0" algn="l" rtl="0">
              <a:lnSpc>
                <a:spcPct val="100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Per your SQL implementation, </a:t>
            </a:r>
            <a:endParaRPr sz="1000">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your Gremlin/cypher implementation, </a:t>
            </a:r>
            <a:endParaRPr sz="1000">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your GraphQL implementation, </a:t>
            </a:r>
            <a:endParaRPr sz="1000">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whatever query language you're running in each of those workflows. </a:t>
            </a:r>
            <a:endParaRPr sz="1000">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Multiply the whole cycle by however many systems you've got.</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And if that were the end of it, maybe it wouldn't be so bad. </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You could optimize each system independently, parallelize the work, bring in different experts for each one, and be done.</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But that's not the real kicker.</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b="1">
                <a:latin typeface="Montserrat"/>
                <a:ea typeface="Montserrat"/>
                <a:cs typeface="Montserrat"/>
                <a:sym typeface="Montserrat"/>
              </a:rPr>
              <a:t>The real kicker is the dependencies between them.</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Say you decide that a certain computation is too expensive in Postgres and you want to move it to Neptune.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Now you're not changing one system. </a:t>
            </a:r>
            <a:endParaRPr sz="1000" b="1">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You're coordinating a rewrite across four.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The upstream system that feeds the data, and let's hope and pray that's only one.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Postgres. </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Neptune. And</a:t>
            </a:r>
            <a:endParaRPr sz="1000">
              <a:latin typeface="Montserrat"/>
              <a:ea typeface="Montserrat"/>
              <a:cs typeface="Montserrat"/>
              <a:sym typeface="Montserrat"/>
            </a:endParaRPr>
          </a:p>
          <a:p>
            <a:pPr marL="0" lvl="0" indent="45720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the API layer that stitches it all back together.</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b="1">
                <a:latin typeface="Montserrat"/>
                <a:ea typeface="Montserrat"/>
                <a:cs typeface="Montserrat"/>
                <a:sym typeface="Montserrat"/>
              </a:rPr>
              <a:t>Each of those is probably owned by a different person on a different team with a different backlog. </a:t>
            </a:r>
            <a:endParaRPr sz="1000" b="1">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Now you're not debugging code. </a:t>
            </a:r>
            <a:endParaRPr sz="10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US" sz="1000" b="1">
                <a:latin typeface="Montserrat"/>
                <a:ea typeface="Montserrat"/>
                <a:cs typeface="Montserrat"/>
                <a:sym typeface="Montserrat"/>
              </a:rPr>
              <a:t>You're negotiating calendars. </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That's why the old way doesn't just scale badly. It compounds badly.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Every cross-system optimization becomes a multi-team coordination project.</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That's the old way.</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1200"/>
              </a:spcAft>
              <a:buClr>
                <a:schemeClr val="dk1"/>
              </a:buClr>
              <a:buSzPts val="1100"/>
              <a:buFont typeface="Arial"/>
              <a:buNone/>
            </a:pPr>
            <a:endParaRPr sz="1000">
              <a:latin typeface="Montserrat"/>
              <a:ea typeface="Montserrat"/>
              <a:cs typeface="Montserrat"/>
              <a:sym typeface="Montserrat"/>
            </a:endParaRPr>
          </a:p>
        </p:txBody>
      </p:sp>
      <p:sp>
        <p:nvSpPr>
          <p:cNvPr id="151" name="Google Shape;151;g3d92324cf16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d92324cf16_0_2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d92324cf16_0_2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WHERE: the bottleneck isn't where you think</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Sit with this: the agreement part works. Business and engineering screen-share SQL and agree.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problem is everything after "yes, that's the right metric": infrastructure, latency, weeks or months to a dashboard, report, or email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This is the longest feedback loop in enterprise data work, and the one AI can actually shorten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Every leader's question: how do you use AI so DevOps and data engineers stay in the loop where their knowledge matters most?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POINT: we're stuck between three things: 1 connect data across silos • 2 with tools engineers can adopt • 3 figure out where AI fits (speed, trust, security, observability)</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WHERE</a:t>
            </a:r>
            <a:endParaRPr sz="1300">
              <a:latin typeface="Roboto SemiBold"/>
              <a:ea typeface="Roboto SemiBold"/>
              <a:cs typeface="Roboto SemiBold"/>
              <a:sym typeface="Roboto SemiBold"/>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But here's the thing I want you to really sit with. In that entire cycle, the part where the business owner and the data engineer sit together, screen-share some SQL, and agree on what they're trying to compute? That part actually works. That conversation is usually productive. They agree. SQL has quietly become the shared language of trust between business and engineering.</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The problem is everything that happens after the agreement. The infrastructure. The latency. The weeks or months between "yes, that's the right metric" and that metric actually showing up in a dashboard, a report, or an email.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That feedback loop, from agreed-upon logic to usable analytics, is the longest feedback loop in enterprise data work. And it's the one that AI can actually help shorten.</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Now. AI is here. And every enterprise leader I talk to is asking the same thing. We know humans are going to be in the loop for the most critical aspects of building enterprise data architecture. We know that.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The question: </a:t>
            </a:r>
            <a:r>
              <a:rPr lang="en-US" sz="1000" b="1">
                <a:latin typeface="Montserrat"/>
                <a:ea typeface="Montserrat"/>
                <a:cs typeface="Montserrat"/>
                <a:sym typeface="Montserrat"/>
              </a:rPr>
              <a:t>How do you use AI in this world to allow your trained DevOps and data engineers to be in the loop of the infrastructure in a way that serves their knowledge the best?</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 POINT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So we're stuck in the middle of three things happening at once.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1/ We need to connect data across silos for better insights.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2/ We need to do it with tools that data engineers can actually adopt. And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3/ we need to figure out where AI fits into this process, not just for speed, but for trust, security, and observability.</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1000"/>
              </a:spcAft>
              <a:buClr>
                <a:schemeClr val="dk1"/>
              </a:buClr>
              <a:buSzPts val="1100"/>
              <a:buFont typeface="Arial"/>
              <a:buNone/>
            </a:pPr>
            <a:endParaRPr sz="1300" b="1">
              <a:latin typeface="Roboto"/>
              <a:ea typeface="Roboto"/>
              <a:cs typeface="Roboto"/>
              <a:sym typeface="Roboto"/>
            </a:endParaRPr>
          </a:p>
        </p:txBody>
      </p:sp>
      <p:sp>
        <p:nvSpPr>
          <p:cNvPr id="241" name="Google Shape;241;g3d92324cf16_0_2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HIDDEN SLIDE • STORY: PARTITION BY: the silo problem (its three points are now said on slide 8)</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Scale means throughput AND working with human minds across siloed architectures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Connecting silos = better insight and visibility into gaps, but graph isn't approachable; talent, compliance, auditors all speak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Mixing data across silos is a major security implementation that touches every team</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"If you're sitting in this room, you're probably living some version of it right now."</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spcBef>
                <a:spcPts val="0"/>
              </a:spcBef>
              <a:spcAft>
                <a:spcPts val="0"/>
              </a:spcAft>
              <a:buNone/>
            </a:pPr>
            <a:r>
              <a:rPr lang="en-US"/>
              <a:t>Scale means two things: </a:t>
            </a:r>
            <a:endParaRPr/>
          </a:p>
          <a:p>
            <a:pPr marL="0" lvl="0" indent="0" algn="l" rtl="0">
              <a:spcBef>
                <a:spcPts val="0"/>
              </a:spcBef>
              <a:spcAft>
                <a:spcPts val="0"/>
              </a:spcAft>
              <a:buSzPts val="1800"/>
              <a:buNone/>
            </a:pPr>
            <a:r>
              <a:rPr lang="en-US" sz="1800">
                <a:latin typeface="DM Sans"/>
                <a:ea typeface="DM Sans"/>
                <a:cs typeface="DM Sans"/>
                <a:sym typeface="DM Sans"/>
              </a:rPr>
              <a:t>1/ Throughput. </a:t>
            </a:r>
            <a:endParaRPr sz="1800">
              <a:latin typeface="DM Sans"/>
              <a:ea typeface="DM Sans"/>
              <a:cs typeface="DM Sans"/>
              <a:sym typeface="DM Sans"/>
            </a:endParaRPr>
          </a:p>
          <a:p>
            <a:pPr marL="0" lvl="0" indent="0" algn="l" rtl="0">
              <a:spcBef>
                <a:spcPts val="0"/>
              </a:spcBef>
              <a:spcAft>
                <a:spcPts val="0"/>
              </a:spcAft>
              <a:buSzPts val="1800"/>
              <a:buNone/>
            </a:pPr>
            <a:r>
              <a:rPr lang="en-US" sz="1800">
                <a:latin typeface="DM Sans"/>
                <a:ea typeface="DM Sans"/>
                <a:cs typeface="DM Sans"/>
                <a:sym typeface="DM Sans"/>
              </a:rPr>
              <a:t>2/ And the scale of working with human minds across complex, siloed enterprise architectures.</a:t>
            </a:r>
            <a:endParaRPr sz="1800">
              <a:latin typeface="DM Sans"/>
              <a:ea typeface="DM Sans"/>
              <a:cs typeface="DM Sans"/>
              <a:sym typeface="DM Sans"/>
            </a:endParaRPr>
          </a:p>
          <a:p>
            <a:pPr marL="0" lvl="0" indent="0" algn="l" rtl="0">
              <a:spcBef>
                <a:spcPts val="0"/>
              </a:spcBef>
              <a:spcAft>
                <a:spcPts val="0"/>
              </a:spcAft>
              <a:buSzPts val="1800"/>
              <a:buNone/>
            </a:pPr>
            <a:endParaRPr sz="180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What makes this even harder is the silo problem. When your data is siloed, and in every enterprise I've ever worked inside, it is siloed, you know that your business is going to have better insights and improved visibility into critical gaps when you start connecting data across one silo to the other. But our experience shows that using graph technology to do that is not as approachable as it needs to be. The rest of the data engineering world has converged on SQL. The talent pool speaks SQL. The compliance frameworks understand SQL. The auditors can read SQL.</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when we talk about scale here, we mean two things. Yes, we mean throughput. We mean the technical definitions of scale. But we also mean the scale of working with human minds in complex enterprise architectures. Architectures that, from a very practical standpoint, are siloed right now, where it's a major security implementation just to start mixing data across silos. Where doing so in a way that is actually secure, and actually closes the business gap of what you need to see across those silos, is a problem that touches every team in the organization.</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So we're stuck in the middle of three things happening at once. We need to connect data across silos for better insights. We need to do it with tools that data engineers can actually adopt. And we need to figure out where AI fits into this process, not just for speed, but for trust, security, and observability.</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That's the problem. And if you're sitting in this room, you're probably living some version of it right now.</a:t>
            </a:r>
            <a:endParaRPr sz="1800">
              <a:latin typeface="DM Sans"/>
              <a:ea typeface="DM Sans"/>
              <a:cs typeface="DM Sans"/>
              <a:sym typeface="DM Sans"/>
            </a:endParaRPr>
          </a:p>
          <a:p>
            <a:pPr marL="0" lvl="0" indent="0" algn="l" rtl="0">
              <a:spcBef>
                <a:spcPts val="100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05" name="Google Shape;30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CREATE VIEW: the answer. Humans above the line, AI below, and the line is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Ask it: where are the humans in the loop, and where is AI?</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After a decade on this: SQL is the natural collaboration point for both the "what" and the "how"</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In the era of AI you still start with a data problem, build the domain model, design the UX with data, work backwards. That's the human understanding of the business.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Line to land: "if you are not adding AI into your stack to help initiatives that bring higher ROI to the company, then you are building side projects for fun."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THESIS: "We're proposing that the line is in SQL." Here's why:</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Data engineers still analyze, build models, measure accuracy, repeat. That loop is human work: judgment, edge cases, domain fluency from sitting with compliance, product, ops.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output of that loop is SQL, yesterday, today, tomorrow; reviewable for security, HIPAA, EU AI Act, GDPR</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Yes, AI writes the SQL, but there's a moment of review: only pass if people say go. "That's how you make room for ethics in your builds."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Once a human approves the SQL, AI automates everything below the line: pipelines, APIs, feedback loops, infrastructure, deployment, monitoring</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TRANSITION: "Think about what that does for your team."</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CREATE VIEW</a:t>
            </a:r>
            <a:endParaRPr sz="1300">
              <a:latin typeface="Roboto SemiBold"/>
              <a:ea typeface="Roboto SemiBold"/>
              <a:cs typeface="Roboto SemiBold"/>
              <a:sym typeface="Roboto SemiBold"/>
            </a:endParaRPr>
          </a:p>
          <a:p>
            <a:pPr marL="0" lvl="0" indent="0" algn="l" rtl="0">
              <a:spcBef>
                <a:spcPts val="0"/>
              </a:spcBef>
              <a:spcAft>
                <a:spcPts val="0"/>
              </a:spcAft>
              <a:buClr>
                <a:srgbClr val="1F2328"/>
              </a:buClr>
              <a:buSzPts val="2800"/>
              <a:buFont typeface="Fraunces"/>
              <a:buNone/>
            </a:pPr>
            <a:r>
              <a:rPr lang="en-US" sz="1400" b="1">
                <a:solidFill>
                  <a:srgbClr val="1F2328"/>
                </a:solidFill>
                <a:latin typeface="Fraunces"/>
                <a:ea typeface="Fraunces"/>
                <a:cs typeface="Fraunces"/>
                <a:sym typeface="Fraunces"/>
              </a:rPr>
              <a:t>Where are humans in the loop? … &amp; AI?</a:t>
            </a:r>
            <a:endParaRPr sz="1400">
              <a:solidFill>
                <a:srgbClr val="1F2328"/>
              </a:solidFill>
            </a:endParaRPr>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After a decade of working on this problem, we believe the answer is this: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SQL is the natural collaboration point for both the “what” and “how” of this problem.</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In the era of AI:</a:t>
            </a:r>
            <a:endParaRPr sz="1000" b="1">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AutoNum type="arabicPeriod"/>
            </a:pPr>
            <a:r>
              <a:rPr lang="en-US" sz="1000" b="1">
                <a:latin typeface="Montserrat"/>
                <a:ea typeface="Montserrat"/>
                <a:cs typeface="Montserrat"/>
                <a:sym typeface="Montserrat"/>
              </a:rPr>
              <a:t>you still start with a data problem. </a:t>
            </a:r>
            <a:endParaRPr sz="1000" b="1">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b="1">
                <a:latin typeface="Montserrat"/>
                <a:ea typeface="Montserrat"/>
                <a:cs typeface="Montserrat"/>
                <a:sym typeface="Montserrat"/>
              </a:rPr>
              <a:t>You still build your domain model. </a:t>
            </a:r>
            <a:endParaRPr sz="1000" b="1">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b="1">
                <a:latin typeface="Montserrat"/>
                <a:ea typeface="Montserrat"/>
                <a:cs typeface="Montserrat"/>
                <a:sym typeface="Montserrat"/>
              </a:rPr>
              <a:t>You still design the user experience with data. </a:t>
            </a:r>
            <a:endParaRPr sz="1000" b="1">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b="1">
                <a:latin typeface="Montserrat"/>
                <a:ea typeface="Montserrat"/>
                <a:cs typeface="Montserrat"/>
                <a:sym typeface="Montserrat"/>
              </a:rPr>
              <a:t>You still work backwards</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That part doesn't change, because that's the part:</a:t>
            </a:r>
            <a:endParaRPr sz="1000">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AutoNum type="arabicPeriod"/>
            </a:pPr>
            <a:r>
              <a:rPr lang="en-US" sz="1000">
                <a:latin typeface="Montserrat"/>
                <a:ea typeface="Montserrat"/>
                <a:cs typeface="Montserrat"/>
                <a:sym typeface="Montserrat"/>
              </a:rPr>
              <a:t>that requires</a:t>
            </a:r>
            <a:r>
              <a:rPr lang="en-US" sz="1000" b="1">
                <a:latin typeface="Montserrat"/>
                <a:ea typeface="Montserrat"/>
                <a:cs typeface="Montserrat"/>
                <a:sym typeface="Montserrat"/>
              </a:rPr>
              <a:t> human understanding of the business. </a:t>
            </a:r>
            <a:endParaRPr sz="1000" b="1">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where domain experts, data scientists, and data engineers sit in a room together and </a:t>
            </a:r>
            <a:r>
              <a:rPr lang="en-US" sz="1000" b="1">
                <a:latin typeface="Montserrat"/>
                <a:ea typeface="Montserrat"/>
                <a:cs typeface="Montserrat"/>
                <a:sym typeface="Montserrat"/>
              </a:rPr>
              <a:t>figure out what they're actually trying to measure</a:t>
            </a:r>
            <a:r>
              <a:rPr lang="en-US" sz="1000">
                <a:latin typeface="Montserrat"/>
                <a:ea typeface="Montserrat"/>
                <a:cs typeface="Montserrat"/>
                <a:sym typeface="Montserrat"/>
              </a:rPr>
              <a:t> and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why it matters</a:t>
            </a:r>
            <a:r>
              <a:rPr lang="en-US" sz="1000" b="1">
                <a:latin typeface="Montserrat"/>
                <a:ea typeface="Montserrat"/>
                <a:cs typeface="Montserrat"/>
                <a:sym typeface="Montserrat"/>
              </a:rPr>
              <a:t> </a:t>
            </a:r>
            <a:r>
              <a:rPr lang="en-US" sz="1000" b="1" i="1">
                <a:latin typeface="Montserrat"/>
                <a:ea typeface="Montserrat"/>
                <a:cs typeface="Montserrat"/>
                <a:sym typeface="Montserrat"/>
              </a:rPr>
              <a:t>to the business</a:t>
            </a:r>
            <a:r>
              <a:rPr lang="en-US" sz="1000" b="1">
                <a:latin typeface="Montserrat"/>
                <a:ea typeface="Montserrat"/>
                <a:cs typeface="Montserrat"/>
                <a:sym typeface="Montserrat"/>
              </a:rPr>
              <a:t>.</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b="1">
                <a:latin typeface="Montserrat"/>
                <a:ea typeface="Montserrat"/>
                <a:cs typeface="Montserrat"/>
                <a:sym typeface="Montserrat"/>
              </a:rPr>
              <a:t>Because if you are not adding AI into your stack to help initiatives that bring higher ROI to the company, then you are building side projects for fun. </a:t>
            </a:r>
            <a:endParaRPr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We’re proposing that the line is in SQL.</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Here's why.</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Data engineers can still do what they do best:</a:t>
            </a:r>
            <a:r>
              <a:rPr lang="en-US" sz="1000" b="1">
                <a:latin typeface="Montserrat"/>
                <a:ea typeface="Montserrat"/>
                <a:cs typeface="Montserrat"/>
                <a:sym typeface="Montserrat"/>
              </a:rPr>
              <a:t> analyze data, build models, measure accuracy, repeat until it's good enough. </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a:latin typeface="Montserrat"/>
                <a:ea typeface="Montserrat"/>
                <a:cs typeface="Montserrat"/>
                <a:sym typeface="Montserrat"/>
              </a:rPr>
              <a:t>That loop is human work. It requires:</a:t>
            </a:r>
            <a:endParaRPr sz="1000">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AutoNum type="arabicPeriod"/>
            </a:pPr>
            <a:r>
              <a:rPr lang="en-US" sz="1000">
                <a:latin typeface="Montserrat"/>
                <a:ea typeface="Montserrat"/>
                <a:cs typeface="Montserrat"/>
                <a:sym typeface="Montserrat"/>
              </a:rPr>
              <a:t>Judgment about whether the model actually captures what the business needs.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Understanding of edge cases that no automation is going to find for you.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The kind of domain fluency that comes from sitting in meetings with </a:t>
            </a:r>
            <a:endParaRPr sz="1000">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AutoNum type="alphaLcPeriod"/>
            </a:pPr>
            <a:r>
              <a:rPr lang="en-US" sz="1000">
                <a:latin typeface="Montserrat"/>
                <a:ea typeface="Montserrat"/>
                <a:cs typeface="Montserrat"/>
                <a:sym typeface="Montserrat"/>
              </a:rPr>
              <a:t>the compliance team and </a:t>
            </a:r>
            <a:endParaRPr sz="1000">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AutoNum type="alphaLcPeriod"/>
            </a:pPr>
            <a:r>
              <a:rPr lang="en-US" sz="1000">
                <a:latin typeface="Montserrat"/>
                <a:ea typeface="Montserrat"/>
                <a:cs typeface="Montserrat"/>
                <a:sym typeface="Montserrat"/>
              </a:rPr>
              <a:t>the product team and </a:t>
            </a:r>
            <a:endParaRPr sz="1000">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AutoNum type="alphaLcPeriod"/>
            </a:pPr>
            <a:r>
              <a:rPr lang="en-US" sz="1000">
                <a:latin typeface="Montserrat"/>
                <a:ea typeface="Montserrat"/>
                <a:cs typeface="Montserrat"/>
                <a:sym typeface="Montserrat"/>
              </a:rPr>
              <a:t>the operations team and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b="1" i="1">
                <a:latin typeface="Montserrat"/>
                <a:ea typeface="Montserrat"/>
                <a:cs typeface="Montserrat"/>
                <a:sym typeface="Montserrat"/>
              </a:rPr>
              <a:t>understanding how all of those perspectives connect.</a:t>
            </a:r>
            <a:endParaRPr sz="1000" b="1" i="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But the output of that loop is a SQL implementation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Yesterday. And Today. and Tomorrow.</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 set of SQL statements that:</a:t>
            </a:r>
            <a:endParaRPr sz="1000">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AutoNum type="arabicPeriod"/>
            </a:pPr>
            <a:r>
              <a:rPr lang="en-US" sz="1000">
                <a:latin typeface="Montserrat"/>
                <a:ea typeface="Montserrat"/>
                <a:cs typeface="Montserrat"/>
                <a:sym typeface="Montserrat"/>
              </a:rPr>
              <a:t>represent how a new data science model ships into production. A set of SQL statements that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can be reviewed for security, fo</a:t>
            </a:r>
            <a:r>
              <a:rPr lang="en-US" sz="1000" b="1">
                <a:latin typeface="Montserrat"/>
                <a:ea typeface="Montserrat"/>
                <a:cs typeface="Montserrat"/>
                <a:sym typeface="Montserrat"/>
              </a:rPr>
              <a:t>r HIPAA compliance, for EU AI Act compliance, for GDPR compliance</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a:latin typeface="Montserrat"/>
                <a:ea typeface="Montserrat"/>
                <a:cs typeface="Montserrat"/>
                <a:sym typeface="Montserrat"/>
              </a:rPr>
              <a:t>And yes, we already are all in for using AI to write the SQL</a:t>
            </a:r>
            <a:r>
              <a:rPr lang="en-US" sz="1000" b="1">
                <a:latin typeface="Montserrat"/>
                <a:ea typeface="Montserrat"/>
                <a:cs typeface="Montserrat"/>
                <a:sym typeface="Montserrat"/>
              </a:rPr>
              <a:t>. </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But There still is the moment of review, pause, only pass if people say go… </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0" lvl="0" indent="0" algn="l" rtl="0">
              <a:lnSpc>
                <a:spcPct val="115000"/>
              </a:lnSpc>
              <a:spcBef>
                <a:spcPts val="1000"/>
              </a:spcBef>
              <a:spcAft>
                <a:spcPts val="0"/>
              </a:spcAft>
              <a:buNone/>
            </a:pPr>
            <a:endParaRPr sz="1000">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That’s how you make room for ethics in your builds.</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once you have that SQL? Once a human has reviewed it and said, yes, this is correct, this is what we want to compute, and this is safe to run?</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You can let AI automate everything below the line.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AI can automate </a:t>
            </a:r>
            <a:r>
              <a:rPr lang="en-US" sz="1000" b="1" i="1">
                <a:latin typeface="Montserrat"/>
                <a:ea typeface="Montserrat"/>
                <a:cs typeface="Montserrat"/>
                <a:sym typeface="Montserrat"/>
              </a:rPr>
              <a:t>how</a:t>
            </a:r>
            <a:r>
              <a:rPr lang="en-US" sz="1000" b="1">
                <a:latin typeface="Montserrat"/>
                <a:ea typeface="Montserrat"/>
                <a:cs typeface="Montserrat"/>
                <a:sym typeface="Montserrat"/>
              </a:rPr>
              <a:t> the work gets done.</a:t>
            </a:r>
            <a:endParaRPr sz="1000" b="1">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AutoNum type="arabicPeriod"/>
            </a:pPr>
            <a:r>
              <a:rPr lang="en-US" sz="1000">
                <a:latin typeface="Montserrat"/>
                <a:ea typeface="Montserrat"/>
                <a:cs typeface="Montserrat"/>
                <a:sym typeface="Montserrat"/>
              </a:rPr>
              <a:t>The pipelines.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The APIs.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The feedback loops.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The infrastructure configuration.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The deployment.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The monitoring.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All of it.</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Think about what that does for your team.</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1000"/>
              </a:spcAft>
              <a:buClr>
                <a:schemeClr val="dk1"/>
              </a:buClr>
              <a:buSzPts val="1100"/>
              <a:buFont typeface="Arial"/>
              <a:buNone/>
            </a:pPr>
            <a:endParaRPr sz="1000">
              <a:latin typeface="Montserrat"/>
              <a:ea typeface="Montserrat"/>
              <a:cs typeface="Montserrat"/>
              <a:sym typeface="Montserrat"/>
            </a:endParaRPr>
          </a:p>
        </p:txBody>
      </p:sp>
      <p:sp>
        <p:nvSpPr>
          <p:cNvPr id="331" name="Google Shape;33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GROUP BY: what your teams get back</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Data engineers: plumbers → engineers. They translate business problems into data problems. "AI can't sit in a room and get five executives to agree on what 'churn' means."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DevOps: hand-holding → standardization. Compaction, logs, audits, back pressure, and finally time for R&amp;D.</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relationship: friction → trust. DevOps and data engineers get time to grab a beer and understand each other.</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From almost twenty years in: technical problems almost never kill a data initiative. Teams not understanding each other does.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SQL fixes something technical AND something human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It looks like data mesh's promise (ownership, faster analytics, tighter collaboration), reached through workflow automation instead of org redesign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TRANSITION: two reasons SQL is a good bet for years, or decades</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GROUP BY</a:t>
            </a:r>
            <a:endParaRPr sz="1300">
              <a:latin typeface="Roboto SemiBold"/>
              <a:ea typeface="Roboto SemiBold"/>
              <a:cs typeface="Roboto SemiBold"/>
              <a:sym typeface="Roboto SemiBold"/>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Your data engineers get to spend their time where their expertise matters most: translating business problems into data problems. The business wants a recommendation engine, lower churn, better customer support, more efficient fulfillment. Someone has to figure out what any of that actually means in terms of data, and then align the stakeholders who are going to build and use it. That's the work. That's where human judgment lives. AI can study correlations. AI can't sit in a room and get five executives to agree on what 'churn' means. For data engineers, that means no more spending weeks troubleshooting pipeline configurations or debugging API payloads for the third time this quarter. Instead, they're doing the intellectually challenging, high-judgment work that they signed up for.</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Your DevOps team? Their world changes too. If AI has automated the infrastructure below the SQL line, you can finally standardize on a platform instead of having one DevOps engineer hand-hold every data pipeline. That scales. Your DevOps engineers become managers of compaction strategies. They're observing logs and audit workflows, monitoring for scale issues and back pressure, escalating when infrastructure needs to grow. And because they're not buried in the manual work of standing up infrastructure for every new data product, they actually get time for R&amp;D. Time to improve tools, research better architectural patterns, and stay ahead of what's coming next.</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Now, I want to tell you about something I care about deeply, and I think you should care about it too. When you free up that time for your teams, something else happens. Your DevOps engineers actually get to go have beers with your data engineering team. They build relationships. They start to understand each other's problems. And that cross-team trust? It makes everything else work better.</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I know that sounds soft. But I've been doing this for almost twenty years, and I can tell you from experience: the technical problems are almost never what kills a data initiative inside an enterprise. What kills it is that the teams don't understand each other. The data engineers are frustrated because DevOps keeps breaking their pipelines. DevOps is frustrated because the data engineers keep shipping models that blow up the infrastructure. And nobody has time to sit down and talk about it because everyone is drowning in manual work.</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SQL as the collaboration point fixes something technical. But it also fixes something human.</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And if you step back and look at what emerges from this approach</a:t>
            </a:r>
            <a:r>
              <a:rPr lang="en-US" sz="1000">
                <a:latin typeface="Montserrat"/>
                <a:ea typeface="Montserrat"/>
                <a:cs typeface="Montserrat"/>
                <a:sym typeface="Montserrat"/>
              </a:rPr>
              <a:t>,</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 it looks remarkably similar to the </a:t>
            </a:r>
            <a:r>
              <a:rPr lang="en-US" sz="1000" b="1">
                <a:latin typeface="Montserrat"/>
                <a:ea typeface="Montserrat"/>
                <a:cs typeface="Montserrat"/>
                <a:sym typeface="Montserrat"/>
              </a:rPr>
              <a:t>communication patterns that data mesh promised a few years ago.</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AutoNum type="arabicPeriod"/>
            </a:pPr>
            <a:r>
              <a:rPr lang="en-US" sz="1000">
                <a:latin typeface="Montserrat"/>
                <a:ea typeface="Montserrat"/>
                <a:cs typeface="Montserrat"/>
                <a:sym typeface="Montserrat"/>
              </a:rPr>
              <a:t>Clear ownership.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Faster access to analytics.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Tighter collaboration between business and engineering. </a:t>
            </a:r>
            <a:endParaRPr sz="1000">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a:latin typeface="Montserrat"/>
                <a:ea typeface="Montserrat"/>
                <a:cs typeface="Montserrat"/>
                <a:sym typeface="Montserrat"/>
              </a:rPr>
              <a:t>The difference is that </a:t>
            </a:r>
            <a:r>
              <a:rPr lang="en-US" sz="1000" b="1">
                <a:latin typeface="Montserrat"/>
                <a:ea typeface="Montserrat"/>
                <a:cs typeface="Montserrat"/>
                <a:sym typeface="Montserrat"/>
              </a:rPr>
              <a:t>we're getting there through workflow automation rather than organizational redesign</a:t>
            </a:r>
            <a:r>
              <a:rPr lang="en-US" sz="1000">
                <a:latin typeface="Montserrat"/>
                <a:ea typeface="Montserrat"/>
                <a:cs typeface="Montserrat"/>
                <a:sym typeface="Montserrat"/>
              </a:rPr>
              <a:t>.</a:t>
            </a:r>
            <a:endParaRPr sz="1000">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 You don't have to restructure your entire company around data domains. </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You just have to agree on the SQL (already happening any way) and </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let the automation handle the rest.</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 TRANSITION – </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So if we are going all in on SQL between data engineers and devOps - </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b="1">
                <a:latin typeface="Montserrat"/>
                <a:ea typeface="Montserrat"/>
                <a:cs typeface="Montserrat"/>
                <a:sym typeface="Montserrat"/>
              </a:rPr>
              <a:t>let me give you 2 reasons why this is a good choice for years, or decades.</a:t>
            </a: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None/>
            </a:pPr>
            <a:endParaRPr sz="1000" b="1">
              <a:latin typeface="Montserrat"/>
              <a:ea typeface="Montserrat"/>
              <a:cs typeface="Montserrat"/>
              <a:sym typeface="Montserrat"/>
            </a:endParaRPr>
          </a:p>
          <a:p>
            <a:pPr marL="0" lvl="0" indent="0" algn="l" rtl="0">
              <a:lnSpc>
                <a:spcPct val="115000"/>
              </a:lnSpc>
              <a:spcBef>
                <a:spcPts val="1000"/>
              </a:spcBef>
              <a:spcAft>
                <a:spcPts val="1000"/>
              </a:spcAft>
              <a:buNone/>
            </a:pPr>
            <a:endParaRPr sz="1000" b="1">
              <a:latin typeface="Montserrat"/>
              <a:ea typeface="Montserrat"/>
              <a:cs typeface="Montserrat"/>
              <a:sym typeface="Montserrat"/>
            </a:endParaRPr>
          </a:p>
        </p:txBody>
      </p:sp>
      <p:sp>
        <p:nvSpPr>
          <p:cNvPr id="375" name="Google Shape;37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FULL OUTER JOIN: Reason 1. SQL balances the business.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Three groups must agree: domain experts and PMs • data engineers and scientists • DevOps (all of ops, MLOps included)</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SQL is the one language all three read: experts check meaning, engineers check correctness, DevOps check stability (no 2 AM runaway query)</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Nobody sets AI loose end to end. You need an observable, loggable point to measure budget, accuracy, security, compliance and governance.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You can audit, diff, test, and log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POINT: SQL is human-readable, machine-parseable, and auditable at every level of the stack. Pipeline configs and IaC aren't where humans should collaborate.</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First Reason - balance w/ the business! </a:t>
            </a:r>
            <a:endParaRPr sz="1300">
              <a:latin typeface="Roboto SemiBold"/>
              <a:ea typeface="Roboto SemiBold"/>
              <a:cs typeface="Roboto SemiBold"/>
              <a:sym typeface="Roboto SemiBold"/>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Let's go deeper into why SQL is the right layer.</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When you're pulling together enterprise data architecture in the era of AI, you need three groups of people to agree on what's happening. The business side: domain experts and the product managers who envision the outcome. The data side: data engineers who understand the data, and sometimes the data scientists who build the models. And the infrastructure side: DevOps engineers, and I'm using DevOps broadly here to mean all of operations, MLOps included.</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SQL is the one language that all three of those groups can read. The domain expert can look at a SQL statement and verify that the metric being computed is actually measuring what the business thinks it's measuring. The data engineer can look at it and verify that the joins and aggregations are correct and that the model is accurate. The DevOps engineer can look at it and verify that it's not going to create a runaway query that crashes the production database at 2 AM.</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There's another reason this matters. In an enterprise, you are not just going to set AI loose to automate this entire process end to end. Nobody is doing that. Nobody should be doing that. There needs to be an observable, loggable point where you can measure three things: your infrastructure capacity (aka… your budget), the analytical accuracy of what you're computing, your security, and your compliance / governance frameworks. So much regulatory scrutiny here.</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SQL is the right layer for all three.</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You can audit SQL for compliance. You can diff SQL for change management. You can test SQL for accuracy. You can log SQL for observability. SQL gives you a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—--POINT—-</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SQL IS THE ONE LANGUAGE that is</a:t>
            </a:r>
            <a:r>
              <a:rPr lang="en-US" sz="1000">
                <a:latin typeface="Montserrat"/>
                <a:ea typeface="Montserrat"/>
                <a:cs typeface="Montserrat"/>
                <a:sym typeface="Montserrat"/>
              </a:rPr>
              <a:t> is human-readable, machine-parseable, and auditable at every level of the stack.</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You're not going to get that same transparency from pipeline configurations or API gateway definitions or infrastructure-as-code templates. Those things matter, but they're not where humans should be collaborating. SQL is.</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1000"/>
              </a:spcAft>
              <a:buClr>
                <a:schemeClr val="dk1"/>
              </a:buClr>
              <a:buSzPts val="1100"/>
              <a:buFont typeface="Arial"/>
              <a:buNone/>
            </a:pPr>
            <a:endParaRPr sz="1000">
              <a:latin typeface="Montserrat"/>
              <a:ea typeface="Montserrat"/>
              <a:cs typeface="Montserrat"/>
              <a:sym typeface="Montserrat"/>
            </a:endParaRPr>
          </a:p>
        </p:txBody>
      </p:sp>
      <p:sp>
        <p:nvSpPr>
          <p:cNvPr id="400" name="Google Shape;40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COMMIT: Reason 2. Every hype wave pulls back to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Will this still matter in three years?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Walk the six waves: relational, object-oriented, MapReduce, NoSQL, graph (I was deep in it), AI/vector. Every one pulled back to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Land it: "The hypes come and go. SQL stays." When you build for enterprises, "you bet on patterns, not hypes."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TRANSITION: after the book, Matthias built tooling that makes this real, and we've used it together on real enterprise builds. Not a theory. Tested in production.</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Second Reason - hype waves keep going back to SQL!</a:t>
            </a:r>
            <a:endParaRPr sz="1300">
              <a:latin typeface="Roboto SemiBold"/>
              <a:ea typeface="Roboto SemiBold"/>
              <a:cs typeface="Roboto SemiBold"/>
              <a:sym typeface="Roboto SemiBold"/>
            </a:endParaRPr>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Why would this particular approach still matter in three years?</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I've been in this industry long enough to watch several waves come and go. The NoSQL wave. The graph wave, which I was deep in. The MapReduce wave. And every single time, the industry gravitates back to SQL as the common language for working with data. SQL is where the gravitational force always pulls back to. The hypes come and go. SQL stays. That's not nostalgia. That's a pattern. And when you're building for enterprises, you bet on patterns, not hypes.</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 Transition –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After our book came out, Matthias took this idea and ran with it</a:t>
            </a:r>
            <a:r>
              <a:rPr lang="en-US" sz="1000">
                <a:latin typeface="Montserrat"/>
                <a:ea typeface="Montserrat"/>
                <a:cs typeface="Montserrat"/>
                <a:sym typeface="Montserrat"/>
              </a:rPr>
              <a:t>.</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He's been building tooling that takes this exact concept and makes it real: you write SQL, and the platform handles the infrastructure automation below the line. And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we've been using that approach together now on real enterprise implementations</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So what I'm presenting today isn't just a theory.</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It's something we've been testing and learning from in production.</a:t>
            </a:r>
            <a:endParaRPr sz="1000" b="1">
              <a:latin typeface="Montserrat"/>
              <a:ea typeface="Montserrat"/>
              <a:cs typeface="Montserrat"/>
              <a:sym typeface="Montserrat"/>
            </a:endParaRPr>
          </a:p>
          <a:p>
            <a:pPr marL="0" lvl="0" indent="0" algn="l" rtl="0">
              <a:lnSpc>
                <a:spcPct val="115000"/>
              </a:lnSpc>
              <a:spcBef>
                <a:spcPts val="1000"/>
              </a:spcBef>
              <a:spcAft>
                <a:spcPts val="1000"/>
              </a:spcAft>
              <a:buClr>
                <a:schemeClr val="dk1"/>
              </a:buClr>
              <a:buSzPts val="1100"/>
              <a:buFont typeface="Arial"/>
              <a:buNone/>
            </a:pPr>
            <a:endParaRPr/>
          </a:p>
        </p:txBody>
      </p:sp>
      <p:sp>
        <p:nvSpPr>
          <p:cNvPr id="435" name="Google Shape;43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d92324cf16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g3d92324cf16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HIDDEN SLIDE • STORY: COMMIT: the durable pain is integration, not the AI</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25 new LLMs next year, an order of magnitude more frameworks: that keeps moving</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durable pain: the right data, from the right sources, with the right access controls, in the right shape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That's what SQL as the collaboration point is designed to address</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0"/>
              </a:spcBef>
              <a:spcAft>
                <a:spcPts val="0"/>
              </a:spcAft>
              <a:buNone/>
            </a:pPr>
            <a:r>
              <a:rPr lang="en-US" sz="1000">
                <a:latin typeface="Montserrat"/>
                <a:ea typeface="Montserrat"/>
                <a:cs typeface="Montserrat"/>
                <a:sym typeface="Montserrat"/>
              </a:rPr>
              <a:t>But the bigger reason I believe this approach will hold up is because the durable pain in this space was never about the AI. We're going to have 25 new LLMs in the next year that outcompete on all kinds of metrics. We're going to have an order of magnitude more frameworks. That stuff keeps moving. The durable pain is the data integration. Getting the right data, from the right sources, with the right access controls, into the right shape, so that AI can actually do something useful with it. That integration challenge is going to be sitting on every enterprise architect's desk for the next decade, regardless of which model or framework is popular at any given moment.</a:t>
            </a:r>
            <a:endParaRPr sz="1000">
              <a:latin typeface="Montserrat"/>
              <a:ea typeface="Montserrat"/>
              <a:cs typeface="Montserrat"/>
              <a:sym typeface="Montserrat"/>
            </a:endParaRPr>
          </a:p>
          <a:p>
            <a:pPr marL="0" lvl="0" indent="0" algn="l" rtl="0">
              <a:lnSpc>
                <a:spcPct val="115000"/>
              </a:lnSpc>
              <a:spcBef>
                <a:spcPts val="1000"/>
              </a:spcBef>
              <a:spcAft>
                <a:spcPts val="1000"/>
              </a:spcAft>
              <a:buNone/>
            </a:pPr>
            <a:r>
              <a:rPr lang="en-US" sz="1000">
                <a:latin typeface="Montserrat"/>
                <a:ea typeface="Montserrat"/>
                <a:cs typeface="Montserrat"/>
                <a:sym typeface="Montserrat"/>
              </a:rPr>
              <a:t>And that's exactly the challenge that SQL as a collaboration point is designed to address.</a:t>
            </a:r>
            <a:endParaRPr sz="1800">
              <a:latin typeface="DM Sans"/>
              <a:ea typeface="DM Sans"/>
              <a:cs typeface="DM Sans"/>
              <a:sym typeface="DM Sans"/>
            </a:endParaRPr>
          </a:p>
        </p:txBody>
      </p:sp>
      <p:sp>
        <p:nvSpPr>
          <p:cNvPr id="471" name="Google Shape;471;g3d92324cf16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d92324cf16_0_3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g3d92324cf16_0_3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EXECUTE: proof. Same pattern, three industries.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BANKING (brownfield): 50+ service domain teams (payments, fraud, onboarding, lending). A data engineer per team, or a central queue? Neither works.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"That's the bottleneck we've been talking about for the last thirty minutes, multiplied by fifty."</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goal: empower fifty teams to build their own pipelines without a data engineer each, and without fifty slightly different versions of the same pipeline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Banking answer: every team already writes SQL → one standard platform, automation below the line. "Fifty teams, one platform, one shared language."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HEALTHCARE (running at scale): HIPAA, clinical data; not exotic data science, a "get the right data into the right shape and ship it" problem stuck in the bottleneck</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TRAVEL (greenfield): where Matthias and I teamed up. A 70-year-old international network building a net-new product.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Travel question: building an analytics cloud from scratch in the age of AI, where do you put the humans and where do you let AI take over?</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Travel answer: humans review and agree at the SQL layer; AI built 50–70 analytics APIs plus operational ones, no hand-building</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Plug: follow the Substack for updates on the build</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000" b="1" i="1">
                <a:solidFill>
                  <a:srgbClr val="666666"/>
                </a:solidFill>
                <a:latin typeface="Montserrat"/>
                <a:ea typeface="Montserrat"/>
                <a:cs typeface="Montserrat"/>
                <a:sym typeface="Montserrat"/>
              </a:rPr>
              <a:t>Use Case: International Banking</a:t>
            </a:r>
            <a:endParaRPr sz="1000" b="1" i="1">
              <a:solidFill>
                <a:srgbClr val="666666"/>
              </a:solidFill>
              <a:latin typeface="Montserrat"/>
              <a:ea typeface="Montserrat"/>
              <a:cs typeface="Montserrat"/>
              <a:sym typeface="Montserrat"/>
            </a:endParaRPr>
          </a:p>
          <a:p>
            <a:pPr marL="457200" lvl="0" indent="-292100" algn="l" rtl="0">
              <a:lnSpc>
                <a:spcPct val="115000"/>
              </a:lnSpc>
              <a:spcBef>
                <a:spcPts val="1200"/>
              </a:spcBef>
              <a:spcAft>
                <a:spcPts val="0"/>
              </a:spcAft>
              <a:buSzPts val="1000"/>
              <a:buFont typeface="Montserrat"/>
              <a:buChar char="●"/>
            </a:pPr>
            <a:r>
              <a:rPr lang="en-US" sz="1000">
                <a:latin typeface="Montserrat"/>
                <a:ea typeface="Montserrat"/>
                <a:cs typeface="Montserrat"/>
                <a:sym typeface="Montserrat"/>
              </a:rPr>
              <a:t>Multiple databases.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Data spread across different domain contexts.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Regulatory requirements that made moving data across silos a security nightmare.</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Real Challenge:  This bank had more than fifty service domain teams, each owning a functional piece of the overall banking system.</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457200" lvl="0" indent="-292100" algn="l" rtl="0">
              <a:lnSpc>
                <a:spcPct val="115000"/>
              </a:lnSpc>
              <a:spcBef>
                <a:spcPts val="1200"/>
              </a:spcBef>
              <a:spcAft>
                <a:spcPts val="0"/>
              </a:spcAft>
              <a:buSzPts val="1000"/>
              <a:buFont typeface="Montserrat"/>
              <a:buChar char="●"/>
            </a:pPr>
            <a:r>
              <a:rPr lang="en-US" sz="1000">
                <a:latin typeface="Montserrat"/>
                <a:ea typeface="Montserrat"/>
                <a:cs typeface="Montserrat"/>
                <a:sym typeface="Montserrat"/>
              </a:rPr>
              <a:t>Payments.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Fraud.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Onboarding.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Lending. </a:t>
            </a:r>
            <a:endParaRPr sz="1000">
              <a:latin typeface="Montserrat"/>
              <a:ea typeface="Montserrat"/>
              <a:cs typeface="Montserrat"/>
              <a:sym typeface="Montserrat"/>
            </a:endParaRPr>
          </a:p>
          <a:p>
            <a:pPr marL="0" lvl="0" indent="0" algn="l" rtl="0">
              <a:lnSpc>
                <a:spcPct val="115000"/>
              </a:lnSpc>
              <a:spcBef>
                <a:spcPts val="1200"/>
              </a:spcBef>
              <a:spcAft>
                <a:spcPts val="0"/>
              </a:spcAft>
              <a:buNone/>
            </a:pPr>
            <a:r>
              <a:rPr lang="en-US" sz="1000">
                <a:latin typeface="Montserrat"/>
                <a:ea typeface="Montserrat"/>
                <a:cs typeface="Montserrat"/>
                <a:sym typeface="Montserrat"/>
              </a:rPr>
              <a:t>Each of them a software engineering team. </a:t>
            </a:r>
            <a:endParaRPr sz="1000">
              <a:latin typeface="Montserrat"/>
              <a:ea typeface="Montserrat"/>
              <a:cs typeface="Montserrat"/>
              <a:sym typeface="Montserrat"/>
            </a:endParaRPr>
          </a:p>
          <a:p>
            <a:pPr marL="0" lvl="0" indent="0" algn="l" rtl="0">
              <a:lnSpc>
                <a:spcPct val="115000"/>
              </a:lnSpc>
              <a:spcBef>
                <a:spcPts val="1200"/>
              </a:spcBef>
              <a:spcAft>
                <a:spcPts val="0"/>
              </a:spcAft>
              <a:buNone/>
            </a:pPr>
            <a:r>
              <a:rPr lang="en-US" sz="1000" b="1" i="1">
                <a:latin typeface="Montserrat"/>
                <a:ea typeface="Montserrat"/>
                <a:cs typeface="Montserrat"/>
                <a:sym typeface="Montserrat"/>
              </a:rPr>
              <a:t>And each of them needing to build data pipelines for features inside their own domain.</a:t>
            </a:r>
            <a:endParaRPr sz="1000" b="1" i="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Now think about what that means at scale. </a:t>
            </a:r>
            <a:endParaRPr sz="1000" b="1">
              <a:latin typeface="Montserrat"/>
              <a:ea typeface="Montserrat"/>
              <a:cs typeface="Montserrat"/>
              <a:sym typeface="Montserrat"/>
            </a:endParaRPr>
          </a:p>
          <a:p>
            <a:pPr marL="457200" lvl="0" indent="-292100" algn="l" rtl="0">
              <a:lnSpc>
                <a:spcPct val="115000"/>
              </a:lnSpc>
              <a:spcBef>
                <a:spcPts val="1200"/>
              </a:spcBef>
              <a:spcAft>
                <a:spcPts val="0"/>
              </a:spcAft>
              <a:buSzPts val="1000"/>
              <a:buFont typeface="Montserrat"/>
              <a:buAutoNum type="arabicPeriod"/>
            </a:pPr>
            <a:r>
              <a:rPr lang="en-US" sz="1000">
                <a:latin typeface="Montserrat"/>
                <a:ea typeface="Montserrat"/>
                <a:cs typeface="Montserrat"/>
                <a:sym typeface="Montserrat"/>
              </a:rPr>
              <a:t>Do you hire a data engineer for every one of those fifty teams? Good luck.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Do you centralize data engineering and make every service domain team wait in a queue? </a:t>
            </a:r>
            <a:endParaRPr sz="1000">
              <a:latin typeface="Montserrat"/>
              <a:ea typeface="Montserrat"/>
              <a:cs typeface="Montserrat"/>
              <a:sym typeface="Montserrat"/>
            </a:endParaRPr>
          </a:p>
          <a:p>
            <a:pPr marL="0" lvl="0" indent="0" algn="l" rtl="0">
              <a:lnSpc>
                <a:spcPct val="115000"/>
              </a:lnSpc>
              <a:spcBef>
                <a:spcPts val="1200"/>
              </a:spcBef>
              <a:spcAft>
                <a:spcPts val="0"/>
              </a:spcAft>
              <a:buNone/>
            </a:pPr>
            <a:r>
              <a:rPr lang="en-US" sz="1000">
                <a:latin typeface="Montserrat"/>
                <a:ea typeface="Montserrat"/>
                <a:cs typeface="Montserrat"/>
                <a:sym typeface="Montserrat"/>
              </a:rPr>
              <a:t>That's the bottleneck we've been talking about for the last thirty minutes, </a:t>
            </a:r>
            <a:endParaRPr sz="1000">
              <a:latin typeface="Montserrat"/>
              <a:ea typeface="Montserrat"/>
              <a:cs typeface="Montserrat"/>
              <a:sym typeface="Montserrat"/>
            </a:endParaRPr>
          </a:p>
          <a:p>
            <a:pPr marL="0" lvl="0" indent="0" algn="l" rtl="0">
              <a:lnSpc>
                <a:spcPct val="115000"/>
              </a:lnSpc>
              <a:spcBef>
                <a:spcPts val="1200"/>
              </a:spcBef>
              <a:spcAft>
                <a:spcPts val="0"/>
              </a:spcAft>
              <a:buNone/>
            </a:pPr>
            <a:r>
              <a:rPr lang="en-US" sz="1000" b="1">
                <a:latin typeface="Montserrat"/>
                <a:ea typeface="Montserrat"/>
                <a:cs typeface="Montserrat"/>
                <a:sym typeface="Montserrat"/>
              </a:rPr>
              <a:t>multiplied by fifty. Neither option works.</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So the question became: </a:t>
            </a:r>
            <a:endParaRPr sz="1000">
              <a:latin typeface="Montserrat"/>
              <a:ea typeface="Montserrat"/>
              <a:cs typeface="Montserrat"/>
              <a:sym typeface="Montserrat"/>
            </a:endParaRPr>
          </a:p>
          <a:p>
            <a:pPr marL="457200" lvl="0" indent="-292100" algn="l" rtl="0">
              <a:lnSpc>
                <a:spcPct val="115000"/>
              </a:lnSpc>
              <a:spcBef>
                <a:spcPts val="1200"/>
              </a:spcBef>
              <a:spcAft>
                <a:spcPts val="0"/>
              </a:spcAft>
              <a:buSzPts val="1000"/>
              <a:buFont typeface="Montserrat"/>
              <a:buAutoNum type="arabicPeriod"/>
            </a:pPr>
            <a:r>
              <a:rPr lang="en-US" sz="1000">
                <a:latin typeface="Montserrat"/>
                <a:ea typeface="Montserrat"/>
                <a:cs typeface="Montserrat"/>
                <a:sym typeface="Montserrat"/>
              </a:rPr>
              <a:t>how do you empower fifty service domain teams to build their own data pipelines </a:t>
            </a:r>
            <a:r>
              <a:rPr lang="en-US" sz="1000" b="1">
                <a:latin typeface="Montserrat"/>
                <a:ea typeface="Montserrat"/>
                <a:cs typeface="Montserrat"/>
                <a:sym typeface="Montserrat"/>
              </a:rPr>
              <a:t>without adding a data engineer to each one?</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a:latin typeface="Montserrat"/>
                <a:ea typeface="Montserrat"/>
                <a:cs typeface="Montserrat"/>
                <a:sym typeface="Montserrat"/>
              </a:rPr>
              <a:t>And how do you do it in a way that</a:t>
            </a:r>
            <a:r>
              <a:rPr lang="en-US" sz="1000" b="1">
                <a:latin typeface="Montserrat"/>
                <a:ea typeface="Montserrat"/>
                <a:cs typeface="Montserrat"/>
                <a:sym typeface="Montserrat"/>
              </a:rPr>
              <a:t> reduces redundancy across teams, instead of creating fifty slightly different versions of the same pipeline?</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They’ve been doing it with the pattern we are describing here:. SQL is a skill these software engineering teams already have.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Every one of those fifty teams can write SQL.</a:t>
            </a:r>
            <a:r>
              <a:rPr lang="en-US" sz="1000">
                <a:latin typeface="Montserrat"/>
                <a:ea typeface="Montserrat"/>
                <a:cs typeface="Montserrat"/>
                <a:sym typeface="Montserrat"/>
              </a:rPr>
              <a:t> </a:t>
            </a:r>
            <a:r>
              <a:rPr lang="en-US" sz="1000" i="1">
                <a:latin typeface="Montserrat"/>
                <a:ea typeface="Montserrat"/>
                <a:cs typeface="Montserrat"/>
                <a:sym typeface="Montserrat"/>
              </a:rPr>
              <a:t>What they cannot do, and should not have to do, is hand-build the infrastructure underneath it</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So the bank…</a:t>
            </a:r>
            <a:endParaRPr sz="1000" b="1">
              <a:latin typeface="Montserrat"/>
              <a:ea typeface="Montserrat"/>
              <a:cs typeface="Montserrat"/>
              <a:sym typeface="Montserrat"/>
            </a:endParaRPr>
          </a:p>
          <a:p>
            <a:pPr marL="457200" lvl="0" indent="-292100" algn="l" rtl="0">
              <a:lnSpc>
                <a:spcPct val="115000"/>
              </a:lnSpc>
              <a:spcBef>
                <a:spcPts val="1200"/>
              </a:spcBef>
              <a:spcAft>
                <a:spcPts val="0"/>
              </a:spcAft>
              <a:buSzPts val="1000"/>
              <a:buFont typeface="Montserrat"/>
              <a:buAutoNum type="arabicPeriod"/>
            </a:pPr>
            <a:r>
              <a:rPr lang="en-US" sz="1000" b="1">
                <a:latin typeface="Montserrat"/>
                <a:ea typeface="Montserrat"/>
                <a:cs typeface="Montserrat"/>
                <a:sym typeface="Montserrat"/>
              </a:rPr>
              <a:t>Standardized on a platform that lets each team express what they need in SQL, and </a:t>
            </a:r>
            <a:endParaRPr sz="1000" b="1">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AutoNum type="arabicPeriod"/>
            </a:pPr>
            <a:r>
              <a:rPr lang="en-US" sz="1000" b="1">
                <a:latin typeface="Montserrat"/>
                <a:ea typeface="Montserrat"/>
                <a:cs typeface="Montserrat"/>
                <a:sym typeface="Montserrat"/>
              </a:rPr>
              <a:t>The automation handles everything below that line. </a:t>
            </a:r>
            <a:endParaRPr sz="1000" b="1">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AutoNum type="alphaLcPeriod"/>
            </a:pPr>
            <a:r>
              <a:rPr lang="en-US" sz="1000" b="1">
                <a:latin typeface="Montserrat"/>
                <a:ea typeface="Montserrat"/>
                <a:cs typeface="Montserrat"/>
                <a:sym typeface="Montserrat"/>
              </a:rPr>
              <a:t>The pipelines. The APIs. </a:t>
            </a:r>
            <a:endParaRPr sz="1000" b="1">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AutoNum type="alphaLcPeriod"/>
            </a:pPr>
            <a:r>
              <a:rPr lang="en-US" sz="1000" b="1">
                <a:latin typeface="Montserrat"/>
                <a:ea typeface="Montserrat"/>
                <a:cs typeface="Montserrat"/>
                <a:sym typeface="Montserrat"/>
              </a:rPr>
              <a:t>The monitoring. </a:t>
            </a:r>
            <a:endParaRPr sz="1000" b="1">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AutoNum type="alphaLcPeriod"/>
            </a:pPr>
            <a:r>
              <a:rPr lang="en-US" sz="1000" b="1">
                <a:latin typeface="Montserrat"/>
                <a:ea typeface="Montserrat"/>
                <a:cs typeface="Montserrat"/>
                <a:sym typeface="Montserrat"/>
              </a:rPr>
              <a:t>The governance. </a:t>
            </a:r>
            <a:endParaRPr sz="1000" b="1">
              <a:latin typeface="Montserrat"/>
              <a:ea typeface="Montserrat"/>
              <a:cs typeface="Montserrat"/>
              <a:sym typeface="Montserrat"/>
            </a:endParaRPr>
          </a:p>
          <a:p>
            <a:pPr marL="0" lvl="0" indent="0" algn="l" rtl="0">
              <a:lnSpc>
                <a:spcPct val="115000"/>
              </a:lnSpc>
              <a:spcBef>
                <a:spcPts val="1200"/>
              </a:spcBef>
              <a:spcAft>
                <a:spcPts val="0"/>
              </a:spcAft>
              <a:buNone/>
            </a:pPr>
            <a:r>
              <a:rPr lang="en-US" sz="1000" b="1">
                <a:latin typeface="Montserrat"/>
                <a:ea typeface="Montserrat"/>
                <a:cs typeface="Montserrat"/>
                <a:sym typeface="Montserrat"/>
              </a:rPr>
              <a:t>That standardization is what makes it scale across the organization. </a:t>
            </a:r>
            <a:endParaRPr sz="1000" b="1">
              <a:latin typeface="Montserrat"/>
              <a:ea typeface="Montserrat"/>
              <a:cs typeface="Montserrat"/>
              <a:sym typeface="Montserrat"/>
            </a:endParaRPr>
          </a:p>
          <a:p>
            <a:pPr marL="0" lvl="0" indent="0" algn="l" rtl="0">
              <a:lnSpc>
                <a:spcPct val="115000"/>
              </a:lnSpc>
              <a:spcBef>
                <a:spcPts val="1200"/>
              </a:spcBef>
              <a:spcAft>
                <a:spcPts val="0"/>
              </a:spcAft>
              <a:buNone/>
            </a:pPr>
            <a:r>
              <a:rPr lang="en-US" sz="1000" b="1">
                <a:latin typeface="Montserrat"/>
                <a:ea typeface="Montserrat"/>
                <a:cs typeface="Montserrat"/>
                <a:sym typeface="Montserrat"/>
              </a:rPr>
              <a:t>Fifty teams, one platform, one shared language. </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The human work stays where the expertise lives, inside each domain team that knows their own data best. </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The machine work gets handled consistently across all of them.</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i="1">
                <a:solidFill>
                  <a:srgbClr val="666666"/>
                </a:solidFill>
                <a:latin typeface="Montserrat"/>
                <a:ea typeface="Montserrat"/>
                <a:cs typeface="Montserrat"/>
                <a:sym typeface="Montserrat"/>
              </a:rPr>
              <a:t>Use Case: International Healthcare</a:t>
            </a:r>
            <a:endParaRPr sz="1000" b="1" i="1">
              <a:solidFill>
                <a:srgbClr val="666666"/>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At a large international healthcare company, the shape of the problem rhymed with the bank</a:t>
            </a:r>
            <a:r>
              <a:rPr lang="en-US" sz="1000">
                <a:latin typeface="Montserrat"/>
                <a:ea typeface="Montserrat"/>
                <a:cs typeface="Montserrat"/>
                <a:sym typeface="Montserrat"/>
              </a:rPr>
              <a:t>, but the work was different. </a:t>
            </a:r>
            <a:endParaRPr sz="1000">
              <a:latin typeface="Montserrat"/>
              <a:ea typeface="Montserrat"/>
              <a:cs typeface="Montserrat"/>
              <a:sym typeface="Montserrat"/>
            </a:endParaRPr>
          </a:p>
          <a:p>
            <a:pPr marL="457200" lvl="0" indent="-292100" algn="l" rtl="0">
              <a:lnSpc>
                <a:spcPct val="115000"/>
              </a:lnSpc>
              <a:spcBef>
                <a:spcPts val="1200"/>
              </a:spcBef>
              <a:spcAft>
                <a:spcPts val="0"/>
              </a:spcAft>
              <a:buSzPts val="1000"/>
              <a:buFont typeface="Montserrat"/>
              <a:buChar char="●"/>
            </a:pPr>
            <a:r>
              <a:rPr lang="en-US" sz="1000">
                <a:latin typeface="Montserrat"/>
                <a:ea typeface="Montserrat"/>
                <a:cs typeface="Montserrat"/>
                <a:sym typeface="Montserrat"/>
              </a:rPr>
              <a:t>HIPAA instead of banking regulations.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Clinical data instead of transactions.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Multiple databases, different domain contexts, the same mandate to move faster without sacrificing security.</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This company isn't doing exotic data science.They don't have a bench of ML researchers hunting for novel correlations.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Their problem is much more mundane, and much more common: they collect enormous amounts of clinical data, and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they need to turn that data into products their customers actually find valuable.</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That's a "get the right data into the right shape and ship it" problem</a:t>
            </a:r>
            <a:r>
              <a:rPr lang="en-US" sz="1000">
                <a:latin typeface="Montserrat"/>
                <a:ea typeface="Montserrat"/>
                <a:cs typeface="Montserrat"/>
                <a:sym typeface="Montserrat"/>
              </a:rPr>
              <a:t>. It's not glamorous, and it's exactly the kind of work that gets stuck in the infrastructure bottleneck for months.</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i="1">
                <a:solidFill>
                  <a:srgbClr val="666666"/>
                </a:solidFill>
                <a:latin typeface="Montserrat Medium"/>
                <a:ea typeface="Montserrat Medium"/>
                <a:cs typeface="Montserrat Medium"/>
                <a:sym typeface="Montserrat Medium"/>
              </a:rPr>
              <a:t>Use Case: International Travel</a:t>
            </a:r>
            <a:endParaRPr sz="1000" i="1">
              <a:solidFill>
                <a:srgbClr val="666666"/>
              </a:solidFill>
              <a:latin typeface="Montserrat Medium"/>
              <a:ea typeface="Montserrat Medium"/>
              <a:cs typeface="Montserrat Medium"/>
              <a:sym typeface="Montserrat Medium"/>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this is where matthias and I teamed up. </a:t>
            </a:r>
            <a:endParaRPr sz="1000" b="1" i="1">
              <a:solidFill>
                <a:srgbClr val="666666"/>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International travel network. 70 year old business needing to build a net new product.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And this one was greenfield. No legacy pipelines to work around. </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Which meant we got to ask a cleaner version of the question: if you were building an enterprise analytics cloud from scratch, in the age of AI, where would you put the humans and where would you let AI take over?</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a:latin typeface="Montserrat"/>
                <a:ea typeface="Montserrat"/>
                <a:cs typeface="Montserrat"/>
                <a:sym typeface="Montserrat"/>
              </a:rPr>
              <a:t>We are building with the same pattern. The human collaboration is happening at the SQL layer, where the team members could see, review, and agree on exactly what was being computed. And AI automated the infrastructure underneath, building fifty to seventy analytics APIs and a handful of operational ones, without requiring a data engineer to hand-build each one</a:t>
            </a: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US" sz="1000" b="1">
                <a:latin typeface="Montserrat"/>
                <a:ea typeface="Montserrat"/>
                <a:cs typeface="Montserrat"/>
                <a:sym typeface="Montserrat"/>
              </a:rPr>
              <a:t>follow substack for regular updates on the build.</a:t>
            </a: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spcBef>
                <a:spcPts val="1200"/>
              </a:spcBef>
              <a:spcAft>
                <a:spcPts val="0"/>
              </a:spcAft>
              <a:buNone/>
            </a:pPr>
            <a:endParaRPr/>
          </a:p>
        </p:txBody>
      </p:sp>
      <p:sp>
        <p:nvSpPr>
          <p:cNvPr id="483" name="Google Shape;483;g3d92324cf16_0_3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d92324cf16_0_4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g3d92324cf16_0_4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NULL: honesty about what we don't have figured out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Is this going to be safe enough?</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 recent story: an agent took down a production volume, then wrote a post-mortem admitting it skipped multiple safeguards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That leads us to honest open questions</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NULL</a:t>
            </a:r>
            <a:endParaRPr sz="1300">
              <a:latin typeface="Roboto SemiBold"/>
              <a:ea typeface="Roboto SemiBold"/>
              <a:cs typeface="Roboto SemiBold"/>
              <a:sym typeface="Roboto SemiBold"/>
            </a:endParaRPr>
          </a:p>
          <a:p>
            <a:pPr marL="0" lvl="0" indent="0" algn="l" rtl="0">
              <a:lnSpc>
                <a:spcPct val="115000"/>
              </a:lnSpc>
              <a:spcBef>
                <a:spcPts val="0"/>
              </a:spcBef>
              <a:spcAft>
                <a:spcPts val="0"/>
              </a:spcAft>
              <a:buClr>
                <a:schemeClr val="dk1"/>
              </a:buClr>
              <a:buSzPts val="1100"/>
              <a:buFont typeface="Arial"/>
              <a:buNone/>
            </a:pPr>
            <a:r>
              <a:rPr lang="en-US" sz="1000" b="1">
                <a:latin typeface="Montserrat"/>
                <a:ea typeface="Montserrat"/>
                <a:cs typeface="Montserrat"/>
                <a:sym typeface="Montserrat"/>
              </a:rPr>
              <a:t>So here's where I get honest with you about what we don't have figured out yet.</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Depending on your perspective, is this going to be safe enough?</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Just yesterday - we heard of an agent that took down a production volume.</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The agent also provided a post mortem admitting it didnt adhere to multiple levels of safeguarding.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1000"/>
              </a:spcAft>
              <a:buClr>
                <a:schemeClr val="dk1"/>
              </a:buClr>
              <a:buSzPts val="1100"/>
              <a:buFont typeface="Arial"/>
              <a:buNone/>
            </a:pPr>
            <a:r>
              <a:rPr lang="en-US" sz="1000">
                <a:latin typeface="Montserrat"/>
                <a:ea typeface="Montserrat"/>
                <a:cs typeface="Montserrat"/>
                <a:sym typeface="Montserrat"/>
              </a:rPr>
              <a:t>So that leads us to honest open questions.</a:t>
            </a:r>
            <a:endParaRPr sz="1000">
              <a:latin typeface="Montserrat"/>
              <a:ea typeface="Montserrat"/>
              <a:cs typeface="Montserrat"/>
              <a:sym typeface="Montserrat"/>
            </a:endParaRPr>
          </a:p>
        </p:txBody>
      </p:sp>
      <p:sp>
        <p:nvSpPr>
          <p:cNvPr id="512" name="Google Shape;512;g3d92324cf16_0_4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d92324cf16_0_4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1" name="Google Shape;521;g3d92324cf16_0_4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NULL: four open questions, and an invitation to the room</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review_process: code review, automated compliance scan, or both? How do we know the SQL is what the business wants?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handoff: once SQL is approved, what does observability look like? What pulls a human back in?</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feedback_flow: when infrastructure surfaces issues, how does it reach the person who wrote the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the_line: as AI improves, does the line move? (the one that keeps me up at night) SQL is durable as the lingua franca of datawork, "but honestly, I want to hear from you on that."</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What does the review process look like at the SQL layer? Is it a code review by another engineer? Is it an automated compliance scan? Is it both? How do you build confidence that the SQL represents what the business actually wants?</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once the SQL is approved, what happens during the handoff to automated infrastructure? What does observability look like in that transition? What should trigger a human to step back in and review what AI is building?</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Then there's the feedback loop question. When the automated infrastructure surfaces performance issues or anomalies, how does that information flow back to the data engineers who wrote the SQL? How do you keep human collaboration and AI automation helping each other and getting better over time?</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then the big one, the one that keeps me up at night. As AI gets better, does the line move? Does SQL stay as the right collaboration point, or does something else emerge? I think SQL is durable because it's the lingua franca of datawork, but honestly, I want to hear from you on that.</a:t>
            </a:r>
            <a:endParaRPr sz="1000">
              <a:latin typeface="Montserrat"/>
              <a:ea typeface="Montserrat"/>
              <a:cs typeface="Montserrat"/>
              <a:sym typeface="Montserrat"/>
            </a:endParaRPr>
          </a:p>
          <a:p>
            <a:pPr marL="0" lvl="0" indent="0" algn="l" rtl="0">
              <a:spcBef>
                <a:spcPts val="1000"/>
              </a:spcBef>
              <a:spcAft>
                <a:spcPts val="0"/>
              </a:spcAft>
              <a:buClr>
                <a:schemeClr val="dk1"/>
              </a:buClr>
              <a:buFont typeface="Arial"/>
              <a:buNone/>
            </a:pPr>
            <a:endParaRPr/>
          </a:p>
          <a:p>
            <a:pPr marL="0" lvl="0" indent="0" algn="l" rtl="0">
              <a:spcBef>
                <a:spcPts val="0"/>
              </a:spcBef>
              <a:spcAft>
                <a:spcPts val="0"/>
              </a:spcAft>
              <a:buNone/>
            </a:pPr>
            <a:endParaRPr/>
          </a:p>
        </p:txBody>
      </p:sp>
      <p:sp>
        <p:nvSpPr>
          <p:cNvPr id="522" name="Google Shape;522;g3d92324cf16_0_4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d92324cf16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g3d92324cf16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COALESCE: bring it together</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My arc: ~2 decades in graph. We were right about the insight: connected data produces better outcomes.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Learned the hard way (400 pages, years of builds): tooling has to meet engineers where they are, and that's SQL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AI is already changing data architecture. The question is how to best use human intelligence.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Humans: domain models, UX with data, the SQL that operationalizes insight • AI: everything below the SQL line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People payoff: data engineers go from pipeline plumbers to real engineers (the civil engineer designing the bridge, not the person handed a shovel)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Not turning them into data scientists: most enterprises need collaborative filtering, a random forest, and real engineers who ship</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"I think it's at least a very promising path forward. And I'd love your help figuring out what we're missing."</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300">
                <a:latin typeface="Roboto SemiBold"/>
                <a:ea typeface="Roboto SemiBold"/>
                <a:cs typeface="Roboto SemiBold"/>
                <a:sym typeface="Roboto SemiBold"/>
              </a:rPr>
              <a:t>COALESCE</a:t>
            </a:r>
            <a:endParaRPr sz="1300">
              <a:latin typeface="Roboto SemiBold"/>
              <a:ea typeface="Roboto SemiBold"/>
              <a:cs typeface="Roboto SemiBold"/>
              <a:sym typeface="Roboto SemiBold"/>
            </a:endParaRPr>
          </a:p>
          <a:p>
            <a:pPr marL="0" lvl="0" indent="0" algn="l" rtl="0">
              <a:lnSpc>
                <a:spcPct val="115000"/>
              </a:lnSpc>
              <a:spcBef>
                <a:spcPts val="0"/>
              </a:spcBef>
              <a:spcAft>
                <a:spcPts val="0"/>
              </a:spcAft>
              <a:buClr>
                <a:schemeClr val="dk1"/>
              </a:buClr>
              <a:buSzPts val="1100"/>
              <a:buFont typeface="Arial"/>
              <a:buNone/>
            </a:pPr>
            <a:r>
              <a:rPr lang="en-US" sz="1000">
                <a:latin typeface="Montserrat"/>
                <a:ea typeface="Montserrat"/>
                <a:cs typeface="Montserrat"/>
                <a:sym typeface="Montserrat"/>
              </a:rPr>
              <a:t>Let’s bring it back together.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This talk came out of a specific arc in my career. I’ve spent almost 2 decade in graph data technology, driving in the space proving that connected data was the future of enterprise analytics.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a:t>
            </a:r>
            <a:r>
              <a:rPr lang="en-US" sz="1000" b="1">
                <a:latin typeface="Montserrat"/>
                <a:ea typeface="Montserrat"/>
                <a:cs typeface="Montserrat"/>
                <a:sym typeface="Montserrat"/>
              </a:rPr>
              <a:t>we were right about the insight</a:t>
            </a:r>
            <a:r>
              <a:rPr lang="en-US" sz="1000">
                <a:latin typeface="Montserrat"/>
                <a:ea typeface="Montserrat"/>
                <a:cs typeface="Montserrat"/>
                <a:sym typeface="Montserrat"/>
              </a:rPr>
              <a:t>. We were right that connecting data across silos produces better business outcomes.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But we learned, the hard way, across 400 pages of writing and years of implementation work, that the tooling has to meet engineers where they are. And where they are is SQL.</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Now we're in the era of AI, and the question isn't whether AI will change how we build enterprise data architecture.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It already is. The question is how to best leverage human intelligence and collaboration.</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What I'm proposing is that human intelligence goes where you can add the most value: collaborating on domain models, designing the user experience with data, and designing the SQL that operationalizes new insights.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that everything below the SQL line, the pipelines, the APIs, the feedback loops, the infrastructure, can be automated by AI.</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1/ People: </a:t>
            </a:r>
            <a:r>
              <a:rPr lang="en-US" sz="1000">
                <a:latin typeface="Montserrat"/>
                <a:ea typeface="Montserrat"/>
                <a:cs typeface="Montserrat"/>
                <a:sym typeface="Montserrat"/>
              </a:rPr>
              <a:t>Your data engineers go from being pipeline plumbers to being actual engineers. The people who understand a problem and build the solution. Think civil engineers building a bridge. They study the terrain, they understand the load, they design the structure, they stake their name on it. That's engineering. Most data engineers today are handed a shovel and told to dig. We can do better than that. And to be clear, this isn't about turning your data engineers into data scientists. Most enterprises don't actually need a bench of data scientists. They're not building novel recommendation engines. They need solid collaborative filtering, a random forest with a dozen obvious features, and a team of real engineers who can design and ship the data products that move the business. That's what this unlocks.</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Is it the right answer? I think it's at least a very promising path forward. And I'd love your help figuring out what we're missing.</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a:p>
          <a:p>
            <a:pPr marL="0" lvl="0" indent="0" algn="l" rtl="0">
              <a:spcBef>
                <a:spcPts val="1000"/>
              </a:spcBef>
              <a:spcAft>
                <a:spcPts val="0"/>
              </a:spcAft>
              <a:buClr>
                <a:schemeClr val="dk1"/>
              </a:buClr>
              <a:buFont typeface="Arial"/>
              <a:buNone/>
            </a:pPr>
            <a:endParaRPr/>
          </a:p>
          <a:p>
            <a:pPr marL="0" lvl="0" indent="0" algn="l" rtl="0">
              <a:spcBef>
                <a:spcPts val="0"/>
              </a:spcBef>
              <a:spcAft>
                <a:spcPts val="0"/>
              </a:spcAft>
              <a:buNone/>
            </a:pPr>
            <a:endParaRPr/>
          </a:p>
        </p:txBody>
      </p:sp>
      <p:sp>
        <p:nvSpPr>
          <p:cNvPr id="554" name="Google Shape;554;g3d92324cf16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d8feee86e3_2_4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g3d8feee86e3_2_4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COALESCE: the call to action and the closing thesis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If this resonated, or you're building something similar, I want to hear from you. This is an active area of research and implementation for us.</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CTAs: 3PM today, graph book signing • 11am tomorrow, DataSQRL</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Two invites: "that's exactly what my team needs" → tell me your architecture, silos, compliance • "Hell no" → I absolutely want to hear why</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Setup: everyone is talking about AI generating insights, replacing analysts, producing code. And sure, that's happening.</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Thesis: the most impactful application of AI in enterprise data may be the least flashy: automating the infrastructure between a business decision and a usable metric</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Shorten that feedback loop. Get out of the way so people can do the work that actually requires human judgment.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CONCLUSION: the tech keeps evolving. Rethinking the operational flow (where people stay involved, where automation helps) decides whether any of this lands. Thank you.</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lnSpc>
                <a:spcPct val="115000"/>
              </a:lnSpc>
              <a:spcBef>
                <a:spcPts val="0"/>
              </a:spcBef>
              <a:spcAft>
                <a:spcPts val="0"/>
              </a:spcAft>
              <a:buClr>
                <a:schemeClr val="dk1"/>
              </a:buClr>
              <a:buSzPts val="1100"/>
              <a:buFont typeface="Arial"/>
              <a:buNone/>
            </a:pP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If any of this resonated, or if you're building something similar inside your organization, I want to hear from you</a:t>
            </a:r>
            <a:r>
              <a:rPr lang="en-US" sz="1000">
                <a:latin typeface="Montserrat"/>
                <a:ea typeface="Montserrat"/>
                <a:cs typeface="Montserrat"/>
                <a:sym typeface="Montserrat"/>
              </a:rPr>
              <a:t>.</a:t>
            </a:r>
            <a:endParaRPr sz="1000">
              <a:latin typeface="Montserrat"/>
              <a:ea typeface="Montserrat"/>
              <a:cs typeface="Montserrat"/>
              <a:sym typeface="Montserrat"/>
            </a:endParaRPr>
          </a:p>
          <a:p>
            <a:pPr marL="0" lvl="0" indent="0" algn="l" rtl="0">
              <a:lnSpc>
                <a:spcPct val="115000"/>
              </a:lnSpc>
              <a:spcBef>
                <a:spcPts val="1000"/>
              </a:spcBef>
              <a:spcAft>
                <a:spcPts val="0"/>
              </a:spcAft>
              <a:buNone/>
            </a:pPr>
            <a:r>
              <a:rPr lang="en-US" sz="1000">
                <a:latin typeface="Montserrat"/>
                <a:ea typeface="Montserrat"/>
                <a:cs typeface="Montserrat"/>
                <a:sym typeface="Montserrat"/>
              </a:rPr>
              <a:t>This is an active area of research and implementation for us. </a:t>
            </a:r>
            <a:endParaRPr sz="1000">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Char char="●"/>
            </a:pPr>
            <a:r>
              <a:rPr lang="en-US" sz="1000" b="1">
                <a:latin typeface="Montserrat"/>
                <a:ea typeface="Montserrat"/>
                <a:cs typeface="Montserrat"/>
                <a:sym typeface="Montserrat"/>
              </a:rPr>
              <a:t>3PM Today</a:t>
            </a:r>
            <a:r>
              <a:rPr lang="en-US" sz="1000">
                <a:latin typeface="Montserrat"/>
                <a:ea typeface="Montserrat"/>
                <a:cs typeface="Montserrat"/>
                <a:sym typeface="Montserrat"/>
              </a:rPr>
              <a:t> graph book signing for mre graph data backstory, the O'Reilly book is out there.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b="1">
                <a:latin typeface="Montserrat"/>
                <a:ea typeface="Montserrat"/>
                <a:cs typeface="Montserrat"/>
                <a:sym typeface="Montserrat"/>
              </a:rPr>
              <a:t>11am tomorrow </a:t>
            </a:r>
            <a:r>
              <a:rPr lang="en-US" sz="1000">
                <a:latin typeface="Montserrat"/>
                <a:ea typeface="Montserrat"/>
                <a:cs typeface="Montserrat"/>
                <a:sym typeface="Montserrat"/>
              </a:rPr>
              <a:t>If you want to see this approach in action, reach out about the work we're doing at DataSQRL.</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b="1">
                <a:latin typeface="Montserrat"/>
                <a:ea typeface="Montserrat"/>
                <a:cs typeface="Montserrat"/>
                <a:sym typeface="Montserrat"/>
              </a:rPr>
              <a:t>data engineer or a DevOps engineer sitting</a:t>
            </a:r>
            <a:r>
              <a:rPr lang="en-US" sz="1000">
                <a:latin typeface="Montserrat"/>
                <a:ea typeface="Montserrat"/>
                <a:cs typeface="Montserrat"/>
                <a:sym typeface="Montserrat"/>
              </a:rPr>
              <a:t> in this room thinking,</a:t>
            </a:r>
            <a:endParaRPr sz="1000">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Char char="○"/>
            </a:pPr>
            <a:r>
              <a:rPr lang="en-US" sz="1000" b="1">
                <a:latin typeface="Montserrat"/>
                <a:ea typeface="Montserrat"/>
                <a:cs typeface="Montserrat"/>
                <a:sym typeface="Montserrat"/>
              </a:rPr>
              <a:t>"that's exactly what my team needs,</a:t>
            </a:r>
            <a:r>
              <a:rPr lang="en-US" sz="1000">
                <a:latin typeface="Montserrat"/>
                <a:ea typeface="Montserrat"/>
                <a:cs typeface="Montserrat"/>
                <a:sym typeface="Montserrat"/>
              </a:rPr>
              <a:t>" come tell me about your architecture. I want to know what your silos look like, what your compliance requirements are, and where you are struggling today.</a:t>
            </a:r>
            <a:endParaRPr sz="1000">
              <a:latin typeface="Montserrat"/>
              <a:ea typeface="Montserrat"/>
              <a:cs typeface="Montserrat"/>
              <a:sym typeface="Montserrat"/>
            </a:endParaRPr>
          </a:p>
          <a:p>
            <a:pPr marL="914400" lvl="1" indent="-292100" algn="l" rtl="0">
              <a:lnSpc>
                <a:spcPct val="115000"/>
              </a:lnSpc>
              <a:spcBef>
                <a:spcPts val="0"/>
              </a:spcBef>
              <a:spcAft>
                <a:spcPts val="0"/>
              </a:spcAft>
              <a:buSzPts val="1000"/>
              <a:buFont typeface="Montserrat"/>
              <a:buChar char="○"/>
            </a:pPr>
            <a:r>
              <a:rPr lang="en-US" sz="1000" b="1">
                <a:latin typeface="Montserrat"/>
                <a:ea typeface="Montserrat"/>
                <a:cs typeface="Montserrat"/>
                <a:sym typeface="Montserrat"/>
              </a:rPr>
              <a:t>“Hell no”. </a:t>
            </a:r>
            <a:r>
              <a:rPr lang="en-US" sz="1000">
                <a:latin typeface="Montserrat"/>
                <a:ea typeface="Montserrat"/>
                <a:cs typeface="Montserrat"/>
                <a:sym typeface="Montserrat"/>
              </a:rPr>
              <a:t>Then I absoutley want to hear from you. Why? </a:t>
            </a:r>
            <a:endParaRPr sz="1000">
              <a:latin typeface="Montserrat"/>
              <a:ea typeface="Montserrat"/>
              <a:cs typeface="Montserrat"/>
              <a:sym typeface="Montserrat"/>
            </a:endParaRPr>
          </a:p>
          <a:p>
            <a:pPr marL="1371600" lvl="2" indent="-292100" algn="l" rtl="0">
              <a:lnSpc>
                <a:spcPct val="115000"/>
              </a:lnSpc>
              <a:spcBef>
                <a:spcPts val="0"/>
              </a:spcBef>
              <a:spcAft>
                <a:spcPts val="0"/>
              </a:spcAft>
              <a:buSzPts val="1000"/>
              <a:buFont typeface="Montserrat"/>
              <a:buChar char="■"/>
            </a:pPr>
            <a:r>
              <a:rPr lang="en-US" sz="1000" b="1">
                <a:latin typeface="Montserrat"/>
                <a:ea typeface="Montserrat"/>
                <a:cs typeface="Montserrat"/>
                <a:sym typeface="Montserrat"/>
              </a:rPr>
              <a:t>What do you see?</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Because here's what I keep coming back to.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Everyone is talking about AI generating insights, replacing analysts, producing code. </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a:latin typeface="Montserrat"/>
                <a:ea typeface="Montserrat"/>
                <a:cs typeface="Montserrat"/>
                <a:sym typeface="Montserrat"/>
              </a:rPr>
              <a:t>And sure, that's happening.</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But the most impactful application of AI in the enterprise data world might turn out to be the least flashy one:</a:t>
            </a:r>
            <a:r>
              <a:rPr lang="en-US" sz="1000">
                <a:latin typeface="Montserrat"/>
                <a:ea typeface="Montserrat"/>
                <a:cs typeface="Montserrat"/>
                <a:sym typeface="Montserrat"/>
              </a:rPr>
              <a:t> </a:t>
            </a:r>
            <a:endParaRPr sz="1000">
              <a:latin typeface="Montserrat"/>
              <a:ea typeface="Montserrat"/>
              <a:cs typeface="Montserrat"/>
              <a:sym typeface="Montserrat"/>
            </a:endParaRPr>
          </a:p>
          <a:p>
            <a:pPr marL="457200" lvl="0" indent="-292100" algn="l" rtl="0">
              <a:lnSpc>
                <a:spcPct val="115000"/>
              </a:lnSpc>
              <a:spcBef>
                <a:spcPts val="1000"/>
              </a:spcBef>
              <a:spcAft>
                <a:spcPts val="0"/>
              </a:spcAft>
              <a:buSzPts val="1000"/>
              <a:buFont typeface="Montserrat"/>
              <a:buChar char="●"/>
            </a:pPr>
            <a:r>
              <a:rPr lang="en-US" sz="1000">
                <a:latin typeface="Montserrat"/>
                <a:ea typeface="Montserrat"/>
                <a:cs typeface="Montserrat"/>
                <a:sym typeface="Montserrat"/>
              </a:rPr>
              <a:t>automating the mechanical infrastructure between a business decision and a usable metric.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Shortening that feedback loop. </a:t>
            </a:r>
            <a:endParaRPr sz="1000">
              <a:latin typeface="Montserrat"/>
              <a:ea typeface="Montserrat"/>
              <a:cs typeface="Montserrat"/>
              <a:sym typeface="Montserrat"/>
            </a:endParaRPr>
          </a:p>
          <a:p>
            <a:pPr marL="457200" lvl="0" indent="-292100" algn="l" rtl="0">
              <a:lnSpc>
                <a:spcPct val="115000"/>
              </a:lnSpc>
              <a:spcBef>
                <a:spcPts val="0"/>
              </a:spcBef>
              <a:spcAft>
                <a:spcPts val="0"/>
              </a:spcAft>
              <a:buSzPts val="1000"/>
              <a:buFont typeface="Montserrat"/>
              <a:buChar char="●"/>
            </a:pPr>
            <a:r>
              <a:rPr lang="en-US" sz="1000">
                <a:latin typeface="Montserrat"/>
                <a:ea typeface="Montserrat"/>
                <a:cs typeface="Montserrat"/>
                <a:sym typeface="Montserrat"/>
              </a:rPr>
              <a:t>Getting out of the way so that people can do the work that actually requires human judgment.</a:t>
            </a:r>
            <a:endParaRPr sz="1000">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 CONCLUSION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The technology is going to keep evolving.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AI is going to keep getting better.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But rethinking the operational flow of data engineering?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Figuring out where people should stay deeply involved and where automation actually helps? </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That's the work that's going to determine whether any of this lands.</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US" sz="1000" b="1">
                <a:latin typeface="Montserrat"/>
                <a:ea typeface="Montserrat"/>
                <a:cs typeface="Montserrat"/>
                <a:sym typeface="Montserrat"/>
              </a:rPr>
              <a:t>Thank you.</a:t>
            </a: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endParaRPr sz="1000" b="1">
              <a:latin typeface="Montserrat"/>
              <a:ea typeface="Montserrat"/>
              <a:cs typeface="Montserrat"/>
              <a:sym typeface="Montserrat"/>
            </a:endParaRPr>
          </a:p>
          <a:p>
            <a:pPr marL="0" lvl="0" indent="0" algn="l" rtl="0">
              <a:spcBef>
                <a:spcPts val="1000"/>
              </a:spcBef>
              <a:spcAft>
                <a:spcPts val="0"/>
              </a:spcAft>
              <a:buClr>
                <a:schemeClr val="dk1"/>
              </a:buClr>
              <a:buFont typeface="Arial"/>
              <a:buNone/>
            </a:pPr>
            <a:endParaRPr b="1"/>
          </a:p>
          <a:p>
            <a:pPr marL="0" lvl="0" indent="0" algn="l" rtl="0">
              <a:spcBef>
                <a:spcPts val="0"/>
              </a:spcBef>
              <a:spcAft>
                <a:spcPts val="0"/>
              </a:spcAft>
              <a:buNone/>
            </a:pPr>
            <a:endParaRPr b="1"/>
          </a:p>
        </p:txBody>
      </p:sp>
      <p:sp>
        <p:nvSpPr>
          <p:cNvPr id="575" name="Google Shape;575;g3d8feee86e3_2_4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COMMIT; thank you, and where to find me next [ANIMATE]</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[click]</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QR on the slide to access the slides • a few places to find me next</a:t>
            </a:r>
          </a:p>
          <a:p>
            <a:pPr marL="0" lvl="0" indent="0" algn="l" rtl="0">
              <a:spcBef>
                <a:spcPts val="0"/>
              </a:spcBef>
              <a:spcAft>
                <a:spcPts val="0"/>
              </a:spcAft>
              <a:buNone/>
            </a:pPr>
            <a:endParaRPr lang="en-US" sz="1000"/>
          </a:p>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 FULL SCRIPT BELOW ————</a:t>
            </a:r>
          </a:p>
          <a:p>
            <a:pPr marL="0" lvl="0" indent="0" algn="l" rtl="0">
              <a:spcBef>
                <a:spcPts val="0"/>
              </a:spcBef>
              <a:spcAft>
                <a:spcPts val="0"/>
              </a:spcAft>
              <a:buNone/>
            </a:pPr>
            <a:endParaRPr lang="en-US" sz="1000"/>
          </a:p>
          <a:p>
            <a:pPr marL="0" lvl="0" indent="0" algn="l" rtl="0">
              <a:spcBef>
                <a:spcPts val="0"/>
              </a:spcBef>
              <a:spcAft>
                <a:spcPts val="0"/>
              </a:spcAft>
              <a:buNone/>
            </a:pPr>
            <a:r>
              <a:rPr lang="en-US"/>
              <a:t>[ANNIMATE]</a:t>
            </a:r>
            <a:endParaRPr/>
          </a:p>
          <a:p>
            <a:pPr marL="0" lvl="0" indent="0" algn="l" rtl="0">
              <a:spcBef>
                <a:spcPts val="0"/>
              </a:spcBef>
              <a:spcAft>
                <a:spcPts val="0"/>
              </a:spcAft>
              <a:buNone/>
            </a:pPr>
            <a:endParaRPr/>
          </a:p>
          <a:p>
            <a:pPr marL="0" lvl="0" indent="0" algn="l" rtl="0">
              <a:spcBef>
                <a:spcPts val="0"/>
              </a:spcBef>
              <a:spcAft>
                <a:spcPts val="0"/>
              </a:spcAft>
              <a:buNone/>
            </a:pPr>
            <a:r>
              <a:rPr lang="en-US"/>
              <a:t>click</a:t>
            </a:r>
            <a:endParaRPr/>
          </a:p>
          <a:p>
            <a:pPr marL="0" lvl="0" indent="0" algn="l" rtl="0">
              <a:spcBef>
                <a:spcPts val="0"/>
              </a:spcBef>
              <a:spcAft>
                <a:spcPts val="0"/>
              </a:spcAft>
              <a:buNone/>
            </a:pPr>
            <a:endParaRPr/>
          </a:p>
          <a:p>
            <a:pPr marL="0" lvl="0" indent="0" algn="l" rtl="0">
              <a:spcBef>
                <a:spcPts val="0"/>
              </a:spcBef>
              <a:spcAft>
                <a:spcPts val="0"/>
              </a:spcAft>
              <a:buNone/>
            </a:pPr>
            <a:r>
              <a:rPr lang="en-US"/>
              <a:t>Close with CTAs</a:t>
            </a:r>
            <a:endParaRPr/>
          </a:p>
        </p:txBody>
      </p:sp>
      <p:sp>
        <p:nvSpPr>
          <p:cNvPr id="589" name="Google Shape;58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a:extLst>
            <a:ext uri="{FF2B5EF4-FFF2-40B4-BE49-F238E27FC236}">
              <a16:creationId xmlns:a16="http://schemas.microsoft.com/office/drawing/2014/main" id="{8E037328-E754-58C7-ADE2-3F7E2763EE62}"/>
            </a:ext>
          </a:extLst>
        </p:cNvPr>
        <p:cNvGrpSpPr/>
        <p:nvPr/>
      </p:nvGrpSpPr>
      <p:grpSpPr>
        <a:xfrm>
          <a:off x="0" y="0"/>
          <a:ext cx="0" cy="0"/>
          <a:chOff x="0" y="0"/>
          <a:chExt cx="0" cy="0"/>
        </a:xfrm>
      </p:grpSpPr>
      <p:sp>
        <p:nvSpPr>
          <p:cNvPr id="20" name="Google Shape;20;g3d9b5c7f57f_0_3:notes">
            <a:extLst>
              <a:ext uri="{FF2B5EF4-FFF2-40B4-BE49-F238E27FC236}">
                <a16:creationId xmlns:a16="http://schemas.microsoft.com/office/drawing/2014/main" id="{95B37CDA-83F6-B4D8-65C4-25106F7A78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g3d9b5c7f57f_0_3:notes">
            <a:extLst>
              <a:ext uri="{FF2B5EF4-FFF2-40B4-BE49-F238E27FC236}">
                <a16:creationId xmlns:a16="http://schemas.microsoft.com/office/drawing/2014/main" id="{8B42CA3C-EC83-1462-BF07-607115353F6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NEXT: Workshop @ 3:30</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Point the room to the 3:30 workshop</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No script on this slide</a:t>
            </a:r>
          </a:p>
          <a:p>
            <a:pPr marL="0" lvl="0" indent="0" algn="l" rtl="0">
              <a:spcBef>
                <a:spcPts val="0"/>
              </a:spcBef>
              <a:spcAft>
                <a:spcPts val="0"/>
              </a:spcAft>
              <a:buNone/>
            </a:pPr>
            <a:endParaRPr/>
          </a:p>
        </p:txBody>
      </p:sp>
      <p:sp>
        <p:nvSpPr>
          <p:cNvPr id="22" name="Google Shape;22;g3d9b5c7f57f_0_3:notes">
            <a:extLst>
              <a:ext uri="{FF2B5EF4-FFF2-40B4-BE49-F238E27FC236}">
                <a16:creationId xmlns:a16="http://schemas.microsoft.com/office/drawing/2014/main" id="{4BA9FFB7-3BA7-EDCF-0C37-04CDDD143DA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726264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e6743df720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g3e6743df720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400"/>
              </a:spcAft>
              <a:buNone/>
            </a:pPr>
            <a:r>
              <a:rPr lang="en-US" sz="1300" b="1">
                <a:latin typeface="Roboto SemiBold"/>
                <a:ea typeface="Roboto SemiBold"/>
                <a:cs typeface="Roboto SemiBold"/>
                <a:sym typeface="Roboto SemiBold"/>
              </a:rPr>
              <a:t>STORY: COMMIT; thank you and contact</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Wanna build? Email, LinkedIn, Instagram, QR</a:t>
            </a:r>
          </a:p>
          <a:p>
            <a:pPr marL="228600" lvl="0" indent="-171450" algn="l" rtl="0">
              <a:lnSpc>
                <a:spcPct val="115000"/>
              </a:lnSpc>
              <a:spcBef>
                <a:spcPts val="200"/>
              </a:spcBef>
              <a:spcAft>
                <a:spcPts val="0"/>
              </a:spcAft>
              <a:buClr>
                <a:schemeClr val="dk1"/>
              </a:buClr>
              <a:buSzPct val="100000"/>
              <a:buFont typeface="Arial"/>
              <a:buChar char="•"/>
            </a:pPr>
            <a:r>
              <a:rPr lang="en-US" sz="1100">
                <a:latin typeface="Montserrat"/>
                <a:ea typeface="Montserrat"/>
                <a:cs typeface="Montserrat"/>
                <a:sym typeface="Montserrat"/>
              </a:rPr>
              <a:t>No script on this slide</a:t>
            </a:r>
          </a:p>
          <a:p>
            <a:pPr marL="0" lvl="0" indent="0" algn="l" rtl="0">
              <a:spcBef>
                <a:spcPts val="0"/>
              </a:spcBef>
              <a:spcAft>
                <a:spcPts val="0"/>
              </a:spcAft>
              <a:buNone/>
            </a:pPr>
            <a:endParaRPr dirty="0"/>
          </a:p>
        </p:txBody>
      </p:sp>
      <p:sp>
        <p:nvSpPr>
          <p:cNvPr id="608" name="Google Shape;608;g3e6743df720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304800" y="4237567"/>
            <a:ext cx="1422300" cy="243300"/>
          </a:xfrm>
          <a:prstGeom prst="rect">
            <a:avLst/>
          </a:prstGeom>
          <a:noFill/>
          <a:ln>
            <a:noFill/>
          </a:ln>
        </p:spPr>
        <p:txBody>
          <a:bodyPr spcFirstLastPara="1" wrap="square" lIns="60950" tIns="30475" rIns="60950" bIns="30475" anchor="ctr" anchorCtr="0">
            <a:noAutofit/>
          </a:bodyPr>
          <a:lstStyle>
            <a:lvl1pPr lvl="0" algn="l">
              <a:spcBef>
                <a:spcPts val="0"/>
              </a:spcBef>
              <a:spcAft>
                <a:spcPts val="0"/>
              </a:spcAft>
              <a:buSzPts val="900"/>
              <a:buNone/>
              <a:defRPr sz="900"/>
            </a:lvl1pPr>
            <a:lvl2pPr lvl="1" algn="l">
              <a:spcBef>
                <a:spcPts val="0"/>
              </a:spcBef>
              <a:spcAft>
                <a:spcPts val="0"/>
              </a:spcAft>
              <a:buSzPts val="900"/>
              <a:buNone/>
              <a:defRPr sz="900"/>
            </a:lvl2pPr>
            <a:lvl3pPr lvl="2" algn="l">
              <a:spcBef>
                <a:spcPts val="0"/>
              </a:spcBef>
              <a:spcAft>
                <a:spcPts val="0"/>
              </a:spcAft>
              <a:buSzPts val="900"/>
              <a:buNone/>
              <a:defRPr sz="900"/>
            </a:lvl3pPr>
            <a:lvl4pPr lvl="3" algn="l">
              <a:spcBef>
                <a:spcPts val="0"/>
              </a:spcBef>
              <a:spcAft>
                <a:spcPts val="0"/>
              </a:spcAft>
              <a:buSzPts val="900"/>
              <a:buNone/>
              <a:defRPr sz="900"/>
            </a:lvl4pPr>
            <a:lvl5pPr lvl="4" algn="l">
              <a:spcBef>
                <a:spcPts val="0"/>
              </a:spcBef>
              <a:spcAft>
                <a:spcPts val="0"/>
              </a:spcAft>
              <a:buSzPts val="900"/>
              <a:buNone/>
              <a:defRPr sz="900"/>
            </a:lvl5pPr>
            <a:lvl6pPr lvl="5" algn="l">
              <a:spcBef>
                <a:spcPts val="0"/>
              </a:spcBef>
              <a:spcAft>
                <a:spcPts val="0"/>
              </a:spcAft>
              <a:buSzPts val="900"/>
              <a:buNone/>
              <a:defRPr sz="900"/>
            </a:lvl6pPr>
            <a:lvl7pPr lvl="6" algn="l">
              <a:spcBef>
                <a:spcPts val="0"/>
              </a:spcBef>
              <a:spcAft>
                <a:spcPts val="0"/>
              </a:spcAft>
              <a:buSzPts val="900"/>
              <a:buNone/>
              <a:defRPr sz="900"/>
            </a:lvl7pPr>
            <a:lvl8pPr lvl="7" algn="l">
              <a:spcBef>
                <a:spcPts val="0"/>
              </a:spcBef>
              <a:spcAft>
                <a:spcPts val="0"/>
              </a:spcAft>
              <a:buSzPts val="900"/>
              <a:buNone/>
              <a:defRPr sz="900"/>
            </a:lvl8pPr>
            <a:lvl9pPr lvl="8" algn="l">
              <a:spcBef>
                <a:spcPts val="0"/>
              </a:spcBef>
              <a:spcAft>
                <a:spcPts val="0"/>
              </a:spcAft>
              <a:buSzPts val="900"/>
              <a:buNone/>
              <a:defRPr sz="900"/>
            </a:lvl9pPr>
          </a:lstStyle>
          <a:p>
            <a:endParaRPr/>
          </a:p>
        </p:txBody>
      </p:sp>
      <p:sp>
        <p:nvSpPr>
          <p:cNvPr id="13" name="Google Shape;13;p3"/>
          <p:cNvSpPr txBox="1">
            <a:spLocks noGrp="1"/>
          </p:cNvSpPr>
          <p:nvPr>
            <p:ph type="ftr" idx="11"/>
          </p:nvPr>
        </p:nvSpPr>
        <p:spPr>
          <a:xfrm>
            <a:off x="2082800" y="4237567"/>
            <a:ext cx="1930500" cy="243300"/>
          </a:xfrm>
          <a:prstGeom prst="rect">
            <a:avLst/>
          </a:prstGeom>
          <a:noFill/>
          <a:ln>
            <a:noFill/>
          </a:ln>
        </p:spPr>
        <p:txBody>
          <a:bodyPr spcFirstLastPara="1" wrap="square" lIns="60950" tIns="30475" rIns="60950" bIns="30475" anchor="ctr" anchorCtr="0">
            <a:noAutofit/>
          </a:bodyPr>
          <a:lstStyle>
            <a:lvl1pPr lvl="0" algn="ctr">
              <a:spcBef>
                <a:spcPts val="0"/>
              </a:spcBef>
              <a:spcAft>
                <a:spcPts val="0"/>
              </a:spcAft>
              <a:buSzPts val="900"/>
              <a:buNone/>
              <a:defRPr sz="900"/>
            </a:lvl1pPr>
            <a:lvl2pPr lvl="1" algn="l">
              <a:spcBef>
                <a:spcPts val="0"/>
              </a:spcBef>
              <a:spcAft>
                <a:spcPts val="0"/>
              </a:spcAft>
              <a:buSzPts val="900"/>
              <a:buNone/>
              <a:defRPr sz="900"/>
            </a:lvl2pPr>
            <a:lvl3pPr lvl="2" algn="l">
              <a:spcBef>
                <a:spcPts val="0"/>
              </a:spcBef>
              <a:spcAft>
                <a:spcPts val="0"/>
              </a:spcAft>
              <a:buSzPts val="900"/>
              <a:buNone/>
              <a:defRPr sz="900"/>
            </a:lvl3pPr>
            <a:lvl4pPr lvl="3" algn="l">
              <a:spcBef>
                <a:spcPts val="0"/>
              </a:spcBef>
              <a:spcAft>
                <a:spcPts val="0"/>
              </a:spcAft>
              <a:buSzPts val="900"/>
              <a:buNone/>
              <a:defRPr sz="900"/>
            </a:lvl4pPr>
            <a:lvl5pPr lvl="4" algn="l">
              <a:spcBef>
                <a:spcPts val="0"/>
              </a:spcBef>
              <a:spcAft>
                <a:spcPts val="0"/>
              </a:spcAft>
              <a:buSzPts val="900"/>
              <a:buNone/>
              <a:defRPr sz="900"/>
            </a:lvl5pPr>
            <a:lvl6pPr lvl="5" algn="l">
              <a:spcBef>
                <a:spcPts val="0"/>
              </a:spcBef>
              <a:spcAft>
                <a:spcPts val="0"/>
              </a:spcAft>
              <a:buSzPts val="900"/>
              <a:buNone/>
              <a:defRPr sz="900"/>
            </a:lvl6pPr>
            <a:lvl7pPr lvl="6" algn="l">
              <a:spcBef>
                <a:spcPts val="0"/>
              </a:spcBef>
              <a:spcAft>
                <a:spcPts val="0"/>
              </a:spcAft>
              <a:buSzPts val="900"/>
              <a:buNone/>
              <a:defRPr sz="900"/>
            </a:lvl7pPr>
            <a:lvl8pPr lvl="7" algn="l">
              <a:spcBef>
                <a:spcPts val="0"/>
              </a:spcBef>
              <a:spcAft>
                <a:spcPts val="0"/>
              </a:spcAft>
              <a:buSzPts val="900"/>
              <a:buNone/>
              <a:defRPr sz="900"/>
            </a:lvl8pPr>
            <a:lvl9pPr lvl="8" algn="l">
              <a:spcBef>
                <a:spcPts val="0"/>
              </a:spcBef>
              <a:spcAft>
                <a:spcPts val="0"/>
              </a:spcAft>
              <a:buSzPts val="900"/>
              <a:buNone/>
              <a:defRPr sz="900"/>
            </a:lvl9pPr>
          </a:lstStyle>
          <a:p>
            <a:endParaRPr/>
          </a:p>
        </p:txBody>
      </p:sp>
      <p:sp>
        <p:nvSpPr>
          <p:cNvPr id="14" name="Google Shape;14;p3"/>
          <p:cNvSpPr txBox="1">
            <a:spLocks noGrp="1"/>
          </p:cNvSpPr>
          <p:nvPr>
            <p:ph type="sldNum" idx="12"/>
          </p:nvPr>
        </p:nvSpPr>
        <p:spPr>
          <a:xfrm>
            <a:off x="4368800" y="4237567"/>
            <a:ext cx="1422300" cy="243300"/>
          </a:xfrm>
          <a:prstGeom prst="rect">
            <a:avLst/>
          </a:prstGeom>
          <a:noFill/>
          <a:ln>
            <a:noFill/>
          </a:ln>
        </p:spPr>
        <p:txBody>
          <a:bodyPr spcFirstLastPara="1" wrap="square" lIns="60950" tIns="30475" rIns="60950" bIns="30475" anchor="ctr" anchorCtr="0">
            <a:noAutofit/>
          </a:bodyPr>
          <a:lstStyle>
            <a:lvl1pPr marL="0" lvl="0" indent="0" algn="r">
              <a:spcBef>
                <a:spcPts val="0"/>
              </a:spcBef>
              <a:buNone/>
              <a:defRPr sz="900"/>
            </a:lvl1pPr>
            <a:lvl2pPr marL="0" lvl="1" indent="0" algn="r">
              <a:spcBef>
                <a:spcPts val="0"/>
              </a:spcBef>
              <a:buNone/>
              <a:defRPr sz="900"/>
            </a:lvl2pPr>
            <a:lvl3pPr marL="0" lvl="2" indent="0" algn="r">
              <a:spcBef>
                <a:spcPts val="0"/>
              </a:spcBef>
              <a:buNone/>
              <a:defRPr sz="900"/>
            </a:lvl3pPr>
            <a:lvl4pPr marL="0" lvl="3" indent="0" algn="r">
              <a:spcBef>
                <a:spcPts val="0"/>
              </a:spcBef>
              <a:buNone/>
              <a:defRPr sz="900"/>
            </a:lvl4pPr>
            <a:lvl5pPr marL="0" lvl="4" indent="0" algn="r">
              <a:spcBef>
                <a:spcPts val="0"/>
              </a:spcBef>
              <a:buNone/>
              <a:defRPr sz="900"/>
            </a:lvl5pPr>
            <a:lvl6pPr marL="0" lvl="5" indent="0" algn="r">
              <a:spcBef>
                <a:spcPts val="0"/>
              </a:spcBef>
              <a:buNone/>
              <a:defRPr sz="900"/>
            </a:lvl6pPr>
            <a:lvl7pPr marL="0" lvl="6" indent="0" algn="r">
              <a:spcBef>
                <a:spcPts val="0"/>
              </a:spcBef>
              <a:buNone/>
              <a:defRPr sz="900"/>
            </a:lvl7pPr>
            <a:lvl8pPr marL="0" lvl="7" indent="0" algn="r">
              <a:spcBef>
                <a:spcPts val="0"/>
              </a:spcBef>
              <a:buNone/>
              <a:defRPr sz="900"/>
            </a:lvl8pPr>
            <a:lvl9pPr marL="0" lvl="8" indent="0" algn="r">
              <a:spcBef>
                <a:spcPts val="0"/>
              </a:spcBef>
              <a:buNone/>
              <a:defRPr sz="900"/>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23"/>
        <p:cNvGrpSpPr/>
        <p:nvPr/>
      </p:nvGrpSpPr>
      <p:grpSpPr>
        <a:xfrm>
          <a:off x="0" y="0"/>
          <a:ext cx="0" cy="0"/>
          <a:chOff x="0" y="0"/>
          <a:chExt cx="0" cy="0"/>
        </a:xfrm>
      </p:grpSpPr>
      <p:pic>
        <p:nvPicPr>
          <p:cNvPr id="24" name="Google Shape;24;p5"/>
          <p:cNvPicPr preferRelativeResize="0"/>
          <p:nvPr/>
        </p:nvPicPr>
        <p:blipFill>
          <a:blip r:embed="rId3">
            <a:alphaModFix/>
          </a:blip>
          <a:srcRect/>
          <a:stretch/>
        </p:blipFill>
        <p:spPr>
          <a:xfrm>
            <a:off x="0" y="2"/>
            <a:ext cx="12192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37"/>
        <p:cNvGrpSpPr/>
        <p:nvPr/>
      </p:nvGrpSpPr>
      <p:grpSpPr>
        <a:xfrm>
          <a:off x="0" y="0"/>
          <a:ext cx="0" cy="0"/>
          <a:chOff x="0" y="0"/>
          <a:chExt cx="0" cy="0"/>
        </a:xfrm>
      </p:grpSpPr>
      <p:sp>
        <p:nvSpPr>
          <p:cNvPr id="38" name="Google Shape;38;p7"/>
          <p:cNvSpPr/>
          <p:nvPr/>
        </p:nvSpPr>
        <p:spPr>
          <a:xfrm>
            <a:off x="548640" y="502920"/>
            <a:ext cx="54864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3A1"/>
              </a:buClr>
              <a:buSzPts val="1200"/>
              <a:buFont typeface="Consolas"/>
              <a:buNone/>
            </a:pPr>
            <a:r>
              <a:rPr lang="en-US" b="0" i="1" u="none" strike="noStrike" cap="none">
                <a:solidFill>
                  <a:srgbClr val="8B93A1"/>
                </a:solidFill>
                <a:latin typeface="Consolas"/>
                <a:ea typeface="Consolas"/>
                <a:cs typeface="Consolas"/>
                <a:sym typeface="Consolas"/>
              </a:rPr>
              <a:t>-- ODSC AI  |  </a:t>
            </a:r>
            <a:r>
              <a:rPr lang="en-US" i="1">
                <a:solidFill>
                  <a:srgbClr val="8B93A1"/>
                </a:solidFill>
                <a:latin typeface="Consolas"/>
                <a:ea typeface="Consolas"/>
                <a:cs typeface="Consolas"/>
                <a:sym typeface="Consolas"/>
              </a:rPr>
              <a:t>Boston 2026</a:t>
            </a:r>
            <a:endParaRPr b="0" i="0" u="none" strike="noStrike" cap="none">
              <a:solidFill>
                <a:schemeClr val="dk1"/>
              </a:solidFill>
              <a:latin typeface="Calibri"/>
              <a:ea typeface="Calibri"/>
              <a:cs typeface="Calibri"/>
              <a:sym typeface="Calibri"/>
            </a:endParaRPr>
          </a:p>
        </p:txBody>
      </p:sp>
      <p:sp>
        <p:nvSpPr>
          <p:cNvPr id="39" name="Google Shape;39;p7"/>
          <p:cNvSpPr/>
          <p:nvPr/>
        </p:nvSpPr>
        <p:spPr>
          <a:xfrm>
            <a:off x="548640" y="914400"/>
            <a:ext cx="1097280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B8A6"/>
              </a:buClr>
              <a:buSzPts val="2200"/>
              <a:buFont typeface="Consolas"/>
              <a:buNone/>
            </a:pPr>
            <a:r>
              <a:rPr lang="en-US" b="1" i="0" u="none" strike="noStrike" cap="none">
                <a:solidFill>
                  <a:srgbClr val="14B8A6"/>
                </a:solidFill>
                <a:latin typeface="Consolas"/>
                <a:ea typeface="Consolas"/>
                <a:cs typeface="Consolas"/>
                <a:sym typeface="Consolas"/>
              </a:rPr>
              <a:t>SELECT </a:t>
            </a:r>
            <a:r>
              <a:rPr lang="en-US" b="0" i="0" u="none" strike="noStrike" cap="none">
                <a:solidFill>
                  <a:srgbClr val="F5F5F2"/>
                </a:solidFill>
                <a:latin typeface="Consolas"/>
                <a:ea typeface="Consolas"/>
                <a:cs typeface="Consolas"/>
                <a:sym typeface="Consolas"/>
              </a:rPr>
              <a:t>rethinking</a:t>
            </a:r>
            <a:br>
              <a:rPr lang="en-US" b="0" i="0" u="none" strike="noStrike" cap="none">
                <a:solidFill>
                  <a:srgbClr val="F5F5F2"/>
                </a:solidFill>
                <a:latin typeface="Consolas"/>
                <a:ea typeface="Consolas"/>
                <a:cs typeface="Consolas"/>
                <a:sym typeface="Consolas"/>
              </a:rPr>
            </a:br>
            <a:r>
              <a:rPr lang="en-US" b="1" i="0" u="none" strike="noStrike" cap="none">
                <a:solidFill>
                  <a:srgbClr val="14B8A6"/>
                </a:solidFill>
                <a:latin typeface="Consolas"/>
                <a:ea typeface="Consolas"/>
                <a:cs typeface="Consolas"/>
                <a:sym typeface="Consolas"/>
              </a:rPr>
              <a:t>FROM </a:t>
            </a:r>
            <a:r>
              <a:rPr lang="en-US" b="0" i="0" u="none" strike="noStrike" cap="none">
                <a:solidFill>
                  <a:srgbClr val="F5F5F2"/>
                </a:solidFill>
                <a:latin typeface="Consolas"/>
                <a:ea typeface="Consolas"/>
                <a:cs typeface="Consolas"/>
                <a:sym typeface="Consolas"/>
              </a:rPr>
              <a:t>data_engineering</a:t>
            </a:r>
            <a:br>
              <a:rPr lang="en-US" b="0" i="0" u="none" strike="noStrike" cap="none">
                <a:solidFill>
                  <a:srgbClr val="F5F5F2"/>
                </a:solidFill>
                <a:latin typeface="Consolas"/>
                <a:ea typeface="Consolas"/>
                <a:cs typeface="Consolas"/>
                <a:sym typeface="Consolas"/>
              </a:rPr>
            </a:br>
            <a:r>
              <a:rPr lang="en-US" b="1" i="0" u="none" strike="noStrike" cap="none">
                <a:solidFill>
                  <a:srgbClr val="14B8A6"/>
                </a:solidFill>
                <a:latin typeface="Consolas"/>
                <a:ea typeface="Consolas"/>
                <a:cs typeface="Consolas"/>
                <a:sym typeface="Consolas"/>
              </a:rPr>
              <a:t>WHERE </a:t>
            </a:r>
            <a:r>
              <a:rPr lang="en-US" b="0" i="0" u="none" strike="noStrike" cap="none">
                <a:solidFill>
                  <a:srgbClr val="F5F5F2"/>
                </a:solidFill>
                <a:latin typeface="Consolas"/>
                <a:ea typeface="Consolas"/>
                <a:cs typeface="Consolas"/>
                <a:sym typeface="Consolas"/>
              </a:rPr>
              <a:t>ai = </a:t>
            </a:r>
            <a:r>
              <a:rPr lang="en-US" b="0" i="0" u="none" strike="noStrike" cap="none">
                <a:solidFill>
                  <a:srgbClr val="F59E0B"/>
                </a:solidFill>
                <a:latin typeface="Consolas"/>
                <a:ea typeface="Consolas"/>
                <a:cs typeface="Consolas"/>
                <a:sym typeface="Consolas"/>
              </a:rPr>
              <a:t>'practitioner_grade'</a:t>
            </a:r>
            <a:r>
              <a:rPr lang="en-US" b="0" i="0" u="none" strike="noStrike" cap="none">
                <a:solidFill>
                  <a:srgbClr val="F5F5F2"/>
                </a:solidFill>
                <a:latin typeface="Consolas"/>
                <a:ea typeface="Consolas"/>
                <a:cs typeface="Consolas"/>
                <a:sym typeface="Consolas"/>
              </a:rPr>
              <a:t>;</a:t>
            </a:r>
            <a:endParaRPr b="0" i="0" u="none" strike="noStrike" cap="none">
              <a:solidFill>
                <a:schemeClr val="dk1"/>
              </a:solidFill>
              <a:latin typeface="Calibri"/>
              <a:ea typeface="Calibri"/>
              <a:cs typeface="Calibri"/>
              <a:sym typeface="Calibri"/>
            </a:endParaRPr>
          </a:p>
        </p:txBody>
      </p:sp>
      <p:sp>
        <p:nvSpPr>
          <p:cNvPr id="40" name="Google Shape;40;p7"/>
          <p:cNvSpPr/>
          <p:nvPr/>
        </p:nvSpPr>
        <p:spPr>
          <a:xfrm>
            <a:off x="548640" y="2606040"/>
            <a:ext cx="114300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4400"/>
              <a:buFont typeface="Fraunces"/>
              <a:buNone/>
            </a:pPr>
            <a:r>
              <a:rPr lang="en-US" sz="5000" b="1" i="0" u="none" strike="noStrike" cap="none">
                <a:solidFill>
                  <a:srgbClr val="F5F5F2"/>
                </a:solidFill>
                <a:latin typeface="Fraunces"/>
                <a:ea typeface="Fraunces"/>
                <a:cs typeface="Fraunces"/>
                <a:sym typeface="Fraunces"/>
              </a:rPr>
              <a:t>Rethinking the Operational Flow</a:t>
            </a:r>
            <a:endParaRPr sz="5000" b="0" i="0" u="none" strike="noStrike" cap="none">
              <a:solidFill>
                <a:schemeClr val="dk1"/>
              </a:solidFill>
              <a:latin typeface="Calibri"/>
              <a:ea typeface="Calibri"/>
              <a:cs typeface="Calibri"/>
              <a:sym typeface="Calibri"/>
            </a:endParaRPr>
          </a:p>
        </p:txBody>
      </p:sp>
      <p:sp>
        <p:nvSpPr>
          <p:cNvPr id="41" name="Google Shape;41;p7"/>
          <p:cNvSpPr/>
          <p:nvPr/>
        </p:nvSpPr>
        <p:spPr>
          <a:xfrm>
            <a:off x="548640" y="3474720"/>
            <a:ext cx="114300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4400"/>
              <a:buFont typeface="Fraunces"/>
              <a:buNone/>
            </a:pPr>
            <a:r>
              <a:rPr lang="en-US" sz="5000" b="1" i="1" u="none" strike="noStrike" cap="none">
                <a:solidFill>
                  <a:srgbClr val="14B8A6"/>
                </a:solidFill>
                <a:latin typeface="Fraunces"/>
                <a:ea typeface="Fraunces"/>
                <a:cs typeface="Fraunces"/>
                <a:sym typeface="Fraunces"/>
              </a:rPr>
              <a:t>of Data Engineering</a:t>
            </a:r>
            <a:endParaRPr sz="5000" b="0" i="0" u="none" strike="noStrike" cap="none">
              <a:solidFill>
                <a:schemeClr val="dk1"/>
              </a:solidFill>
              <a:latin typeface="Calibri"/>
              <a:ea typeface="Calibri"/>
              <a:cs typeface="Calibri"/>
              <a:sym typeface="Calibri"/>
            </a:endParaRPr>
          </a:p>
        </p:txBody>
      </p:sp>
      <p:sp>
        <p:nvSpPr>
          <p:cNvPr id="42" name="Google Shape;42;p7"/>
          <p:cNvSpPr/>
          <p:nvPr/>
        </p:nvSpPr>
        <p:spPr>
          <a:xfrm>
            <a:off x="548640" y="4288515"/>
            <a:ext cx="109728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8BEC9"/>
              </a:buClr>
              <a:buSzPts val="1800"/>
              <a:buFont typeface="DM Sans"/>
              <a:buNone/>
            </a:pPr>
            <a:r>
              <a:rPr lang="en-US" sz="1600" i="1">
                <a:solidFill>
                  <a:srgbClr val="B8BEC9"/>
                </a:solidFill>
                <a:latin typeface="DM Sans"/>
                <a:ea typeface="DM Sans"/>
                <a:cs typeface="DM Sans"/>
                <a:sym typeface="DM Sans"/>
              </a:rPr>
              <a:t>Simplifying the</a:t>
            </a:r>
            <a:r>
              <a:rPr lang="en-US" sz="1600" b="0" i="1" u="none" strike="noStrike" cap="none">
                <a:solidFill>
                  <a:srgbClr val="B8BEC9"/>
                </a:solidFill>
                <a:latin typeface="DM Sans"/>
                <a:ea typeface="DM Sans"/>
                <a:cs typeface="DM Sans"/>
                <a:sym typeface="DM Sans"/>
              </a:rPr>
              <a:t> longest feedback loop in enterprise quality data intelligence</a:t>
            </a:r>
            <a:endParaRPr sz="1600" b="0" i="0" u="none" strike="noStrike" cap="none">
              <a:solidFill>
                <a:schemeClr val="dk1"/>
              </a:solidFill>
              <a:latin typeface="Calibri"/>
              <a:ea typeface="Calibri"/>
              <a:cs typeface="Calibri"/>
              <a:sym typeface="Calibri"/>
            </a:endParaRPr>
          </a:p>
        </p:txBody>
      </p:sp>
      <p:sp>
        <p:nvSpPr>
          <p:cNvPr id="43" name="Google Shape;43;p7"/>
          <p:cNvSpPr/>
          <p:nvPr/>
        </p:nvSpPr>
        <p:spPr>
          <a:xfrm>
            <a:off x="548640" y="5440680"/>
            <a:ext cx="822960" cy="36576"/>
          </a:xfrm>
          <a:prstGeom prst="rect">
            <a:avLst/>
          </a:prstGeom>
          <a:solidFill>
            <a:srgbClr val="14B8A6"/>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7"/>
          <p:cNvSpPr/>
          <p:nvPr/>
        </p:nvSpPr>
        <p:spPr>
          <a:xfrm>
            <a:off x="548640" y="5577840"/>
            <a:ext cx="9144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2000"/>
              <a:buFont typeface="Fraunces"/>
              <a:buNone/>
            </a:pPr>
            <a:r>
              <a:rPr lang="en-US" sz="2400" b="1" i="0" u="none" strike="noStrike" cap="none">
                <a:solidFill>
                  <a:srgbClr val="F5F5F2"/>
                </a:solidFill>
                <a:latin typeface="Fraunces"/>
                <a:ea typeface="Fraunces"/>
                <a:cs typeface="Fraunces"/>
                <a:sym typeface="Fraunces"/>
              </a:rPr>
              <a:t>Denise Koessler Gosnell, PhD</a:t>
            </a:r>
            <a:endParaRPr sz="2400" b="0" i="0" u="none" strike="noStrike" cap="none">
              <a:solidFill>
                <a:schemeClr val="dk1"/>
              </a:solidFill>
              <a:latin typeface="Calibri"/>
              <a:ea typeface="Calibri"/>
              <a:cs typeface="Calibri"/>
              <a:sym typeface="Calibri"/>
            </a:endParaRPr>
          </a:p>
        </p:txBody>
      </p:sp>
      <p:sp>
        <p:nvSpPr>
          <p:cNvPr id="45" name="Google Shape;45;p7"/>
          <p:cNvSpPr/>
          <p:nvPr/>
        </p:nvSpPr>
        <p:spPr>
          <a:xfrm>
            <a:off x="548640" y="5989320"/>
            <a:ext cx="109728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93A1"/>
              </a:buClr>
              <a:buSzPts val="1400"/>
              <a:buFont typeface="DM Sans"/>
              <a:buNone/>
            </a:pPr>
            <a:r>
              <a:rPr lang="en-US" sz="1000" b="0" i="0" u="none" strike="noStrike" cap="none">
                <a:solidFill>
                  <a:srgbClr val="8B93A1"/>
                </a:solidFill>
                <a:latin typeface="DM Sans"/>
                <a:ea typeface="DM Sans"/>
                <a:cs typeface="DM Sans"/>
                <a:sym typeface="DM Sans"/>
              </a:rPr>
              <a:t>Founder, Data Driven Intuition   |   Co-author, The Practitioner's Guide to Graph Data (O'Reilly)   </a:t>
            </a:r>
            <a:r>
              <a:rPr lang="en-US" sz="1000">
                <a:solidFill>
                  <a:srgbClr val="8B93A1"/>
                </a:solidFill>
                <a:latin typeface="DM Sans"/>
                <a:ea typeface="DM Sans"/>
                <a:cs typeface="DM Sans"/>
                <a:sym typeface="DM Sans"/>
              </a:rPr>
              <a:t>|   Co-author, Tech Confidential</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50"/>
        <p:cNvGrpSpPr/>
        <p:nvPr/>
      </p:nvGrpSpPr>
      <p:grpSpPr>
        <a:xfrm>
          <a:off x="0" y="0"/>
          <a:ext cx="0" cy="0"/>
          <a:chOff x="0" y="0"/>
          <a:chExt cx="0" cy="0"/>
        </a:xfrm>
      </p:grpSpPr>
      <p:sp>
        <p:nvSpPr>
          <p:cNvPr id="51" name="Google Shape;51;p8"/>
          <p:cNvSpPr/>
          <p:nvPr/>
        </p:nvSpPr>
        <p:spPr>
          <a:xfrm>
            <a:off x="618725" y="2241163"/>
            <a:ext cx="10789800" cy="856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3000"/>
              <a:buFont typeface="Fraunces"/>
              <a:buNone/>
            </a:pPr>
            <a:r>
              <a:rPr lang="en-US" sz="2600" b="0" i="1" u="none" strike="noStrike" cap="none">
                <a:solidFill>
                  <a:srgbClr val="F5F5F2"/>
                </a:solidFill>
                <a:latin typeface="Fraunces"/>
                <a:ea typeface="Fraunces"/>
                <a:cs typeface="Fraunces"/>
                <a:sym typeface="Fraunces"/>
              </a:rPr>
              <a:t>Who I am, and why this </a:t>
            </a:r>
            <a:r>
              <a:rPr lang="en-US" sz="2600" i="1">
                <a:solidFill>
                  <a:srgbClr val="F5F5F2"/>
                </a:solidFill>
                <a:latin typeface="Fraunces"/>
                <a:ea typeface="Fraunces"/>
                <a:cs typeface="Fraunces"/>
                <a:sym typeface="Fraunces"/>
              </a:rPr>
              <a:t>idea</a:t>
            </a:r>
            <a:r>
              <a:rPr lang="en-US" sz="2600" b="0" i="1" u="none" strike="noStrike" cap="none">
                <a:solidFill>
                  <a:srgbClr val="F5F5F2"/>
                </a:solidFill>
                <a:latin typeface="Fraunces"/>
                <a:ea typeface="Fraunces"/>
                <a:cs typeface="Fraunces"/>
                <a:sym typeface="Fraunces"/>
              </a:rPr>
              <a:t> exists.</a:t>
            </a:r>
            <a:endParaRPr sz="2600" b="0" i="0" u="none" strike="noStrike" cap="none">
              <a:solidFill>
                <a:srgbClr val="F5F5F2"/>
              </a:solidFill>
              <a:latin typeface="Calibri"/>
              <a:ea typeface="Calibri"/>
              <a:cs typeface="Calibri"/>
              <a:sym typeface="Calibri"/>
            </a:endParaRPr>
          </a:p>
        </p:txBody>
      </p:sp>
      <p:sp>
        <p:nvSpPr>
          <p:cNvPr id="52" name="Google Shape;52;p8"/>
          <p:cNvSpPr/>
          <p:nvPr/>
        </p:nvSpPr>
        <p:spPr>
          <a:xfrm>
            <a:off x="618725" y="3255737"/>
            <a:ext cx="10789800" cy="2160900"/>
          </a:xfrm>
          <a:prstGeom prst="rect">
            <a:avLst/>
          </a:prstGeom>
          <a:noFill/>
          <a:ln>
            <a:noFill/>
          </a:ln>
        </p:spPr>
        <p:txBody>
          <a:bodyPr spcFirstLastPara="1" wrap="square" lIns="0" tIns="0" rIns="0" bIns="0" anchor="t" anchorCtr="0">
            <a:noAutofit/>
          </a:bodyPr>
          <a:lstStyle/>
          <a:p>
            <a:pPr marL="0" marR="0" lvl="0" indent="457200" algn="l" rtl="0">
              <a:lnSpc>
                <a:spcPct val="130000"/>
              </a:lnSpc>
              <a:spcBef>
                <a:spcPts val="0"/>
              </a:spcBef>
              <a:spcAft>
                <a:spcPts val="0"/>
              </a:spcAft>
              <a:buClr>
                <a:srgbClr val="B8BEC9"/>
              </a:buClr>
              <a:buSzPts val="1800"/>
              <a:buFont typeface="DM Sans"/>
              <a:buNone/>
            </a:pPr>
            <a:endParaRPr sz="2200">
              <a:solidFill>
                <a:srgbClr val="E5E7EB"/>
              </a:solidFill>
              <a:latin typeface="DM Sans Light"/>
              <a:ea typeface="DM Sans Light"/>
              <a:cs typeface="DM Sans Light"/>
              <a:sym typeface="DM Sans Light"/>
            </a:endParaRPr>
          </a:p>
          <a:p>
            <a:pPr marL="0" marR="0" lvl="0" indent="457200" algn="l" rtl="0">
              <a:lnSpc>
                <a:spcPct val="130000"/>
              </a:lnSpc>
              <a:spcBef>
                <a:spcPts val="0"/>
              </a:spcBef>
              <a:spcAft>
                <a:spcPts val="0"/>
              </a:spcAft>
              <a:buClr>
                <a:srgbClr val="B8BEC9"/>
              </a:buClr>
              <a:buSzPts val="1800"/>
              <a:buFont typeface="DM Sans"/>
              <a:buNone/>
            </a:pPr>
            <a:r>
              <a:rPr lang="en-US" sz="1800">
                <a:solidFill>
                  <a:srgbClr val="E5E7EB"/>
                </a:solidFill>
                <a:latin typeface="DM Sans Light"/>
                <a:ea typeface="DM Sans Light"/>
                <a:cs typeface="DM Sans Light"/>
                <a:sym typeface="DM Sans Light"/>
              </a:rPr>
              <a:t>PhD: </a:t>
            </a:r>
            <a:r>
              <a:rPr lang="en-US" sz="1800" i="0" u="none" strike="noStrike" cap="none">
                <a:solidFill>
                  <a:srgbClr val="E5E7EB"/>
                </a:solidFill>
                <a:latin typeface="DM Sans Light"/>
                <a:ea typeface="DM Sans Light"/>
                <a:cs typeface="DM Sans Light"/>
                <a:sym typeface="DM Sans Light"/>
              </a:rPr>
              <a:t>350M-person graph based identity system </a:t>
            </a:r>
            <a:endParaRPr sz="1800" i="0" u="none" strike="noStrike" cap="none">
              <a:solidFill>
                <a:srgbClr val="E5E7EB"/>
              </a:solidFill>
              <a:latin typeface="DM Sans Light"/>
              <a:ea typeface="DM Sans Light"/>
              <a:cs typeface="DM Sans Light"/>
              <a:sym typeface="DM Sans Light"/>
            </a:endParaRPr>
          </a:p>
          <a:p>
            <a:pPr marL="0" marR="0" lvl="0" indent="457200" algn="l" rtl="0">
              <a:lnSpc>
                <a:spcPct val="130000"/>
              </a:lnSpc>
              <a:spcBef>
                <a:spcPts val="0"/>
              </a:spcBef>
              <a:spcAft>
                <a:spcPts val="0"/>
              </a:spcAft>
              <a:buClr>
                <a:srgbClr val="B8BEC9"/>
              </a:buClr>
              <a:buSzPts val="1800"/>
              <a:buFont typeface="DM Sans"/>
              <a:buNone/>
            </a:pPr>
            <a:r>
              <a:rPr lang="en-US" sz="1800">
                <a:solidFill>
                  <a:srgbClr val="E5E7EB"/>
                </a:solidFill>
                <a:latin typeface="DM Sans Light"/>
                <a:ea typeface="DM Sans Light"/>
                <a:cs typeface="DM Sans Light"/>
                <a:sym typeface="DM Sans Light"/>
              </a:rPr>
              <a:t>Built 8-figure</a:t>
            </a:r>
            <a:r>
              <a:rPr lang="en-US" sz="1800" i="0" u="none" strike="noStrike" cap="none">
                <a:solidFill>
                  <a:srgbClr val="E5E7EB"/>
                </a:solidFill>
                <a:latin typeface="DM Sans Light"/>
                <a:ea typeface="DM Sans Light"/>
                <a:cs typeface="DM Sans Light"/>
                <a:sym typeface="DM Sans Light"/>
              </a:rPr>
              <a:t> global graph practice at DataStax</a:t>
            </a:r>
            <a:endParaRPr sz="1800" i="0" u="none" strike="noStrike" cap="none">
              <a:solidFill>
                <a:srgbClr val="E5E7EB"/>
              </a:solidFill>
              <a:latin typeface="DM Sans Light"/>
              <a:ea typeface="DM Sans Light"/>
              <a:cs typeface="DM Sans Light"/>
              <a:sym typeface="DM Sans Light"/>
            </a:endParaRPr>
          </a:p>
          <a:p>
            <a:pPr marL="0" lvl="0" indent="457200" algn="l" rtl="0">
              <a:lnSpc>
                <a:spcPct val="130000"/>
              </a:lnSpc>
              <a:spcBef>
                <a:spcPts val="0"/>
              </a:spcBef>
              <a:spcAft>
                <a:spcPts val="0"/>
              </a:spcAft>
              <a:buClr>
                <a:srgbClr val="B8BEC9"/>
              </a:buClr>
              <a:buSzPts val="1800"/>
              <a:buFont typeface="DM Sans"/>
              <a:buNone/>
            </a:pPr>
            <a:r>
              <a:rPr lang="en-US" sz="1800">
                <a:solidFill>
                  <a:srgbClr val="E5E7EB"/>
                </a:solidFill>
                <a:latin typeface="DM Sans Light"/>
                <a:ea typeface="DM Sans Light"/>
                <a:cs typeface="DM Sans Light"/>
                <a:sym typeface="DM Sans Light"/>
              </a:rPr>
              <a:t>Launched new graph analytics engine at AWS re:Invent </a:t>
            </a:r>
            <a:r>
              <a:rPr lang="en-US" sz="1800" i="0" u="none" strike="noStrike" cap="none">
                <a:solidFill>
                  <a:srgbClr val="E5E7EB"/>
                </a:solidFill>
                <a:latin typeface="DM Sans Light"/>
                <a:ea typeface="DM Sans Light"/>
                <a:cs typeface="DM Sans Light"/>
                <a:sym typeface="DM Sans Light"/>
              </a:rPr>
              <a:t> </a:t>
            </a:r>
            <a:endParaRPr sz="1800" i="0" u="none" strike="noStrike" cap="none">
              <a:solidFill>
                <a:srgbClr val="E5E7EB"/>
              </a:solidFill>
              <a:latin typeface="DM Sans Light"/>
              <a:ea typeface="DM Sans Light"/>
              <a:cs typeface="DM Sans Light"/>
              <a:sym typeface="DM Sans Light"/>
            </a:endParaRPr>
          </a:p>
          <a:p>
            <a:pPr marL="0" marR="0" lvl="0" indent="457200" algn="l" rtl="0">
              <a:lnSpc>
                <a:spcPct val="130000"/>
              </a:lnSpc>
              <a:spcBef>
                <a:spcPts val="0"/>
              </a:spcBef>
              <a:spcAft>
                <a:spcPts val="0"/>
              </a:spcAft>
              <a:buClr>
                <a:srgbClr val="B8BEC9"/>
              </a:buClr>
              <a:buSzPts val="1800"/>
              <a:buFont typeface="DM Sans"/>
              <a:buNone/>
            </a:pPr>
            <a:r>
              <a:rPr lang="en-US" sz="1800">
                <a:solidFill>
                  <a:srgbClr val="E5E7EB"/>
                </a:solidFill>
                <a:latin typeface="DM Sans Light"/>
                <a:ea typeface="DM Sans Light"/>
                <a:cs typeface="DM Sans Light"/>
                <a:sym typeface="DM Sans Light"/>
              </a:rPr>
              <a:t>2x Data Infrastructure Patent Holder</a:t>
            </a:r>
            <a:endParaRPr sz="1800">
              <a:solidFill>
                <a:srgbClr val="E5E7EB"/>
              </a:solidFill>
              <a:latin typeface="DM Sans Light"/>
              <a:ea typeface="DM Sans Light"/>
              <a:cs typeface="DM Sans Light"/>
              <a:sym typeface="DM Sans Light"/>
            </a:endParaRPr>
          </a:p>
          <a:p>
            <a:pPr marL="0" lvl="0" indent="457200" algn="l" rtl="0">
              <a:lnSpc>
                <a:spcPct val="130000"/>
              </a:lnSpc>
              <a:spcBef>
                <a:spcPts val="0"/>
              </a:spcBef>
              <a:spcAft>
                <a:spcPts val="0"/>
              </a:spcAft>
              <a:buClr>
                <a:srgbClr val="B8BEC9"/>
              </a:buClr>
              <a:buSzPts val="1800"/>
              <a:buFont typeface="DM Sans"/>
              <a:buNone/>
            </a:pPr>
            <a:r>
              <a:rPr lang="en-US" sz="1800">
                <a:solidFill>
                  <a:srgbClr val="E5E7EB"/>
                </a:solidFill>
                <a:latin typeface="DM Sans Light"/>
                <a:ea typeface="DM Sans Light"/>
                <a:cs typeface="DM Sans Light"/>
                <a:sym typeface="DM Sans Light"/>
              </a:rPr>
              <a:t>2x Bestselling Author</a:t>
            </a:r>
            <a:endParaRPr sz="1800">
              <a:solidFill>
                <a:srgbClr val="E5E7EB"/>
              </a:solidFill>
              <a:latin typeface="DM Sans Light"/>
              <a:ea typeface="DM Sans Light"/>
              <a:cs typeface="DM Sans Light"/>
              <a:sym typeface="DM Sans Light"/>
            </a:endParaRPr>
          </a:p>
          <a:p>
            <a:pPr marL="0" marR="0" lvl="0" indent="0" algn="l" rtl="0">
              <a:lnSpc>
                <a:spcPct val="130000"/>
              </a:lnSpc>
              <a:spcBef>
                <a:spcPts val="0"/>
              </a:spcBef>
              <a:spcAft>
                <a:spcPts val="0"/>
              </a:spcAft>
              <a:buClr>
                <a:srgbClr val="B8BEC9"/>
              </a:buClr>
              <a:buSzPts val="1800"/>
              <a:buFont typeface="DM Sans"/>
              <a:buNone/>
            </a:pPr>
            <a:endParaRPr sz="2200" i="0" u="none" strike="noStrike" cap="none">
              <a:solidFill>
                <a:srgbClr val="E5E7EB"/>
              </a:solidFill>
              <a:latin typeface="DM Sans Light"/>
              <a:ea typeface="DM Sans Light"/>
              <a:cs typeface="DM Sans Light"/>
              <a:sym typeface="DM Sans Light"/>
            </a:endParaRPr>
          </a:p>
        </p:txBody>
      </p:sp>
      <p:cxnSp>
        <p:nvCxnSpPr>
          <p:cNvPr id="53" name="Google Shape;53;p8"/>
          <p:cNvCxnSpPr/>
          <p:nvPr/>
        </p:nvCxnSpPr>
        <p:spPr>
          <a:xfrm>
            <a:off x="882675" y="3699175"/>
            <a:ext cx="0" cy="1699200"/>
          </a:xfrm>
          <a:prstGeom prst="straightConnector1">
            <a:avLst/>
          </a:prstGeom>
          <a:noFill/>
          <a:ln w="38100" cap="rnd" cmpd="sng">
            <a:solidFill>
              <a:srgbClr val="14B8A6"/>
            </a:solidFill>
            <a:prstDash val="solid"/>
            <a:round/>
            <a:headEnd type="none" w="lg" len="lg"/>
            <a:tailEnd type="none" w="sm" len="sm"/>
          </a:ln>
        </p:spPr>
      </p:cxnSp>
      <p:sp>
        <p:nvSpPr>
          <p:cNvPr id="54" name="Google Shape;54;p8"/>
          <p:cNvSpPr/>
          <p:nvPr/>
        </p:nvSpPr>
        <p:spPr>
          <a:xfrm>
            <a:off x="609600" y="3097679"/>
            <a:ext cx="822900" cy="36600"/>
          </a:xfrm>
          <a:prstGeom prst="rect">
            <a:avLst/>
          </a:prstGeom>
          <a:solidFill>
            <a:srgbClr val="14B8A6"/>
          </a:solidFill>
          <a:ln w="9525"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a:off x="609600" y="636045"/>
            <a:ext cx="10972800" cy="201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9600"/>
              <a:buFont typeface="Fraunces"/>
              <a:buNone/>
            </a:pPr>
            <a:r>
              <a:rPr lang="en-US" sz="9600" b="1">
                <a:solidFill>
                  <a:srgbClr val="F5F5F2"/>
                </a:solidFill>
                <a:latin typeface="Fraunces"/>
                <a:ea typeface="Fraunces"/>
                <a:cs typeface="Fraunces"/>
                <a:sym typeface="Fraunces"/>
              </a:rPr>
              <a:t>SELECT</a:t>
            </a:r>
            <a:endParaRPr sz="9600" b="0" i="0" u="none" strike="noStrike" cap="none">
              <a:solidFill>
                <a:srgbClr val="F5F5F2"/>
              </a:solidFill>
              <a:latin typeface="Calibri"/>
              <a:ea typeface="Calibri"/>
              <a:cs typeface="Calibri"/>
              <a:sym typeface="Calibri"/>
            </a:endParaRPr>
          </a:p>
        </p:txBody>
      </p:sp>
      <p:sp>
        <p:nvSpPr>
          <p:cNvPr id="56" name="Google Shape;56;p8"/>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57" name="Google Shape;57;p8"/>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58" name="Google Shape;58;p8"/>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sp>
        <p:nvSpPr>
          <p:cNvPr id="59" name="Google Shape;59;p8"/>
          <p:cNvSpPr/>
          <p:nvPr/>
        </p:nvSpPr>
        <p:spPr>
          <a:xfrm>
            <a:off x="618725" y="5538077"/>
            <a:ext cx="10789800" cy="856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5F5F2"/>
              </a:buClr>
              <a:buSzPts val="3000"/>
              <a:buFont typeface="Fraunces"/>
              <a:buNone/>
            </a:pPr>
            <a:r>
              <a:rPr lang="en-US" sz="2600" i="1">
                <a:solidFill>
                  <a:srgbClr val="F5F5F2"/>
                </a:solidFill>
                <a:latin typeface="Fraunces"/>
                <a:ea typeface="Fraunces"/>
                <a:cs typeface="Fraunces"/>
                <a:sym typeface="Fraunces"/>
              </a:rPr>
              <a:t>I  live in the space where data meets real business decisions.</a:t>
            </a:r>
            <a:endParaRPr sz="2600" b="0" i="0" u="none" strike="noStrike" cap="none">
              <a:solidFill>
                <a:srgbClr val="F5F5F2"/>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64"/>
        <p:cNvGrpSpPr/>
        <p:nvPr/>
      </p:nvGrpSpPr>
      <p:grpSpPr>
        <a:xfrm>
          <a:off x="0" y="0"/>
          <a:ext cx="0" cy="0"/>
          <a:chOff x="0" y="0"/>
          <a:chExt cx="0" cy="0"/>
        </a:xfrm>
      </p:grpSpPr>
      <p:sp>
        <p:nvSpPr>
          <p:cNvPr id="65" name="Google Shape;65;p9"/>
          <p:cNvSpPr/>
          <p:nvPr/>
        </p:nvSpPr>
        <p:spPr>
          <a:xfrm>
            <a:off x="685800" y="1188720"/>
            <a:ext cx="10972800" cy="2011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9600"/>
              <a:buFont typeface="Fraunces"/>
              <a:buNone/>
            </a:pPr>
            <a:r>
              <a:rPr lang="en-US" sz="9600" b="1" i="0" u="none" strike="noStrike" cap="none">
                <a:solidFill>
                  <a:srgbClr val="F5F5F2"/>
                </a:solidFill>
                <a:latin typeface="Fraunces"/>
                <a:ea typeface="Fraunces"/>
                <a:cs typeface="Fraunces"/>
                <a:sym typeface="Fraunces"/>
              </a:rPr>
              <a:t>WITH</a:t>
            </a:r>
            <a:endParaRPr sz="9600" b="0" i="0" u="none" strike="noStrike" cap="none">
              <a:solidFill>
                <a:schemeClr val="dk1"/>
              </a:solidFill>
              <a:latin typeface="Calibri"/>
              <a:ea typeface="Calibri"/>
              <a:cs typeface="Calibri"/>
              <a:sym typeface="Calibri"/>
            </a:endParaRPr>
          </a:p>
        </p:txBody>
      </p:sp>
      <p:sp>
        <p:nvSpPr>
          <p:cNvPr id="66" name="Google Shape;66;p9"/>
          <p:cNvSpPr/>
          <p:nvPr/>
        </p:nvSpPr>
        <p:spPr>
          <a:xfrm>
            <a:off x="685800" y="3246120"/>
            <a:ext cx="822960" cy="45720"/>
          </a:xfrm>
          <a:prstGeom prst="rect">
            <a:avLst/>
          </a:prstGeom>
          <a:solidFill>
            <a:srgbClr val="14B8A6"/>
          </a:solidFill>
          <a:ln w="9525"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9"/>
          <p:cNvSpPr/>
          <p:nvPr/>
        </p:nvSpPr>
        <p:spPr>
          <a:xfrm>
            <a:off x="685800" y="3520440"/>
            <a:ext cx="10789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3000"/>
              <a:buFont typeface="Fraunces"/>
              <a:buNone/>
            </a:pPr>
            <a:r>
              <a:rPr lang="en-US" sz="2400" b="0" i="1" u="none" strike="noStrike" cap="none">
                <a:solidFill>
                  <a:srgbClr val="F5F5F2"/>
                </a:solidFill>
                <a:latin typeface="Fraunces"/>
                <a:ea typeface="Fraunces"/>
                <a:cs typeface="Fraunces"/>
                <a:sym typeface="Fraunces"/>
              </a:rPr>
              <a:t>Every query starts with context.</a:t>
            </a:r>
            <a:endParaRPr sz="2400" b="0" i="0" u="none" strike="noStrike" cap="none">
              <a:solidFill>
                <a:schemeClr val="dk1"/>
              </a:solidFill>
              <a:latin typeface="Calibri"/>
              <a:ea typeface="Calibri"/>
              <a:cs typeface="Calibri"/>
              <a:sym typeface="Calibri"/>
            </a:endParaRPr>
          </a:p>
        </p:txBody>
      </p:sp>
      <p:sp>
        <p:nvSpPr>
          <p:cNvPr id="69" name="Google Shape;69;p9"/>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70" name="Google Shape;70;p9"/>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71" name="Google Shape;71;p9"/>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pic>
        <p:nvPicPr>
          <p:cNvPr id="3" name="Picture 2" descr="A group of people posing for a photo&#10;&#10;AI-generated content may be incorrect.">
            <a:extLst>
              <a:ext uri="{FF2B5EF4-FFF2-40B4-BE49-F238E27FC236}">
                <a16:creationId xmlns:a16="http://schemas.microsoft.com/office/drawing/2014/main" id="{99E699B8-0439-3961-B9EE-01A77DB1223C}"/>
              </a:ext>
            </a:extLst>
          </p:cNvPr>
          <p:cNvPicPr>
            <a:picLocks noChangeAspect="1"/>
          </p:cNvPicPr>
          <p:nvPr/>
        </p:nvPicPr>
        <p:blipFill>
          <a:blip r:embed="rId3"/>
          <a:stretch>
            <a:fillRect/>
          </a:stretch>
        </p:blipFill>
        <p:spPr>
          <a:xfrm>
            <a:off x="6733987" y="1048445"/>
            <a:ext cx="4472739" cy="44410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79"/>
        <p:cNvGrpSpPr/>
        <p:nvPr/>
      </p:nvGrpSpPr>
      <p:grpSpPr>
        <a:xfrm>
          <a:off x="0" y="0"/>
          <a:ext cx="0" cy="0"/>
          <a:chOff x="0" y="0"/>
          <a:chExt cx="0" cy="0"/>
        </a:xfrm>
      </p:grpSpPr>
      <p:grpSp>
        <p:nvGrpSpPr>
          <p:cNvPr id="80" name="Google Shape;80;p10"/>
          <p:cNvGrpSpPr/>
          <p:nvPr/>
        </p:nvGrpSpPr>
        <p:grpSpPr>
          <a:xfrm>
            <a:off x="4407974" y="2195514"/>
            <a:ext cx="3453075" cy="3049740"/>
            <a:chOff x="0" y="-19050"/>
            <a:chExt cx="1364151" cy="1029900"/>
          </a:xfrm>
        </p:grpSpPr>
        <p:sp>
          <p:nvSpPr>
            <p:cNvPr id="81" name="Google Shape;81;p10"/>
            <p:cNvSpPr/>
            <p:nvPr/>
          </p:nvSpPr>
          <p:spPr>
            <a:xfrm>
              <a:off x="0" y="0"/>
              <a:ext cx="1364151" cy="1010721"/>
            </a:xfrm>
            <a:custGeom>
              <a:avLst/>
              <a:gdLst/>
              <a:ahLst/>
              <a:cxnLst/>
              <a:rect l="l" t="t" r="r" b="b"/>
              <a:pathLst>
                <a:path w="1364151" h="1010721" extrusionOk="0">
                  <a:moveTo>
                    <a:pt x="59789" y="0"/>
                  </a:moveTo>
                  <a:lnTo>
                    <a:pt x="1304363" y="0"/>
                  </a:lnTo>
                  <a:cubicBezTo>
                    <a:pt x="1320220" y="0"/>
                    <a:pt x="1335427" y="6299"/>
                    <a:pt x="1346640" y="17512"/>
                  </a:cubicBezTo>
                  <a:cubicBezTo>
                    <a:pt x="1357852" y="28724"/>
                    <a:pt x="1364151" y="43932"/>
                    <a:pt x="1364151" y="59789"/>
                  </a:cubicBezTo>
                  <a:lnTo>
                    <a:pt x="1364151" y="950932"/>
                  </a:lnTo>
                  <a:cubicBezTo>
                    <a:pt x="1364151" y="983953"/>
                    <a:pt x="1337383" y="1010721"/>
                    <a:pt x="1304363" y="1010721"/>
                  </a:cubicBezTo>
                  <a:lnTo>
                    <a:pt x="59789" y="1010721"/>
                  </a:lnTo>
                  <a:cubicBezTo>
                    <a:pt x="26768" y="1010721"/>
                    <a:pt x="0" y="983953"/>
                    <a:pt x="0" y="950932"/>
                  </a:cubicBezTo>
                  <a:lnTo>
                    <a:pt x="0" y="59789"/>
                  </a:lnTo>
                  <a:cubicBezTo>
                    <a:pt x="0" y="26768"/>
                    <a:pt x="26768" y="0"/>
                    <a:pt x="59789" y="0"/>
                  </a:cubicBezTo>
                  <a:close/>
                </a:path>
              </a:pathLst>
            </a:custGeom>
            <a:solidFill>
              <a:srgbClr val="14B8A6"/>
            </a:solidFill>
            <a:ln>
              <a:noFill/>
            </a:ln>
          </p:spPr>
          <p:txBody>
            <a:bodyPr spcFirstLastPara="1" wrap="square" lIns="60950" tIns="60950" rIns="60950" bIns="60950" anchor="ctr" anchorCtr="0">
              <a:noAutofit/>
            </a:bodyPr>
            <a:lstStyle/>
            <a:p>
              <a:pPr marL="0" lvl="0" indent="0" algn="l" rtl="0">
                <a:spcBef>
                  <a:spcPts val="0"/>
                </a:spcBef>
                <a:spcAft>
                  <a:spcPts val="0"/>
                </a:spcAft>
                <a:buNone/>
              </a:pPr>
              <a:endParaRPr/>
            </a:p>
          </p:txBody>
        </p:sp>
        <p:sp>
          <p:nvSpPr>
            <p:cNvPr id="82" name="Google Shape;82;p10"/>
            <p:cNvSpPr txBox="1"/>
            <p:nvPr/>
          </p:nvSpPr>
          <p:spPr>
            <a:xfrm>
              <a:off x="0" y="-19050"/>
              <a:ext cx="1364100" cy="1029900"/>
            </a:xfrm>
            <a:prstGeom prst="rect">
              <a:avLst/>
            </a:prstGeom>
            <a:solidFill>
              <a:srgbClr val="14B8A6"/>
            </a:solidFill>
            <a:ln>
              <a:noFill/>
            </a:ln>
          </p:spPr>
          <p:txBody>
            <a:bodyPr spcFirstLastPara="1" wrap="square" lIns="33875" tIns="33875" rIns="33875" bIns="33875" anchor="ctr" anchorCtr="0">
              <a:noAutofit/>
            </a:bodyPr>
            <a:lstStyle/>
            <a:p>
              <a:pPr marL="0" marR="0" lvl="0" indent="0" algn="ctr" rtl="0">
                <a:lnSpc>
                  <a:spcPct val="140000"/>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83" name="Google Shape;83;p10"/>
          <p:cNvGrpSpPr/>
          <p:nvPr/>
        </p:nvGrpSpPr>
        <p:grpSpPr>
          <a:xfrm>
            <a:off x="8203878" y="2195514"/>
            <a:ext cx="3453075" cy="3049740"/>
            <a:chOff x="0" y="-19050"/>
            <a:chExt cx="1364151" cy="1029900"/>
          </a:xfrm>
        </p:grpSpPr>
        <p:sp>
          <p:nvSpPr>
            <p:cNvPr id="84" name="Google Shape;84;p10"/>
            <p:cNvSpPr/>
            <p:nvPr/>
          </p:nvSpPr>
          <p:spPr>
            <a:xfrm>
              <a:off x="0" y="0"/>
              <a:ext cx="1364151" cy="1010721"/>
            </a:xfrm>
            <a:custGeom>
              <a:avLst/>
              <a:gdLst/>
              <a:ahLst/>
              <a:cxnLst/>
              <a:rect l="l" t="t" r="r" b="b"/>
              <a:pathLst>
                <a:path w="1364151" h="1010721" extrusionOk="0">
                  <a:moveTo>
                    <a:pt x="59789" y="0"/>
                  </a:moveTo>
                  <a:lnTo>
                    <a:pt x="1304363" y="0"/>
                  </a:lnTo>
                  <a:cubicBezTo>
                    <a:pt x="1320220" y="0"/>
                    <a:pt x="1335427" y="6299"/>
                    <a:pt x="1346640" y="17512"/>
                  </a:cubicBezTo>
                  <a:cubicBezTo>
                    <a:pt x="1357852" y="28724"/>
                    <a:pt x="1364151" y="43932"/>
                    <a:pt x="1364151" y="59789"/>
                  </a:cubicBezTo>
                  <a:lnTo>
                    <a:pt x="1364151" y="950932"/>
                  </a:lnTo>
                  <a:cubicBezTo>
                    <a:pt x="1364151" y="983953"/>
                    <a:pt x="1337383" y="1010721"/>
                    <a:pt x="1304363" y="1010721"/>
                  </a:cubicBezTo>
                  <a:lnTo>
                    <a:pt x="59789" y="1010721"/>
                  </a:lnTo>
                  <a:cubicBezTo>
                    <a:pt x="26768" y="1010721"/>
                    <a:pt x="0" y="983953"/>
                    <a:pt x="0" y="950932"/>
                  </a:cubicBezTo>
                  <a:lnTo>
                    <a:pt x="0" y="59789"/>
                  </a:lnTo>
                  <a:cubicBezTo>
                    <a:pt x="0" y="26768"/>
                    <a:pt x="26768" y="0"/>
                    <a:pt x="59789" y="0"/>
                  </a:cubicBezTo>
                  <a:close/>
                </a:path>
              </a:pathLst>
            </a:custGeom>
            <a:solidFill>
              <a:srgbClr val="14B8A6"/>
            </a:solidFill>
            <a:ln>
              <a:noFill/>
            </a:ln>
          </p:spPr>
          <p:txBody>
            <a:bodyPr spcFirstLastPara="1" wrap="square" lIns="60950" tIns="60950" rIns="60950" bIns="60950" anchor="ctr" anchorCtr="0">
              <a:noAutofit/>
            </a:bodyPr>
            <a:lstStyle/>
            <a:p>
              <a:pPr marL="0" lvl="0" indent="0" algn="l" rtl="0">
                <a:spcBef>
                  <a:spcPts val="0"/>
                </a:spcBef>
                <a:spcAft>
                  <a:spcPts val="0"/>
                </a:spcAft>
                <a:buNone/>
              </a:pPr>
              <a:endParaRPr/>
            </a:p>
          </p:txBody>
        </p:sp>
        <p:sp>
          <p:nvSpPr>
            <p:cNvPr id="85" name="Google Shape;85;p10"/>
            <p:cNvSpPr txBox="1"/>
            <p:nvPr/>
          </p:nvSpPr>
          <p:spPr>
            <a:xfrm>
              <a:off x="0" y="-19050"/>
              <a:ext cx="1364100" cy="1029900"/>
            </a:xfrm>
            <a:prstGeom prst="rect">
              <a:avLst/>
            </a:prstGeom>
            <a:solidFill>
              <a:srgbClr val="14B8A6"/>
            </a:solidFill>
            <a:ln>
              <a:noFill/>
            </a:ln>
          </p:spPr>
          <p:txBody>
            <a:bodyPr spcFirstLastPara="1" wrap="square" lIns="33875" tIns="33875" rIns="33875" bIns="33875" anchor="ctr" anchorCtr="0">
              <a:noAutofit/>
            </a:bodyPr>
            <a:lstStyle/>
            <a:p>
              <a:pPr marL="0" marR="0" lvl="0" indent="0" algn="ctr" rtl="0">
                <a:lnSpc>
                  <a:spcPct val="140000"/>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86" name="Google Shape;86;p10"/>
          <p:cNvGrpSpPr/>
          <p:nvPr/>
        </p:nvGrpSpPr>
        <p:grpSpPr>
          <a:xfrm>
            <a:off x="613600" y="2195514"/>
            <a:ext cx="3453075" cy="3049740"/>
            <a:chOff x="0" y="-19050"/>
            <a:chExt cx="1364151" cy="1029900"/>
          </a:xfrm>
        </p:grpSpPr>
        <p:sp>
          <p:nvSpPr>
            <p:cNvPr id="87" name="Google Shape;87;p10"/>
            <p:cNvSpPr/>
            <p:nvPr/>
          </p:nvSpPr>
          <p:spPr>
            <a:xfrm>
              <a:off x="0" y="0"/>
              <a:ext cx="1364151" cy="1010721"/>
            </a:xfrm>
            <a:custGeom>
              <a:avLst/>
              <a:gdLst/>
              <a:ahLst/>
              <a:cxnLst/>
              <a:rect l="l" t="t" r="r" b="b"/>
              <a:pathLst>
                <a:path w="1364151" h="1010721" extrusionOk="0">
                  <a:moveTo>
                    <a:pt x="59789" y="0"/>
                  </a:moveTo>
                  <a:lnTo>
                    <a:pt x="1304363" y="0"/>
                  </a:lnTo>
                  <a:cubicBezTo>
                    <a:pt x="1320220" y="0"/>
                    <a:pt x="1335427" y="6299"/>
                    <a:pt x="1346640" y="17512"/>
                  </a:cubicBezTo>
                  <a:cubicBezTo>
                    <a:pt x="1357852" y="28724"/>
                    <a:pt x="1364151" y="43932"/>
                    <a:pt x="1364151" y="59789"/>
                  </a:cubicBezTo>
                  <a:lnTo>
                    <a:pt x="1364151" y="950932"/>
                  </a:lnTo>
                  <a:cubicBezTo>
                    <a:pt x="1364151" y="983953"/>
                    <a:pt x="1337383" y="1010721"/>
                    <a:pt x="1304363" y="1010721"/>
                  </a:cubicBezTo>
                  <a:lnTo>
                    <a:pt x="59789" y="1010721"/>
                  </a:lnTo>
                  <a:cubicBezTo>
                    <a:pt x="26768" y="1010721"/>
                    <a:pt x="0" y="983953"/>
                    <a:pt x="0" y="950932"/>
                  </a:cubicBezTo>
                  <a:lnTo>
                    <a:pt x="0" y="59789"/>
                  </a:lnTo>
                  <a:cubicBezTo>
                    <a:pt x="0" y="26768"/>
                    <a:pt x="26768" y="0"/>
                    <a:pt x="59789" y="0"/>
                  </a:cubicBezTo>
                  <a:close/>
                </a:path>
              </a:pathLst>
            </a:custGeom>
            <a:solidFill>
              <a:srgbClr val="14B8A6"/>
            </a:solidFill>
            <a:ln>
              <a:noFill/>
            </a:ln>
          </p:spPr>
          <p:txBody>
            <a:bodyPr spcFirstLastPara="1" wrap="square" lIns="60950" tIns="60950" rIns="60950" bIns="60950" anchor="ctr" anchorCtr="0">
              <a:noAutofit/>
            </a:bodyPr>
            <a:lstStyle/>
            <a:p>
              <a:pPr marL="0" lvl="0" indent="0" algn="l" rtl="0">
                <a:spcBef>
                  <a:spcPts val="0"/>
                </a:spcBef>
                <a:spcAft>
                  <a:spcPts val="0"/>
                </a:spcAft>
                <a:buNone/>
              </a:pPr>
              <a:endParaRPr/>
            </a:p>
          </p:txBody>
        </p:sp>
        <p:sp>
          <p:nvSpPr>
            <p:cNvPr id="88" name="Google Shape;88;p10"/>
            <p:cNvSpPr txBox="1"/>
            <p:nvPr/>
          </p:nvSpPr>
          <p:spPr>
            <a:xfrm>
              <a:off x="0" y="-19050"/>
              <a:ext cx="1364100" cy="1029900"/>
            </a:xfrm>
            <a:prstGeom prst="rect">
              <a:avLst/>
            </a:prstGeom>
            <a:solidFill>
              <a:srgbClr val="14B8A6"/>
            </a:solidFill>
            <a:ln>
              <a:noFill/>
            </a:ln>
          </p:spPr>
          <p:txBody>
            <a:bodyPr spcFirstLastPara="1" wrap="square" lIns="33875" tIns="33875" rIns="33875" bIns="33875" anchor="ctr" anchorCtr="0">
              <a:noAutofit/>
            </a:bodyPr>
            <a:lstStyle/>
            <a:p>
              <a:pPr marL="0" marR="0" lvl="0" indent="0" algn="ctr" rtl="0">
                <a:lnSpc>
                  <a:spcPct val="140000"/>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grpSp>
      <p:grpSp>
        <p:nvGrpSpPr>
          <p:cNvPr id="89" name="Google Shape;89;p10"/>
          <p:cNvGrpSpPr/>
          <p:nvPr/>
        </p:nvGrpSpPr>
        <p:grpSpPr>
          <a:xfrm>
            <a:off x="4696598" y="2472903"/>
            <a:ext cx="2855109" cy="358309"/>
            <a:chOff x="0" y="-3"/>
            <a:chExt cx="5710217" cy="612599"/>
          </a:xfrm>
        </p:grpSpPr>
        <p:sp>
          <p:nvSpPr>
            <p:cNvPr id="90" name="Google Shape;90;p10"/>
            <p:cNvSpPr/>
            <p:nvPr/>
          </p:nvSpPr>
          <p:spPr>
            <a:xfrm>
              <a:off x="0" y="0"/>
              <a:ext cx="2873801" cy="612596"/>
            </a:xfrm>
            <a:custGeom>
              <a:avLst/>
              <a:gdLst/>
              <a:ahLst/>
              <a:cxnLst/>
              <a:rect l="l" t="t" r="r" b="b"/>
              <a:pathLst>
                <a:path w="2873801" h="612596" extrusionOk="0">
                  <a:moveTo>
                    <a:pt x="0" y="0"/>
                  </a:moveTo>
                  <a:lnTo>
                    <a:pt x="2873801" y="0"/>
                  </a:lnTo>
                  <a:lnTo>
                    <a:pt x="2873801" y="612596"/>
                  </a:lnTo>
                  <a:lnTo>
                    <a:pt x="0" y="612596"/>
                  </a:lnTo>
                  <a:close/>
                </a:path>
              </a:pathLst>
            </a:custGeom>
            <a:noFill/>
            <a:ln>
              <a:noFill/>
            </a:ln>
          </p:spPr>
          <p:txBody>
            <a:bodyPr/>
            <a:lstStyle/>
            <a:p>
              <a:endParaRPr lang="en-US"/>
            </a:p>
          </p:txBody>
        </p:sp>
        <p:sp>
          <p:nvSpPr>
            <p:cNvPr id="91" name="Google Shape;91;p10"/>
            <p:cNvSpPr txBox="1"/>
            <p:nvPr/>
          </p:nvSpPr>
          <p:spPr>
            <a:xfrm>
              <a:off x="17" y="-3"/>
              <a:ext cx="5710200" cy="529500"/>
            </a:xfrm>
            <a:prstGeom prst="rect">
              <a:avLst/>
            </a:prstGeom>
            <a:noFill/>
            <a:ln>
              <a:noFill/>
            </a:ln>
          </p:spPr>
          <p:txBody>
            <a:bodyPr spcFirstLastPara="1" wrap="square" lIns="0" tIns="0" rIns="0" bIns="0" anchor="t" anchorCtr="0">
              <a:noAutofit/>
            </a:bodyPr>
            <a:lstStyle/>
            <a:p>
              <a:pPr marL="0" marR="0" lvl="0" indent="0" algn="l" rtl="0">
                <a:lnSpc>
                  <a:spcPct val="118009"/>
                </a:lnSpc>
                <a:spcBef>
                  <a:spcPts val="0"/>
                </a:spcBef>
                <a:spcAft>
                  <a:spcPts val="0"/>
                </a:spcAft>
                <a:buNone/>
              </a:pPr>
              <a:r>
                <a:rPr lang="en-US" sz="2400">
                  <a:solidFill>
                    <a:srgbClr val="1F2328"/>
                  </a:solidFill>
                  <a:latin typeface="DM Sans Light"/>
                  <a:ea typeface="DM Sans Light"/>
                  <a:cs typeface="DM Sans Light"/>
                  <a:sym typeface="DM Sans Light"/>
                </a:rPr>
                <a:t>WHAT DOESN’T</a:t>
              </a:r>
              <a:endParaRPr sz="2400">
                <a:solidFill>
                  <a:srgbClr val="1F2328"/>
                </a:solidFill>
                <a:latin typeface="DM Sans Light"/>
                <a:ea typeface="DM Sans Light"/>
                <a:cs typeface="DM Sans Light"/>
                <a:sym typeface="DM Sans Light"/>
              </a:endParaRPr>
            </a:p>
          </p:txBody>
        </p:sp>
      </p:grpSp>
      <p:grpSp>
        <p:nvGrpSpPr>
          <p:cNvPr id="92" name="Google Shape;92;p10"/>
          <p:cNvGrpSpPr/>
          <p:nvPr/>
        </p:nvGrpSpPr>
        <p:grpSpPr>
          <a:xfrm>
            <a:off x="8489624" y="2472903"/>
            <a:ext cx="2883150" cy="358310"/>
            <a:chOff x="-7" y="-3"/>
            <a:chExt cx="5766300" cy="612600"/>
          </a:xfrm>
        </p:grpSpPr>
        <p:sp>
          <p:nvSpPr>
            <p:cNvPr id="93" name="Google Shape;93;p10"/>
            <p:cNvSpPr/>
            <p:nvPr/>
          </p:nvSpPr>
          <p:spPr>
            <a:xfrm>
              <a:off x="0" y="0"/>
              <a:ext cx="2873801" cy="612596"/>
            </a:xfrm>
            <a:custGeom>
              <a:avLst/>
              <a:gdLst/>
              <a:ahLst/>
              <a:cxnLst/>
              <a:rect l="l" t="t" r="r" b="b"/>
              <a:pathLst>
                <a:path w="2873801" h="612596" extrusionOk="0">
                  <a:moveTo>
                    <a:pt x="0" y="0"/>
                  </a:moveTo>
                  <a:lnTo>
                    <a:pt x="2873801" y="0"/>
                  </a:lnTo>
                  <a:lnTo>
                    <a:pt x="2873801" y="612596"/>
                  </a:lnTo>
                  <a:lnTo>
                    <a:pt x="0" y="612596"/>
                  </a:lnTo>
                  <a:close/>
                </a:path>
              </a:pathLst>
            </a:custGeom>
            <a:noFill/>
            <a:ln>
              <a:noFill/>
            </a:ln>
          </p:spPr>
          <p:txBody>
            <a:bodyPr/>
            <a:lstStyle/>
            <a:p>
              <a:endParaRPr lang="en-US"/>
            </a:p>
          </p:txBody>
        </p:sp>
        <p:sp>
          <p:nvSpPr>
            <p:cNvPr id="94" name="Google Shape;94;p10"/>
            <p:cNvSpPr txBox="1"/>
            <p:nvPr/>
          </p:nvSpPr>
          <p:spPr>
            <a:xfrm>
              <a:off x="-7" y="-3"/>
              <a:ext cx="5766300" cy="612600"/>
            </a:xfrm>
            <a:prstGeom prst="rect">
              <a:avLst/>
            </a:prstGeom>
            <a:noFill/>
            <a:ln>
              <a:noFill/>
            </a:ln>
          </p:spPr>
          <p:txBody>
            <a:bodyPr spcFirstLastPara="1" wrap="square" lIns="0" tIns="0" rIns="0" bIns="0" anchor="t" anchorCtr="0">
              <a:noAutofit/>
            </a:bodyPr>
            <a:lstStyle/>
            <a:p>
              <a:pPr marL="0" marR="0" lvl="0" indent="0" algn="l" rtl="0">
                <a:lnSpc>
                  <a:spcPct val="118009"/>
                </a:lnSpc>
                <a:spcBef>
                  <a:spcPts val="0"/>
                </a:spcBef>
                <a:spcAft>
                  <a:spcPts val="0"/>
                </a:spcAft>
                <a:buNone/>
              </a:pPr>
              <a:r>
                <a:rPr lang="en-US" sz="2400">
                  <a:solidFill>
                    <a:srgbClr val="1F2328"/>
                  </a:solidFill>
                  <a:latin typeface="DM Sans Light"/>
                  <a:ea typeface="DM Sans Light"/>
                  <a:cs typeface="DM Sans Light"/>
                  <a:sym typeface="DM Sans Light"/>
                </a:rPr>
                <a:t>THE NEW PRESSURE</a:t>
              </a:r>
              <a:endParaRPr sz="2400">
                <a:solidFill>
                  <a:srgbClr val="1F2328"/>
                </a:solidFill>
                <a:latin typeface="DM Sans Light"/>
                <a:ea typeface="DM Sans Light"/>
                <a:cs typeface="DM Sans Light"/>
                <a:sym typeface="DM Sans Light"/>
              </a:endParaRPr>
            </a:p>
          </p:txBody>
        </p:sp>
      </p:grpSp>
      <p:sp>
        <p:nvSpPr>
          <p:cNvPr id="95" name="Google Shape;95;p10"/>
          <p:cNvSpPr txBox="1"/>
          <p:nvPr/>
        </p:nvSpPr>
        <p:spPr>
          <a:xfrm>
            <a:off x="4623953" y="2990531"/>
            <a:ext cx="2953500" cy="20244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SzPts val="2200"/>
              <a:buNone/>
            </a:pPr>
            <a:r>
              <a:rPr lang="en-US" sz="2400" b="1">
                <a:solidFill>
                  <a:schemeClr val="lt1"/>
                </a:solidFill>
                <a:latin typeface="Fraunces"/>
                <a:ea typeface="Fraunces"/>
                <a:cs typeface="Fraunces"/>
                <a:sym typeface="Fraunces"/>
              </a:rPr>
              <a:t>Graph tooling hasn't met engineers where they are.</a:t>
            </a:r>
            <a:endParaRPr sz="2400" b="1">
              <a:solidFill>
                <a:schemeClr val="lt1"/>
              </a:solidFill>
              <a:latin typeface="Fraunces"/>
              <a:ea typeface="Fraunces"/>
              <a:cs typeface="Fraunces"/>
              <a:sym typeface="Fraunces"/>
            </a:endParaRPr>
          </a:p>
        </p:txBody>
      </p:sp>
      <p:sp>
        <p:nvSpPr>
          <p:cNvPr id="96" name="Google Shape;96;p10"/>
          <p:cNvSpPr txBox="1"/>
          <p:nvPr/>
        </p:nvSpPr>
        <p:spPr>
          <a:xfrm>
            <a:off x="8452099" y="2990546"/>
            <a:ext cx="2953500" cy="20244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SzPts val="2200"/>
              <a:buNone/>
            </a:pPr>
            <a:r>
              <a:rPr lang="en-US" sz="2400" b="1">
                <a:solidFill>
                  <a:schemeClr val="lt1"/>
                </a:solidFill>
                <a:latin typeface="Fraunces"/>
                <a:ea typeface="Fraunces"/>
                <a:cs typeface="Fraunces"/>
                <a:sym typeface="Fraunces"/>
              </a:rPr>
              <a:t>AI is forcing the question nobody has answered cleanly.</a:t>
            </a:r>
            <a:endParaRPr sz="3200" b="1">
              <a:solidFill>
                <a:schemeClr val="lt1"/>
              </a:solidFill>
              <a:latin typeface="Fraunces"/>
              <a:ea typeface="Fraunces"/>
              <a:cs typeface="Fraunces"/>
              <a:sym typeface="Fraunces"/>
            </a:endParaRPr>
          </a:p>
        </p:txBody>
      </p:sp>
      <p:sp>
        <p:nvSpPr>
          <p:cNvPr id="97" name="Google Shape;97;p10"/>
          <p:cNvSpPr/>
          <p:nvPr/>
        </p:nvSpPr>
        <p:spPr>
          <a:xfrm>
            <a:off x="8489628" y="3191045"/>
            <a:ext cx="1673078" cy="1823204"/>
          </a:xfrm>
          <a:custGeom>
            <a:avLst/>
            <a:gdLst/>
            <a:ahLst/>
            <a:cxnLst/>
            <a:rect l="l" t="t" r="r" b="b"/>
            <a:pathLst>
              <a:path w="3084015" h="2871187" extrusionOk="0">
                <a:moveTo>
                  <a:pt x="0" y="0"/>
                </a:moveTo>
                <a:lnTo>
                  <a:pt x="3084015" y="0"/>
                </a:lnTo>
                <a:lnTo>
                  <a:pt x="3084015" y="2871187"/>
                </a:lnTo>
                <a:lnTo>
                  <a:pt x="0" y="2871187"/>
                </a:lnTo>
                <a:close/>
              </a:path>
            </a:pathLst>
          </a:custGeom>
          <a:noFill/>
          <a:ln>
            <a:noFill/>
          </a:ln>
        </p:spPr>
        <p:txBody>
          <a:bodyPr/>
          <a:lstStyle/>
          <a:p>
            <a:endParaRPr lang="en-US"/>
          </a:p>
        </p:txBody>
      </p:sp>
      <p:grpSp>
        <p:nvGrpSpPr>
          <p:cNvPr id="98" name="Google Shape;98;p10"/>
          <p:cNvGrpSpPr/>
          <p:nvPr/>
        </p:nvGrpSpPr>
        <p:grpSpPr>
          <a:xfrm>
            <a:off x="652025" y="932945"/>
            <a:ext cx="10966500" cy="1073843"/>
            <a:chOff x="-3" y="0"/>
            <a:chExt cx="21933000" cy="2147686"/>
          </a:xfrm>
        </p:grpSpPr>
        <p:sp>
          <p:nvSpPr>
            <p:cNvPr id="99" name="Google Shape;99;p10"/>
            <p:cNvSpPr/>
            <p:nvPr/>
          </p:nvSpPr>
          <p:spPr>
            <a:xfrm>
              <a:off x="0" y="0"/>
              <a:ext cx="17272881" cy="2147686"/>
            </a:xfrm>
            <a:custGeom>
              <a:avLst/>
              <a:gdLst/>
              <a:ahLst/>
              <a:cxnLst/>
              <a:rect l="l" t="t" r="r" b="b"/>
              <a:pathLst>
                <a:path w="17272881" h="2147686" extrusionOk="0">
                  <a:moveTo>
                    <a:pt x="0" y="0"/>
                  </a:moveTo>
                  <a:lnTo>
                    <a:pt x="17272881" y="0"/>
                  </a:lnTo>
                  <a:lnTo>
                    <a:pt x="17272881" y="2147686"/>
                  </a:lnTo>
                  <a:lnTo>
                    <a:pt x="0" y="2147686"/>
                  </a:lnTo>
                  <a:close/>
                </a:path>
              </a:pathLst>
            </a:custGeom>
            <a:noFill/>
            <a:ln>
              <a:noFill/>
            </a:ln>
          </p:spPr>
          <p:txBody>
            <a:bodyPr/>
            <a:lstStyle/>
            <a:p>
              <a:endParaRPr lang="en-US"/>
            </a:p>
          </p:txBody>
        </p:sp>
        <p:sp>
          <p:nvSpPr>
            <p:cNvPr id="100" name="Google Shape;100;p10"/>
            <p:cNvSpPr txBox="1"/>
            <p:nvPr/>
          </p:nvSpPr>
          <p:spPr>
            <a:xfrm>
              <a:off x="-3" y="19059"/>
              <a:ext cx="21933000" cy="2128500"/>
            </a:xfrm>
            <a:prstGeom prst="rect">
              <a:avLst/>
            </a:prstGeom>
            <a:noFill/>
            <a:ln>
              <a:noFill/>
            </a:ln>
          </p:spPr>
          <p:txBody>
            <a:bodyPr spcFirstLastPara="1" wrap="square" lIns="0" tIns="0" rIns="0" bIns="0" anchor="t" anchorCtr="0">
              <a:noAutofit/>
            </a:bodyPr>
            <a:lstStyle/>
            <a:p>
              <a:pPr marL="0" marR="0" lvl="0" indent="0" algn="l" rtl="0">
                <a:lnSpc>
                  <a:spcPct val="118002"/>
                </a:lnSpc>
                <a:spcBef>
                  <a:spcPts val="0"/>
                </a:spcBef>
                <a:spcAft>
                  <a:spcPts val="0"/>
                </a:spcAft>
                <a:buNone/>
              </a:pPr>
              <a:r>
                <a:rPr lang="en-US" sz="4700" b="1">
                  <a:solidFill>
                    <a:srgbClr val="1F2328"/>
                  </a:solidFill>
                  <a:latin typeface="Fraunces"/>
                  <a:ea typeface="Fraunces"/>
                  <a:cs typeface="Fraunces"/>
                  <a:sym typeface="Fraunces"/>
                </a:rPr>
                <a:t>The Tension We Keep Running Into</a:t>
              </a:r>
              <a:endParaRPr sz="500">
                <a:solidFill>
                  <a:srgbClr val="1F2328"/>
                </a:solidFill>
              </a:endParaRPr>
            </a:p>
          </p:txBody>
        </p:sp>
      </p:grpSp>
      <p:grpSp>
        <p:nvGrpSpPr>
          <p:cNvPr id="101" name="Google Shape;101;p10"/>
          <p:cNvGrpSpPr/>
          <p:nvPr/>
        </p:nvGrpSpPr>
        <p:grpSpPr>
          <a:xfrm>
            <a:off x="825882" y="2990496"/>
            <a:ext cx="2991040" cy="2024327"/>
            <a:chOff x="0" y="-315726"/>
            <a:chExt cx="5508361" cy="3186913"/>
          </a:xfrm>
        </p:grpSpPr>
        <p:sp>
          <p:nvSpPr>
            <p:cNvPr id="102" name="Google Shape;102;p10"/>
            <p:cNvSpPr/>
            <p:nvPr/>
          </p:nvSpPr>
          <p:spPr>
            <a:xfrm>
              <a:off x="0" y="0"/>
              <a:ext cx="4054150" cy="2871187"/>
            </a:xfrm>
            <a:custGeom>
              <a:avLst/>
              <a:gdLst/>
              <a:ahLst/>
              <a:cxnLst/>
              <a:rect l="l" t="t" r="r" b="b"/>
              <a:pathLst>
                <a:path w="4054150" h="2871187" extrusionOk="0">
                  <a:moveTo>
                    <a:pt x="0" y="0"/>
                  </a:moveTo>
                  <a:lnTo>
                    <a:pt x="4054150" y="0"/>
                  </a:lnTo>
                  <a:lnTo>
                    <a:pt x="4054150" y="2871187"/>
                  </a:lnTo>
                  <a:lnTo>
                    <a:pt x="0" y="2871187"/>
                  </a:lnTo>
                  <a:close/>
                </a:path>
              </a:pathLst>
            </a:custGeom>
            <a:noFill/>
            <a:ln>
              <a:noFill/>
            </a:ln>
          </p:spPr>
          <p:txBody>
            <a:bodyPr/>
            <a:lstStyle/>
            <a:p>
              <a:endParaRPr lang="en-US"/>
            </a:p>
          </p:txBody>
        </p:sp>
        <p:sp>
          <p:nvSpPr>
            <p:cNvPr id="103" name="Google Shape;103;p10"/>
            <p:cNvSpPr txBox="1"/>
            <p:nvPr/>
          </p:nvSpPr>
          <p:spPr>
            <a:xfrm>
              <a:off x="69061" y="-315726"/>
              <a:ext cx="5439300" cy="31869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SzPts val="2200"/>
                <a:buNone/>
              </a:pPr>
              <a:r>
                <a:rPr lang="en-US" sz="2400" b="1">
                  <a:solidFill>
                    <a:schemeClr val="lt1"/>
                  </a:solidFill>
                  <a:latin typeface="Fraunces"/>
                  <a:ea typeface="Fraunces"/>
                  <a:cs typeface="Fraunces"/>
                  <a:sym typeface="Fraunces"/>
                </a:rPr>
                <a:t>Connecting data across silos is where the value lives.</a:t>
              </a:r>
              <a:endParaRPr sz="2400">
                <a:solidFill>
                  <a:schemeClr val="lt1"/>
                </a:solidFill>
                <a:latin typeface="Fraunces"/>
                <a:ea typeface="Fraunces"/>
                <a:cs typeface="Fraunces"/>
                <a:sym typeface="Fraunces"/>
              </a:endParaRPr>
            </a:p>
          </p:txBody>
        </p:sp>
      </p:grpSp>
      <p:sp>
        <p:nvSpPr>
          <p:cNvPr id="104" name="Google Shape;104;p10"/>
          <p:cNvSpPr/>
          <p:nvPr/>
        </p:nvSpPr>
        <p:spPr>
          <a:xfrm>
            <a:off x="4696598" y="3191045"/>
            <a:ext cx="1673078" cy="1823204"/>
          </a:xfrm>
          <a:custGeom>
            <a:avLst/>
            <a:gdLst/>
            <a:ahLst/>
            <a:cxnLst/>
            <a:rect l="l" t="t" r="r" b="b"/>
            <a:pathLst>
              <a:path w="3084015" h="2871187" extrusionOk="0">
                <a:moveTo>
                  <a:pt x="0" y="0"/>
                </a:moveTo>
                <a:lnTo>
                  <a:pt x="3084015" y="0"/>
                </a:lnTo>
                <a:lnTo>
                  <a:pt x="3084015" y="2871187"/>
                </a:lnTo>
                <a:lnTo>
                  <a:pt x="0" y="2871187"/>
                </a:lnTo>
                <a:close/>
              </a:path>
            </a:pathLst>
          </a:custGeom>
          <a:noFill/>
          <a:ln>
            <a:noFill/>
          </a:ln>
        </p:spPr>
        <p:txBody>
          <a:bodyPr/>
          <a:lstStyle/>
          <a:p>
            <a:endParaRPr lang="en-US"/>
          </a:p>
        </p:txBody>
      </p:sp>
      <p:grpSp>
        <p:nvGrpSpPr>
          <p:cNvPr id="105" name="Google Shape;105;p10"/>
          <p:cNvGrpSpPr/>
          <p:nvPr/>
        </p:nvGrpSpPr>
        <p:grpSpPr>
          <a:xfrm>
            <a:off x="825882" y="2472903"/>
            <a:ext cx="2883150" cy="358310"/>
            <a:chOff x="0" y="-3"/>
            <a:chExt cx="5766300" cy="612600"/>
          </a:xfrm>
        </p:grpSpPr>
        <p:sp>
          <p:nvSpPr>
            <p:cNvPr id="106" name="Google Shape;106;p10"/>
            <p:cNvSpPr/>
            <p:nvPr/>
          </p:nvSpPr>
          <p:spPr>
            <a:xfrm>
              <a:off x="0" y="0"/>
              <a:ext cx="2873801" cy="612596"/>
            </a:xfrm>
            <a:custGeom>
              <a:avLst/>
              <a:gdLst/>
              <a:ahLst/>
              <a:cxnLst/>
              <a:rect l="l" t="t" r="r" b="b"/>
              <a:pathLst>
                <a:path w="2873801" h="612596" extrusionOk="0">
                  <a:moveTo>
                    <a:pt x="0" y="0"/>
                  </a:moveTo>
                  <a:lnTo>
                    <a:pt x="2873801" y="0"/>
                  </a:lnTo>
                  <a:lnTo>
                    <a:pt x="2873801" y="612596"/>
                  </a:lnTo>
                  <a:lnTo>
                    <a:pt x="0" y="612596"/>
                  </a:lnTo>
                  <a:close/>
                </a:path>
              </a:pathLst>
            </a:custGeom>
            <a:noFill/>
            <a:ln>
              <a:noFill/>
            </a:ln>
          </p:spPr>
          <p:txBody>
            <a:bodyPr/>
            <a:lstStyle/>
            <a:p>
              <a:endParaRPr lang="en-US"/>
            </a:p>
          </p:txBody>
        </p:sp>
        <p:sp>
          <p:nvSpPr>
            <p:cNvPr id="107" name="Google Shape;107;p10"/>
            <p:cNvSpPr txBox="1"/>
            <p:nvPr/>
          </p:nvSpPr>
          <p:spPr>
            <a:xfrm>
              <a:off x="0" y="-3"/>
              <a:ext cx="5766300" cy="612600"/>
            </a:xfrm>
            <a:prstGeom prst="rect">
              <a:avLst/>
            </a:prstGeom>
            <a:noFill/>
            <a:ln>
              <a:noFill/>
            </a:ln>
          </p:spPr>
          <p:txBody>
            <a:bodyPr spcFirstLastPara="1" wrap="square" lIns="0" tIns="0" rIns="0" bIns="0" anchor="t" anchorCtr="0">
              <a:noAutofit/>
            </a:bodyPr>
            <a:lstStyle/>
            <a:p>
              <a:pPr marL="0" marR="0" lvl="0" indent="0" algn="l" rtl="0">
                <a:lnSpc>
                  <a:spcPct val="118009"/>
                </a:lnSpc>
                <a:spcBef>
                  <a:spcPts val="0"/>
                </a:spcBef>
                <a:spcAft>
                  <a:spcPts val="0"/>
                </a:spcAft>
                <a:buNone/>
              </a:pPr>
              <a:r>
                <a:rPr lang="en-US" sz="2400">
                  <a:solidFill>
                    <a:srgbClr val="1F2328"/>
                  </a:solidFill>
                  <a:latin typeface="DM Sans Light"/>
                  <a:ea typeface="DM Sans Light"/>
                  <a:cs typeface="DM Sans Light"/>
                  <a:sym typeface="DM Sans Light"/>
                </a:rPr>
                <a:t>WHAT WORKS</a:t>
              </a:r>
              <a:endParaRPr sz="2400">
                <a:solidFill>
                  <a:srgbClr val="1F2328"/>
                </a:solidFill>
                <a:latin typeface="DM Sans Light"/>
                <a:ea typeface="DM Sans Light"/>
                <a:cs typeface="DM Sans Light"/>
                <a:sym typeface="DM Sans Light"/>
              </a:endParaRPr>
            </a:p>
          </p:txBody>
        </p:sp>
      </p:grpSp>
      <p:sp>
        <p:nvSpPr>
          <p:cNvPr id="108" name="Google Shape;108;p10"/>
          <p:cNvSpPr/>
          <p:nvPr/>
        </p:nvSpPr>
        <p:spPr>
          <a:xfrm>
            <a:off x="4696598" y="4554280"/>
            <a:ext cx="2201408" cy="358369"/>
          </a:xfrm>
          <a:custGeom>
            <a:avLst/>
            <a:gdLst/>
            <a:ahLst/>
            <a:cxnLst/>
            <a:rect l="l" t="t" r="r" b="b"/>
            <a:pathLst>
              <a:path w="4402817" h="612596" extrusionOk="0">
                <a:moveTo>
                  <a:pt x="0" y="0"/>
                </a:moveTo>
                <a:lnTo>
                  <a:pt x="4402817" y="0"/>
                </a:lnTo>
                <a:lnTo>
                  <a:pt x="4402817" y="612596"/>
                </a:lnTo>
                <a:lnTo>
                  <a:pt x="0" y="612596"/>
                </a:lnTo>
                <a:close/>
              </a:path>
            </a:pathLst>
          </a:custGeom>
          <a:noFill/>
          <a:ln>
            <a:noFill/>
          </a:ln>
        </p:spPr>
        <p:txBody>
          <a:bodyPr/>
          <a:lstStyle/>
          <a:p>
            <a:endParaRPr lang="en-US"/>
          </a:p>
        </p:txBody>
      </p:sp>
      <p:sp>
        <p:nvSpPr>
          <p:cNvPr id="109" name="Google Shape;109;p10"/>
          <p:cNvSpPr/>
          <p:nvPr/>
        </p:nvSpPr>
        <p:spPr>
          <a:xfrm>
            <a:off x="8489628" y="4554280"/>
            <a:ext cx="2201409" cy="358369"/>
          </a:xfrm>
          <a:custGeom>
            <a:avLst/>
            <a:gdLst/>
            <a:ahLst/>
            <a:cxnLst/>
            <a:rect l="l" t="t" r="r" b="b"/>
            <a:pathLst>
              <a:path w="4402817" h="612596" extrusionOk="0">
                <a:moveTo>
                  <a:pt x="0" y="0"/>
                </a:moveTo>
                <a:lnTo>
                  <a:pt x="4402817" y="0"/>
                </a:lnTo>
                <a:lnTo>
                  <a:pt x="4402817" y="612596"/>
                </a:lnTo>
                <a:lnTo>
                  <a:pt x="0" y="612596"/>
                </a:lnTo>
                <a:close/>
              </a:path>
            </a:pathLst>
          </a:custGeom>
          <a:noFill/>
          <a:ln>
            <a:noFill/>
          </a:ln>
        </p:spPr>
        <p:txBody>
          <a:bodyPr/>
          <a:lstStyle/>
          <a:p>
            <a:endParaRPr lang="en-US"/>
          </a:p>
        </p:txBody>
      </p:sp>
      <p:sp>
        <p:nvSpPr>
          <p:cNvPr id="110" name="Google Shape;110;p10"/>
          <p:cNvSpPr/>
          <p:nvPr/>
        </p:nvSpPr>
        <p:spPr>
          <a:xfrm>
            <a:off x="457200" y="27432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DESCRIBE</a:t>
            </a:r>
            <a:endParaRPr sz="3000" b="0" i="0" u="none" strike="noStrike" cap="none">
              <a:solidFill>
                <a:srgbClr val="14B8A6"/>
              </a:solidFill>
              <a:latin typeface="Calibri"/>
              <a:ea typeface="Calibri"/>
              <a:cs typeface="Calibri"/>
              <a:sym typeface="Calibri"/>
            </a:endParaRPr>
          </a:p>
        </p:txBody>
      </p:sp>
      <p:sp>
        <p:nvSpPr>
          <p:cNvPr id="111" name="Google Shape;111;p10"/>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F2328"/>
                </a:solidFill>
                <a:latin typeface="DM Sans"/>
                <a:ea typeface="DM Sans"/>
                <a:cs typeface="DM Sans"/>
                <a:sym typeface="DM Sans"/>
              </a:rPr>
              <a:t>‹#›</a:t>
            </a:r>
            <a:endParaRPr>
              <a:solidFill>
                <a:srgbClr val="1F2328"/>
              </a:solidFill>
            </a:endParaRPr>
          </a:p>
        </p:txBody>
      </p:sp>
      <p:cxnSp>
        <p:nvCxnSpPr>
          <p:cNvPr id="112" name="Google Shape;112;p10"/>
          <p:cNvCxnSpPr/>
          <p:nvPr/>
        </p:nvCxnSpPr>
        <p:spPr>
          <a:xfrm>
            <a:off x="572063" y="6617763"/>
            <a:ext cx="4984200" cy="0"/>
          </a:xfrm>
          <a:prstGeom prst="straightConnector1">
            <a:avLst/>
          </a:prstGeom>
          <a:noFill/>
          <a:ln w="38100" cap="rnd" cmpd="sng">
            <a:solidFill>
              <a:srgbClr val="1F2328"/>
            </a:solidFill>
            <a:prstDash val="solid"/>
            <a:round/>
            <a:headEnd type="none" w="lg" len="lg"/>
            <a:tailEnd type="none" w="sm" len="sm"/>
          </a:ln>
        </p:spPr>
      </p:cxnSp>
      <p:cxnSp>
        <p:nvCxnSpPr>
          <p:cNvPr id="113" name="Google Shape;113;p10"/>
          <p:cNvCxnSpPr/>
          <p:nvPr/>
        </p:nvCxnSpPr>
        <p:spPr>
          <a:xfrm>
            <a:off x="6520483" y="6617751"/>
            <a:ext cx="5178000" cy="0"/>
          </a:xfrm>
          <a:prstGeom prst="straightConnector1">
            <a:avLst/>
          </a:prstGeom>
          <a:noFill/>
          <a:ln w="38100" cap="rnd" cmpd="sng">
            <a:solidFill>
              <a:srgbClr val="1F2328"/>
            </a:solidFill>
            <a:prstDash val="solid"/>
            <a:round/>
            <a:headEnd type="none" w="sm" len="sm"/>
            <a:tailEnd type="none" w="lg" len="lg"/>
          </a:ln>
        </p:spPr>
      </p:cxnSp>
      <p:sp>
        <p:nvSpPr>
          <p:cNvPr id="114" name="Google Shape;114;p10"/>
          <p:cNvSpPr/>
          <p:nvPr/>
        </p:nvSpPr>
        <p:spPr>
          <a:xfrm>
            <a:off x="618725" y="5538077"/>
            <a:ext cx="10789800" cy="856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5F5F2"/>
              </a:buClr>
              <a:buSzPts val="3000"/>
              <a:buFont typeface="Fraunces"/>
              <a:buNone/>
            </a:pPr>
            <a:r>
              <a:rPr lang="en-US" sz="2600" b="1" i="1">
                <a:solidFill>
                  <a:srgbClr val="1F2328"/>
                </a:solidFill>
                <a:latin typeface="Fraunces"/>
                <a:ea typeface="Fraunces"/>
                <a:cs typeface="Fraunces"/>
                <a:sym typeface="Fraunces"/>
              </a:rPr>
              <a:t>The Problem: the latency that comes after all this.</a:t>
            </a:r>
            <a:endParaRPr sz="2600" b="1" i="0" u="none" strike="noStrike" cap="none">
              <a:solidFill>
                <a:srgbClr val="1F232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119"/>
        <p:cNvGrpSpPr/>
        <p:nvPr/>
      </p:nvGrpSpPr>
      <p:grpSpPr>
        <a:xfrm>
          <a:off x="0" y="0"/>
          <a:ext cx="0" cy="0"/>
          <a:chOff x="0" y="0"/>
          <a:chExt cx="0" cy="0"/>
        </a:xfrm>
      </p:grpSpPr>
      <p:sp>
        <p:nvSpPr>
          <p:cNvPr id="120" name="Google Shape;120;p11"/>
          <p:cNvSpPr/>
          <p:nvPr/>
        </p:nvSpPr>
        <p:spPr>
          <a:xfrm rot="10800000" flipH="1">
            <a:off x="457200" y="1604875"/>
            <a:ext cx="11247000" cy="681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a:off x="457200" y="960124"/>
            <a:ext cx="11247000" cy="876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a:solidFill>
                  <a:srgbClr val="1F2328"/>
                </a:solidFill>
                <a:latin typeface="Fraunces"/>
                <a:ea typeface="Fraunces"/>
                <a:cs typeface="Fraunces"/>
                <a:sym typeface="Fraunces"/>
              </a:rPr>
              <a:t>W</a:t>
            </a:r>
            <a:r>
              <a:rPr lang="en-US" sz="4400" b="1" i="0" u="none" strike="noStrike" cap="none">
                <a:solidFill>
                  <a:srgbClr val="1F2328"/>
                </a:solidFill>
                <a:latin typeface="Fraunces"/>
                <a:ea typeface="Fraunces"/>
                <a:cs typeface="Fraunces"/>
                <a:sym typeface="Fraunces"/>
              </a:rPr>
              <a:t>hy experienced engineers laugh or cry</a:t>
            </a:r>
            <a:endParaRPr sz="4400" b="0" i="0" u="none" strike="noStrike" cap="none">
              <a:solidFill>
                <a:srgbClr val="1F2328"/>
              </a:solidFill>
              <a:latin typeface="Calibri"/>
              <a:ea typeface="Calibri"/>
              <a:cs typeface="Calibri"/>
              <a:sym typeface="Calibri"/>
            </a:endParaRPr>
          </a:p>
        </p:txBody>
      </p:sp>
      <p:sp>
        <p:nvSpPr>
          <p:cNvPr id="122" name="Google Shape;122;p11"/>
          <p:cNvSpPr/>
          <p:nvPr/>
        </p:nvSpPr>
        <p:spPr>
          <a:xfrm>
            <a:off x="457200" y="27432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LAG</a:t>
            </a:r>
            <a:endParaRPr sz="3000" b="0" i="0" u="none" strike="noStrike" cap="none">
              <a:solidFill>
                <a:srgbClr val="14B8A6"/>
              </a:solidFill>
              <a:latin typeface="Calibri"/>
              <a:ea typeface="Calibri"/>
              <a:cs typeface="Calibri"/>
              <a:sym typeface="Calibri"/>
            </a:endParaRPr>
          </a:p>
        </p:txBody>
      </p:sp>
      <p:sp>
        <p:nvSpPr>
          <p:cNvPr id="123" name="Google Shape;123;p11"/>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124" name="Google Shape;124;p11"/>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125" name="Google Shape;125;p11"/>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cxnSp>
        <p:nvCxnSpPr>
          <p:cNvPr id="126" name="Google Shape;126;p11"/>
          <p:cNvCxnSpPr/>
          <p:nvPr/>
        </p:nvCxnSpPr>
        <p:spPr>
          <a:xfrm>
            <a:off x="6082483" y="3117759"/>
            <a:ext cx="734700" cy="534000"/>
          </a:xfrm>
          <a:prstGeom prst="straightConnector1">
            <a:avLst/>
          </a:prstGeom>
          <a:noFill/>
          <a:ln w="32000" cap="rnd" cmpd="sng">
            <a:solidFill>
              <a:srgbClr val="0D9488"/>
            </a:solidFill>
            <a:prstDash val="solid"/>
            <a:round/>
            <a:headEnd type="none" w="sm" len="sm"/>
            <a:tailEnd type="triangle" w="lg" len="lg"/>
          </a:ln>
        </p:spPr>
      </p:cxnSp>
      <p:cxnSp>
        <p:nvCxnSpPr>
          <p:cNvPr id="127" name="Google Shape;127;p11"/>
          <p:cNvCxnSpPr/>
          <p:nvPr/>
        </p:nvCxnSpPr>
        <p:spPr>
          <a:xfrm flipH="1">
            <a:off x="6691466" y="4128651"/>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28" name="Google Shape;128;p11"/>
          <p:cNvCxnSpPr/>
          <p:nvPr/>
        </p:nvCxnSpPr>
        <p:spPr>
          <a:xfrm rot="10800000">
            <a:off x="5377708" y="5287268"/>
            <a:ext cx="908100" cy="0"/>
          </a:xfrm>
          <a:prstGeom prst="straightConnector1">
            <a:avLst/>
          </a:prstGeom>
          <a:noFill/>
          <a:ln w="32000" cap="rnd" cmpd="sng">
            <a:solidFill>
              <a:srgbClr val="0D9488"/>
            </a:solidFill>
            <a:prstDash val="solid"/>
            <a:round/>
            <a:headEnd type="none" w="sm" len="sm"/>
            <a:tailEnd type="triangle" w="lg" len="lg"/>
          </a:ln>
        </p:spPr>
      </p:cxnSp>
      <p:cxnSp>
        <p:nvCxnSpPr>
          <p:cNvPr id="129" name="Google Shape;129;p11"/>
          <p:cNvCxnSpPr/>
          <p:nvPr/>
        </p:nvCxnSpPr>
        <p:spPr>
          <a:xfrm rot="10800000">
            <a:off x="4690971" y="4128740"/>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30" name="Google Shape;130;p11"/>
          <p:cNvCxnSpPr/>
          <p:nvPr/>
        </p:nvCxnSpPr>
        <p:spPr>
          <a:xfrm rot="10800000" flipH="1">
            <a:off x="4846109" y="3117610"/>
            <a:ext cx="734700" cy="534000"/>
          </a:xfrm>
          <a:prstGeom prst="straightConnector1">
            <a:avLst/>
          </a:prstGeom>
          <a:noFill/>
          <a:ln w="32000" cap="rnd" cmpd="sng">
            <a:solidFill>
              <a:srgbClr val="0D9488"/>
            </a:solidFill>
            <a:prstDash val="solid"/>
            <a:round/>
            <a:headEnd type="none" w="sm" len="sm"/>
            <a:tailEnd type="triangle" w="lg" len="lg"/>
          </a:ln>
        </p:spPr>
      </p:cxnSp>
      <p:sp>
        <p:nvSpPr>
          <p:cNvPr id="131" name="Google Shape;131;p11"/>
          <p:cNvSpPr/>
          <p:nvPr/>
        </p:nvSpPr>
        <p:spPr>
          <a:xfrm>
            <a:off x="7277043" y="3527435"/>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32" name="Google Shape;132;p11"/>
          <p:cNvSpPr/>
          <p:nvPr/>
        </p:nvSpPr>
        <p:spPr>
          <a:xfrm rot="8220254">
            <a:off x="7488570" y="3494698"/>
            <a:ext cx="200163" cy="180000"/>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33" name="Google Shape;133;p11"/>
          <p:cNvSpPr/>
          <p:nvPr/>
        </p:nvSpPr>
        <p:spPr>
          <a:xfrm>
            <a:off x="6656212" y="5438156"/>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34" name="Google Shape;134;p11"/>
          <p:cNvSpPr/>
          <p:nvPr/>
        </p:nvSpPr>
        <p:spPr>
          <a:xfrm rot="-9060732">
            <a:off x="6893698" y="5615380"/>
            <a:ext cx="199949" cy="180076"/>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35" name="Google Shape;135;p11"/>
          <p:cNvSpPr/>
          <p:nvPr/>
        </p:nvSpPr>
        <p:spPr>
          <a:xfrm>
            <a:off x="4647163" y="5438156"/>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36" name="Google Shape;136;p11"/>
          <p:cNvSpPr/>
          <p:nvPr/>
        </p:nvSpPr>
        <p:spPr>
          <a:xfrm rot="-4740632">
            <a:off x="4692857" y="5704849"/>
            <a:ext cx="199865" cy="179979"/>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37" name="Google Shape;137;p11"/>
          <p:cNvSpPr/>
          <p:nvPr/>
        </p:nvSpPr>
        <p:spPr>
          <a:xfrm>
            <a:off x="5521688" y="2625546"/>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1</a:t>
            </a:r>
            <a:endParaRPr/>
          </a:p>
        </p:txBody>
      </p:sp>
      <p:sp>
        <p:nvSpPr>
          <p:cNvPr id="138" name="Google Shape;138;p11"/>
          <p:cNvSpPr/>
          <p:nvPr/>
        </p:nvSpPr>
        <p:spPr>
          <a:xfrm>
            <a:off x="6758061" y="3523823"/>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2</a:t>
            </a:r>
            <a:endParaRPr/>
          </a:p>
        </p:txBody>
      </p:sp>
      <p:sp>
        <p:nvSpPr>
          <p:cNvPr id="139" name="Google Shape;139;p11"/>
          <p:cNvSpPr/>
          <p:nvPr/>
        </p:nvSpPr>
        <p:spPr>
          <a:xfrm>
            <a:off x="6285808" y="4977268"/>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3</a:t>
            </a:r>
            <a:endParaRPr/>
          </a:p>
        </p:txBody>
      </p:sp>
      <p:sp>
        <p:nvSpPr>
          <p:cNvPr id="140" name="Google Shape;140;p11"/>
          <p:cNvSpPr/>
          <p:nvPr/>
        </p:nvSpPr>
        <p:spPr>
          <a:xfrm>
            <a:off x="4757567" y="4977268"/>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4</a:t>
            </a:r>
            <a:endParaRPr/>
          </a:p>
        </p:txBody>
      </p:sp>
      <p:sp>
        <p:nvSpPr>
          <p:cNvPr id="141" name="Google Shape;141;p11"/>
          <p:cNvSpPr/>
          <p:nvPr/>
        </p:nvSpPr>
        <p:spPr>
          <a:xfrm>
            <a:off x="4285314" y="3523823"/>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5</a:t>
            </a:r>
            <a:endParaRPr/>
          </a:p>
        </p:txBody>
      </p:sp>
      <p:sp>
        <p:nvSpPr>
          <p:cNvPr id="142" name="Google Shape;142;p11"/>
          <p:cNvSpPr/>
          <p:nvPr/>
        </p:nvSpPr>
        <p:spPr>
          <a:xfrm>
            <a:off x="4581688" y="2135546"/>
            <a:ext cx="24999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900" i="0" u="none" strike="noStrike" cap="none">
                <a:solidFill>
                  <a:srgbClr val="1F2328"/>
                </a:solidFill>
                <a:latin typeface="DM Sans Light"/>
                <a:ea typeface="DM Sans Light"/>
                <a:cs typeface="DM Sans Light"/>
                <a:sym typeface="DM Sans Light"/>
              </a:rPr>
              <a:t>Copy &amp; replicate data</a:t>
            </a:r>
            <a:endParaRPr sz="1900">
              <a:latin typeface="DM Sans Light"/>
              <a:ea typeface="DM Sans Light"/>
              <a:cs typeface="DM Sans Light"/>
              <a:sym typeface="DM Sans Light"/>
            </a:endParaRPr>
          </a:p>
        </p:txBody>
      </p:sp>
      <p:sp>
        <p:nvSpPr>
          <p:cNvPr id="143" name="Google Shape;143;p11"/>
          <p:cNvSpPr/>
          <p:nvPr/>
        </p:nvSpPr>
        <p:spPr>
          <a:xfrm>
            <a:off x="7799809" y="3059299"/>
            <a:ext cx="2499900" cy="36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900" i="0" u="none" strike="noStrike" cap="none">
                <a:solidFill>
                  <a:srgbClr val="1F2328"/>
                </a:solidFill>
                <a:latin typeface="DM Sans Light"/>
                <a:ea typeface="DM Sans Light"/>
                <a:cs typeface="DM Sans Light"/>
                <a:sym typeface="DM Sans Light"/>
              </a:rPr>
              <a:t>Build the model</a:t>
            </a:r>
            <a:endParaRPr sz="1900">
              <a:latin typeface="DM Sans Light"/>
              <a:ea typeface="DM Sans Light"/>
              <a:cs typeface="DM Sans Light"/>
              <a:sym typeface="DM Sans Light"/>
            </a:endParaRPr>
          </a:p>
        </p:txBody>
      </p:sp>
      <p:sp>
        <p:nvSpPr>
          <p:cNvPr id="144" name="Google Shape;144;p11"/>
          <p:cNvSpPr/>
          <p:nvPr/>
        </p:nvSpPr>
        <p:spPr>
          <a:xfrm>
            <a:off x="7327555" y="5701792"/>
            <a:ext cx="2499900" cy="36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900" i="0" u="none" strike="noStrike" cap="none">
                <a:solidFill>
                  <a:srgbClr val="1F2328"/>
                </a:solidFill>
                <a:latin typeface="DM Sans Light"/>
                <a:ea typeface="DM Sans Light"/>
                <a:cs typeface="DM Sans Light"/>
                <a:sym typeface="DM Sans Light"/>
              </a:rPr>
              <a:t>Build pipelines</a:t>
            </a:r>
            <a:endParaRPr sz="1900">
              <a:latin typeface="DM Sans Light"/>
              <a:ea typeface="DM Sans Light"/>
              <a:cs typeface="DM Sans Light"/>
              <a:sym typeface="DM Sans Light"/>
            </a:endParaRPr>
          </a:p>
        </p:txBody>
      </p:sp>
      <p:sp>
        <p:nvSpPr>
          <p:cNvPr id="145" name="Google Shape;145;p11"/>
          <p:cNvSpPr/>
          <p:nvPr/>
        </p:nvSpPr>
        <p:spPr>
          <a:xfrm>
            <a:off x="1835819" y="5701792"/>
            <a:ext cx="2499900" cy="36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1900" i="0" u="none" strike="noStrike" cap="none">
                <a:solidFill>
                  <a:srgbClr val="1F2328"/>
                </a:solidFill>
                <a:latin typeface="DM Sans Light"/>
                <a:ea typeface="DM Sans Light"/>
                <a:cs typeface="DM Sans Light"/>
                <a:sym typeface="DM Sans Light"/>
              </a:rPr>
              <a:t>Build APIs</a:t>
            </a:r>
            <a:endParaRPr sz="1900">
              <a:latin typeface="DM Sans Light"/>
              <a:ea typeface="DM Sans Light"/>
              <a:cs typeface="DM Sans Light"/>
              <a:sym typeface="DM Sans Light"/>
            </a:endParaRPr>
          </a:p>
        </p:txBody>
      </p:sp>
      <p:sp>
        <p:nvSpPr>
          <p:cNvPr id="146" name="Google Shape;146;p11"/>
          <p:cNvSpPr/>
          <p:nvPr/>
        </p:nvSpPr>
        <p:spPr>
          <a:xfrm>
            <a:off x="1727539" y="3168491"/>
            <a:ext cx="2499900" cy="360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1900" i="0" u="none" strike="noStrike" cap="none">
                <a:solidFill>
                  <a:srgbClr val="1F2328"/>
                </a:solidFill>
                <a:latin typeface="DM Sans Light"/>
                <a:ea typeface="DM Sans Light"/>
                <a:cs typeface="DM Sans Light"/>
                <a:sym typeface="DM Sans Light"/>
              </a:rPr>
              <a:t>Feedback loops</a:t>
            </a:r>
            <a:endParaRPr sz="1900">
              <a:latin typeface="DM Sans Light"/>
              <a:ea typeface="DM Sans Light"/>
              <a:cs typeface="DM Sans Light"/>
              <a:sym typeface="DM Sans Light"/>
            </a:endParaRPr>
          </a:p>
        </p:txBody>
      </p:sp>
      <p:sp>
        <p:nvSpPr>
          <p:cNvPr id="147" name="Google Shape;147;p11"/>
          <p:cNvSpPr/>
          <p:nvPr/>
        </p:nvSpPr>
        <p:spPr>
          <a:xfrm>
            <a:off x="908675" y="3919789"/>
            <a:ext cx="10789800" cy="856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5F5F2"/>
              </a:buClr>
              <a:buSzPts val="3000"/>
              <a:buFont typeface="Fraunces"/>
              <a:buNone/>
            </a:pPr>
            <a:r>
              <a:rPr lang="en-US" sz="3100" b="1" i="1">
                <a:solidFill>
                  <a:srgbClr val="F59E0B"/>
                </a:solidFill>
                <a:latin typeface="Fraunces"/>
                <a:ea typeface="Fraunces"/>
                <a:cs typeface="Fraunces"/>
                <a:sym typeface="Fraunces"/>
              </a:rPr>
              <a:t>… per data system.</a:t>
            </a:r>
            <a:endParaRPr sz="3100" b="1" i="0" u="none" strike="noStrike" cap="none">
              <a:solidFill>
                <a:srgbClr val="F59E0B"/>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152"/>
        <p:cNvGrpSpPr/>
        <p:nvPr/>
      </p:nvGrpSpPr>
      <p:grpSpPr>
        <a:xfrm>
          <a:off x="0" y="0"/>
          <a:ext cx="0" cy="0"/>
          <a:chOff x="0" y="0"/>
          <a:chExt cx="0" cy="0"/>
        </a:xfrm>
      </p:grpSpPr>
      <p:sp>
        <p:nvSpPr>
          <p:cNvPr id="153" name="Google Shape;153;p12"/>
          <p:cNvSpPr/>
          <p:nvPr/>
        </p:nvSpPr>
        <p:spPr>
          <a:xfrm>
            <a:off x="9971597" y="4647214"/>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54" name="Google Shape;154;p12"/>
          <p:cNvSpPr/>
          <p:nvPr/>
        </p:nvSpPr>
        <p:spPr>
          <a:xfrm rot="-9060732">
            <a:off x="10209084" y="4824438"/>
            <a:ext cx="199949" cy="180076"/>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55" name="Google Shape;155;p12"/>
          <p:cNvSpPr/>
          <p:nvPr/>
        </p:nvSpPr>
        <p:spPr>
          <a:xfrm>
            <a:off x="6870957" y="5502586"/>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56" name="Google Shape;156;p12"/>
          <p:cNvSpPr/>
          <p:nvPr/>
        </p:nvSpPr>
        <p:spPr>
          <a:xfrm rot="-9060732">
            <a:off x="7108444" y="5679810"/>
            <a:ext cx="199949" cy="180076"/>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cxnSp>
        <p:nvCxnSpPr>
          <p:cNvPr id="157" name="Google Shape;157;p12"/>
          <p:cNvCxnSpPr/>
          <p:nvPr/>
        </p:nvCxnSpPr>
        <p:spPr>
          <a:xfrm rot="10800000">
            <a:off x="9659930" y="2920585"/>
            <a:ext cx="280800" cy="863700"/>
          </a:xfrm>
          <a:prstGeom prst="straightConnector1">
            <a:avLst/>
          </a:prstGeom>
          <a:noFill/>
          <a:ln w="32000" cap="rnd" cmpd="sng">
            <a:solidFill>
              <a:srgbClr val="0D9488"/>
            </a:solidFill>
            <a:prstDash val="solid"/>
            <a:round/>
            <a:headEnd type="none" w="sm" len="sm"/>
            <a:tailEnd type="triangle" w="lg" len="lg"/>
          </a:ln>
        </p:spPr>
      </p:cxnSp>
      <p:sp>
        <p:nvSpPr>
          <p:cNvPr id="158" name="Google Shape;158;p12"/>
          <p:cNvSpPr/>
          <p:nvPr/>
        </p:nvSpPr>
        <p:spPr>
          <a:xfrm>
            <a:off x="9616122" y="4230001"/>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59" name="Google Shape;159;p12"/>
          <p:cNvSpPr/>
          <p:nvPr/>
        </p:nvSpPr>
        <p:spPr>
          <a:xfrm rot="-4740632">
            <a:off x="9661816" y="4496693"/>
            <a:ext cx="199865" cy="179979"/>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60" name="Google Shape;160;p12"/>
          <p:cNvSpPr/>
          <p:nvPr/>
        </p:nvSpPr>
        <p:spPr>
          <a:xfrm>
            <a:off x="7893119" y="2185555"/>
            <a:ext cx="2593800" cy="2367600"/>
          </a:xfrm>
          <a:prstGeom prst="pentagon">
            <a:avLst>
              <a:gd name="hf" fmla="val 105146"/>
              <a:gd name="vf" fmla="val 110557"/>
            </a:avLst>
          </a:prstGeom>
          <a:solidFill>
            <a:srgbClr val="F5F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1" name="Google Shape;161;p12"/>
          <p:cNvCxnSpPr/>
          <p:nvPr/>
        </p:nvCxnSpPr>
        <p:spPr>
          <a:xfrm>
            <a:off x="9444752" y="2344065"/>
            <a:ext cx="734700" cy="534000"/>
          </a:xfrm>
          <a:prstGeom prst="straightConnector1">
            <a:avLst/>
          </a:prstGeom>
          <a:noFill/>
          <a:ln w="32000" cap="rnd" cmpd="sng">
            <a:solidFill>
              <a:srgbClr val="0D9488"/>
            </a:solidFill>
            <a:prstDash val="solid"/>
            <a:round/>
            <a:headEnd type="none" w="sm" len="sm"/>
            <a:tailEnd type="triangle" w="lg" len="lg"/>
          </a:ln>
        </p:spPr>
      </p:cxnSp>
      <p:cxnSp>
        <p:nvCxnSpPr>
          <p:cNvPr id="162" name="Google Shape;162;p12"/>
          <p:cNvCxnSpPr/>
          <p:nvPr/>
        </p:nvCxnSpPr>
        <p:spPr>
          <a:xfrm flipH="1">
            <a:off x="10053735" y="3354957"/>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63" name="Google Shape;163;p12"/>
          <p:cNvCxnSpPr/>
          <p:nvPr/>
        </p:nvCxnSpPr>
        <p:spPr>
          <a:xfrm rot="10800000">
            <a:off x="8739977" y="4513574"/>
            <a:ext cx="908100" cy="0"/>
          </a:xfrm>
          <a:prstGeom prst="straightConnector1">
            <a:avLst/>
          </a:prstGeom>
          <a:noFill/>
          <a:ln w="32000" cap="rnd" cmpd="sng">
            <a:solidFill>
              <a:srgbClr val="0D9488"/>
            </a:solidFill>
            <a:prstDash val="solid"/>
            <a:round/>
            <a:headEnd type="none" w="sm" len="sm"/>
            <a:tailEnd type="triangle" w="lg" len="lg"/>
          </a:ln>
        </p:spPr>
      </p:cxnSp>
      <p:cxnSp>
        <p:nvCxnSpPr>
          <p:cNvPr id="164" name="Google Shape;164;p12"/>
          <p:cNvCxnSpPr/>
          <p:nvPr/>
        </p:nvCxnSpPr>
        <p:spPr>
          <a:xfrm rot="10800000">
            <a:off x="8053240" y="3355046"/>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65" name="Google Shape;165;p12"/>
          <p:cNvCxnSpPr/>
          <p:nvPr/>
        </p:nvCxnSpPr>
        <p:spPr>
          <a:xfrm rot="10800000" flipH="1">
            <a:off x="8208378" y="2343916"/>
            <a:ext cx="734700" cy="534000"/>
          </a:xfrm>
          <a:prstGeom prst="straightConnector1">
            <a:avLst/>
          </a:prstGeom>
          <a:noFill/>
          <a:ln w="32000" cap="rnd" cmpd="sng">
            <a:solidFill>
              <a:srgbClr val="0D9488"/>
            </a:solidFill>
            <a:prstDash val="solid"/>
            <a:round/>
            <a:headEnd type="none" w="sm" len="sm"/>
            <a:tailEnd type="triangle" w="lg" len="lg"/>
          </a:ln>
        </p:spPr>
      </p:cxnSp>
      <p:sp>
        <p:nvSpPr>
          <p:cNvPr id="166" name="Google Shape;166;p12"/>
          <p:cNvSpPr/>
          <p:nvPr/>
        </p:nvSpPr>
        <p:spPr>
          <a:xfrm>
            <a:off x="8009432" y="4664462"/>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67" name="Google Shape;167;p12"/>
          <p:cNvSpPr/>
          <p:nvPr/>
        </p:nvSpPr>
        <p:spPr>
          <a:xfrm rot="-4740632">
            <a:off x="8055126" y="4931154"/>
            <a:ext cx="199865" cy="179979"/>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68" name="Google Shape;168;p12"/>
          <p:cNvSpPr/>
          <p:nvPr/>
        </p:nvSpPr>
        <p:spPr>
          <a:xfrm>
            <a:off x="8883957" y="1851852"/>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1</a:t>
            </a:r>
            <a:endParaRPr/>
          </a:p>
        </p:txBody>
      </p:sp>
      <p:sp>
        <p:nvSpPr>
          <p:cNvPr id="169" name="Google Shape;169;p12"/>
          <p:cNvSpPr/>
          <p:nvPr/>
        </p:nvSpPr>
        <p:spPr>
          <a:xfrm>
            <a:off x="9648077" y="4203574"/>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3</a:t>
            </a:r>
            <a:endParaRPr/>
          </a:p>
        </p:txBody>
      </p:sp>
      <p:sp>
        <p:nvSpPr>
          <p:cNvPr id="170" name="Google Shape;170;p12"/>
          <p:cNvSpPr/>
          <p:nvPr/>
        </p:nvSpPr>
        <p:spPr>
          <a:xfrm>
            <a:off x="8119836" y="4203574"/>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4</a:t>
            </a:r>
            <a:endParaRPr/>
          </a:p>
        </p:txBody>
      </p:sp>
      <p:sp>
        <p:nvSpPr>
          <p:cNvPr id="171" name="Google Shape;171;p12"/>
          <p:cNvSpPr/>
          <p:nvPr/>
        </p:nvSpPr>
        <p:spPr>
          <a:xfrm>
            <a:off x="7647583" y="2750129"/>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5</a:t>
            </a:r>
            <a:endParaRPr/>
          </a:p>
        </p:txBody>
      </p:sp>
      <p:sp>
        <p:nvSpPr>
          <p:cNvPr id="172" name="Google Shape;172;p12"/>
          <p:cNvSpPr/>
          <p:nvPr/>
        </p:nvSpPr>
        <p:spPr>
          <a:xfrm>
            <a:off x="6311969" y="2612378"/>
            <a:ext cx="2593800" cy="2367600"/>
          </a:xfrm>
          <a:prstGeom prst="pentagon">
            <a:avLst>
              <a:gd name="hf" fmla="val 105146"/>
              <a:gd name="vf" fmla="val 110557"/>
            </a:avLst>
          </a:prstGeom>
          <a:solidFill>
            <a:srgbClr val="F5F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cxnSp>
        <p:nvCxnSpPr>
          <p:cNvPr id="173" name="Google Shape;173;p12"/>
          <p:cNvCxnSpPr/>
          <p:nvPr/>
        </p:nvCxnSpPr>
        <p:spPr>
          <a:xfrm>
            <a:off x="7863601" y="2770888"/>
            <a:ext cx="734700" cy="534000"/>
          </a:xfrm>
          <a:prstGeom prst="straightConnector1">
            <a:avLst/>
          </a:prstGeom>
          <a:noFill/>
          <a:ln w="32000" cap="rnd" cmpd="sng">
            <a:solidFill>
              <a:srgbClr val="0D9488"/>
            </a:solidFill>
            <a:prstDash val="solid"/>
            <a:round/>
            <a:headEnd type="none" w="sm" len="sm"/>
            <a:tailEnd type="triangle" w="lg" len="lg"/>
          </a:ln>
        </p:spPr>
      </p:cxnSp>
      <p:cxnSp>
        <p:nvCxnSpPr>
          <p:cNvPr id="174" name="Google Shape;174;p12"/>
          <p:cNvCxnSpPr/>
          <p:nvPr/>
        </p:nvCxnSpPr>
        <p:spPr>
          <a:xfrm flipH="1">
            <a:off x="8472584" y="3781780"/>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75" name="Google Shape;175;p12"/>
          <p:cNvCxnSpPr/>
          <p:nvPr/>
        </p:nvCxnSpPr>
        <p:spPr>
          <a:xfrm rot="10800000">
            <a:off x="7158826" y="4940397"/>
            <a:ext cx="908100" cy="0"/>
          </a:xfrm>
          <a:prstGeom prst="straightConnector1">
            <a:avLst/>
          </a:prstGeom>
          <a:noFill/>
          <a:ln w="32000" cap="rnd" cmpd="sng">
            <a:solidFill>
              <a:srgbClr val="0D9488"/>
            </a:solidFill>
            <a:prstDash val="solid"/>
            <a:round/>
            <a:headEnd type="none" w="sm" len="sm"/>
            <a:tailEnd type="triangle" w="lg" len="lg"/>
          </a:ln>
        </p:spPr>
      </p:cxnSp>
      <p:cxnSp>
        <p:nvCxnSpPr>
          <p:cNvPr id="176" name="Google Shape;176;p12"/>
          <p:cNvCxnSpPr/>
          <p:nvPr/>
        </p:nvCxnSpPr>
        <p:spPr>
          <a:xfrm rot="10800000">
            <a:off x="6472089" y="3781869"/>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77" name="Google Shape;177;p12"/>
          <p:cNvCxnSpPr/>
          <p:nvPr/>
        </p:nvCxnSpPr>
        <p:spPr>
          <a:xfrm rot="10800000" flipH="1">
            <a:off x="6627227" y="2770739"/>
            <a:ext cx="734700" cy="534000"/>
          </a:xfrm>
          <a:prstGeom prst="straightConnector1">
            <a:avLst/>
          </a:prstGeom>
          <a:noFill/>
          <a:ln w="32000" cap="rnd" cmpd="sng">
            <a:solidFill>
              <a:srgbClr val="0D9488"/>
            </a:solidFill>
            <a:prstDash val="solid"/>
            <a:round/>
            <a:headEnd type="none" w="sm" len="sm"/>
            <a:tailEnd type="triangle" w="lg" len="lg"/>
          </a:ln>
        </p:spPr>
      </p:cxnSp>
      <p:sp>
        <p:nvSpPr>
          <p:cNvPr id="178" name="Google Shape;178;p12"/>
          <p:cNvSpPr/>
          <p:nvPr/>
        </p:nvSpPr>
        <p:spPr>
          <a:xfrm>
            <a:off x="9058161" y="3180564"/>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79" name="Google Shape;179;p12"/>
          <p:cNvSpPr/>
          <p:nvPr/>
        </p:nvSpPr>
        <p:spPr>
          <a:xfrm rot="8220254">
            <a:off x="9269689" y="3147826"/>
            <a:ext cx="200163" cy="180000"/>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80" name="Google Shape;180;p12"/>
          <p:cNvSpPr/>
          <p:nvPr/>
        </p:nvSpPr>
        <p:spPr>
          <a:xfrm>
            <a:off x="8437330" y="5091285"/>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81" name="Google Shape;181;p12"/>
          <p:cNvSpPr/>
          <p:nvPr/>
        </p:nvSpPr>
        <p:spPr>
          <a:xfrm rot="-9060732">
            <a:off x="8674817" y="5268508"/>
            <a:ext cx="199949" cy="180076"/>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82" name="Google Shape;182;p12"/>
          <p:cNvSpPr/>
          <p:nvPr/>
        </p:nvSpPr>
        <p:spPr>
          <a:xfrm>
            <a:off x="6428281" y="5091285"/>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83" name="Google Shape;183;p12"/>
          <p:cNvSpPr/>
          <p:nvPr/>
        </p:nvSpPr>
        <p:spPr>
          <a:xfrm rot="-4740632">
            <a:off x="6473976" y="5357977"/>
            <a:ext cx="199865" cy="179979"/>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84" name="Google Shape;184;p12"/>
          <p:cNvSpPr/>
          <p:nvPr/>
        </p:nvSpPr>
        <p:spPr>
          <a:xfrm>
            <a:off x="7302806" y="2278675"/>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1</a:t>
            </a:r>
            <a:endParaRPr/>
          </a:p>
        </p:txBody>
      </p:sp>
      <p:sp>
        <p:nvSpPr>
          <p:cNvPr id="185" name="Google Shape;185;p12"/>
          <p:cNvSpPr/>
          <p:nvPr/>
        </p:nvSpPr>
        <p:spPr>
          <a:xfrm>
            <a:off x="8539179" y="3176952"/>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2</a:t>
            </a:r>
            <a:endParaRPr/>
          </a:p>
        </p:txBody>
      </p:sp>
      <p:sp>
        <p:nvSpPr>
          <p:cNvPr id="186" name="Google Shape;186;p12"/>
          <p:cNvSpPr/>
          <p:nvPr/>
        </p:nvSpPr>
        <p:spPr>
          <a:xfrm>
            <a:off x="8066926" y="4630397"/>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3</a:t>
            </a:r>
            <a:endParaRPr/>
          </a:p>
        </p:txBody>
      </p:sp>
      <p:sp>
        <p:nvSpPr>
          <p:cNvPr id="187" name="Google Shape;187;p12"/>
          <p:cNvSpPr/>
          <p:nvPr/>
        </p:nvSpPr>
        <p:spPr>
          <a:xfrm>
            <a:off x="6538685" y="4630397"/>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4</a:t>
            </a:r>
            <a:endParaRPr/>
          </a:p>
        </p:txBody>
      </p:sp>
      <p:sp>
        <p:nvSpPr>
          <p:cNvPr id="188" name="Google Shape;188;p12"/>
          <p:cNvSpPr/>
          <p:nvPr/>
        </p:nvSpPr>
        <p:spPr>
          <a:xfrm>
            <a:off x="6066432" y="3176952"/>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5</a:t>
            </a:r>
            <a:endParaRPr/>
          </a:p>
        </p:txBody>
      </p:sp>
      <p:cxnSp>
        <p:nvCxnSpPr>
          <p:cNvPr id="189" name="Google Shape;189;p12"/>
          <p:cNvCxnSpPr/>
          <p:nvPr/>
        </p:nvCxnSpPr>
        <p:spPr>
          <a:xfrm rot="10800000">
            <a:off x="6501561" y="3779906"/>
            <a:ext cx="280800" cy="863700"/>
          </a:xfrm>
          <a:prstGeom prst="straightConnector1">
            <a:avLst/>
          </a:prstGeom>
          <a:noFill/>
          <a:ln w="32000" cap="rnd" cmpd="sng">
            <a:solidFill>
              <a:srgbClr val="0D9488"/>
            </a:solidFill>
            <a:prstDash val="solid"/>
            <a:round/>
            <a:headEnd type="none" w="sm" len="sm"/>
            <a:tailEnd type="triangle" w="lg" len="lg"/>
          </a:ln>
        </p:spPr>
      </p:cxnSp>
      <p:sp>
        <p:nvSpPr>
          <p:cNvPr id="190" name="Google Shape;190;p12"/>
          <p:cNvSpPr/>
          <p:nvPr/>
        </p:nvSpPr>
        <p:spPr>
          <a:xfrm>
            <a:off x="6457753" y="5089322"/>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91" name="Google Shape;191;p12"/>
          <p:cNvSpPr/>
          <p:nvPr/>
        </p:nvSpPr>
        <p:spPr>
          <a:xfrm rot="-4740632">
            <a:off x="6503447" y="5356015"/>
            <a:ext cx="199865" cy="179979"/>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92" name="Google Shape;192;p12"/>
          <p:cNvSpPr/>
          <p:nvPr/>
        </p:nvSpPr>
        <p:spPr>
          <a:xfrm>
            <a:off x="4734750" y="3044877"/>
            <a:ext cx="2593800" cy="2367600"/>
          </a:xfrm>
          <a:prstGeom prst="pentagon">
            <a:avLst>
              <a:gd name="hf" fmla="val 105146"/>
              <a:gd name="vf" fmla="val 110557"/>
            </a:avLst>
          </a:prstGeom>
          <a:solidFill>
            <a:srgbClr val="F5F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000">
              <a:solidFill>
                <a:srgbClr val="F59E0B"/>
              </a:solidFill>
              <a:latin typeface="Consolas"/>
              <a:ea typeface="Consolas"/>
              <a:cs typeface="Consolas"/>
              <a:sym typeface="Consolas"/>
            </a:endParaRPr>
          </a:p>
          <a:p>
            <a:pPr marL="0" lvl="0" indent="0" algn="ctr" rtl="0">
              <a:spcBef>
                <a:spcPts val="0"/>
              </a:spcBef>
              <a:spcAft>
                <a:spcPts val="0"/>
              </a:spcAft>
              <a:buNone/>
            </a:pPr>
            <a:endParaRPr sz="3000">
              <a:solidFill>
                <a:srgbClr val="F59E0B"/>
              </a:solidFill>
              <a:latin typeface="Consolas"/>
              <a:ea typeface="Consolas"/>
              <a:cs typeface="Consolas"/>
              <a:sym typeface="Consolas"/>
            </a:endParaRPr>
          </a:p>
          <a:p>
            <a:pPr marL="0" lvl="0" indent="0" algn="ctr" rtl="0">
              <a:spcBef>
                <a:spcPts val="0"/>
              </a:spcBef>
              <a:spcAft>
                <a:spcPts val="0"/>
              </a:spcAft>
              <a:buNone/>
            </a:pPr>
            <a:endParaRPr sz="3000">
              <a:solidFill>
                <a:srgbClr val="F59E0B"/>
              </a:solidFill>
              <a:latin typeface="Consolas"/>
              <a:ea typeface="Consolas"/>
              <a:cs typeface="Consolas"/>
              <a:sym typeface="Consolas"/>
            </a:endParaRPr>
          </a:p>
          <a:p>
            <a:pPr marL="0" lvl="0" indent="0" algn="ctr" rtl="0">
              <a:spcBef>
                <a:spcPts val="0"/>
              </a:spcBef>
              <a:spcAft>
                <a:spcPts val="0"/>
              </a:spcAft>
              <a:buNone/>
            </a:pPr>
            <a:endParaRPr sz="3000">
              <a:solidFill>
                <a:srgbClr val="F59E0B"/>
              </a:solidFill>
              <a:latin typeface="Consolas"/>
              <a:ea typeface="Consolas"/>
              <a:cs typeface="Consolas"/>
              <a:sym typeface="Consolas"/>
            </a:endParaRPr>
          </a:p>
          <a:p>
            <a:pPr marL="0" lvl="0" indent="0" algn="ctr" rtl="0">
              <a:spcBef>
                <a:spcPts val="0"/>
              </a:spcBef>
              <a:spcAft>
                <a:spcPts val="0"/>
              </a:spcAft>
              <a:buNone/>
            </a:pPr>
            <a:endParaRPr sz="3000">
              <a:solidFill>
                <a:srgbClr val="F59E0B"/>
              </a:solidFill>
              <a:latin typeface="Consolas"/>
              <a:ea typeface="Consolas"/>
              <a:cs typeface="Consolas"/>
              <a:sym typeface="Consolas"/>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cxnSp>
        <p:nvCxnSpPr>
          <p:cNvPr id="193" name="Google Shape;193;p12"/>
          <p:cNvCxnSpPr/>
          <p:nvPr/>
        </p:nvCxnSpPr>
        <p:spPr>
          <a:xfrm>
            <a:off x="6286383" y="3203386"/>
            <a:ext cx="734700" cy="534000"/>
          </a:xfrm>
          <a:prstGeom prst="straightConnector1">
            <a:avLst/>
          </a:prstGeom>
          <a:noFill/>
          <a:ln w="32000" cap="rnd" cmpd="sng">
            <a:solidFill>
              <a:srgbClr val="0D9488"/>
            </a:solidFill>
            <a:prstDash val="solid"/>
            <a:round/>
            <a:headEnd type="none" w="sm" len="sm"/>
            <a:tailEnd type="triangle" w="lg" len="lg"/>
          </a:ln>
        </p:spPr>
      </p:cxnSp>
      <p:cxnSp>
        <p:nvCxnSpPr>
          <p:cNvPr id="194" name="Google Shape;194;p12"/>
          <p:cNvCxnSpPr/>
          <p:nvPr/>
        </p:nvCxnSpPr>
        <p:spPr>
          <a:xfrm flipH="1">
            <a:off x="6895366" y="4214278"/>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95" name="Google Shape;195;p12"/>
          <p:cNvCxnSpPr/>
          <p:nvPr/>
        </p:nvCxnSpPr>
        <p:spPr>
          <a:xfrm rot="10800000">
            <a:off x="5581608" y="5372895"/>
            <a:ext cx="908100" cy="0"/>
          </a:xfrm>
          <a:prstGeom prst="straightConnector1">
            <a:avLst/>
          </a:prstGeom>
          <a:noFill/>
          <a:ln w="32000" cap="rnd" cmpd="sng">
            <a:solidFill>
              <a:srgbClr val="0D9488"/>
            </a:solidFill>
            <a:prstDash val="solid"/>
            <a:round/>
            <a:headEnd type="none" w="sm" len="sm"/>
            <a:tailEnd type="triangle" w="lg" len="lg"/>
          </a:ln>
        </p:spPr>
      </p:cxnSp>
      <p:cxnSp>
        <p:nvCxnSpPr>
          <p:cNvPr id="196" name="Google Shape;196;p12"/>
          <p:cNvCxnSpPr/>
          <p:nvPr/>
        </p:nvCxnSpPr>
        <p:spPr>
          <a:xfrm rot="10800000">
            <a:off x="4894871" y="4214367"/>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197" name="Google Shape;197;p12"/>
          <p:cNvCxnSpPr/>
          <p:nvPr/>
        </p:nvCxnSpPr>
        <p:spPr>
          <a:xfrm rot="10800000" flipH="1">
            <a:off x="5050009" y="3203237"/>
            <a:ext cx="734700" cy="534000"/>
          </a:xfrm>
          <a:prstGeom prst="straightConnector1">
            <a:avLst/>
          </a:prstGeom>
          <a:noFill/>
          <a:ln w="32000" cap="rnd" cmpd="sng">
            <a:solidFill>
              <a:srgbClr val="0D9488"/>
            </a:solidFill>
            <a:prstDash val="solid"/>
            <a:round/>
            <a:headEnd type="none" w="sm" len="sm"/>
            <a:tailEnd type="triangle" w="lg" len="lg"/>
          </a:ln>
        </p:spPr>
      </p:cxnSp>
      <p:sp>
        <p:nvSpPr>
          <p:cNvPr id="198" name="Google Shape;198;p12"/>
          <p:cNvSpPr/>
          <p:nvPr/>
        </p:nvSpPr>
        <p:spPr>
          <a:xfrm>
            <a:off x="4851063" y="5523783"/>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199" name="Google Shape;199;p12"/>
          <p:cNvSpPr/>
          <p:nvPr/>
        </p:nvSpPr>
        <p:spPr>
          <a:xfrm rot="-4740632">
            <a:off x="4896757" y="5790476"/>
            <a:ext cx="199865" cy="179979"/>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00" name="Google Shape;200;p12"/>
          <p:cNvSpPr/>
          <p:nvPr/>
        </p:nvSpPr>
        <p:spPr>
          <a:xfrm>
            <a:off x="5725588" y="2711173"/>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1</a:t>
            </a:r>
            <a:endParaRPr/>
          </a:p>
        </p:txBody>
      </p:sp>
      <p:sp>
        <p:nvSpPr>
          <p:cNvPr id="201" name="Google Shape;201;p12"/>
          <p:cNvSpPr/>
          <p:nvPr/>
        </p:nvSpPr>
        <p:spPr>
          <a:xfrm>
            <a:off x="6489708" y="5062895"/>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3</a:t>
            </a:r>
            <a:endParaRPr/>
          </a:p>
        </p:txBody>
      </p:sp>
      <p:sp>
        <p:nvSpPr>
          <p:cNvPr id="202" name="Google Shape;202;p12"/>
          <p:cNvSpPr/>
          <p:nvPr/>
        </p:nvSpPr>
        <p:spPr>
          <a:xfrm>
            <a:off x="4961467" y="5062895"/>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4</a:t>
            </a:r>
            <a:endParaRPr/>
          </a:p>
        </p:txBody>
      </p:sp>
      <p:sp>
        <p:nvSpPr>
          <p:cNvPr id="203" name="Google Shape;203;p12"/>
          <p:cNvSpPr/>
          <p:nvPr/>
        </p:nvSpPr>
        <p:spPr>
          <a:xfrm>
            <a:off x="4489214" y="3609450"/>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5</a:t>
            </a:r>
            <a:endParaRPr/>
          </a:p>
        </p:txBody>
      </p:sp>
      <p:sp>
        <p:nvSpPr>
          <p:cNvPr id="204" name="Google Shape;204;p12"/>
          <p:cNvSpPr/>
          <p:nvPr/>
        </p:nvSpPr>
        <p:spPr>
          <a:xfrm>
            <a:off x="3153600" y="3471700"/>
            <a:ext cx="2593800" cy="2367600"/>
          </a:xfrm>
          <a:prstGeom prst="pentagon">
            <a:avLst>
              <a:gd name="hf" fmla="val 105146"/>
              <a:gd name="vf" fmla="val 110557"/>
            </a:avLst>
          </a:prstGeom>
          <a:solidFill>
            <a:srgbClr val="F5F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3000">
              <a:solidFill>
                <a:srgbClr val="F59E0B"/>
              </a:solidFill>
              <a:latin typeface="Consolas"/>
              <a:ea typeface="Consolas"/>
              <a:cs typeface="Consolas"/>
              <a:sym typeface="Consolas"/>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205" name="Google Shape;205;p12"/>
          <p:cNvSpPr/>
          <p:nvPr/>
        </p:nvSpPr>
        <p:spPr>
          <a:xfrm rot="10800000" flipH="1">
            <a:off x="457200" y="1604875"/>
            <a:ext cx="11247000" cy="681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457200" y="960124"/>
            <a:ext cx="11247000" cy="876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a:solidFill>
                  <a:srgbClr val="1F2328"/>
                </a:solidFill>
                <a:latin typeface="Fraunces"/>
                <a:ea typeface="Fraunces"/>
                <a:cs typeface="Fraunces"/>
                <a:sym typeface="Fraunces"/>
              </a:rPr>
              <a:t>W</a:t>
            </a:r>
            <a:r>
              <a:rPr lang="en-US" sz="4400" b="1" i="0" u="none" strike="noStrike" cap="none">
                <a:solidFill>
                  <a:srgbClr val="1F2328"/>
                </a:solidFill>
                <a:latin typeface="Fraunces"/>
                <a:ea typeface="Fraunces"/>
                <a:cs typeface="Fraunces"/>
                <a:sym typeface="Fraunces"/>
              </a:rPr>
              <a:t>hy experienced engineers laugh or cry</a:t>
            </a:r>
            <a:endParaRPr sz="4400" b="0" i="0" u="none" strike="noStrike" cap="none">
              <a:solidFill>
                <a:srgbClr val="1F2328"/>
              </a:solidFill>
              <a:latin typeface="Calibri"/>
              <a:ea typeface="Calibri"/>
              <a:cs typeface="Calibri"/>
              <a:sym typeface="Calibri"/>
            </a:endParaRPr>
          </a:p>
        </p:txBody>
      </p:sp>
      <p:sp>
        <p:nvSpPr>
          <p:cNvPr id="207" name="Google Shape;207;p12"/>
          <p:cNvSpPr/>
          <p:nvPr/>
        </p:nvSpPr>
        <p:spPr>
          <a:xfrm>
            <a:off x="457200" y="27432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LAG</a:t>
            </a:r>
            <a:endParaRPr sz="3000" b="0" i="0" u="none" strike="noStrike" cap="none">
              <a:solidFill>
                <a:srgbClr val="14B8A6"/>
              </a:solidFill>
              <a:latin typeface="Calibri"/>
              <a:ea typeface="Calibri"/>
              <a:cs typeface="Calibri"/>
              <a:sym typeface="Calibri"/>
            </a:endParaRPr>
          </a:p>
        </p:txBody>
      </p:sp>
      <p:sp>
        <p:nvSpPr>
          <p:cNvPr id="208" name="Google Shape;208;p12"/>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209" name="Google Shape;209;p12"/>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210" name="Google Shape;210;p12"/>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cxnSp>
        <p:nvCxnSpPr>
          <p:cNvPr id="211" name="Google Shape;211;p12"/>
          <p:cNvCxnSpPr/>
          <p:nvPr/>
        </p:nvCxnSpPr>
        <p:spPr>
          <a:xfrm>
            <a:off x="4705233" y="3630209"/>
            <a:ext cx="734700" cy="534000"/>
          </a:xfrm>
          <a:prstGeom prst="straightConnector1">
            <a:avLst/>
          </a:prstGeom>
          <a:noFill/>
          <a:ln w="32000" cap="rnd" cmpd="sng">
            <a:solidFill>
              <a:srgbClr val="0D9488"/>
            </a:solidFill>
            <a:prstDash val="solid"/>
            <a:round/>
            <a:headEnd type="none" w="sm" len="sm"/>
            <a:tailEnd type="triangle" w="lg" len="lg"/>
          </a:ln>
        </p:spPr>
      </p:cxnSp>
      <p:cxnSp>
        <p:nvCxnSpPr>
          <p:cNvPr id="212" name="Google Shape;212;p12"/>
          <p:cNvCxnSpPr/>
          <p:nvPr/>
        </p:nvCxnSpPr>
        <p:spPr>
          <a:xfrm flipH="1">
            <a:off x="5314216" y="4641101"/>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213" name="Google Shape;213;p12"/>
          <p:cNvCxnSpPr/>
          <p:nvPr/>
        </p:nvCxnSpPr>
        <p:spPr>
          <a:xfrm rot="10800000">
            <a:off x="4000458" y="5799718"/>
            <a:ext cx="908100" cy="0"/>
          </a:xfrm>
          <a:prstGeom prst="straightConnector1">
            <a:avLst/>
          </a:prstGeom>
          <a:noFill/>
          <a:ln w="32000" cap="rnd" cmpd="sng">
            <a:solidFill>
              <a:srgbClr val="0D9488"/>
            </a:solidFill>
            <a:prstDash val="solid"/>
            <a:round/>
            <a:headEnd type="none" w="sm" len="sm"/>
            <a:tailEnd type="triangle" w="lg" len="lg"/>
          </a:ln>
        </p:spPr>
      </p:cxnSp>
      <p:cxnSp>
        <p:nvCxnSpPr>
          <p:cNvPr id="214" name="Google Shape;214;p12"/>
          <p:cNvCxnSpPr/>
          <p:nvPr/>
        </p:nvCxnSpPr>
        <p:spPr>
          <a:xfrm rot="10800000">
            <a:off x="3313721" y="4641190"/>
            <a:ext cx="280800" cy="863700"/>
          </a:xfrm>
          <a:prstGeom prst="straightConnector1">
            <a:avLst/>
          </a:prstGeom>
          <a:noFill/>
          <a:ln w="32000" cap="rnd" cmpd="sng">
            <a:solidFill>
              <a:srgbClr val="0D9488"/>
            </a:solidFill>
            <a:prstDash val="solid"/>
            <a:round/>
            <a:headEnd type="none" w="sm" len="sm"/>
            <a:tailEnd type="triangle" w="lg" len="lg"/>
          </a:ln>
        </p:spPr>
      </p:cxnSp>
      <p:cxnSp>
        <p:nvCxnSpPr>
          <p:cNvPr id="215" name="Google Shape;215;p12"/>
          <p:cNvCxnSpPr/>
          <p:nvPr/>
        </p:nvCxnSpPr>
        <p:spPr>
          <a:xfrm rot="10800000" flipH="1">
            <a:off x="3468859" y="3630060"/>
            <a:ext cx="734700" cy="534000"/>
          </a:xfrm>
          <a:prstGeom prst="straightConnector1">
            <a:avLst/>
          </a:prstGeom>
          <a:noFill/>
          <a:ln w="32000" cap="rnd" cmpd="sng">
            <a:solidFill>
              <a:srgbClr val="0D9488"/>
            </a:solidFill>
            <a:prstDash val="solid"/>
            <a:round/>
            <a:headEnd type="none" w="sm" len="sm"/>
            <a:tailEnd type="triangle" w="lg" len="lg"/>
          </a:ln>
        </p:spPr>
      </p:cxnSp>
      <p:sp>
        <p:nvSpPr>
          <p:cNvPr id="216" name="Google Shape;216;p12"/>
          <p:cNvSpPr/>
          <p:nvPr/>
        </p:nvSpPr>
        <p:spPr>
          <a:xfrm>
            <a:off x="5899793" y="4039885"/>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17" name="Google Shape;217;p12"/>
          <p:cNvSpPr/>
          <p:nvPr/>
        </p:nvSpPr>
        <p:spPr>
          <a:xfrm rot="8220254">
            <a:off x="6111320" y="4007148"/>
            <a:ext cx="200163" cy="180000"/>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18" name="Google Shape;218;p12"/>
          <p:cNvSpPr/>
          <p:nvPr/>
        </p:nvSpPr>
        <p:spPr>
          <a:xfrm>
            <a:off x="5278962" y="5950606"/>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19" name="Google Shape;219;p12"/>
          <p:cNvSpPr/>
          <p:nvPr/>
        </p:nvSpPr>
        <p:spPr>
          <a:xfrm rot="-9060732">
            <a:off x="5516448" y="6127830"/>
            <a:ext cx="199949" cy="180076"/>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20" name="Google Shape;220;p12"/>
          <p:cNvSpPr/>
          <p:nvPr/>
        </p:nvSpPr>
        <p:spPr>
          <a:xfrm>
            <a:off x="3269913" y="5950606"/>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21" name="Google Shape;221;p12"/>
          <p:cNvSpPr/>
          <p:nvPr/>
        </p:nvSpPr>
        <p:spPr>
          <a:xfrm rot="-4740632">
            <a:off x="3315607" y="6217299"/>
            <a:ext cx="199865" cy="179979"/>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22" name="Google Shape;222;p12"/>
          <p:cNvSpPr/>
          <p:nvPr/>
        </p:nvSpPr>
        <p:spPr>
          <a:xfrm>
            <a:off x="4144438" y="3137996"/>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1</a:t>
            </a:r>
            <a:endParaRPr/>
          </a:p>
        </p:txBody>
      </p:sp>
      <p:sp>
        <p:nvSpPr>
          <p:cNvPr id="223" name="Google Shape;223;p12"/>
          <p:cNvSpPr/>
          <p:nvPr/>
        </p:nvSpPr>
        <p:spPr>
          <a:xfrm>
            <a:off x="5380811" y="4036273"/>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2</a:t>
            </a:r>
            <a:endParaRPr/>
          </a:p>
        </p:txBody>
      </p:sp>
      <p:sp>
        <p:nvSpPr>
          <p:cNvPr id="224" name="Google Shape;224;p12"/>
          <p:cNvSpPr/>
          <p:nvPr/>
        </p:nvSpPr>
        <p:spPr>
          <a:xfrm>
            <a:off x="4908558" y="5489718"/>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3</a:t>
            </a:r>
            <a:endParaRPr/>
          </a:p>
        </p:txBody>
      </p:sp>
      <p:sp>
        <p:nvSpPr>
          <p:cNvPr id="225" name="Google Shape;225;p12"/>
          <p:cNvSpPr/>
          <p:nvPr/>
        </p:nvSpPr>
        <p:spPr>
          <a:xfrm>
            <a:off x="3380317" y="5489718"/>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4</a:t>
            </a:r>
            <a:endParaRPr/>
          </a:p>
        </p:txBody>
      </p:sp>
      <p:sp>
        <p:nvSpPr>
          <p:cNvPr id="226" name="Google Shape;226;p12"/>
          <p:cNvSpPr/>
          <p:nvPr/>
        </p:nvSpPr>
        <p:spPr>
          <a:xfrm>
            <a:off x="2908064" y="4036273"/>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5</a:t>
            </a:r>
            <a:endParaRPr/>
          </a:p>
        </p:txBody>
      </p:sp>
      <p:sp>
        <p:nvSpPr>
          <p:cNvPr id="227" name="Google Shape;227;p12"/>
          <p:cNvSpPr/>
          <p:nvPr/>
        </p:nvSpPr>
        <p:spPr>
          <a:xfrm>
            <a:off x="602664" y="3110336"/>
            <a:ext cx="2505600" cy="1404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8131" b="1" i="0" u="none" strike="noStrike" cap="none">
                <a:solidFill>
                  <a:srgbClr val="F59E0B"/>
                </a:solidFill>
                <a:latin typeface="Fraunces"/>
                <a:ea typeface="Fraunces"/>
                <a:cs typeface="Fraunces"/>
                <a:sym typeface="Fraunces"/>
              </a:rPr>
              <a:t>×N</a:t>
            </a:r>
            <a:endParaRPr sz="1035">
              <a:solidFill>
                <a:srgbClr val="F59E0B"/>
              </a:solidFill>
            </a:endParaRPr>
          </a:p>
        </p:txBody>
      </p:sp>
      <p:sp>
        <p:nvSpPr>
          <p:cNvPr id="228" name="Google Shape;228;p12"/>
          <p:cNvSpPr/>
          <p:nvPr/>
        </p:nvSpPr>
        <p:spPr>
          <a:xfrm>
            <a:off x="7423952" y="3542011"/>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29" name="Google Shape;229;p12"/>
          <p:cNvSpPr/>
          <p:nvPr/>
        </p:nvSpPr>
        <p:spPr>
          <a:xfrm rot="8220254">
            <a:off x="7635480" y="3509274"/>
            <a:ext cx="200163" cy="180000"/>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30" name="Google Shape;230;p12"/>
          <p:cNvSpPr/>
          <p:nvPr/>
        </p:nvSpPr>
        <p:spPr>
          <a:xfrm>
            <a:off x="6961961" y="3609450"/>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2</a:t>
            </a:r>
            <a:endParaRPr/>
          </a:p>
        </p:txBody>
      </p:sp>
      <p:sp>
        <p:nvSpPr>
          <p:cNvPr id="231" name="Google Shape;231;p12"/>
          <p:cNvSpPr/>
          <p:nvPr/>
        </p:nvSpPr>
        <p:spPr>
          <a:xfrm>
            <a:off x="10611746" y="2704957"/>
            <a:ext cx="360000" cy="360000"/>
          </a:xfrm>
          <a:prstGeom prst="ellipse">
            <a:avLst/>
          </a:prstGeom>
          <a:noFill/>
          <a:ln w="38100" cap="rnd"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32" name="Google Shape;232;p12"/>
          <p:cNvSpPr/>
          <p:nvPr/>
        </p:nvSpPr>
        <p:spPr>
          <a:xfrm rot="8220254">
            <a:off x="10823274" y="2672220"/>
            <a:ext cx="200163" cy="180000"/>
          </a:xfrm>
          <a:prstGeom prst="triangle">
            <a:avLst>
              <a:gd name="adj" fmla="val 50000"/>
            </a:avLst>
          </a:prstGeom>
          <a:solidFill>
            <a:srgbClr val="F59E0B"/>
          </a:solidFill>
          <a:ln w="38100" cap="flat" cmpd="sng">
            <a:solidFill>
              <a:srgbClr val="F59E0B"/>
            </a:solidFill>
            <a:prstDash val="solid"/>
            <a:round/>
            <a:headEnd type="none" w="sm" len="sm"/>
            <a:tailEnd type="none" w="sm" len="sm"/>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33" name="Google Shape;233;p12"/>
          <p:cNvSpPr/>
          <p:nvPr/>
        </p:nvSpPr>
        <p:spPr>
          <a:xfrm>
            <a:off x="10120330" y="2750129"/>
            <a:ext cx="620100" cy="620100"/>
          </a:xfrm>
          <a:prstGeom prst="ellipse">
            <a:avLst/>
          </a:prstGeom>
          <a:solidFill>
            <a:srgbClr val="14B8A6"/>
          </a:solidFill>
          <a:ln w="15000" cap="rnd" cmpd="sng">
            <a:solidFill>
              <a:srgbClr val="0D9488"/>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800" b="1" i="0" u="none" strike="noStrike" cap="none">
                <a:solidFill>
                  <a:srgbClr val="FFFFFF"/>
                </a:solidFill>
                <a:latin typeface="DM Sans"/>
                <a:ea typeface="DM Sans"/>
                <a:cs typeface="DM Sans"/>
                <a:sym typeface="DM Sans"/>
              </a:rPr>
              <a:t>2</a:t>
            </a:r>
            <a:endParaRPr/>
          </a:p>
        </p:txBody>
      </p:sp>
      <p:sp>
        <p:nvSpPr>
          <p:cNvPr id="234" name="Google Shape;234;p12"/>
          <p:cNvSpPr txBox="1"/>
          <p:nvPr/>
        </p:nvSpPr>
        <p:spPr>
          <a:xfrm>
            <a:off x="3662513" y="4336425"/>
            <a:ext cx="16503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400" b="1">
                <a:solidFill>
                  <a:srgbClr val="F59E0B"/>
                </a:solidFill>
                <a:latin typeface="Consolas"/>
                <a:ea typeface="Consolas"/>
                <a:cs typeface="Consolas"/>
                <a:sym typeface="Consolas"/>
              </a:rPr>
              <a:t>SQL</a:t>
            </a:r>
            <a:endParaRPr sz="2400" b="1">
              <a:solidFill>
                <a:srgbClr val="F59E0B"/>
              </a:solidFill>
              <a:latin typeface="Consolas"/>
              <a:ea typeface="Consolas"/>
              <a:cs typeface="Consolas"/>
              <a:sym typeface="Consolas"/>
            </a:endParaRPr>
          </a:p>
        </p:txBody>
      </p:sp>
      <p:sp>
        <p:nvSpPr>
          <p:cNvPr id="235" name="Google Shape;235;p12"/>
          <p:cNvSpPr txBox="1"/>
          <p:nvPr/>
        </p:nvSpPr>
        <p:spPr>
          <a:xfrm>
            <a:off x="6807275" y="5873325"/>
            <a:ext cx="1914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rgbClr val="F59E0B"/>
                </a:solidFill>
                <a:latin typeface="Consolas"/>
                <a:ea typeface="Consolas"/>
                <a:cs typeface="Consolas"/>
                <a:sym typeface="Consolas"/>
              </a:rPr>
              <a:t>SparkSQL</a:t>
            </a:r>
            <a:endParaRPr sz="2400" b="1">
              <a:solidFill>
                <a:srgbClr val="F59E0B"/>
              </a:solidFill>
              <a:latin typeface="Consolas"/>
              <a:ea typeface="Consolas"/>
              <a:cs typeface="Consolas"/>
              <a:sym typeface="Consolas"/>
            </a:endParaRPr>
          </a:p>
        </p:txBody>
      </p:sp>
      <p:sp>
        <p:nvSpPr>
          <p:cNvPr id="236" name="Google Shape;236;p12"/>
          <p:cNvSpPr txBox="1"/>
          <p:nvPr/>
        </p:nvSpPr>
        <p:spPr>
          <a:xfrm>
            <a:off x="10331600" y="4901663"/>
            <a:ext cx="19140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rgbClr val="F59E0B"/>
                </a:solidFill>
                <a:latin typeface="Consolas"/>
                <a:ea typeface="Consolas"/>
                <a:cs typeface="Consolas"/>
                <a:sym typeface="Consolas"/>
              </a:rPr>
              <a:t>Gremlin / Cypher</a:t>
            </a:r>
            <a:endParaRPr sz="2400" b="1">
              <a:solidFill>
                <a:srgbClr val="F59E0B"/>
              </a:solidFill>
              <a:latin typeface="Consolas"/>
              <a:ea typeface="Consolas"/>
              <a:cs typeface="Consolas"/>
              <a:sym typeface="Consolas"/>
            </a:endParaRPr>
          </a:p>
        </p:txBody>
      </p:sp>
      <p:sp>
        <p:nvSpPr>
          <p:cNvPr id="237" name="Google Shape;237;p12"/>
          <p:cNvSpPr txBox="1"/>
          <p:nvPr/>
        </p:nvSpPr>
        <p:spPr>
          <a:xfrm>
            <a:off x="8520325" y="5443663"/>
            <a:ext cx="1914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a:solidFill>
                  <a:srgbClr val="F59E0B"/>
                </a:solidFill>
                <a:latin typeface="Consolas"/>
                <a:ea typeface="Consolas"/>
                <a:cs typeface="Consolas"/>
                <a:sym typeface="Consolas"/>
              </a:rPr>
              <a:t>GraphQL</a:t>
            </a:r>
            <a:endParaRPr sz="2400" b="1">
              <a:solidFill>
                <a:srgbClr val="F59E0B"/>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242"/>
        <p:cNvGrpSpPr/>
        <p:nvPr/>
      </p:nvGrpSpPr>
      <p:grpSpPr>
        <a:xfrm>
          <a:off x="0" y="0"/>
          <a:ext cx="0" cy="0"/>
          <a:chOff x="0" y="0"/>
          <a:chExt cx="0" cy="0"/>
        </a:xfrm>
      </p:grpSpPr>
      <p:sp>
        <p:nvSpPr>
          <p:cNvPr id="243" name="Google Shape;243;p13"/>
          <p:cNvSpPr/>
          <p:nvPr/>
        </p:nvSpPr>
        <p:spPr>
          <a:xfrm>
            <a:off x="800250" y="2256013"/>
            <a:ext cx="3600000" cy="2600000"/>
          </a:xfrm>
          <a:custGeom>
            <a:avLst/>
            <a:gdLst/>
            <a:ahLst/>
            <a:cxnLst/>
            <a:rect l="l" t="t" r="r" b="b"/>
            <a:pathLst>
              <a:path w="3600000" h="2600000" extrusionOk="0">
                <a:moveTo>
                  <a:pt x="0" y="0"/>
                </a:moveTo>
                <a:lnTo>
                  <a:pt x="3600000" y="0"/>
                </a:lnTo>
                <a:lnTo>
                  <a:pt x="3600000" y="2600000"/>
                </a:lnTo>
                <a:lnTo>
                  <a:pt x="0" y="2600000"/>
                </a:lnTo>
                <a:close/>
              </a:path>
            </a:pathLst>
          </a:custGeom>
          <a:solidFill>
            <a:srgbClr val="14B8A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4" name="Google Shape;244;p13"/>
          <p:cNvSpPr/>
          <p:nvPr/>
        </p:nvSpPr>
        <p:spPr>
          <a:xfrm>
            <a:off x="996925" y="2311925"/>
            <a:ext cx="3403200" cy="308100"/>
          </a:xfrm>
          <a:prstGeom prst="rect">
            <a:avLst/>
          </a:prstGeom>
          <a:solidFill>
            <a:srgbClr val="14B8A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1" i="1" u="none" strike="noStrike" cap="none">
                <a:solidFill>
                  <a:srgbClr val="F5F5F2"/>
                </a:solidFill>
                <a:latin typeface="Consolas"/>
                <a:ea typeface="Consolas"/>
                <a:cs typeface="Consolas"/>
                <a:sym typeface="Consolas"/>
              </a:rPr>
              <a:t>-- this part works</a:t>
            </a:r>
            <a:endParaRPr sz="1800" b="1">
              <a:solidFill>
                <a:srgbClr val="F5F5F2"/>
              </a:solidFill>
              <a:latin typeface="Consolas"/>
              <a:ea typeface="Consolas"/>
              <a:cs typeface="Consolas"/>
              <a:sym typeface="Consolas"/>
            </a:endParaRPr>
          </a:p>
        </p:txBody>
      </p:sp>
      <p:sp>
        <p:nvSpPr>
          <p:cNvPr id="245" name="Google Shape;245;p13"/>
          <p:cNvSpPr/>
          <p:nvPr/>
        </p:nvSpPr>
        <p:spPr>
          <a:xfrm>
            <a:off x="4400250" y="2256013"/>
            <a:ext cx="4700000" cy="2600000"/>
          </a:xfrm>
          <a:custGeom>
            <a:avLst/>
            <a:gdLst/>
            <a:ahLst/>
            <a:cxnLst/>
            <a:rect l="l" t="t" r="r" b="b"/>
            <a:pathLst>
              <a:path w="4700000" h="2600000" extrusionOk="0">
                <a:moveTo>
                  <a:pt x="0" y="0"/>
                </a:moveTo>
                <a:lnTo>
                  <a:pt x="2400000" y="1020000"/>
                </a:lnTo>
                <a:lnTo>
                  <a:pt x="4700000" y="1020000"/>
                </a:lnTo>
                <a:lnTo>
                  <a:pt x="4700000" y="1580000"/>
                </a:lnTo>
                <a:lnTo>
                  <a:pt x="2400000" y="1580000"/>
                </a:lnTo>
                <a:lnTo>
                  <a:pt x="0" y="2600000"/>
                </a:lnTo>
                <a:close/>
              </a:path>
            </a:pathLst>
          </a:custGeom>
          <a:solidFill>
            <a:srgbClr val="F59E0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6" name="Google Shape;246;p13"/>
          <p:cNvSpPr/>
          <p:nvPr/>
        </p:nvSpPr>
        <p:spPr>
          <a:xfrm>
            <a:off x="9100250" y="2906013"/>
            <a:ext cx="1800000" cy="1300000"/>
          </a:xfrm>
          <a:custGeom>
            <a:avLst/>
            <a:gdLst/>
            <a:ahLst/>
            <a:cxnLst/>
            <a:rect l="l" t="t" r="r" b="b"/>
            <a:pathLst>
              <a:path w="1800000" h="1300000" extrusionOk="0">
                <a:moveTo>
                  <a:pt x="0" y="370000"/>
                </a:moveTo>
                <a:lnTo>
                  <a:pt x="1800000" y="0"/>
                </a:lnTo>
                <a:lnTo>
                  <a:pt x="1800000" y="1300000"/>
                </a:lnTo>
                <a:lnTo>
                  <a:pt x="0" y="930000"/>
                </a:lnTo>
                <a:close/>
              </a:path>
            </a:pathLst>
          </a:custGeom>
          <a:solidFill>
            <a:srgbClr val="F59E0B">
              <a:alpha val="549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47" name="Google Shape;247;p13"/>
          <p:cNvSpPr/>
          <p:nvPr/>
        </p:nvSpPr>
        <p:spPr>
          <a:xfrm>
            <a:off x="2054981" y="2749847"/>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48" name="Google Shape;248;p13"/>
          <p:cNvSpPr/>
          <p:nvPr/>
        </p:nvSpPr>
        <p:spPr>
          <a:xfrm>
            <a:off x="2895669" y="2655672"/>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49" name="Google Shape;249;p13"/>
          <p:cNvSpPr/>
          <p:nvPr/>
        </p:nvSpPr>
        <p:spPr>
          <a:xfrm>
            <a:off x="2648719" y="3213900"/>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0" name="Google Shape;250;p13"/>
          <p:cNvSpPr/>
          <p:nvPr/>
        </p:nvSpPr>
        <p:spPr>
          <a:xfrm>
            <a:off x="1310646" y="3520074"/>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1" name="Google Shape;251;p13"/>
          <p:cNvSpPr/>
          <p:nvPr/>
        </p:nvSpPr>
        <p:spPr>
          <a:xfrm>
            <a:off x="1253237" y="3360687"/>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2" name="Google Shape;252;p13"/>
          <p:cNvSpPr/>
          <p:nvPr/>
        </p:nvSpPr>
        <p:spPr>
          <a:xfrm>
            <a:off x="1343845" y="2619953"/>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3" name="Google Shape;253;p13"/>
          <p:cNvSpPr/>
          <p:nvPr/>
        </p:nvSpPr>
        <p:spPr>
          <a:xfrm>
            <a:off x="2336903" y="4210013"/>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4" name="Google Shape;254;p13"/>
          <p:cNvSpPr/>
          <p:nvPr/>
        </p:nvSpPr>
        <p:spPr>
          <a:xfrm>
            <a:off x="1494895" y="2906209"/>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5" name="Google Shape;255;p13"/>
          <p:cNvSpPr/>
          <p:nvPr/>
        </p:nvSpPr>
        <p:spPr>
          <a:xfrm>
            <a:off x="2905063" y="4471064"/>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6" name="Google Shape;256;p13"/>
          <p:cNvSpPr/>
          <p:nvPr/>
        </p:nvSpPr>
        <p:spPr>
          <a:xfrm>
            <a:off x="2764138" y="3280842"/>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7" name="Google Shape;257;p13"/>
          <p:cNvSpPr/>
          <p:nvPr/>
        </p:nvSpPr>
        <p:spPr>
          <a:xfrm>
            <a:off x="3881764" y="2732881"/>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8" name="Google Shape;258;p13"/>
          <p:cNvSpPr/>
          <p:nvPr/>
        </p:nvSpPr>
        <p:spPr>
          <a:xfrm>
            <a:off x="3551961" y="3049569"/>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59" name="Google Shape;259;p13"/>
          <p:cNvSpPr/>
          <p:nvPr/>
        </p:nvSpPr>
        <p:spPr>
          <a:xfrm>
            <a:off x="1552164" y="2678444"/>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0" name="Google Shape;260;p13"/>
          <p:cNvSpPr/>
          <p:nvPr/>
        </p:nvSpPr>
        <p:spPr>
          <a:xfrm>
            <a:off x="2011999" y="4186845"/>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1" name="Google Shape;261;p13"/>
          <p:cNvSpPr/>
          <p:nvPr/>
        </p:nvSpPr>
        <p:spPr>
          <a:xfrm>
            <a:off x="1654283" y="3680268"/>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2" name="Google Shape;262;p13"/>
          <p:cNvSpPr/>
          <p:nvPr/>
        </p:nvSpPr>
        <p:spPr>
          <a:xfrm>
            <a:off x="2937207" y="3228391"/>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3" name="Google Shape;263;p13"/>
          <p:cNvSpPr/>
          <p:nvPr/>
        </p:nvSpPr>
        <p:spPr>
          <a:xfrm>
            <a:off x="4515675" y="325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4" name="Google Shape;264;p13"/>
          <p:cNvSpPr/>
          <p:nvPr/>
        </p:nvSpPr>
        <p:spPr>
          <a:xfrm>
            <a:off x="4515675" y="341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5" name="Google Shape;265;p13"/>
          <p:cNvSpPr/>
          <p:nvPr/>
        </p:nvSpPr>
        <p:spPr>
          <a:xfrm>
            <a:off x="4675675" y="325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6" name="Google Shape;266;p13"/>
          <p:cNvSpPr/>
          <p:nvPr/>
        </p:nvSpPr>
        <p:spPr>
          <a:xfrm>
            <a:off x="4675675" y="341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7" name="Google Shape;267;p13"/>
          <p:cNvSpPr/>
          <p:nvPr/>
        </p:nvSpPr>
        <p:spPr>
          <a:xfrm>
            <a:off x="4835675" y="325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8" name="Google Shape;268;p13"/>
          <p:cNvSpPr/>
          <p:nvPr/>
        </p:nvSpPr>
        <p:spPr>
          <a:xfrm>
            <a:off x="4835675" y="341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69" name="Google Shape;269;p13"/>
          <p:cNvSpPr/>
          <p:nvPr/>
        </p:nvSpPr>
        <p:spPr>
          <a:xfrm>
            <a:off x="800250" y="4415238"/>
            <a:ext cx="3600000" cy="399900"/>
          </a:xfrm>
          <a:prstGeom prst="rect">
            <a:avLst/>
          </a:prstGeom>
          <a:solidFill>
            <a:srgbClr val="14B8A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200" b="1" i="0" u="none" strike="noStrike" cap="none">
                <a:solidFill>
                  <a:srgbClr val="FFFFFF"/>
                </a:solidFill>
                <a:latin typeface="Consolas"/>
                <a:ea typeface="Consolas"/>
                <a:cs typeface="Consolas"/>
                <a:sym typeface="Consolas"/>
              </a:rPr>
              <a:t>✓  AGREEMENT</a:t>
            </a:r>
            <a:endParaRPr sz="1900">
              <a:latin typeface="Consolas"/>
              <a:ea typeface="Consolas"/>
              <a:cs typeface="Consolas"/>
              <a:sym typeface="Consolas"/>
            </a:endParaRPr>
          </a:p>
        </p:txBody>
      </p:sp>
      <p:sp>
        <p:nvSpPr>
          <p:cNvPr id="270" name="Google Shape;270;p13"/>
          <p:cNvSpPr/>
          <p:nvPr/>
        </p:nvSpPr>
        <p:spPr>
          <a:xfrm>
            <a:off x="9100250" y="3376013"/>
            <a:ext cx="1800000" cy="36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FFFFFF"/>
                </a:solidFill>
                <a:latin typeface="Consolas"/>
                <a:ea typeface="Consolas"/>
                <a:cs typeface="Consolas"/>
                <a:sym typeface="Consolas"/>
              </a:rPr>
              <a:t>✗  LATENCY</a:t>
            </a:r>
            <a:endParaRPr sz="2000">
              <a:latin typeface="Consolas"/>
              <a:ea typeface="Consolas"/>
              <a:cs typeface="Consolas"/>
              <a:sym typeface="Consolas"/>
            </a:endParaRPr>
          </a:p>
        </p:txBody>
      </p:sp>
      <p:sp>
        <p:nvSpPr>
          <p:cNvPr id="271" name="Google Shape;271;p13"/>
          <p:cNvSpPr/>
          <p:nvPr/>
        </p:nvSpPr>
        <p:spPr>
          <a:xfrm>
            <a:off x="800250" y="3034550"/>
            <a:ext cx="3600000" cy="841800"/>
          </a:xfrm>
          <a:prstGeom prst="rect">
            <a:avLst/>
          </a:prstGeom>
          <a:solidFill>
            <a:srgbClr val="14B8A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Fraunces"/>
                <a:ea typeface="Fraunces"/>
                <a:cs typeface="Fraunces"/>
                <a:sym typeface="Fraunces"/>
              </a:rPr>
              <a:t>Business + Engineering screen-share some SQL</a:t>
            </a:r>
            <a:endParaRPr sz="1800" b="1">
              <a:latin typeface="Fraunces"/>
              <a:ea typeface="Fraunces"/>
              <a:cs typeface="Fraunces"/>
              <a:sym typeface="Fraunces"/>
            </a:endParaRPr>
          </a:p>
        </p:txBody>
      </p:sp>
      <p:sp>
        <p:nvSpPr>
          <p:cNvPr id="272" name="Google Shape;272;p13"/>
          <p:cNvSpPr/>
          <p:nvPr/>
        </p:nvSpPr>
        <p:spPr>
          <a:xfrm>
            <a:off x="6673275" y="2722013"/>
            <a:ext cx="3038700" cy="4725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US" sz="1800" b="1" i="1" u="none" strike="noStrike" cap="none">
                <a:solidFill>
                  <a:srgbClr val="F59E0B"/>
                </a:solidFill>
                <a:latin typeface="Consolas"/>
                <a:ea typeface="Consolas"/>
                <a:cs typeface="Consolas"/>
                <a:sym typeface="Consolas"/>
              </a:rPr>
              <a:t>-- the bottleneck</a:t>
            </a:r>
            <a:endParaRPr sz="1800" b="1"/>
          </a:p>
        </p:txBody>
      </p:sp>
      <p:sp>
        <p:nvSpPr>
          <p:cNvPr id="273" name="Google Shape;273;p13"/>
          <p:cNvSpPr/>
          <p:nvPr/>
        </p:nvSpPr>
        <p:spPr>
          <a:xfrm>
            <a:off x="6673275" y="3952538"/>
            <a:ext cx="6300000" cy="903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1F2328"/>
                </a:solidFill>
                <a:latin typeface="Fraunces"/>
                <a:ea typeface="Fraunces"/>
                <a:cs typeface="Fraunces"/>
                <a:sym typeface="Fraunces"/>
              </a:rPr>
              <a:t>Infrastructure. </a:t>
            </a:r>
            <a:endParaRPr sz="2000" b="1" i="0" u="none" strike="noStrike" cap="none">
              <a:solidFill>
                <a:srgbClr val="1F2328"/>
              </a:solidFill>
              <a:latin typeface="Fraunces"/>
              <a:ea typeface="Fraunces"/>
              <a:cs typeface="Fraunces"/>
              <a:sym typeface="Fraunces"/>
            </a:endParaRPr>
          </a:p>
          <a:p>
            <a:pPr marL="0" marR="0" lvl="0" indent="0" algn="l" rtl="0">
              <a:lnSpc>
                <a:spcPct val="100000"/>
              </a:lnSpc>
              <a:spcBef>
                <a:spcPts val="0"/>
              </a:spcBef>
              <a:spcAft>
                <a:spcPts val="0"/>
              </a:spcAft>
              <a:buNone/>
            </a:pPr>
            <a:r>
              <a:rPr lang="en-US" sz="2000" b="1" i="0" u="none" strike="noStrike" cap="none">
                <a:solidFill>
                  <a:srgbClr val="1F2328"/>
                </a:solidFill>
                <a:latin typeface="Fraunces"/>
                <a:ea typeface="Fraunces"/>
                <a:cs typeface="Fraunces"/>
                <a:sym typeface="Fraunces"/>
              </a:rPr>
              <a:t>Pipelines. </a:t>
            </a:r>
            <a:endParaRPr sz="2000" b="1" i="0" u="none" strike="noStrike" cap="none">
              <a:solidFill>
                <a:srgbClr val="1F2328"/>
              </a:solidFill>
              <a:latin typeface="Fraunces"/>
              <a:ea typeface="Fraunces"/>
              <a:cs typeface="Fraunces"/>
              <a:sym typeface="Fraunces"/>
            </a:endParaRPr>
          </a:p>
          <a:p>
            <a:pPr marL="0" marR="0" lvl="0" indent="0" algn="l" rtl="0">
              <a:lnSpc>
                <a:spcPct val="100000"/>
              </a:lnSpc>
              <a:spcBef>
                <a:spcPts val="0"/>
              </a:spcBef>
              <a:spcAft>
                <a:spcPts val="0"/>
              </a:spcAft>
              <a:buNone/>
            </a:pPr>
            <a:r>
              <a:rPr lang="en-US" sz="2000" b="1" i="0" u="none" strike="noStrike" cap="none">
                <a:solidFill>
                  <a:srgbClr val="1F2328"/>
                </a:solidFill>
                <a:latin typeface="Fraunces"/>
                <a:ea typeface="Fraunces"/>
                <a:cs typeface="Fraunces"/>
                <a:sym typeface="Fraunces"/>
              </a:rPr>
              <a:t>APIs.</a:t>
            </a:r>
            <a:endParaRPr sz="2000" b="1">
              <a:latin typeface="Fraunces"/>
              <a:ea typeface="Fraunces"/>
              <a:cs typeface="Fraunces"/>
              <a:sym typeface="Fraunces"/>
            </a:endParaRPr>
          </a:p>
        </p:txBody>
      </p:sp>
      <p:sp>
        <p:nvSpPr>
          <p:cNvPr id="274" name="Google Shape;274;p13"/>
          <p:cNvSpPr/>
          <p:nvPr/>
        </p:nvSpPr>
        <p:spPr>
          <a:xfrm>
            <a:off x="800250" y="5684213"/>
            <a:ext cx="10100100" cy="841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900" i="1" u="none" strike="noStrike" cap="none">
                <a:solidFill>
                  <a:srgbClr val="6B7280"/>
                </a:solidFill>
                <a:latin typeface="DM Sans Light"/>
                <a:ea typeface="DM Sans Light"/>
                <a:cs typeface="DM Sans Light"/>
                <a:sym typeface="DM Sans Light"/>
              </a:rPr>
              <a:t>Weeks. Months. Between “yes, that’s the right metric” and it showing up in a dashboard.</a:t>
            </a:r>
            <a:endParaRPr sz="2000">
              <a:latin typeface="DM Sans Light"/>
              <a:ea typeface="DM Sans Light"/>
              <a:cs typeface="DM Sans Light"/>
              <a:sym typeface="DM Sans Light"/>
            </a:endParaRPr>
          </a:p>
        </p:txBody>
      </p:sp>
      <p:sp>
        <p:nvSpPr>
          <p:cNvPr id="275" name="Google Shape;275;p13"/>
          <p:cNvSpPr/>
          <p:nvPr/>
        </p:nvSpPr>
        <p:spPr>
          <a:xfrm>
            <a:off x="5556263" y="6422488"/>
            <a:ext cx="914700" cy="400200"/>
          </a:xfrm>
          <a:prstGeom prst="rect">
            <a:avLst/>
          </a:prstGeom>
          <a:no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1200" b="0" i="0" u="none" strike="noStrike" cap="none">
                <a:solidFill>
                  <a:srgbClr val="14B8A6"/>
                </a:solidFill>
                <a:latin typeface="Consolas"/>
                <a:ea typeface="Consolas"/>
                <a:cs typeface="Consolas"/>
                <a:sym typeface="Consolas"/>
              </a:rPr>
              <a:t>‹#›</a:t>
            </a:r>
            <a:endParaRPr/>
          </a:p>
        </p:txBody>
      </p:sp>
      <p:cxnSp>
        <p:nvCxnSpPr>
          <p:cNvPr id="276" name="Google Shape;276;p13"/>
          <p:cNvCxnSpPr/>
          <p:nvPr/>
        </p:nvCxnSpPr>
        <p:spPr>
          <a:xfrm>
            <a:off x="457200" y="6620000"/>
            <a:ext cx="4842900" cy="0"/>
          </a:xfrm>
          <a:prstGeom prst="straightConnector1">
            <a:avLst/>
          </a:prstGeom>
          <a:noFill/>
          <a:ln w="38100" cap="rnd" cmpd="sng">
            <a:solidFill>
              <a:srgbClr val="14B8A6"/>
            </a:solidFill>
            <a:prstDash val="solid"/>
            <a:round/>
            <a:headEnd type="none" w="sm" len="sm"/>
            <a:tailEnd type="none" w="sm" len="sm"/>
          </a:ln>
        </p:spPr>
      </p:cxnSp>
      <p:cxnSp>
        <p:nvCxnSpPr>
          <p:cNvPr id="277" name="Google Shape;277;p13"/>
          <p:cNvCxnSpPr/>
          <p:nvPr/>
        </p:nvCxnSpPr>
        <p:spPr>
          <a:xfrm>
            <a:off x="6800000" y="6620000"/>
            <a:ext cx="4935000" cy="0"/>
          </a:xfrm>
          <a:prstGeom prst="straightConnector1">
            <a:avLst/>
          </a:prstGeom>
          <a:noFill/>
          <a:ln w="38100" cap="rnd" cmpd="sng">
            <a:solidFill>
              <a:srgbClr val="14B8A6"/>
            </a:solidFill>
            <a:prstDash val="solid"/>
            <a:round/>
            <a:headEnd type="none" w="sm" len="sm"/>
            <a:tailEnd type="none" w="sm" len="sm"/>
          </a:ln>
        </p:spPr>
      </p:cxnSp>
      <p:sp>
        <p:nvSpPr>
          <p:cNvPr id="278" name="Google Shape;278;p13"/>
          <p:cNvSpPr/>
          <p:nvPr/>
        </p:nvSpPr>
        <p:spPr>
          <a:xfrm rot="10800000" flipH="1">
            <a:off x="457200" y="1604875"/>
            <a:ext cx="11247000" cy="681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a:off x="457200" y="960120"/>
            <a:ext cx="11247000" cy="1051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i="0" u="none" strike="noStrike" cap="none">
                <a:solidFill>
                  <a:srgbClr val="1F2328"/>
                </a:solidFill>
                <a:latin typeface="Fraunces"/>
                <a:ea typeface="Fraunces"/>
                <a:cs typeface="Fraunces"/>
                <a:sym typeface="Fraunces"/>
              </a:rPr>
              <a:t>The bottleneck isn't where you think</a:t>
            </a:r>
            <a:endParaRPr sz="4400" b="0" i="0" u="none" strike="noStrike" cap="none">
              <a:solidFill>
                <a:schemeClr val="dk1"/>
              </a:solidFill>
              <a:latin typeface="Calibri"/>
              <a:ea typeface="Calibri"/>
              <a:cs typeface="Calibri"/>
              <a:sym typeface="Calibri"/>
            </a:endParaRPr>
          </a:p>
        </p:txBody>
      </p:sp>
      <p:sp>
        <p:nvSpPr>
          <p:cNvPr id="280" name="Google Shape;280;p13"/>
          <p:cNvSpPr/>
          <p:nvPr/>
        </p:nvSpPr>
        <p:spPr>
          <a:xfrm>
            <a:off x="457200" y="27432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WHERE</a:t>
            </a:r>
            <a:endParaRPr sz="3000" b="0" i="0" u="none" strike="noStrike" cap="none">
              <a:solidFill>
                <a:srgbClr val="14B8A6"/>
              </a:solidFill>
              <a:latin typeface="Calibri"/>
              <a:ea typeface="Calibri"/>
              <a:cs typeface="Calibri"/>
              <a:sym typeface="Calibri"/>
            </a:endParaRPr>
          </a:p>
        </p:txBody>
      </p:sp>
      <p:sp>
        <p:nvSpPr>
          <p:cNvPr id="281" name="Google Shape;281;p13"/>
          <p:cNvSpPr/>
          <p:nvPr/>
        </p:nvSpPr>
        <p:spPr>
          <a:xfrm>
            <a:off x="3123266" y="2732875"/>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2" name="Google Shape;282;p13"/>
          <p:cNvSpPr/>
          <p:nvPr/>
        </p:nvSpPr>
        <p:spPr>
          <a:xfrm>
            <a:off x="3551941" y="2945475"/>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3" name="Google Shape;283;p13"/>
          <p:cNvSpPr/>
          <p:nvPr/>
        </p:nvSpPr>
        <p:spPr>
          <a:xfrm>
            <a:off x="2523416" y="2906250"/>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4" name="Google Shape;284;p13"/>
          <p:cNvSpPr/>
          <p:nvPr/>
        </p:nvSpPr>
        <p:spPr>
          <a:xfrm>
            <a:off x="3881766" y="4210025"/>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5" name="Google Shape;285;p13"/>
          <p:cNvSpPr/>
          <p:nvPr/>
        </p:nvSpPr>
        <p:spPr>
          <a:xfrm>
            <a:off x="4034166" y="4362425"/>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6" name="Google Shape;286;p13"/>
          <p:cNvSpPr/>
          <p:nvPr/>
        </p:nvSpPr>
        <p:spPr>
          <a:xfrm>
            <a:off x="3656041" y="4314850"/>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7" name="Google Shape;287;p13"/>
          <p:cNvSpPr/>
          <p:nvPr/>
        </p:nvSpPr>
        <p:spPr>
          <a:xfrm>
            <a:off x="996916" y="4132225"/>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8" name="Google Shape;288;p13"/>
          <p:cNvSpPr/>
          <p:nvPr/>
        </p:nvSpPr>
        <p:spPr>
          <a:xfrm>
            <a:off x="1253216" y="4186875"/>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89" name="Google Shape;289;p13"/>
          <p:cNvSpPr/>
          <p:nvPr/>
        </p:nvSpPr>
        <p:spPr>
          <a:xfrm>
            <a:off x="996916" y="4566937"/>
            <a:ext cx="104100" cy="104100"/>
          </a:xfrm>
          <a:prstGeom prst="ellipse">
            <a:avLst/>
          </a:prstGeom>
          <a:solidFill>
            <a:srgbClr val="FFFFFF">
              <a:alpha val="600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0" name="Google Shape;290;p13"/>
          <p:cNvSpPr/>
          <p:nvPr/>
        </p:nvSpPr>
        <p:spPr>
          <a:xfrm>
            <a:off x="4515675" y="357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1" name="Google Shape;291;p13"/>
          <p:cNvSpPr/>
          <p:nvPr/>
        </p:nvSpPr>
        <p:spPr>
          <a:xfrm>
            <a:off x="4675675" y="357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2" name="Google Shape;292;p13"/>
          <p:cNvSpPr/>
          <p:nvPr/>
        </p:nvSpPr>
        <p:spPr>
          <a:xfrm>
            <a:off x="4835675" y="357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3" name="Google Shape;293;p13"/>
          <p:cNvSpPr/>
          <p:nvPr/>
        </p:nvSpPr>
        <p:spPr>
          <a:xfrm>
            <a:off x="4515675" y="373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4" name="Google Shape;294;p13"/>
          <p:cNvSpPr/>
          <p:nvPr/>
        </p:nvSpPr>
        <p:spPr>
          <a:xfrm>
            <a:off x="4675675" y="373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5" name="Google Shape;295;p13"/>
          <p:cNvSpPr/>
          <p:nvPr/>
        </p:nvSpPr>
        <p:spPr>
          <a:xfrm>
            <a:off x="4835675" y="373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6" name="Google Shape;296;p13"/>
          <p:cNvSpPr/>
          <p:nvPr/>
        </p:nvSpPr>
        <p:spPr>
          <a:xfrm>
            <a:off x="8803725" y="349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7" name="Google Shape;297;p13"/>
          <p:cNvSpPr/>
          <p:nvPr/>
        </p:nvSpPr>
        <p:spPr>
          <a:xfrm>
            <a:off x="8963725" y="349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8" name="Google Shape;298;p13"/>
          <p:cNvSpPr/>
          <p:nvPr/>
        </p:nvSpPr>
        <p:spPr>
          <a:xfrm>
            <a:off x="9123725" y="3497963"/>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299" name="Google Shape;299;p13"/>
          <p:cNvSpPr/>
          <p:nvPr/>
        </p:nvSpPr>
        <p:spPr>
          <a:xfrm>
            <a:off x="8323725" y="3497950"/>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00" name="Google Shape;300;p13"/>
          <p:cNvSpPr/>
          <p:nvPr/>
        </p:nvSpPr>
        <p:spPr>
          <a:xfrm>
            <a:off x="8483725" y="3497950"/>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01" name="Google Shape;301;p13"/>
          <p:cNvSpPr/>
          <p:nvPr/>
        </p:nvSpPr>
        <p:spPr>
          <a:xfrm>
            <a:off x="8643725" y="3497950"/>
            <a:ext cx="116100" cy="116100"/>
          </a:xfrm>
          <a:prstGeom prst="ellipse">
            <a:avLst/>
          </a:prstGeom>
          <a:solidFill>
            <a:srgbClr val="FFFFFF">
              <a:alpha val="74900"/>
            </a:srgbClr>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1F2328"/>
        </a:solidFill>
        <a:effectLst/>
      </p:bgPr>
    </p:bg>
    <p:spTree>
      <p:nvGrpSpPr>
        <p:cNvPr id="1" name="Shape 306"/>
        <p:cNvGrpSpPr/>
        <p:nvPr/>
      </p:nvGrpSpPr>
      <p:grpSpPr>
        <a:xfrm>
          <a:off x="0" y="0"/>
          <a:ext cx="0" cy="0"/>
          <a:chOff x="0" y="0"/>
          <a:chExt cx="0" cy="0"/>
        </a:xfrm>
      </p:grpSpPr>
      <p:sp>
        <p:nvSpPr>
          <p:cNvPr id="307" name="Google Shape;307;p14"/>
          <p:cNvSpPr/>
          <p:nvPr/>
        </p:nvSpPr>
        <p:spPr>
          <a:xfrm>
            <a:off x="457200" y="27432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PARTITION BY</a:t>
            </a:r>
            <a:endParaRPr sz="3000" b="0" i="0" u="none" strike="noStrike" cap="none">
              <a:solidFill>
                <a:srgbClr val="14B8A6"/>
              </a:solidFill>
              <a:latin typeface="Calibri"/>
              <a:ea typeface="Calibri"/>
              <a:cs typeface="Calibri"/>
              <a:sym typeface="Calibri"/>
            </a:endParaRPr>
          </a:p>
        </p:txBody>
      </p:sp>
      <p:sp>
        <p:nvSpPr>
          <p:cNvPr id="308" name="Google Shape;308;p14"/>
          <p:cNvSpPr/>
          <p:nvPr/>
        </p:nvSpPr>
        <p:spPr>
          <a:xfrm>
            <a:off x="457200" y="960127"/>
            <a:ext cx="11247000" cy="1377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i="0" u="none" strike="noStrike" cap="none">
                <a:solidFill>
                  <a:srgbClr val="F5F5F2"/>
                </a:solidFill>
                <a:latin typeface="Fraunces"/>
                <a:ea typeface="Fraunces"/>
                <a:cs typeface="Fraunces"/>
                <a:sym typeface="Fraunces"/>
              </a:rPr>
              <a:t>The silo problem</a:t>
            </a:r>
            <a:r>
              <a:rPr lang="en-US" sz="4400" b="1">
                <a:solidFill>
                  <a:srgbClr val="F5F5F2"/>
                </a:solidFill>
                <a:latin typeface="Fraunces"/>
                <a:ea typeface="Fraunces"/>
                <a:cs typeface="Fraunces"/>
                <a:sym typeface="Fraunces"/>
              </a:rPr>
              <a:t>. </a:t>
            </a:r>
            <a:endParaRPr sz="4400" b="1">
              <a:solidFill>
                <a:srgbClr val="F5F5F2"/>
              </a:solidFill>
              <a:latin typeface="Fraunces"/>
              <a:ea typeface="Fraunces"/>
              <a:cs typeface="Fraunces"/>
              <a:sym typeface="Fraunces"/>
            </a:endParaRPr>
          </a:p>
          <a:p>
            <a:pPr marL="0" marR="0" lvl="0" indent="0" algn="l" rtl="0">
              <a:spcBef>
                <a:spcPts val="0"/>
              </a:spcBef>
              <a:spcAft>
                <a:spcPts val="0"/>
              </a:spcAft>
              <a:buClr>
                <a:srgbClr val="1F2328"/>
              </a:buClr>
              <a:buSzPts val="2800"/>
              <a:buFont typeface="Fraunces"/>
              <a:buNone/>
            </a:pPr>
            <a:endParaRPr sz="4400" b="0" i="0" u="none" strike="noStrike" cap="none">
              <a:solidFill>
                <a:srgbClr val="F5F5F2"/>
              </a:solidFill>
              <a:latin typeface="Calibri"/>
              <a:ea typeface="Calibri"/>
              <a:cs typeface="Calibri"/>
              <a:sym typeface="Calibri"/>
            </a:endParaRPr>
          </a:p>
        </p:txBody>
      </p:sp>
      <p:sp>
        <p:nvSpPr>
          <p:cNvPr id="309" name="Google Shape;309;p14"/>
          <p:cNvSpPr/>
          <p:nvPr/>
        </p:nvSpPr>
        <p:spPr>
          <a:xfrm>
            <a:off x="457213" y="5781815"/>
            <a:ext cx="11247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1800"/>
              <a:buFont typeface="DM Sans"/>
              <a:buNone/>
            </a:pPr>
            <a:r>
              <a:rPr lang="en-US" sz="1800" b="1" i="0" u="none" strike="noStrike" cap="none">
                <a:solidFill>
                  <a:srgbClr val="1F2328"/>
                </a:solidFill>
                <a:latin typeface="DM Sans"/>
                <a:ea typeface="DM Sans"/>
                <a:cs typeface="DM Sans"/>
                <a:sym typeface="DM Sans"/>
              </a:rPr>
              <a:t>We're stuck in the middle of three things happening at once:</a:t>
            </a:r>
            <a:endParaRPr sz="1800" b="0" i="0" u="none" strike="noStrike" cap="none">
              <a:solidFill>
                <a:schemeClr val="dk1"/>
              </a:solidFill>
              <a:latin typeface="Calibri"/>
              <a:ea typeface="Calibri"/>
              <a:cs typeface="Calibri"/>
              <a:sym typeface="Calibri"/>
            </a:endParaRPr>
          </a:p>
        </p:txBody>
      </p:sp>
      <p:sp>
        <p:nvSpPr>
          <p:cNvPr id="310" name="Google Shape;310;p14"/>
          <p:cNvSpPr/>
          <p:nvPr/>
        </p:nvSpPr>
        <p:spPr>
          <a:xfrm>
            <a:off x="461663" y="2280338"/>
            <a:ext cx="3612000" cy="2880000"/>
          </a:xfrm>
          <a:prstGeom prst="rect">
            <a:avLst/>
          </a:prstGeom>
          <a:solidFill>
            <a:srgbClr val="F5F5F2"/>
          </a:solidFill>
          <a:ln w="9525" cap="flat" cmpd="sng">
            <a:solidFill>
              <a:srgbClr val="E5E7EB"/>
            </a:solidFill>
            <a:prstDash val="solid"/>
            <a:round/>
            <a:headEnd type="none" w="sm" len="sm"/>
            <a:tailEnd type="none" w="sm" len="sm"/>
          </a:ln>
          <a:effectLst>
            <a:outerShdw blurRad="101600" dist="25400" dir="54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4"/>
          <p:cNvSpPr/>
          <p:nvPr/>
        </p:nvSpPr>
        <p:spPr>
          <a:xfrm>
            <a:off x="690250" y="2552563"/>
            <a:ext cx="914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2600"/>
              <a:buFont typeface="Fraunces"/>
              <a:buNone/>
            </a:pPr>
            <a:r>
              <a:rPr lang="en-US" sz="2600" b="1" i="1" u="none" strike="noStrike" cap="none">
                <a:solidFill>
                  <a:srgbClr val="14B8A6"/>
                </a:solidFill>
                <a:latin typeface="Fraunces"/>
                <a:ea typeface="Fraunces"/>
                <a:cs typeface="Fraunces"/>
                <a:sym typeface="Fraunces"/>
              </a:rPr>
              <a:t>01</a:t>
            </a:r>
            <a:endParaRPr sz="2600" b="0" i="0" u="none" strike="noStrike" cap="none">
              <a:solidFill>
                <a:schemeClr val="dk1"/>
              </a:solidFill>
              <a:latin typeface="Calibri"/>
              <a:ea typeface="Calibri"/>
              <a:cs typeface="Calibri"/>
              <a:sym typeface="Calibri"/>
            </a:endParaRPr>
          </a:p>
        </p:txBody>
      </p:sp>
      <p:sp>
        <p:nvSpPr>
          <p:cNvPr id="312" name="Google Shape;312;p14"/>
          <p:cNvSpPr/>
          <p:nvPr/>
        </p:nvSpPr>
        <p:spPr>
          <a:xfrm>
            <a:off x="690262" y="3014531"/>
            <a:ext cx="3200400" cy="564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1800"/>
              <a:buFont typeface="Fraunces"/>
              <a:buNone/>
            </a:pPr>
            <a:r>
              <a:rPr lang="en-US" sz="2400" b="1" i="0" u="none" strike="noStrike" cap="none">
                <a:solidFill>
                  <a:srgbClr val="1F2328"/>
                </a:solidFill>
                <a:latin typeface="Fraunces"/>
                <a:ea typeface="Fraunces"/>
                <a:cs typeface="Fraunces"/>
                <a:sym typeface="Fraunces"/>
              </a:rPr>
              <a:t>Connect across silos</a:t>
            </a:r>
            <a:endParaRPr sz="2400" b="0" i="0" u="none" strike="noStrike" cap="none">
              <a:solidFill>
                <a:schemeClr val="dk1"/>
              </a:solidFill>
              <a:latin typeface="Calibri"/>
              <a:ea typeface="Calibri"/>
              <a:cs typeface="Calibri"/>
              <a:sym typeface="Calibri"/>
            </a:endParaRPr>
          </a:p>
        </p:txBody>
      </p:sp>
      <p:sp>
        <p:nvSpPr>
          <p:cNvPr id="313" name="Google Shape;313;p14"/>
          <p:cNvSpPr/>
          <p:nvPr/>
        </p:nvSpPr>
        <p:spPr>
          <a:xfrm>
            <a:off x="690263" y="3635764"/>
            <a:ext cx="3246000" cy="12948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6B7280"/>
              </a:buClr>
              <a:buSzPts val="1800"/>
              <a:buFont typeface="DM Sans"/>
              <a:buNone/>
            </a:pPr>
            <a:r>
              <a:rPr lang="en-US" sz="1800">
                <a:solidFill>
                  <a:srgbClr val="6B7280"/>
                </a:solidFill>
                <a:latin typeface="DM Sans"/>
                <a:ea typeface="DM Sans"/>
                <a:cs typeface="DM Sans"/>
                <a:sym typeface="DM Sans"/>
              </a:rPr>
              <a:t>Lead with the business need: b</a:t>
            </a:r>
            <a:r>
              <a:rPr lang="en-US" sz="1800" b="0" i="0" u="none" strike="noStrike" cap="none">
                <a:solidFill>
                  <a:srgbClr val="6B7280"/>
                </a:solidFill>
                <a:latin typeface="DM Sans"/>
                <a:ea typeface="DM Sans"/>
                <a:cs typeface="DM Sans"/>
                <a:sym typeface="DM Sans"/>
              </a:rPr>
              <a:t>etter insight</a:t>
            </a:r>
            <a:r>
              <a:rPr lang="en-US" sz="1800">
                <a:solidFill>
                  <a:srgbClr val="6B7280"/>
                </a:solidFill>
                <a:latin typeface="DM Sans"/>
                <a:ea typeface="DM Sans"/>
                <a:cs typeface="DM Sans"/>
                <a:sym typeface="DM Sans"/>
              </a:rPr>
              <a:t> and </a:t>
            </a:r>
            <a:r>
              <a:rPr lang="en-US" sz="1800" b="0" i="0" u="none" strike="noStrike" cap="none">
                <a:solidFill>
                  <a:srgbClr val="6B7280"/>
                </a:solidFill>
                <a:latin typeface="DM Sans"/>
                <a:ea typeface="DM Sans"/>
                <a:cs typeface="DM Sans"/>
                <a:sym typeface="DM Sans"/>
              </a:rPr>
              <a:t>better visibility into critical gaps</a:t>
            </a:r>
            <a:endParaRPr sz="1800" b="0" i="0" u="none" strike="noStrike" cap="none">
              <a:solidFill>
                <a:schemeClr val="dk1"/>
              </a:solidFill>
              <a:latin typeface="Calibri"/>
              <a:ea typeface="Calibri"/>
              <a:cs typeface="Calibri"/>
              <a:sym typeface="Calibri"/>
            </a:endParaRPr>
          </a:p>
        </p:txBody>
      </p:sp>
      <p:sp>
        <p:nvSpPr>
          <p:cNvPr id="314" name="Google Shape;314;p14"/>
          <p:cNvSpPr/>
          <p:nvPr/>
        </p:nvSpPr>
        <p:spPr>
          <a:xfrm>
            <a:off x="4274703" y="2280338"/>
            <a:ext cx="3612000" cy="2880000"/>
          </a:xfrm>
          <a:prstGeom prst="rect">
            <a:avLst/>
          </a:prstGeom>
          <a:solidFill>
            <a:srgbClr val="F5F5F2"/>
          </a:solidFill>
          <a:ln w="9525" cap="flat" cmpd="sng">
            <a:solidFill>
              <a:srgbClr val="E5E7EB"/>
            </a:solidFill>
            <a:prstDash val="solid"/>
            <a:round/>
            <a:headEnd type="none" w="sm" len="sm"/>
            <a:tailEnd type="none" w="sm" len="sm"/>
          </a:ln>
          <a:effectLst>
            <a:outerShdw blurRad="101600" dist="25400" dir="54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4"/>
          <p:cNvSpPr/>
          <p:nvPr/>
        </p:nvSpPr>
        <p:spPr>
          <a:xfrm>
            <a:off x="4503298" y="2552563"/>
            <a:ext cx="914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2600"/>
              <a:buFont typeface="Fraunces"/>
              <a:buNone/>
            </a:pPr>
            <a:r>
              <a:rPr lang="en-US" sz="2600" b="1" i="1" u="none" strike="noStrike" cap="none">
                <a:solidFill>
                  <a:srgbClr val="14B8A6"/>
                </a:solidFill>
                <a:latin typeface="Fraunces"/>
                <a:ea typeface="Fraunces"/>
                <a:cs typeface="Fraunces"/>
                <a:sym typeface="Fraunces"/>
              </a:rPr>
              <a:t>02</a:t>
            </a:r>
            <a:endParaRPr sz="2600" b="0" i="0" u="none" strike="noStrike" cap="none">
              <a:solidFill>
                <a:schemeClr val="dk1"/>
              </a:solidFill>
              <a:latin typeface="Calibri"/>
              <a:ea typeface="Calibri"/>
              <a:cs typeface="Calibri"/>
              <a:sym typeface="Calibri"/>
            </a:endParaRPr>
          </a:p>
        </p:txBody>
      </p:sp>
      <p:sp>
        <p:nvSpPr>
          <p:cNvPr id="316" name="Google Shape;316;p14"/>
          <p:cNvSpPr/>
          <p:nvPr/>
        </p:nvSpPr>
        <p:spPr>
          <a:xfrm>
            <a:off x="4526100" y="3014540"/>
            <a:ext cx="3200400" cy="819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1800"/>
              <a:buFont typeface="Fraunces"/>
              <a:buNone/>
            </a:pPr>
            <a:r>
              <a:rPr lang="en-US" sz="2400" b="1" i="0" u="none" strike="noStrike" cap="none">
                <a:solidFill>
                  <a:srgbClr val="1F2328"/>
                </a:solidFill>
                <a:latin typeface="Fraunces"/>
                <a:ea typeface="Fraunces"/>
                <a:cs typeface="Fraunces"/>
                <a:sym typeface="Fraunces"/>
              </a:rPr>
              <a:t>Meet engineers where they are</a:t>
            </a:r>
            <a:endParaRPr sz="2400" b="0" i="0" u="none" strike="noStrike" cap="none">
              <a:solidFill>
                <a:schemeClr val="dk1"/>
              </a:solidFill>
              <a:latin typeface="Calibri"/>
              <a:ea typeface="Calibri"/>
              <a:cs typeface="Calibri"/>
              <a:sym typeface="Calibri"/>
            </a:endParaRPr>
          </a:p>
        </p:txBody>
      </p:sp>
      <p:sp>
        <p:nvSpPr>
          <p:cNvPr id="317" name="Google Shape;317;p14"/>
          <p:cNvSpPr/>
          <p:nvPr/>
        </p:nvSpPr>
        <p:spPr>
          <a:xfrm>
            <a:off x="4503313" y="3635764"/>
            <a:ext cx="3246000" cy="12948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6B7280"/>
              </a:buClr>
              <a:buSzPts val="1800"/>
              <a:buFont typeface="DM Sans"/>
              <a:buNone/>
            </a:pPr>
            <a:r>
              <a:rPr lang="en-US" sz="1800" b="0" i="0" u="none" strike="noStrike" cap="none">
                <a:solidFill>
                  <a:srgbClr val="6B7280"/>
                </a:solidFill>
                <a:latin typeface="DM Sans"/>
                <a:ea typeface="DM Sans"/>
                <a:cs typeface="DM Sans"/>
                <a:sym typeface="DM Sans"/>
              </a:rPr>
              <a:t>The talent pool, compliance frameworks, and auditors all speak SQL.</a:t>
            </a:r>
            <a:endParaRPr sz="1800" b="0" i="0" u="none" strike="noStrike" cap="none">
              <a:solidFill>
                <a:schemeClr val="dk1"/>
              </a:solidFill>
              <a:latin typeface="Calibri"/>
              <a:ea typeface="Calibri"/>
              <a:cs typeface="Calibri"/>
              <a:sym typeface="Calibri"/>
            </a:endParaRPr>
          </a:p>
        </p:txBody>
      </p:sp>
      <p:sp>
        <p:nvSpPr>
          <p:cNvPr id="318" name="Google Shape;318;p14"/>
          <p:cNvSpPr/>
          <p:nvPr/>
        </p:nvSpPr>
        <p:spPr>
          <a:xfrm>
            <a:off x="8087744" y="2280338"/>
            <a:ext cx="3612000" cy="2880000"/>
          </a:xfrm>
          <a:prstGeom prst="rect">
            <a:avLst/>
          </a:prstGeom>
          <a:solidFill>
            <a:srgbClr val="F5F5F2"/>
          </a:solidFill>
          <a:ln w="9525" cap="flat" cmpd="sng">
            <a:solidFill>
              <a:srgbClr val="E5E7EB"/>
            </a:solidFill>
            <a:prstDash val="solid"/>
            <a:round/>
            <a:headEnd type="none" w="sm" len="sm"/>
            <a:tailEnd type="none" w="sm" len="sm"/>
          </a:ln>
          <a:effectLst>
            <a:outerShdw blurRad="101600" dist="25400" dir="54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4"/>
          <p:cNvSpPr/>
          <p:nvPr/>
        </p:nvSpPr>
        <p:spPr>
          <a:xfrm>
            <a:off x="8316346" y="2552563"/>
            <a:ext cx="914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2600"/>
              <a:buFont typeface="Fraunces"/>
              <a:buNone/>
            </a:pPr>
            <a:r>
              <a:rPr lang="en-US" sz="2600" b="1" i="1" u="none" strike="noStrike" cap="none">
                <a:solidFill>
                  <a:srgbClr val="14B8A6"/>
                </a:solidFill>
                <a:latin typeface="Fraunces"/>
                <a:ea typeface="Fraunces"/>
                <a:cs typeface="Fraunces"/>
                <a:sym typeface="Fraunces"/>
              </a:rPr>
              <a:t>03</a:t>
            </a:r>
            <a:endParaRPr sz="2600" b="0" i="0" u="none" strike="noStrike" cap="none">
              <a:solidFill>
                <a:schemeClr val="dk1"/>
              </a:solidFill>
              <a:latin typeface="Calibri"/>
              <a:ea typeface="Calibri"/>
              <a:cs typeface="Calibri"/>
              <a:sym typeface="Calibri"/>
            </a:endParaRPr>
          </a:p>
        </p:txBody>
      </p:sp>
      <p:sp>
        <p:nvSpPr>
          <p:cNvPr id="320" name="Google Shape;320;p14"/>
          <p:cNvSpPr/>
          <p:nvPr/>
        </p:nvSpPr>
        <p:spPr>
          <a:xfrm>
            <a:off x="8316344" y="3014531"/>
            <a:ext cx="3200400" cy="564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1800"/>
              <a:buFont typeface="Fraunces"/>
              <a:buNone/>
            </a:pPr>
            <a:r>
              <a:rPr lang="en-US" sz="2400" b="1" i="0" u="none" strike="noStrike" cap="none">
                <a:solidFill>
                  <a:srgbClr val="1F2328"/>
                </a:solidFill>
                <a:latin typeface="Fraunces"/>
                <a:ea typeface="Fraunces"/>
                <a:cs typeface="Fraunces"/>
                <a:sym typeface="Fraunces"/>
              </a:rPr>
              <a:t>Figure out </a:t>
            </a:r>
            <a:r>
              <a:rPr lang="en-US" sz="2400" b="1">
                <a:solidFill>
                  <a:srgbClr val="1F2328"/>
                </a:solidFill>
                <a:latin typeface="Fraunces"/>
                <a:ea typeface="Fraunces"/>
                <a:cs typeface="Fraunces"/>
                <a:sym typeface="Fraunces"/>
              </a:rPr>
              <a:t>if</a:t>
            </a:r>
            <a:r>
              <a:rPr lang="en-US" sz="2400" b="1" i="0" u="none" strike="noStrike" cap="none">
                <a:solidFill>
                  <a:srgbClr val="1F2328"/>
                </a:solidFill>
                <a:latin typeface="Fraunces"/>
                <a:ea typeface="Fraunces"/>
                <a:cs typeface="Fraunces"/>
                <a:sym typeface="Fraunces"/>
              </a:rPr>
              <a:t> AI fits</a:t>
            </a:r>
            <a:endParaRPr sz="2400" b="0" i="0" u="none" strike="noStrike" cap="none">
              <a:solidFill>
                <a:schemeClr val="dk1"/>
              </a:solidFill>
              <a:latin typeface="Calibri"/>
              <a:ea typeface="Calibri"/>
              <a:cs typeface="Calibri"/>
              <a:sym typeface="Calibri"/>
            </a:endParaRPr>
          </a:p>
        </p:txBody>
      </p:sp>
      <p:sp>
        <p:nvSpPr>
          <p:cNvPr id="321" name="Google Shape;321;p14"/>
          <p:cNvSpPr/>
          <p:nvPr/>
        </p:nvSpPr>
        <p:spPr>
          <a:xfrm>
            <a:off x="8316338" y="3635764"/>
            <a:ext cx="3246000" cy="12948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6B7280"/>
              </a:buClr>
              <a:buSzPts val="1800"/>
              <a:buFont typeface="DM Sans"/>
              <a:buNone/>
            </a:pPr>
            <a:r>
              <a:rPr lang="en-US" sz="1800" b="0" i="0" u="none" strike="noStrike" cap="none">
                <a:solidFill>
                  <a:srgbClr val="6B7280"/>
                </a:solidFill>
                <a:latin typeface="DM Sans"/>
                <a:ea typeface="DM Sans"/>
                <a:cs typeface="DM Sans"/>
                <a:sym typeface="DM Sans"/>
              </a:rPr>
              <a:t>Not just for speed. For trust, security, </a:t>
            </a:r>
            <a:r>
              <a:rPr lang="en-US" sz="1800">
                <a:solidFill>
                  <a:srgbClr val="6B7280"/>
                </a:solidFill>
                <a:latin typeface="DM Sans"/>
                <a:ea typeface="DM Sans"/>
                <a:cs typeface="DM Sans"/>
                <a:sym typeface="DM Sans"/>
              </a:rPr>
              <a:t>governance</a:t>
            </a:r>
            <a:r>
              <a:rPr lang="en-US" sz="1800" b="0" i="0" u="none" strike="noStrike" cap="none">
                <a:solidFill>
                  <a:srgbClr val="6B7280"/>
                </a:solidFill>
                <a:latin typeface="DM Sans"/>
                <a:ea typeface="DM Sans"/>
                <a:cs typeface="DM Sans"/>
                <a:sym typeface="DM Sans"/>
              </a:rPr>
              <a:t>, </a:t>
            </a:r>
            <a:r>
              <a:rPr lang="en-US" sz="1800" b="0" i="1" u="none" strike="noStrike" cap="none">
                <a:solidFill>
                  <a:srgbClr val="6B7280"/>
                </a:solidFill>
                <a:latin typeface="DM Sans"/>
                <a:ea typeface="DM Sans"/>
                <a:cs typeface="DM Sans"/>
                <a:sym typeface="DM Sans"/>
              </a:rPr>
              <a:t>et</a:t>
            </a:r>
            <a:r>
              <a:rPr lang="en-US" sz="1800" i="1">
                <a:solidFill>
                  <a:srgbClr val="6B7280"/>
                </a:solidFill>
                <a:latin typeface="DM Sans"/>
                <a:ea typeface="DM Sans"/>
                <a:cs typeface="DM Sans"/>
                <a:sym typeface="DM Sans"/>
              </a:rPr>
              <a:t>hics</a:t>
            </a:r>
            <a:r>
              <a:rPr lang="en-US" sz="1800" b="0" i="0" u="none" strike="noStrike" cap="none">
                <a:solidFill>
                  <a:srgbClr val="6B7280"/>
                </a:solidFill>
                <a:latin typeface="DM Sans"/>
                <a:ea typeface="DM Sans"/>
                <a:cs typeface="DM Sans"/>
                <a:sym typeface="DM Sans"/>
              </a:rPr>
              <a:t> and observability.</a:t>
            </a:r>
            <a:endParaRPr sz="1800" b="0" i="0" u="none" strike="noStrike" cap="none">
              <a:solidFill>
                <a:schemeClr val="dk1"/>
              </a:solidFill>
              <a:latin typeface="Calibri"/>
              <a:ea typeface="Calibri"/>
              <a:cs typeface="Calibri"/>
              <a:sym typeface="Calibri"/>
            </a:endParaRPr>
          </a:p>
        </p:txBody>
      </p:sp>
      <p:sp>
        <p:nvSpPr>
          <p:cNvPr id="322" name="Google Shape;322;p14"/>
          <p:cNvSpPr/>
          <p:nvPr/>
        </p:nvSpPr>
        <p:spPr>
          <a:xfrm>
            <a:off x="461663" y="2280315"/>
            <a:ext cx="73200" cy="2880000"/>
          </a:xfrm>
          <a:prstGeom prst="rect">
            <a:avLst/>
          </a:prstGeom>
          <a:solidFill>
            <a:srgbClr val="14B8A6"/>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4"/>
          <p:cNvSpPr/>
          <p:nvPr/>
        </p:nvSpPr>
        <p:spPr>
          <a:xfrm>
            <a:off x="4275923" y="2280315"/>
            <a:ext cx="73200" cy="2880000"/>
          </a:xfrm>
          <a:prstGeom prst="rect">
            <a:avLst/>
          </a:prstGeom>
          <a:solidFill>
            <a:srgbClr val="14B8A6"/>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4"/>
          <p:cNvSpPr/>
          <p:nvPr/>
        </p:nvSpPr>
        <p:spPr>
          <a:xfrm>
            <a:off x="8092708" y="2280392"/>
            <a:ext cx="73200" cy="2880000"/>
          </a:xfrm>
          <a:prstGeom prst="rect">
            <a:avLst/>
          </a:prstGeom>
          <a:solidFill>
            <a:srgbClr val="14B8A6"/>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4"/>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326" name="Google Shape;326;p14"/>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327" name="Google Shape;327;p14"/>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332"/>
        <p:cNvGrpSpPr/>
        <p:nvPr/>
      </p:nvGrpSpPr>
      <p:grpSpPr>
        <a:xfrm>
          <a:off x="0" y="0"/>
          <a:ext cx="0" cy="0"/>
          <a:chOff x="0" y="0"/>
          <a:chExt cx="0" cy="0"/>
        </a:xfrm>
      </p:grpSpPr>
      <p:sp>
        <p:nvSpPr>
          <p:cNvPr id="333" name="Google Shape;333;p15"/>
          <p:cNvSpPr/>
          <p:nvPr/>
        </p:nvSpPr>
        <p:spPr>
          <a:xfrm>
            <a:off x="457200" y="27432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CREATE VIEW</a:t>
            </a:r>
            <a:endParaRPr sz="3000" b="0" i="0" u="none" strike="noStrike" cap="none">
              <a:solidFill>
                <a:srgbClr val="14B8A6"/>
              </a:solidFill>
              <a:latin typeface="Calibri"/>
              <a:ea typeface="Calibri"/>
              <a:cs typeface="Calibri"/>
              <a:sym typeface="Calibri"/>
            </a:endParaRPr>
          </a:p>
        </p:txBody>
      </p:sp>
      <p:sp>
        <p:nvSpPr>
          <p:cNvPr id="334" name="Google Shape;334;p15"/>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F59E0B"/>
                </a:solidFill>
                <a:latin typeface="DM Sans"/>
                <a:ea typeface="DM Sans"/>
                <a:cs typeface="DM Sans"/>
                <a:sym typeface="DM Sans"/>
              </a:rPr>
              <a:t>‹#›</a:t>
            </a:r>
            <a:endParaRPr>
              <a:solidFill>
                <a:srgbClr val="F59E0B"/>
              </a:solidFill>
            </a:endParaRPr>
          </a:p>
        </p:txBody>
      </p:sp>
      <p:cxnSp>
        <p:nvCxnSpPr>
          <p:cNvPr id="335" name="Google Shape;335;p15"/>
          <p:cNvCxnSpPr/>
          <p:nvPr/>
        </p:nvCxnSpPr>
        <p:spPr>
          <a:xfrm>
            <a:off x="572063" y="6617763"/>
            <a:ext cx="4984200" cy="0"/>
          </a:xfrm>
          <a:prstGeom prst="straightConnector1">
            <a:avLst/>
          </a:prstGeom>
          <a:noFill/>
          <a:ln w="38100" cap="rnd" cmpd="sng">
            <a:solidFill>
              <a:srgbClr val="F59E0B"/>
            </a:solidFill>
            <a:prstDash val="solid"/>
            <a:round/>
            <a:headEnd type="none" w="lg" len="lg"/>
            <a:tailEnd type="none" w="sm" len="sm"/>
          </a:ln>
        </p:spPr>
      </p:cxnSp>
      <p:cxnSp>
        <p:nvCxnSpPr>
          <p:cNvPr id="336" name="Google Shape;336;p15"/>
          <p:cNvCxnSpPr/>
          <p:nvPr/>
        </p:nvCxnSpPr>
        <p:spPr>
          <a:xfrm>
            <a:off x="6520483" y="6617751"/>
            <a:ext cx="5178000" cy="0"/>
          </a:xfrm>
          <a:prstGeom prst="straightConnector1">
            <a:avLst/>
          </a:prstGeom>
          <a:noFill/>
          <a:ln w="38100" cap="rnd" cmpd="sng">
            <a:solidFill>
              <a:srgbClr val="F59E0B"/>
            </a:solidFill>
            <a:prstDash val="solid"/>
            <a:round/>
            <a:headEnd type="none" w="sm" len="sm"/>
            <a:tailEnd type="none" w="lg" len="lg"/>
          </a:ln>
        </p:spPr>
      </p:cxnSp>
      <p:sp>
        <p:nvSpPr>
          <p:cNvPr id="337" name="Google Shape;337;p15"/>
          <p:cNvSpPr/>
          <p:nvPr/>
        </p:nvSpPr>
        <p:spPr>
          <a:xfrm>
            <a:off x="700050" y="3365275"/>
            <a:ext cx="3200100" cy="279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b="1" i="0" u="none" strike="noStrike" cap="none">
                <a:solidFill>
                  <a:srgbClr val="14B8A6"/>
                </a:solidFill>
                <a:latin typeface="Consolas"/>
                <a:ea typeface="Consolas"/>
                <a:cs typeface="Consolas"/>
                <a:sym typeface="Consolas"/>
              </a:rPr>
              <a:t>↑  ABOVE THE LINE</a:t>
            </a:r>
            <a:endParaRPr>
              <a:latin typeface="Consolas"/>
              <a:ea typeface="Consolas"/>
              <a:cs typeface="Consolas"/>
              <a:sym typeface="Consolas"/>
            </a:endParaRPr>
          </a:p>
        </p:txBody>
      </p:sp>
      <p:sp>
        <p:nvSpPr>
          <p:cNvPr id="338" name="Google Shape;338;p15"/>
          <p:cNvSpPr/>
          <p:nvPr/>
        </p:nvSpPr>
        <p:spPr>
          <a:xfrm>
            <a:off x="700000" y="1314525"/>
            <a:ext cx="4200000" cy="95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6200" b="1" i="0" u="none" strike="noStrike" cap="none">
                <a:solidFill>
                  <a:srgbClr val="F5F5F2"/>
                </a:solidFill>
                <a:latin typeface="Fraunces"/>
                <a:ea typeface="Fraunces"/>
                <a:cs typeface="Fraunces"/>
                <a:sym typeface="Fraunces"/>
              </a:rPr>
              <a:t>HUMANS</a:t>
            </a:r>
            <a:endParaRPr/>
          </a:p>
        </p:txBody>
      </p:sp>
      <p:sp>
        <p:nvSpPr>
          <p:cNvPr id="339" name="Google Shape;339;p15"/>
          <p:cNvSpPr/>
          <p:nvPr/>
        </p:nvSpPr>
        <p:spPr>
          <a:xfrm>
            <a:off x="4985600" y="1529525"/>
            <a:ext cx="228900" cy="228900"/>
          </a:xfrm>
          <a:prstGeom prst="ellipse">
            <a:avLst/>
          </a:prstGeom>
          <a:solidFill>
            <a:srgbClr val="14B8A6"/>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40" name="Google Shape;340;p15"/>
          <p:cNvSpPr/>
          <p:nvPr/>
        </p:nvSpPr>
        <p:spPr>
          <a:xfrm>
            <a:off x="4923200" y="1789525"/>
            <a:ext cx="353600" cy="218400"/>
          </a:xfrm>
          <a:custGeom>
            <a:avLst/>
            <a:gdLst/>
            <a:ahLst/>
            <a:cxnLst/>
            <a:rect l="l" t="t" r="r" b="b"/>
            <a:pathLst>
              <a:path w="353600" h="218400" extrusionOk="0">
                <a:moveTo>
                  <a:pt x="52000" y="0"/>
                </a:moveTo>
                <a:lnTo>
                  <a:pt x="301600" y="0"/>
                </a:lnTo>
                <a:lnTo>
                  <a:pt x="353600" y="218400"/>
                </a:lnTo>
                <a:lnTo>
                  <a:pt x="0" y="218400"/>
                </a:lnTo>
                <a:close/>
              </a:path>
            </a:pathLst>
          </a:custGeom>
          <a:solidFill>
            <a:srgbClr val="14B8A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1" name="Google Shape;341;p15"/>
          <p:cNvSpPr/>
          <p:nvPr/>
        </p:nvSpPr>
        <p:spPr>
          <a:xfrm>
            <a:off x="5609600" y="1529525"/>
            <a:ext cx="228900" cy="228900"/>
          </a:xfrm>
          <a:prstGeom prst="ellipse">
            <a:avLst/>
          </a:prstGeom>
          <a:solidFill>
            <a:srgbClr val="14B8A6"/>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42" name="Google Shape;342;p15"/>
          <p:cNvSpPr/>
          <p:nvPr/>
        </p:nvSpPr>
        <p:spPr>
          <a:xfrm>
            <a:off x="5547200" y="1789525"/>
            <a:ext cx="353600" cy="218400"/>
          </a:xfrm>
          <a:custGeom>
            <a:avLst/>
            <a:gdLst/>
            <a:ahLst/>
            <a:cxnLst/>
            <a:rect l="l" t="t" r="r" b="b"/>
            <a:pathLst>
              <a:path w="353600" h="218400" extrusionOk="0">
                <a:moveTo>
                  <a:pt x="52000" y="0"/>
                </a:moveTo>
                <a:lnTo>
                  <a:pt x="301600" y="0"/>
                </a:lnTo>
                <a:lnTo>
                  <a:pt x="353600" y="218400"/>
                </a:lnTo>
                <a:lnTo>
                  <a:pt x="0" y="218400"/>
                </a:lnTo>
                <a:close/>
              </a:path>
            </a:pathLst>
          </a:custGeom>
          <a:solidFill>
            <a:srgbClr val="14B8A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3" name="Google Shape;343;p15"/>
          <p:cNvSpPr/>
          <p:nvPr/>
        </p:nvSpPr>
        <p:spPr>
          <a:xfrm>
            <a:off x="6233600" y="1529525"/>
            <a:ext cx="228900" cy="228900"/>
          </a:xfrm>
          <a:prstGeom prst="ellipse">
            <a:avLst/>
          </a:prstGeom>
          <a:solidFill>
            <a:srgbClr val="14B8A6"/>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44" name="Google Shape;344;p15"/>
          <p:cNvSpPr/>
          <p:nvPr/>
        </p:nvSpPr>
        <p:spPr>
          <a:xfrm>
            <a:off x="6171200" y="1789525"/>
            <a:ext cx="353600" cy="218400"/>
          </a:xfrm>
          <a:custGeom>
            <a:avLst/>
            <a:gdLst/>
            <a:ahLst/>
            <a:cxnLst/>
            <a:rect l="l" t="t" r="r" b="b"/>
            <a:pathLst>
              <a:path w="353600" h="218400" extrusionOk="0">
                <a:moveTo>
                  <a:pt x="52000" y="0"/>
                </a:moveTo>
                <a:lnTo>
                  <a:pt x="301600" y="0"/>
                </a:lnTo>
                <a:lnTo>
                  <a:pt x="353600" y="218400"/>
                </a:lnTo>
                <a:lnTo>
                  <a:pt x="0" y="218400"/>
                </a:lnTo>
                <a:close/>
              </a:path>
            </a:pathLst>
          </a:custGeom>
          <a:solidFill>
            <a:srgbClr val="14B8A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5" name="Google Shape;345;p15"/>
          <p:cNvSpPr/>
          <p:nvPr/>
        </p:nvSpPr>
        <p:spPr>
          <a:xfrm>
            <a:off x="700050" y="2186175"/>
            <a:ext cx="80001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i="1" u="none" strike="noStrike" cap="none">
                <a:solidFill>
                  <a:srgbClr val="E5E7EB"/>
                </a:solidFill>
                <a:latin typeface="DM Sans Light"/>
                <a:ea typeface="DM Sans Light"/>
                <a:cs typeface="DM Sans Light"/>
                <a:sym typeface="DM Sans Light"/>
              </a:rPr>
              <a:t>Where judgment lives.</a:t>
            </a:r>
            <a:endParaRPr sz="2000">
              <a:latin typeface="DM Sans Light"/>
              <a:ea typeface="DM Sans Light"/>
              <a:cs typeface="DM Sans Light"/>
              <a:sym typeface="DM Sans Light"/>
            </a:endParaRPr>
          </a:p>
        </p:txBody>
      </p:sp>
      <p:sp>
        <p:nvSpPr>
          <p:cNvPr id="346" name="Google Shape;346;p15"/>
          <p:cNvSpPr/>
          <p:nvPr/>
        </p:nvSpPr>
        <p:spPr>
          <a:xfrm>
            <a:off x="700000" y="2684525"/>
            <a:ext cx="2128200" cy="445200"/>
          </a:xfrm>
          <a:prstGeom prst="roundRect">
            <a:avLst>
              <a:gd name="adj" fmla="val 16667"/>
            </a:avLst>
          </a:prstGeom>
          <a:noFill/>
          <a:ln w="19625" cap="rnd" cmpd="sng">
            <a:solidFill>
              <a:srgbClr val="14B8A6"/>
            </a:solidFill>
            <a:prstDash val="solid"/>
            <a:round/>
            <a:headEnd type="none" w="sm" len="sm"/>
            <a:tailEnd type="none" w="sm" len="sm"/>
          </a:ln>
        </p:spPr>
        <p:txBody>
          <a:bodyPr spcFirstLastPara="1" wrap="square" lIns="59850" tIns="59850" rIns="59850" bIns="5985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14B8A6"/>
                </a:solidFill>
                <a:latin typeface="Consolas"/>
                <a:ea typeface="Consolas"/>
                <a:cs typeface="Consolas"/>
                <a:sym typeface="Consolas"/>
              </a:rPr>
              <a:t>Domain models</a:t>
            </a:r>
            <a:endParaRPr sz="1800"/>
          </a:p>
        </p:txBody>
      </p:sp>
      <p:sp>
        <p:nvSpPr>
          <p:cNvPr id="347" name="Google Shape;347;p15"/>
          <p:cNvSpPr/>
          <p:nvPr/>
        </p:nvSpPr>
        <p:spPr>
          <a:xfrm>
            <a:off x="3037761" y="2684525"/>
            <a:ext cx="1990800" cy="445200"/>
          </a:xfrm>
          <a:prstGeom prst="roundRect">
            <a:avLst>
              <a:gd name="adj" fmla="val 16667"/>
            </a:avLst>
          </a:prstGeom>
          <a:noFill/>
          <a:ln w="19625" cap="rnd" cmpd="sng">
            <a:solidFill>
              <a:srgbClr val="14B8A6"/>
            </a:solidFill>
            <a:prstDash val="solid"/>
            <a:round/>
            <a:headEnd type="none" w="sm" len="sm"/>
            <a:tailEnd type="none" w="sm" len="sm"/>
          </a:ln>
        </p:spPr>
        <p:txBody>
          <a:bodyPr spcFirstLastPara="1" wrap="square" lIns="59850" tIns="59850" rIns="59850" bIns="5985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14B8A6"/>
                </a:solidFill>
                <a:latin typeface="Consolas"/>
                <a:ea typeface="Consolas"/>
                <a:cs typeface="Consolas"/>
                <a:sym typeface="Consolas"/>
              </a:rPr>
              <a:t>UX with data</a:t>
            </a:r>
            <a:endParaRPr sz="1800"/>
          </a:p>
        </p:txBody>
      </p:sp>
      <p:sp>
        <p:nvSpPr>
          <p:cNvPr id="348" name="Google Shape;348;p15"/>
          <p:cNvSpPr/>
          <p:nvPr/>
        </p:nvSpPr>
        <p:spPr>
          <a:xfrm>
            <a:off x="5238006" y="2684525"/>
            <a:ext cx="2403300" cy="445200"/>
          </a:xfrm>
          <a:prstGeom prst="roundRect">
            <a:avLst>
              <a:gd name="adj" fmla="val 16667"/>
            </a:avLst>
          </a:prstGeom>
          <a:noFill/>
          <a:ln w="19625" cap="rnd" cmpd="sng">
            <a:solidFill>
              <a:srgbClr val="14B8A6"/>
            </a:solidFill>
            <a:prstDash val="solid"/>
            <a:round/>
            <a:headEnd type="none" w="sm" len="sm"/>
            <a:tailEnd type="none" w="sm" len="sm"/>
          </a:ln>
        </p:spPr>
        <p:txBody>
          <a:bodyPr spcFirstLastPara="1" wrap="square" lIns="59850" tIns="59850" rIns="59850" bIns="5985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14B8A6"/>
                </a:solidFill>
                <a:latin typeface="Consolas"/>
                <a:ea typeface="Consolas"/>
                <a:cs typeface="Consolas"/>
                <a:sym typeface="Consolas"/>
              </a:rPr>
              <a:t>Accuracy review</a:t>
            </a:r>
            <a:endParaRPr sz="1800"/>
          </a:p>
        </p:txBody>
      </p:sp>
      <p:sp>
        <p:nvSpPr>
          <p:cNvPr id="349" name="Google Shape;349;p15"/>
          <p:cNvSpPr/>
          <p:nvPr/>
        </p:nvSpPr>
        <p:spPr>
          <a:xfrm>
            <a:off x="7850797" y="2684525"/>
            <a:ext cx="1716000" cy="445200"/>
          </a:xfrm>
          <a:prstGeom prst="roundRect">
            <a:avLst>
              <a:gd name="adj" fmla="val 16667"/>
            </a:avLst>
          </a:prstGeom>
          <a:noFill/>
          <a:ln w="19625" cap="rnd" cmpd="sng">
            <a:solidFill>
              <a:srgbClr val="14B8A6"/>
            </a:solidFill>
            <a:prstDash val="solid"/>
            <a:round/>
            <a:headEnd type="none" w="sm" len="sm"/>
            <a:tailEnd type="none" w="sm" len="sm"/>
          </a:ln>
        </p:spPr>
        <p:txBody>
          <a:bodyPr spcFirstLastPara="1" wrap="square" lIns="59850" tIns="59850" rIns="59850" bIns="5985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14B8A6"/>
                </a:solidFill>
                <a:latin typeface="Consolas"/>
                <a:ea typeface="Consolas"/>
                <a:cs typeface="Consolas"/>
                <a:sym typeface="Consolas"/>
              </a:rPr>
              <a:t>SQL review</a:t>
            </a:r>
            <a:endParaRPr sz="1800"/>
          </a:p>
        </p:txBody>
      </p:sp>
      <p:sp>
        <p:nvSpPr>
          <p:cNvPr id="350" name="Google Shape;350;p15"/>
          <p:cNvSpPr/>
          <p:nvPr/>
        </p:nvSpPr>
        <p:spPr>
          <a:xfrm>
            <a:off x="9776012" y="2684525"/>
            <a:ext cx="1716000" cy="445200"/>
          </a:xfrm>
          <a:prstGeom prst="roundRect">
            <a:avLst>
              <a:gd name="adj" fmla="val 16667"/>
            </a:avLst>
          </a:prstGeom>
          <a:noFill/>
          <a:ln w="19625" cap="rnd" cmpd="sng">
            <a:solidFill>
              <a:srgbClr val="14B8A6"/>
            </a:solidFill>
            <a:prstDash val="solid"/>
            <a:round/>
            <a:headEnd type="none" w="sm" len="sm"/>
            <a:tailEnd type="none" w="sm" len="sm"/>
          </a:ln>
        </p:spPr>
        <p:txBody>
          <a:bodyPr spcFirstLastPara="1" wrap="square" lIns="59850" tIns="59850" rIns="59850" bIns="5985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14B8A6"/>
                </a:solidFill>
                <a:latin typeface="Consolas"/>
                <a:ea typeface="Consolas"/>
                <a:cs typeface="Consolas"/>
                <a:sym typeface="Consolas"/>
              </a:rPr>
              <a:t>Compliance</a:t>
            </a:r>
            <a:endParaRPr sz="1800"/>
          </a:p>
        </p:txBody>
      </p:sp>
      <p:cxnSp>
        <p:nvCxnSpPr>
          <p:cNvPr id="351" name="Google Shape;351;p15"/>
          <p:cNvCxnSpPr/>
          <p:nvPr/>
        </p:nvCxnSpPr>
        <p:spPr>
          <a:xfrm>
            <a:off x="700050" y="3718363"/>
            <a:ext cx="10791900" cy="0"/>
          </a:xfrm>
          <a:prstGeom prst="straightConnector1">
            <a:avLst/>
          </a:prstGeom>
          <a:noFill/>
          <a:ln w="28000" cap="rnd" cmpd="sng">
            <a:solidFill>
              <a:srgbClr val="F59E0B"/>
            </a:solidFill>
            <a:prstDash val="solid"/>
            <a:round/>
            <a:headEnd type="none" w="sm" len="sm"/>
            <a:tailEnd type="none" w="sm" len="sm"/>
          </a:ln>
        </p:spPr>
      </p:cxnSp>
      <p:sp>
        <p:nvSpPr>
          <p:cNvPr id="352" name="Google Shape;352;p15"/>
          <p:cNvSpPr/>
          <p:nvPr/>
        </p:nvSpPr>
        <p:spPr>
          <a:xfrm>
            <a:off x="5395950" y="3475562"/>
            <a:ext cx="1400100" cy="489600"/>
          </a:xfrm>
          <a:prstGeom prst="roundRect">
            <a:avLst>
              <a:gd name="adj" fmla="val 16667"/>
            </a:avLst>
          </a:prstGeom>
          <a:solidFill>
            <a:srgbClr val="F59E0B"/>
          </a:solidFill>
          <a:ln>
            <a:noFill/>
          </a:ln>
        </p:spPr>
        <p:txBody>
          <a:bodyPr spcFirstLastPara="1" wrap="square" lIns="45700" tIns="45700" rIns="45700" bIns="45700" anchor="ctr" anchorCtr="0">
            <a:noAutofit/>
          </a:bodyPr>
          <a:lstStyle/>
          <a:p>
            <a:pPr marL="0" marR="0" lvl="0" indent="0" algn="ctr" rtl="0">
              <a:lnSpc>
                <a:spcPct val="85000"/>
              </a:lnSpc>
              <a:spcBef>
                <a:spcPts val="0"/>
              </a:spcBef>
              <a:spcAft>
                <a:spcPts val="0"/>
              </a:spcAft>
              <a:buNone/>
            </a:pPr>
            <a:r>
              <a:rPr lang="en-US" sz="2800" b="1" i="0" u="none" strike="noStrike" cap="none">
                <a:solidFill>
                  <a:srgbClr val="1F2328"/>
                </a:solidFill>
                <a:latin typeface="Consolas"/>
                <a:ea typeface="Consolas"/>
                <a:cs typeface="Consolas"/>
                <a:sym typeface="Consolas"/>
              </a:rPr>
              <a:t>SQL</a:t>
            </a:r>
            <a:endParaRPr/>
          </a:p>
        </p:txBody>
      </p:sp>
      <p:sp>
        <p:nvSpPr>
          <p:cNvPr id="353" name="Google Shape;353;p15"/>
          <p:cNvSpPr/>
          <p:nvPr/>
        </p:nvSpPr>
        <p:spPr>
          <a:xfrm>
            <a:off x="700050" y="3880723"/>
            <a:ext cx="10791900" cy="228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b="1" i="0" u="none" strike="noStrike" cap="none">
                <a:solidFill>
                  <a:srgbClr val="14B8A6"/>
                </a:solidFill>
                <a:latin typeface="Consolas"/>
                <a:ea typeface="Consolas"/>
                <a:cs typeface="Consolas"/>
                <a:sym typeface="Consolas"/>
              </a:rPr>
              <a:t>↓  BELOW THE LINE</a:t>
            </a:r>
            <a:endParaRPr>
              <a:latin typeface="Consolas"/>
              <a:ea typeface="Consolas"/>
              <a:cs typeface="Consolas"/>
              <a:sym typeface="Consolas"/>
            </a:endParaRPr>
          </a:p>
        </p:txBody>
      </p:sp>
      <p:sp>
        <p:nvSpPr>
          <p:cNvPr id="354" name="Google Shape;354;p15"/>
          <p:cNvSpPr/>
          <p:nvPr/>
        </p:nvSpPr>
        <p:spPr>
          <a:xfrm>
            <a:off x="5028550" y="4160725"/>
            <a:ext cx="6444900" cy="950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6200" b="1" i="0" u="none" strike="noStrike" cap="none">
                <a:solidFill>
                  <a:srgbClr val="F5F5F2"/>
                </a:solidFill>
                <a:latin typeface="Fraunces"/>
                <a:ea typeface="Fraunces"/>
                <a:cs typeface="Fraunces"/>
                <a:sym typeface="Fraunces"/>
              </a:rPr>
              <a:t>AI</a:t>
            </a:r>
            <a:endParaRPr/>
          </a:p>
        </p:txBody>
      </p:sp>
      <p:sp>
        <p:nvSpPr>
          <p:cNvPr id="355" name="Google Shape;355;p15"/>
          <p:cNvSpPr/>
          <p:nvPr/>
        </p:nvSpPr>
        <p:spPr>
          <a:xfrm>
            <a:off x="10238800" y="4557338"/>
            <a:ext cx="115200" cy="134400"/>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56" name="Google Shape;356;p15"/>
          <p:cNvSpPr/>
          <p:nvPr/>
        </p:nvSpPr>
        <p:spPr>
          <a:xfrm rot="2700000">
            <a:off x="10140325" y="4794982"/>
            <a:ext cx="115400" cy="134492"/>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57" name="Google Shape;357;p15"/>
          <p:cNvSpPr/>
          <p:nvPr/>
        </p:nvSpPr>
        <p:spPr>
          <a:xfrm rot="5400000">
            <a:off x="9902800" y="4893338"/>
            <a:ext cx="115200" cy="134400"/>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58" name="Google Shape;358;p15"/>
          <p:cNvSpPr/>
          <p:nvPr/>
        </p:nvSpPr>
        <p:spPr>
          <a:xfrm rot="8100000">
            <a:off x="9665009" y="4794917"/>
            <a:ext cx="115400" cy="134492"/>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59" name="Google Shape;359;p15"/>
          <p:cNvSpPr/>
          <p:nvPr/>
        </p:nvSpPr>
        <p:spPr>
          <a:xfrm rot="10800000">
            <a:off x="9566800" y="4557338"/>
            <a:ext cx="115200" cy="134400"/>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60" name="Google Shape;360;p15"/>
          <p:cNvSpPr/>
          <p:nvPr/>
        </p:nvSpPr>
        <p:spPr>
          <a:xfrm rot="-8100000">
            <a:off x="9665074" y="4319601"/>
            <a:ext cx="115400" cy="134492"/>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61" name="Google Shape;361;p15"/>
          <p:cNvSpPr/>
          <p:nvPr/>
        </p:nvSpPr>
        <p:spPr>
          <a:xfrm rot="-5400000">
            <a:off x="9902800" y="4221338"/>
            <a:ext cx="115200" cy="134400"/>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62" name="Google Shape;362;p15"/>
          <p:cNvSpPr/>
          <p:nvPr/>
        </p:nvSpPr>
        <p:spPr>
          <a:xfrm rot="-2700000">
            <a:off x="10140390" y="4319665"/>
            <a:ext cx="115400" cy="134492"/>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63" name="Google Shape;363;p15"/>
          <p:cNvSpPr/>
          <p:nvPr/>
        </p:nvSpPr>
        <p:spPr>
          <a:xfrm>
            <a:off x="9640400" y="4304538"/>
            <a:ext cx="639900" cy="639900"/>
          </a:xfrm>
          <a:prstGeom prst="ellipse">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64" name="Google Shape;364;p15"/>
          <p:cNvSpPr/>
          <p:nvPr/>
        </p:nvSpPr>
        <p:spPr>
          <a:xfrm>
            <a:off x="9858000" y="4522138"/>
            <a:ext cx="204900" cy="204900"/>
          </a:xfrm>
          <a:prstGeom prst="ellipse">
            <a:avLst/>
          </a:prstGeom>
          <a:solidFill>
            <a:srgbClr val="1F2328"/>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365" name="Google Shape;365;p15"/>
          <p:cNvSpPr/>
          <p:nvPr/>
        </p:nvSpPr>
        <p:spPr>
          <a:xfrm>
            <a:off x="700050" y="5083125"/>
            <a:ext cx="10773300" cy="320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2000" i="1" u="none" strike="noStrike" cap="none">
                <a:solidFill>
                  <a:srgbClr val="E5E7EB"/>
                </a:solidFill>
                <a:latin typeface="DM Sans Light"/>
                <a:ea typeface="DM Sans Light"/>
                <a:cs typeface="DM Sans Light"/>
                <a:sym typeface="DM Sans Light"/>
              </a:rPr>
              <a:t>The mechanical work, automated.</a:t>
            </a:r>
            <a:endParaRPr sz="2000">
              <a:latin typeface="DM Sans Light"/>
              <a:ea typeface="DM Sans Light"/>
              <a:cs typeface="DM Sans Light"/>
              <a:sym typeface="DM Sans Light"/>
            </a:endParaRPr>
          </a:p>
        </p:txBody>
      </p:sp>
      <p:sp>
        <p:nvSpPr>
          <p:cNvPr id="366" name="Google Shape;366;p15"/>
          <p:cNvSpPr/>
          <p:nvPr/>
        </p:nvSpPr>
        <p:spPr>
          <a:xfrm>
            <a:off x="700050" y="5530713"/>
            <a:ext cx="1413000" cy="400200"/>
          </a:xfrm>
          <a:prstGeom prst="roundRect">
            <a:avLst>
              <a:gd name="adj" fmla="val 16667"/>
            </a:avLst>
          </a:prstGeom>
          <a:noFill/>
          <a:ln w="17650" cap="rnd" cmpd="sng">
            <a:solidFill>
              <a:srgbClr val="F59E0B"/>
            </a:solidFill>
            <a:prstDash val="solid"/>
            <a:round/>
            <a:headEnd type="none" w="sm" len="sm"/>
            <a:tailEnd type="none" w="sm" len="sm"/>
          </a:ln>
        </p:spPr>
        <p:txBody>
          <a:bodyPr spcFirstLastPara="1" wrap="square" lIns="53800" tIns="53800" rIns="53800" bIns="538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59E0B"/>
                </a:solidFill>
                <a:latin typeface="Consolas"/>
                <a:ea typeface="Consolas"/>
                <a:cs typeface="Consolas"/>
                <a:sym typeface="Consolas"/>
              </a:rPr>
              <a:t>Pipelines</a:t>
            </a:r>
            <a:endParaRPr sz="1800">
              <a:latin typeface="Consolas"/>
              <a:ea typeface="Consolas"/>
              <a:cs typeface="Consolas"/>
              <a:sym typeface="Consolas"/>
            </a:endParaRPr>
          </a:p>
        </p:txBody>
      </p:sp>
      <p:sp>
        <p:nvSpPr>
          <p:cNvPr id="367" name="Google Shape;367;p15"/>
          <p:cNvSpPr/>
          <p:nvPr/>
        </p:nvSpPr>
        <p:spPr>
          <a:xfrm>
            <a:off x="2289547" y="5530713"/>
            <a:ext cx="1413000" cy="400200"/>
          </a:xfrm>
          <a:prstGeom prst="roundRect">
            <a:avLst>
              <a:gd name="adj" fmla="val 16667"/>
            </a:avLst>
          </a:prstGeom>
          <a:noFill/>
          <a:ln w="17650" cap="rnd" cmpd="sng">
            <a:solidFill>
              <a:srgbClr val="F59E0B"/>
            </a:solidFill>
            <a:prstDash val="solid"/>
            <a:round/>
            <a:headEnd type="none" w="sm" len="sm"/>
            <a:tailEnd type="none" w="sm" len="sm"/>
          </a:ln>
        </p:spPr>
        <p:txBody>
          <a:bodyPr spcFirstLastPara="1" wrap="square" lIns="53800" tIns="53800" rIns="53800" bIns="538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59E0B"/>
                </a:solidFill>
                <a:latin typeface="Consolas"/>
                <a:ea typeface="Consolas"/>
                <a:cs typeface="Consolas"/>
                <a:sym typeface="Consolas"/>
              </a:rPr>
              <a:t>APIs</a:t>
            </a:r>
            <a:endParaRPr sz="1800">
              <a:latin typeface="Consolas"/>
              <a:ea typeface="Consolas"/>
              <a:cs typeface="Consolas"/>
              <a:sym typeface="Consolas"/>
            </a:endParaRPr>
          </a:p>
        </p:txBody>
      </p:sp>
      <p:sp>
        <p:nvSpPr>
          <p:cNvPr id="368" name="Google Shape;368;p15"/>
          <p:cNvSpPr/>
          <p:nvPr/>
        </p:nvSpPr>
        <p:spPr>
          <a:xfrm>
            <a:off x="3879044" y="5530713"/>
            <a:ext cx="2013300" cy="400200"/>
          </a:xfrm>
          <a:prstGeom prst="roundRect">
            <a:avLst>
              <a:gd name="adj" fmla="val 16667"/>
            </a:avLst>
          </a:prstGeom>
          <a:noFill/>
          <a:ln w="17650" cap="rnd" cmpd="sng">
            <a:solidFill>
              <a:srgbClr val="F59E0B"/>
            </a:solidFill>
            <a:prstDash val="solid"/>
            <a:round/>
            <a:headEnd type="none" w="sm" len="sm"/>
            <a:tailEnd type="none" w="sm" len="sm"/>
          </a:ln>
        </p:spPr>
        <p:txBody>
          <a:bodyPr spcFirstLastPara="1" wrap="square" lIns="53800" tIns="53800" rIns="53800" bIns="538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59E0B"/>
                </a:solidFill>
                <a:latin typeface="Consolas"/>
                <a:ea typeface="Consolas"/>
                <a:cs typeface="Consolas"/>
                <a:sym typeface="Consolas"/>
              </a:rPr>
              <a:t>Feedback loops</a:t>
            </a:r>
            <a:endParaRPr sz="1800">
              <a:latin typeface="Consolas"/>
              <a:ea typeface="Consolas"/>
              <a:cs typeface="Consolas"/>
              <a:sym typeface="Consolas"/>
            </a:endParaRPr>
          </a:p>
        </p:txBody>
      </p:sp>
      <p:sp>
        <p:nvSpPr>
          <p:cNvPr id="369" name="Google Shape;369;p15"/>
          <p:cNvSpPr/>
          <p:nvPr/>
        </p:nvSpPr>
        <p:spPr>
          <a:xfrm>
            <a:off x="6069017" y="5530713"/>
            <a:ext cx="2013300" cy="400200"/>
          </a:xfrm>
          <a:prstGeom prst="roundRect">
            <a:avLst>
              <a:gd name="adj" fmla="val 16667"/>
            </a:avLst>
          </a:prstGeom>
          <a:noFill/>
          <a:ln w="17650" cap="rnd" cmpd="sng">
            <a:solidFill>
              <a:srgbClr val="F59E0B"/>
            </a:solidFill>
            <a:prstDash val="solid"/>
            <a:round/>
            <a:headEnd type="none" w="sm" len="sm"/>
            <a:tailEnd type="none" w="sm" len="sm"/>
          </a:ln>
        </p:spPr>
        <p:txBody>
          <a:bodyPr spcFirstLastPara="1" wrap="square" lIns="53800" tIns="53800" rIns="53800" bIns="538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59E0B"/>
                </a:solidFill>
                <a:latin typeface="Consolas"/>
                <a:ea typeface="Consolas"/>
                <a:cs typeface="Consolas"/>
                <a:sym typeface="Consolas"/>
              </a:rPr>
              <a:t>Infrastructure</a:t>
            </a:r>
            <a:endParaRPr sz="1800">
              <a:latin typeface="Consolas"/>
              <a:ea typeface="Consolas"/>
              <a:cs typeface="Consolas"/>
              <a:sym typeface="Consolas"/>
            </a:endParaRPr>
          </a:p>
        </p:txBody>
      </p:sp>
      <p:sp>
        <p:nvSpPr>
          <p:cNvPr id="370" name="Google Shape;370;p15"/>
          <p:cNvSpPr/>
          <p:nvPr/>
        </p:nvSpPr>
        <p:spPr>
          <a:xfrm>
            <a:off x="8258991" y="5530713"/>
            <a:ext cx="1518900" cy="400200"/>
          </a:xfrm>
          <a:prstGeom prst="roundRect">
            <a:avLst>
              <a:gd name="adj" fmla="val 16667"/>
            </a:avLst>
          </a:prstGeom>
          <a:noFill/>
          <a:ln w="17650" cap="rnd" cmpd="sng">
            <a:solidFill>
              <a:srgbClr val="F59E0B"/>
            </a:solidFill>
            <a:prstDash val="solid"/>
            <a:round/>
            <a:headEnd type="none" w="sm" len="sm"/>
            <a:tailEnd type="none" w="sm" len="sm"/>
          </a:ln>
        </p:spPr>
        <p:txBody>
          <a:bodyPr spcFirstLastPara="1" wrap="square" lIns="53800" tIns="53800" rIns="53800" bIns="538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59E0B"/>
                </a:solidFill>
                <a:latin typeface="Consolas"/>
                <a:ea typeface="Consolas"/>
                <a:cs typeface="Consolas"/>
                <a:sym typeface="Consolas"/>
              </a:rPr>
              <a:t>Deployment</a:t>
            </a:r>
            <a:endParaRPr sz="1800">
              <a:latin typeface="Consolas"/>
              <a:ea typeface="Consolas"/>
              <a:cs typeface="Consolas"/>
              <a:sym typeface="Consolas"/>
            </a:endParaRPr>
          </a:p>
        </p:txBody>
      </p:sp>
      <p:sp>
        <p:nvSpPr>
          <p:cNvPr id="371" name="Google Shape;371;p15"/>
          <p:cNvSpPr/>
          <p:nvPr/>
        </p:nvSpPr>
        <p:spPr>
          <a:xfrm>
            <a:off x="9954454" y="5530713"/>
            <a:ext cx="1518900" cy="400200"/>
          </a:xfrm>
          <a:prstGeom prst="roundRect">
            <a:avLst>
              <a:gd name="adj" fmla="val 16667"/>
            </a:avLst>
          </a:prstGeom>
          <a:noFill/>
          <a:ln w="17650" cap="rnd" cmpd="sng">
            <a:solidFill>
              <a:srgbClr val="F59E0B"/>
            </a:solidFill>
            <a:prstDash val="solid"/>
            <a:round/>
            <a:headEnd type="none" w="sm" len="sm"/>
            <a:tailEnd type="none" w="sm" len="sm"/>
          </a:ln>
        </p:spPr>
        <p:txBody>
          <a:bodyPr spcFirstLastPara="1" wrap="square" lIns="53800" tIns="53800" rIns="53800" bIns="53800"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F59E0B"/>
                </a:solidFill>
                <a:latin typeface="Consolas"/>
                <a:ea typeface="Consolas"/>
                <a:cs typeface="Consolas"/>
                <a:sym typeface="Consolas"/>
              </a:rPr>
              <a:t>Monitoring</a:t>
            </a:r>
            <a:endParaRPr sz="1800">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376"/>
        <p:cNvGrpSpPr/>
        <p:nvPr/>
      </p:nvGrpSpPr>
      <p:grpSpPr>
        <a:xfrm>
          <a:off x="0" y="0"/>
          <a:ext cx="0" cy="0"/>
          <a:chOff x="0" y="0"/>
          <a:chExt cx="0" cy="0"/>
        </a:xfrm>
      </p:grpSpPr>
      <p:sp>
        <p:nvSpPr>
          <p:cNvPr id="377" name="Google Shape;377;p16"/>
          <p:cNvSpPr/>
          <p:nvPr/>
        </p:nvSpPr>
        <p:spPr>
          <a:xfrm>
            <a:off x="457200" y="960120"/>
            <a:ext cx="1124712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i="0" u="none" strike="noStrike" cap="none">
                <a:solidFill>
                  <a:srgbClr val="F5F5F2"/>
                </a:solidFill>
                <a:latin typeface="Fraunces"/>
                <a:ea typeface="Fraunces"/>
                <a:cs typeface="Fraunces"/>
                <a:sym typeface="Fraunces"/>
              </a:rPr>
              <a:t>What your teams get back</a:t>
            </a:r>
            <a:endParaRPr sz="4400" b="0" i="0" u="none" strike="noStrike" cap="none">
              <a:solidFill>
                <a:srgbClr val="F5F5F2"/>
              </a:solidFill>
              <a:latin typeface="Calibri"/>
              <a:ea typeface="Calibri"/>
              <a:cs typeface="Calibri"/>
              <a:sym typeface="Calibri"/>
            </a:endParaRPr>
          </a:p>
        </p:txBody>
      </p:sp>
      <p:sp>
        <p:nvSpPr>
          <p:cNvPr id="378" name="Google Shape;378;p16"/>
          <p:cNvSpPr/>
          <p:nvPr/>
        </p:nvSpPr>
        <p:spPr>
          <a:xfrm>
            <a:off x="457200" y="27432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GROUP BY</a:t>
            </a:r>
            <a:endParaRPr sz="3000" b="0" i="0" u="none" strike="noStrike" cap="none">
              <a:solidFill>
                <a:srgbClr val="14B8A6"/>
              </a:solidFill>
              <a:latin typeface="Calibri"/>
              <a:ea typeface="Calibri"/>
              <a:cs typeface="Calibri"/>
              <a:sym typeface="Calibri"/>
            </a:endParaRPr>
          </a:p>
        </p:txBody>
      </p:sp>
      <p:sp>
        <p:nvSpPr>
          <p:cNvPr id="379" name="Google Shape;379;p16"/>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380" name="Google Shape;380;p16"/>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381" name="Google Shape;381;p16"/>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sp>
        <p:nvSpPr>
          <p:cNvPr id="382" name="Google Shape;382;p16"/>
          <p:cNvSpPr/>
          <p:nvPr/>
        </p:nvSpPr>
        <p:spPr>
          <a:xfrm>
            <a:off x="600000" y="2148850"/>
            <a:ext cx="2100000" cy="90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400" i="0" u="none" strike="noStrike" cap="none">
                <a:solidFill>
                  <a:srgbClr val="14B8A6"/>
                </a:solidFill>
                <a:latin typeface="DM Sans Light"/>
                <a:ea typeface="DM Sans Light"/>
                <a:cs typeface="DM Sans Light"/>
                <a:sym typeface="DM Sans Light"/>
              </a:rPr>
              <a:t>DATA ENGINEERS</a:t>
            </a:r>
            <a:endParaRPr sz="2400">
              <a:latin typeface="DM Sans Light"/>
              <a:ea typeface="DM Sans Light"/>
              <a:cs typeface="DM Sans Light"/>
              <a:sym typeface="DM Sans Light"/>
            </a:endParaRPr>
          </a:p>
        </p:txBody>
      </p:sp>
      <p:sp>
        <p:nvSpPr>
          <p:cNvPr id="383" name="Google Shape;383;p16"/>
          <p:cNvSpPr/>
          <p:nvPr/>
        </p:nvSpPr>
        <p:spPr>
          <a:xfrm>
            <a:off x="2850000" y="2180000"/>
            <a:ext cx="2499900" cy="900000"/>
          </a:xfrm>
          <a:prstGeom prst="roundRect">
            <a:avLst>
              <a:gd name="adj" fmla="val 16667"/>
            </a:avLst>
          </a:prstGeom>
          <a:noFill/>
          <a:ln w="15000" cap="rnd" cmpd="sng">
            <a:solidFill>
              <a:srgbClr val="F59E0B"/>
            </a:solidFill>
            <a:prstDash val="dash"/>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400" b="1" i="1" u="none" strike="noStrike" cap="none">
                <a:solidFill>
                  <a:srgbClr val="F59E0B"/>
                </a:solidFill>
                <a:latin typeface="Fraunces"/>
                <a:ea typeface="Fraunces"/>
                <a:cs typeface="Fraunces"/>
                <a:sym typeface="Fraunces"/>
              </a:rPr>
              <a:t>plumbers</a:t>
            </a:r>
            <a:endParaRPr/>
          </a:p>
        </p:txBody>
      </p:sp>
      <p:cxnSp>
        <p:nvCxnSpPr>
          <p:cNvPr id="384" name="Google Shape;384;p16"/>
          <p:cNvCxnSpPr/>
          <p:nvPr/>
        </p:nvCxnSpPr>
        <p:spPr>
          <a:xfrm>
            <a:off x="5500000" y="2630000"/>
            <a:ext cx="849900" cy="0"/>
          </a:xfrm>
          <a:prstGeom prst="straightConnector1">
            <a:avLst/>
          </a:prstGeom>
          <a:noFill/>
          <a:ln w="36000" cap="rnd" cmpd="sng">
            <a:solidFill>
              <a:srgbClr val="F5F5F2"/>
            </a:solidFill>
            <a:prstDash val="solid"/>
            <a:round/>
            <a:headEnd type="none" w="sm" len="sm"/>
            <a:tailEnd type="triangle" w="lg" len="lg"/>
          </a:ln>
        </p:spPr>
      </p:cxnSp>
      <p:sp>
        <p:nvSpPr>
          <p:cNvPr id="385" name="Google Shape;385;p16"/>
          <p:cNvSpPr/>
          <p:nvPr/>
        </p:nvSpPr>
        <p:spPr>
          <a:xfrm>
            <a:off x="6550000" y="2180000"/>
            <a:ext cx="3025200" cy="900000"/>
          </a:xfrm>
          <a:prstGeom prst="roundRect">
            <a:avLst>
              <a:gd name="adj" fmla="val 16667"/>
            </a:avLst>
          </a:prstGeom>
          <a:solidFill>
            <a:srgbClr val="14B8A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600" b="1" i="0" u="none" strike="noStrike" cap="none">
                <a:solidFill>
                  <a:srgbClr val="1F2328"/>
                </a:solidFill>
                <a:latin typeface="Fraunces"/>
                <a:ea typeface="Fraunces"/>
                <a:cs typeface="Fraunces"/>
                <a:sym typeface="Fraunces"/>
              </a:rPr>
              <a:t>engineers</a:t>
            </a:r>
            <a:endParaRPr/>
          </a:p>
        </p:txBody>
      </p:sp>
      <p:sp>
        <p:nvSpPr>
          <p:cNvPr id="386" name="Google Shape;386;p16"/>
          <p:cNvSpPr/>
          <p:nvPr/>
        </p:nvSpPr>
        <p:spPr>
          <a:xfrm>
            <a:off x="9775300" y="2330000"/>
            <a:ext cx="2074800" cy="60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i="1" u="none" strike="noStrike" cap="none">
                <a:solidFill>
                  <a:srgbClr val="E5E7EB"/>
                </a:solidFill>
                <a:latin typeface="DM Sans Light"/>
                <a:ea typeface="DM Sans Light"/>
                <a:cs typeface="DM Sans Light"/>
                <a:sym typeface="DM Sans Light"/>
              </a:rPr>
              <a:t>Translating business to data.</a:t>
            </a:r>
            <a:endParaRPr sz="2000">
              <a:latin typeface="DM Sans Light"/>
              <a:ea typeface="DM Sans Light"/>
              <a:cs typeface="DM Sans Light"/>
              <a:sym typeface="DM Sans Light"/>
            </a:endParaRPr>
          </a:p>
        </p:txBody>
      </p:sp>
      <p:sp>
        <p:nvSpPr>
          <p:cNvPr id="387" name="Google Shape;387;p16"/>
          <p:cNvSpPr/>
          <p:nvPr/>
        </p:nvSpPr>
        <p:spPr>
          <a:xfrm>
            <a:off x="600000" y="3890000"/>
            <a:ext cx="21000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400" i="0" u="none" strike="noStrike" cap="none">
                <a:solidFill>
                  <a:srgbClr val="14B8A6"/>
                </a:solidFill>
                <a:latin typeface="DM Sans Light"/>
                <a:ea typeface="DM Sans Light"/>
                <a:cs typeface="DM Sans Light"/>
                <a:sym typeface="DM Sans Light"/>
              </a:rPr>
              <a:t>DEVOPS</a:t>
            </a:r>
            <a:endParaRPr sz="2400">
              <a:latin typeface="DM Sans Light"/>
              <a:ea typeface="DM Sans Light"/>
              <a:cs typeface="DM Sans Light"/>
              <a:sym typeface="DM Sans Light"/>
            </a:endParaRPr>
          </a:p>
        </p:txBody>
      </p:sp>
      <p:sp>
        <p:nvSpPr>
          <p:cNvPr id="388" name="Google Shape;388;p16"/>
          <p:cNvSpPr/>
          <p:nvPr/>
        </p:nvSpPr>
        <p:spPr>
          <a:xfrm>
            <a:off x="2850000" y="3600000"/>
            <a:ext cx="2499900" cy="900000"/>
          </a:xfrm>
          <a:prstGeom prst="roundRect">
            <a:avLst>
              <a:gd name="adj" fmla="val 16667"/>
            </a:avLst>
          </a:prstGeom>
          <a:noFill/>
          <a:ln w="15000" cap="rnd" cmpd="sng">
            <a:solidFill>
              <a:srgbClr val="F59E0B"/>
            </a:solidFill>
            <a:prstDash val="dash"/>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400" b="1" i="1" u="none" strike="noStrike" cap="none">
                <a:solidFill>
                  <a:srgbClr val="F59E0B"/>
                </a:solidFill>
                <a:latin typeface="Fraunces"/>
                <a:ea typeface="Fraunces"/>
                <a:cs typeface="Fraunces"/>
                <a:sym typeface="Fraunces"/>
              </a:rPr>
              <a:t>hand-holding</a:t>
            </a:r>
            <a:endParaRPr/>
          </a:p>
        </p:txBody>
      </p:sp>
      <p:cxnSp>
        <p:nvCxnSpPr>
          <p:cNvPr id="389" name="Google Shape;389;p16"/>
          <p:cNvCxnSpPr/>
          <p:nvPr/>
        </p:nvCxnSpPr>
        <p:spPr>
          <a:xfrm>
            <a:off x="5500000" y="4050000"/>
            <a:ext cx="849900" cy="0"/>
          </a:xfrm>
          <a:prstGeom prst="straightConnector1">
            <a:avLst/>
          </a:prstGeom>
          <a:noFill/>
          <a:ln w="36000" cap="rnd" cmpd="sng">
            <a:solidFill>
              <a:srgbClr val="F5F5F2"/>
            </a:solidFill>
            <a:prstDash val="solid"/>
            <a:round/>
            <a:headEnd type="none" w="sm" len="sm"/>
            <a:tailEnd type="triangle" w="lg" len="lg"/>
          </a:ln>
        </p:spPr>
      </p:cxnSp>
      <p:sp>
        <p:nvSpPr>
          <p:cNvPr id="390" name="Google Shape;390;p16"/>
          <p:cNvSpPr/>
          <p:nvPr/>
        </p:nvSpPr>
        <p:spPr>
          <a:xfrm>
            <a:off x="6550000" y="3600000"/>
            <a:ext cx="3025200" cy="900000"/>
          </a:xfrm>
          <a:prstGeom prst="roundRect">
            <a:avLst>
              <a:gd name="adj" fmla="val 16667"/>
            </a:avLst>
          </a:prstGeom>
          <a:solidFill>
            <a:srgbClr val="14B8A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600" b="1" i="0" u="none" strike="noStrike" cap="none">
                <a:solidFill>
                  <a:srgbClr val="1F2328"/>
                </a:solidFill>
                <a:latin typeface="Fraunces"/>
                <a:ea typeface="Fraunces"/>
                <a:cs typeface="Fraunces"/>
                <a:sym typeface="Fraunces"/>
              </a:rPr>
              <a:t>standardization</a:t>
            </a:r>
            <a:endParaRPr/>
          </a:p>
        </p:txBody>
      </p:sp>
      <p:sp>
        <p:nvSpPr>
          <p:cNvPr id="391" name="Google Shape;391;p16"/>
          <p:cNvSpPr/>
          <p:nvPr/>
        </p:nvSpPr>
        <p:spPr>
          <a:xfrm>
            <a:off x="9775300" y="3750000"/>
            <a:ext cx="2074800" cy="60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i="1" u="none" strike="noStrike" cap="none">
                <a:solidFill>
                  <a:srgbClr val="E5E7EB"/>
                </a:solidFill>
                <a:latin typeface="DM Sans Light"/>
                <a:ea typeface="DM Sans Light"/>
                <a:cs typeface="DM Sans Light"/>
                <a:sym typeface="DM Sans Light"/>
              </a:rPr>
              <a:t>Platform for R&amp;D, not cleanup.</a:t>
            </a:r>
            <a:endParaRPr sz="2000">
              <a:latin typeface="DM Sans Light"/>
              <a:ea typeface="DM Sans Light"/>
              <a:cs typeface="DM Sans Light"/>
              <a:sym typeface="DM Sans Light"/>
            </a:endParaRPr>
          </a:p>
        </p:txBody>
      </p:sp>
      <p:sp>
        <p:nvSpPr>
          <p:cNvPr id="392" name="Google Shape;392;p16"/>
          <p:cNvSpPr/>
          <p:nvPr/>
        </p:nvSpPr>
        <p:spPr>
          <a:xfrm>
            <a:off x="600000" y="5030100"/>
            <a:ext cx="2100000" cy="88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400" i="0" u="none" strike="noStrike" cap="none">
                <a:solidFill>
                  <a:srgbClr val="14B8A6"/>
                </a:solidFill>
                <a:latin typeface="DM Sans Light"/>
                <a:ea typeface="DM Sans Light"/>
                <a:cs typeface="DM Sans Light"/>
                <a:sym typeface="DM Sans Light"/>
              </a:rPr>
              <a:t>THE RELATIONSHIP</a:t>
            </a:r>
            <a:endParaRPr sz="2400">
              <a:latin typeface="DM Sans Light"/>
              <a:ea typeface="DM Sans Light"/>
              <a:cs typeface="DM Sans Light"/>
              <a:sym typeface="DM Sans Light"/>
            </a:endParaRPr>
          </a:p>
        </p:txBody>
      </p:sp>
      <p:sp>
        <p:nvSpPr>
          <p:cNvPr id="393" name="Google Shape;393;p16"/>
          <p:cNvSpPr/>
          <p:nvPr/>
        </p:nvSpPr>
        <p:spPr>
          <a:xfrm>
            <a:off x="2850000" y="5020000"/>
            <a:ext cx="2499900" cy="900000"/>
          </a:xfrm>
          <a:prstGeom prst="roundRect">
            <a:avLst>
              <a:gd name="adj" fmla="val 16667"/>
            </a:avLst>
          </a:prstGeom>
          <a:noFill/>
          <a:ln w="15000" cap="rnd" cmpd="sng">
            <a:solidFill>
              <a:srgbClr val="F59E0B"/>
            </a:solidFill>
            <a:prstDash val="dash"/>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400" b="1" i="1" u="none" strike="noStrike" cap="none">
                <a:solidFill>
                  <a:srgbClr val="F59E0B"/>
                </a:solidFill>
                <a:latin typeface="Fraunces"/>
                <a:ea typeface="Fraunces"/>
                <a:cs typeface="Fraunces"/>
                <a:sym typeface="Fraunces"/>
              </a:rPr>
              <a:t>friction</a:t>
            </a:r>
            <a:endParaRPr/>
          </a:p>
        </p:txBody>
      </p:sp>
      <p:cxnSp>
        <p:nvCxnSpPr>
          <p:cNvPr id="394" name="Google Shape;394;p16"/>
          <p:cNvCxnSpPr/>
          <p:nvPr/>
        </p:nvCxnSpPr>
        <p:spPr>
          <a:xfrm>
            <a:off x="5500000" y="5470000"/>
            <a:ext cx="849900" cy="0"/>
          </a:xfrm>
          <a:prstGeom prst="straightConnector1">
            <a:avLst/>
          </a:prstGeom>
          <a:noFill/>
          <a:ln w="36000" cap="rnd" cmpd="sng">
            <a:solidFill>
              <a:srgbClr val="F5F5F2"/>
            </a:solidFill>
            <a:prstDash val="solid"/>
            <a:round/>
            <a:headEnd type="none" w="sm" len="sm"/>
            <a:tailEnd type="triangle" w="lg" len="lg"/>
          </a:ln>
        </p:spPr>
      </p:cxnSp>
      <p:sp>
        <p:nvSpPr>
          <p:cNvPr id="395" name="Google Shape;395;p16"/>
          <p:cNvSpPr/>
          <p:nvPr/>
        </p:nvSpPr>
        <p:spPr>
          <a:xfrm>
            <a:off x="6550000" y="5020000"/>
            <a:ext cx="3025200" cy="900000"/>
          </a:xfrm>
          <a:prstGeom prst="roundRect">
            <a:avLst>
              <a:gd name="adj" fmla="val 16667"/>
            </a:avLst>
          </a:prstGeom>
          <a:solidFill>
            <a:srgbClr val="14B8A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600" b="1" i="0" u="none" strike="noStrike" cap="none">
                <a:solidFill>
                  <a:srgbClr val="1F2328"/>
                </a:solidFill>
                <a:latin typeface="Fraunces"/>
                <a:ea typeface="Fraunces"/>
                <a:cs typeface="Fraunces"/>
                <a:sym typeface="Fraunces"/>
              </a:rPr>
              <a:t>trust</a:t>
            </a:r>
            <a:endParaRPr/>
          </a:p>
        </p:txBody>
      </p:sp>
      <p:sp>
        <p:nvSpPr>
          <p:cNvPr id="396" name="Google Shape;396;p16"/>
          <p:cNvSpPr/>
          <p:nvPr/>
        </p:nvSpPr>
        <p:spPr>
          <a:xfrm>
            <a:off x="9775300" y="5170000"/>
            <a:ext cx="2074800" cy="60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i="1" u="none" strike="noStrike" cap="none">
                <a:solidFill>
                  <a:srgbClr val="E5E7EB"/>
                </a:solidFill>
                <a:latin typeface="DM Sans Light"/>
                <a:ea typeface="DM Sans Light"/>
                <a:cs typeface="DM Sans Light"/>
                <a:sym typeface="DM Sans Light"/>
              </a:rPr>
              <a:t>Time to </a:t>
            </a:r>
            <a:endParaRPr sz="2000" i="1" u="none" strike="noStrike" cap="none">
              <a:solidFill>
                <a:srgbClr val="E5E7EB"/>
              </a:solidFill>
              <a:latin typeface="DM Sans Light"/>
              <a:ea typeface="DM Sans Light"/>
              <a:cs typeface="DM Sans Light"/>
              <a:sym typeface="DM Sans Light"/>
            </a:endParaRPr>
          </a:p>
          <a:p>
            <a:pPr marL="0" marR="0" lvl="0" indent="0" algn="l" rtl="0">
              <a:lnSpc>
                <a:spcPct val="100000"/>
              </a:lnSpc>
              <a:spcBef>
                <a:spcPts val="0"/>
              </a:spcBef>
              <a:spcAft>
                <a:spcPts val="0"/>
              </a:spcAft>
              <a:buNone/>
            </a:pPr>
            <a:r>
              <a:rPr lang="en-US" sz="2000" i="1" u="none" strike="noStrike" cap="none">
                <a:solidFill>
                  <a:srgbClr val="E5E7EB"/>
                </a:solidFill>
                <a:latin typeface="DM Sans Light"/>
                <a:ea typeface="DM Sans Light"/>
                <a:cs typeface="DM Sans Light"/>
                <a:sym typeface="DM Sans Light"/>
              </a:rPr>
              <a:t>actually talk.</a:t>
            </a:r>
            <a:endParaRPr sz="2000">
              <a:latin typeface="DM Sans Light"/>
              <a:ea typeface="DM Sans Light"/>
              <a:cs typeface="DM Sans Light"/>
              <a:sym typeface="DM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401"/>
        <p:cNvGrpSpPr/>
        <p:nvPr/>
      </p:nvGrpSpPr>
      <p:grpSpPr>
        <a:xfrm>
          <a:off x="0" y="0"/>
          <a:ext cx="0" cy="0"/>
          <a:chOff x="0" y="0"/>
          <a:chExt cx="0" cy="0"/>
        </a:xfrm>
      </p:grpSpPr>
      <p:grpSp>
        <p:nvGrpSpPr>
          <p:cNvPr id="402" name="Google Shape;402;p17"/>
          <p:cNvGrpSpPr/>
          <p:nvPr/>
        </p:nvGrpSpPr>
        <p:grpSpPr>
          <a:xfrm>
            <a:off x="2602427" y="3628073"/>
            <a:ext cx="2471938" cy="2471938"/>
            <a:chOff x="4303290" y="2158374"/>
            <a:chExt cx="1854000" cy="1854000"/>
          </a:xfrm>
        </p:grpSpPr>
        <p:sp>
          <p:nvSpPr>
            <p:cNvPr id="403" name="Google Shape;403;p17"/>
            <p:cNvSpPr/>
            <p:nvPr/>
          </p:nvSpPr>
          <p:spPr>
            <a:xfrm>
              <a:off x="4303290" y="2158374"/>
              <a:ext cx="1854000" cy="1854000"/>
            </a:xfrm>
            <a:prstGeom prst="ellipse">
              <a:avLst/>
            </a:prstGeom>
            <a:solidFill>
              <a:srgbClr val="085630">
                <a:alpha val="64250"/>
              </a:srgbClr>
            </a:solidFill>
            <a:ln w="38100" cap="flat" cmpd="sng">
              <a:solidFill>
                <a:srgbClr val="14B8A6"/>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04" name="Google Shape;404;p17"/>
            <p:cNvSpPr txBox="1"/>
            <p:nvPr/>
          </p:nvSpPr>
          <p:spPr>
            <a:xfrm>
              <a:off x="5010351" y="2824675"/>
              <a:ext cx="1075200" cy="5214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2000" b="1">
                  <a:solidFill>
                    <a:srgbClr val="FFFFFF"/>
                  </a:solidFill>
                  <a:latin typeface="Fraunces"/>
                  <a:ea typeface="Fraunces"/>
                  <a:cs typeface="Fraunces"/>
                  <a:sym typeface="Fraunces"/>
                </a:rPr>
                <a:t>DevOps</a:t>
              </a:r>
              <a:endParaRPr sz="2000" b="1">
                <a:solidFill>
                  <a:srgbClr val="FFFFFF"/>
                </a:solidFill>
                <a:latin typeface="Fraunces"/>
                <a:ea typeface="Fraunces"/>
                <a:cs typeface="Fraunces"/>
                <a:sym typeface="Fraunces"/>
              </a:endParaRPr>
            </a:p>
          </p:txBody>
        </p:sp>
      </p:grpSp>
      <p:grpSp>
        <p:nvGrpSpPr>
          <p:cNvPr id="405" name="Google Shape;405;p17"/>
          <p:cNvGrpSpPr/>
          <p:nvPr/>
        </p:nvGrpSpPr>
        <p:grpSpPr>
          <a:xfrm>
            <a:off x="847034" y="3628073"/>
            <a:ext cx="2471938" cy="2471938"/>
            <a:chOff x="2986712" y="2158374"/>
            <a:chExt cx="1854000" cy="1854000"/>
          </a:xfrm>
        </p:grpSpPr>
        <p:sp>
          <p:nvSpPr>
            <p:cNvPr id="406" name="Google Shape;406;p17"/>
            <p:cNvSpPr/>
            <p:nvPr/>
          </p:nvSpPr>
          <p:spPr>
            <a:xfrm>
              <a:off x="2986712" y="2158374"/>
              <a:ext cx="1854000" cy="1854000"/>
            </a:xfrm>
            <a:prstGeom prst="ellipse">
              <a:avLst/>
            </a:prstGeom>
            <a:solidFill>
              <a:srgbClr val="085630">
                <a:alpha val="64250"/>
              </a:srgbClr>
            </a:solidFill>
            <a:ln w="38100" cap="flat" cmpd="sng">
              <a:solidFill>
                <a:srgbClr val="14B8A6"/>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07" name="Google Shape;407;p17"/>
            <p:cNvSpPr txBox="1"/>
            <p:nvPr/>
          </p:nvSpPr>
          <p:spPr>
            <a:xfrm>
              <a:off x="3150064" y="2824674"/>
              <a:ext cx="1527300" cy="521400"/>
            </a:xfrm>
            <a:prstGeom prst="rect">
              <a:avLst/>
            </a:prstGeom>
            <a:noFill/>
            <a:ln>
              <a:noFill/>
            </a:ln>
          </p:spPr>
          <p:txBody>
            <a:bodyPr spcFirstLastPara="1" wrap="square" lIns="121900" tIns="121900" rIns="121900" bIns="121900" anchor="ctr" anchorCtr="0">
              <a:noAutofit/>
            </a:bodyPr>
            <a:lstStyle/>
            <a:p>
              <a:pPr marL="0" lvl="0" indent="0" algn="l" rtl="0">
                <a:lnSpc>
                  <a:spcPct val="115000"/>
                </a:lnSpc>
                <a:spcBef>
                  <a:spcPts val="0"/>
                </a:spcBef>
                <a:spcAft>
                  <a:spcPts val="0"/>
                </a:spcAft>
                <a:buNone/>
              </a:pPr>
              <a:r>
                <a:rPr lang="en-US" sz="2000" b="1">
                  <a:solidFill>
                    <a:srgbClr val="FFFFFF"/>
                  </a:solidFill>
                  <a:latin typeface="Fraunces"/>
                  <a:ea typeface="Fraunces"/>
                  <a:cs typeface="Fraunces"/>
                  <a:sym typeface="Fraunces"/>
                </a:rPr>
                <a:t>Data Engineers</a:t>
              </a:r>
              <a:endParaRPr sz="2000" b="1">
                <a:solidFill>
                  <a:srgbClr val="FFFFFF"/>
                </a:solidFill>
                <a:latin typeface="Fraunces"/>
                <a:ea typeface="Fraunces"/>
                <a:cs typeface="Fraunces"/>
                <a:sym typeface="Fraunces"/>
              </a:endParaRPr>
            </a:p>
          </p:txBody>
        </p:sp>
      </p:grpSp>
      <p:grpSp>
        <p:nvGrpSpPr>
          <p:cNvPr id="408" name="Google Shape;408;p17"/>
          <p:cNvGrpSpPr/>
          <p:nvPr/>
        </p:nvGrpSpPr>
        <p:grpSpPr>
          <a:xfrm>
            <a:off x="1740520" y="2258460"/>
            <a:ext cx="2471938" cy="2471938"/>
            <a:chOff x="3656844" y="1131139"/>
            <a:chExt cx="1854000" cy="1854000"/>
          </a:xfrm>
        </p:grpSpPr>
        <p:sp>
          <p:nvSpPr>
            <p:cNvPr id="409" name="Google Shape;409;p17"/>
            <p:cNvSpPr/>
            <p:nvPr/>
          </p:nvSpPr>
          <p:spPr>
            <a:xfrm>
              <a:off x="3656844" y="1131139"/>
              <a:ext cx="1854000" cy="1854000"/>
            </a:xfrm>
            <a:prstGeom prst="ellipse">
              <a:avLst/>
            </a:prstGeom>
            <a:solidFill>
              <a:srgbClr val="085630">
                <a:alpha val="64250"/>
              </a:srgbClr>
            </a:solidFill>
            <a:ln w="38100" cap="flat" cmpd="sng">
              <a:solidFill>
                <a:srgbClr val="14B8A6"/>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10" name="Google Shape;410;p17"/>
            <p:cNvSpPr txBox="1"/>
            <p:nvPr/>
          </p:nvSpPr>
          <p:spPr>
            <a:xfrm>
              <a:off x="3938537" y="1382865"/>
              <a:ext cx="1290600" cy="5214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000" b="1">
                  <a:solidFill>
                    <a:srgbClr val="F5F5F2"/>
                  </a:solidFill>
                  <a:latin typeface="Fraunces"/>
                  <a:ea typeface="Fraunces"/>
                  <a:cs typeface="Fraunces"/>
                  <a:sym typeface="Fraunces"/>
                </a:rPr>
                <a:t>Domain Experts</a:t>
              </a:r>
              <a:endParaRPr sz="1500">
                <a:solidFill>
                  <a:srgbClr val="F5F5F2"/>
                </a:solidFill>
                <a:latin typeface="Roboto"/>
                <a:ea typeface="Roboto"/>
                <a:cs typeface="Roboto"/>
                <a:sym typeface="Roboto"/>
              </a:endParaRPr>
            </a:p>
          </p:txBody>
        </p:sp>
      </p:grpSp>
      <p:sp>
        <p:nvSpPr>
          <p:cNvPr id="411" name="Google Shape;411;p17"/>
          <p:cNvSpPr/>
          <p:nvPr/>
        </p:nvSpPr>
        <p:spPr>
          <a:xfrm>
            <a:off x="2535933" y="4126167"/>
            <a:ext cx="881100" cy="480300"/>
          </a:xfrm>
          <a:prstGeom prst="roundRect">
            <a:avLst>
              <a:gd name="adj" fmla="val 16667"/>
            </a:avLst>
          </a:prstGeom>
          <a:solidFill>
            <a:srgbClr val="F5F5F2">
              <a:alpha val="63800"/>
            </a:srgbClr>
          </a:solidFill>
          <a:ln w="381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Google Shape;412;p17"/>
          <p:cNvSpPr txBox="1"/>
          <p:nvPr/>
        </p:nvSpPr>
        <p:spPr>
          <a:xfrm>
            <a:off x="2188225" y="4050639"/>
            <a:ext cx="15765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000" b="1">
                <a:solidFill>
                  <a:schemeClr val="dk1"/>
                </a:solidFill>
                <a:latin typeface="Fraunces"/>
                <a:ea typeface="Fraunces"/>
                <a:cs typeface="Fraunces"/>
                <a:sym typeface="Fraunces"/>
              </a:rPr>
              <a:t>SQL</a:t>
            </a:r>
            <a:endParaRPr sz="3000">
              <a:solidFill>
                <a:schemeClr val="dk1"/>
              </a:solidFill>
            </a:endParaRPr>
          </a:p>
        </p:txBody>
      </p:sp>
      <p:sp>
        <p:nvSpPr>
          <p:cNvPr id="413" name="Google Shape;413;p17"/>
          <p:cNvSpPr/>
          <p:nvPr/>
        </p:nvSpPr>
        <p:spPr>
          <a:xfrm rot="10800000" flipH="1">
            <a:off x="457200" y="1604875"/>
            <a:ext cx="11247000" cy="681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7"/>
          <p:cNvSpPr/>
          <p:nvPr/>
        </p:nvSpPr>
        <p:spPr>
          <a:xfrm>
            <a:off x="457200" y="960120"/>
            <a:ext cx="1124712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i="0" u="none" strike="noStrike" cap="none">
                <a:solidFill>
                  <a:srgbClr val="1F2328"/>
                </a:solidFill>
                <a:latin typeface="Fraunces"/>
                <a:ea typeface="Fraunces"/>
                <a:cs typeface="Fraunces"/>
                <a:sym typeface="Fraunces"/>
              </a:rPr>
              <a:t>Why SQL is the right layer</a:t>
            </a:r>
            <a:endParaRPr sz="4400" b="0" i="0" u="none" strike="noStrike" cap="none">
              <a:solidFill>
                <a:schemeClr val="dk1"/>
              </a:solidFill>
              <a:latin typeface="Calibri"/>
              <a:ea typeface="Calibri"/>
              <a:cs typeface="Calibri"/>
              <a:sym typeface="Calibri"/>
            </a:endParaRPr>
          </a:p>
        </p:txBody>
      </p:sp>
      <p:sp>
        <p:nvSpPr>
          <p:cNvPr id="415" name="Google Shape;415;p17"/>
          <p:cNvSpPr/>
          <p:nvPr/>
        </p:nvSpPr>
        <p:spPr>
          <a:xfrm>
            <a:off x="457200" y="27432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FULL OUTER JOIN</a:t>
            </a:r>
            <a:endParaRPr sz="3000" b="0" i="0" u="none" strike="noStrike" cap="none">
              <a:solidFill>
                <a:srgbClr val="14B8A6"/>
              </a:solidFill>
              <a:latin typeface="Calibri"/>
              <a:ea typeface="Calibri"/>
              <a:cs typeface="Calibri"/>
              <a:sym typeface="Calibri"/>
            </a:endParaRPr>
          </a:p>
        </p:txBody>
      </p:sp>
      <p:sp>
        <p:nvSpPr>
          <p:cNvPr id="416" name="Google Shape;416;p17"/>
          <p:cNvSpPr/>
          <p:nvPr/>
        </p:nvSpPr>
        <p:spPr>
          <a:xfrm>
            <a:off x="452625" y="1744040"/>
            <a:ext cx="112470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1800"/>
              <a:buFont typeface="DM Sans"/>
              <a:buNone/>
            </a:pPr>
            <a:r>
              <a:rPr lang="en-US" sz="1800" b="0" i="1" u="none" strike="noStrike" cap="none">
                <a:solidFill>
                  <a:srgbClr val="1F2328"/>
                </a:solidFill>
                <a:latin typeface="DM Sans"/>
                <a:ea typeface="DM Sans"/>
                <a:cs typeface="DM Sans"/>
                <a:sym typeface="DM Sans"/>
              </a:rPr>
              <a:t>Three groups have to agree. SQL is the one language all three can read.</a:t>
            </a:r>
            <a:endParaRPr sz="1800" b="0" i="0" u="none" strike="noStrike" cap="none">
              <a:solidFill>
                <a:schemeClr val="dk1"/>
              </a:solidFill>
              <a:latin typeface="Calibri"/>
              <a:ea typeface="Calibri"/>
              <a:cs typeface="Calibri"/>
              <a:sym typeface="Calibri"/>
            </a:endParaRPr>
          </a:p>
        </p:txBody>
      </p:sp>
      <p:sp>
        <p:nvSpPr>
          <p:cNvPr id="417" name="Google Shape;417;p17"/>
          <p:cNvSpPr/>
          <p:nvPr/>
        </p:nvSpPr>
        <p:spPr>
          <a:xfrm>
            <a:off x="6897750" y="2531625"/>
            <a:ext cx="113100" cy="1051500"/>
          </a:xfrm>
          <a:prstGeom prst="rect">
            <a:avLst/>
          </a:prstGeom>
          <a:solidFill>
            <a:srgbClr val="085630"/>
          </a:solidFill>
          <a:ln w="381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7"/>
          <p:cNvSpPr/>
          <p:nvPr/>
        </p:nvSpPr>
        <p:spPr>
          <a:xfrm>
            <a:off x="7166375" y="2531630"/>
            <a:ext cx="4114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2000"/>
              <a:buFont typeface="Fraunces"/>
              <a:buNone/>
            </a:pPr>
            <a:r>
              <a:rPr lang="en-US" sz="2000" b="1" i="0" u="none" strike="noStrike" cap="none">
                <a:solidFill>
                  <a:srgbClr val="1F2328"/>
                </a:solidFill>
                <a:latin typeface="Fraunces"/>
                <a:ea typeface="Fraunces"/>
                <a:cs typeface="Fraunces"/>
                <a:sym typeface="Fraunces"/>
              </a:rPr>
              <a:t>Domain experts</a:t>
            </a:r>
            <a:endParaRPr sz="2000" b="0" i="0" u="none" strike="noStrike" cap="none">
              <a:solidFill>
                <a:srgbClr val="000000"/>
              </a:solidFill>
              <a:latin typeface="Calibri"/>
              <a:ea typeface="Calibri"/>
              <a:cs typeface="Calibri"/>
              <a:sym typeface="Calibri"/>
            </a:endParaRPr>
          </a:p>
        </p:txBody>
      </p:sp>
      <p:sp>
        <p:nvSpPr>
          <p:cNvPr id="419" name="Google Shape;419;p17"/>
          <p:cNvSpPr/>
          <p:nvPr/>
        </p:nvSpPr>
        <p:spPr>
          <a:xfrm>
            <a:off x="7166375" y="2847860"/>
            <a:ext cx="41148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800"/>
              <a:buFont typeface="DM Sans"/>
              <a:buNone/>
            </a:pPr>
            <a:r>
              <a:rPr lang="en-US" sz="1800" b="0" i="0" u="none" strike="noStrike" cap="none">
                <a:solidFill>
                  <a:srgbClr val="6B7280"/>
                </a:solidFill>
                <a:latin typeface="DM Sans"/>
                <a:ea typeface="DM Sans"/>
                <a:cs typeface="DM Sans"/>
                <a:sym typeface="DM Sans"/>
              </a:rPr>
              <a:t>Verify the metric measures what the business thinks it measures.</a:t>
            </a:r>
            <a:endParaRPr sz="1800" b="0" i="0" u="none" strike="noStrike" cap="none">
              <a:solidFill>
                <a:srgbClr val="000000"/>
              </a:solidFill>
              <a:latin typeface="Calibri"/>
              <a:ea typeface="Calibri"/>
              <a:cs typeface="Calibri"/>
              <a:sym typeface="Calibri"/>
            </a:endParaRPr>
          </a:p>
        </p:txBody>
      </p:sp>
      <p:sp>
        <p:nvSpPr>
          <p:cNvPr id="420" name="Google Shape;420;p17"/>
          <p:cNvSpPr/>
          <p:nvPr/>
        </p:nvSpPr>
        <p:spPr>
          <a:xfrm>
            <a:off x="6897750" y="3766063"/>
            <a:ext cx="113100" cy="1051500"/>
          </a:xfrm>
          <a:prstGeom prst="rect">
            <a:avLst/>
          </a:prstGeom>
          <a:solidFill>
            <a:srgbClr val="085630"/>
          </a:solidFill>
          <a:ln w="381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7"/>
          <p:cNvSpPr/>
          <p:nvPr/>
        </p:nvSpPr>
        <p:spPr>
          <a:xfrm>
            <a:off x="7166375" y="3766070"/>
            <a:ext cx="4114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2000"/>
              <a:buFont typeface="Fraunces"/>
              <a:buNone/>
            </a:pPr>
            <a:r>
              <a:rPr lang="en-US" sz="2000" b="1" i="0" u="none" strike="noStrike" cap="none">
                <a:solidFill>
                  <a:srgbClr val="1F2328"/>
                </a:solidFill>
                <a:latin typeface="Fraunces"/>
                <a:ea typeface="Fraunces"/>
                <a:cs typeface="Fraunces"/>
                <a:sym typeface="Fraunces"/>
              </a:rPr>
              <a:t>Data engineers</a:t>
            </a:r>
            <a:endParaRPr sz="2000" b="0" i="0" u="none" strike="noStrike" cap="none">
              <a:solidFill>
                <a:srgbClr val="000000"/>
              </a:solidFill>
              <a:latin typeface="Calibri"/>
              <a:ea typeface="Calibri"/>
              <a:cs typeface="Calibri"/>
              <a:sym typeface="Calibri"/>
            </a:endParaRPr>
          </a:p>
        </p:txBody>
      </p:sp>
      <p:sp>
        <p:nvSpPr>
          <p:cNvPr id="422" name="Google Shape;422;p17"/>
          <p:cNvSpPr/>
          <p:nvPr/>
        </p:nvSpPr>
        <p:spPr>
          <a:xfrm>
            <a:off x="7166375" y="4129925"/>
            <a:ext cx="41148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800"/>
              <a:buFont typeface="DM Sans"/>
              <a:buNone/>
            </a:pPr>
            <a:r>
              <a:rPr lang="en-US" sz="1800" b="0" i="0" u="none" strike="noStrike" cap="none">
                <a:solidFill>
                  <a:srgbClr val="6B7280"/>
                </a:solidFill>
                <a:latin typeface="DM Sans"/>
                <a:ea typeface="DM Sans"/>
                <a:cs typeface="DM Sans"/>
                <a:sym typeface="DM Sans"/>
              </a:rPr>
              <a:t>Verify joins and aggregations are correct, models are accurate.</a:t>
            </a:r>
            <a:endParaRPr sz="1800" b="0" i="0" u="none" strike="noStrike" cap="none">
              <a:solidFill>
                <a:srgbClr val="000000"/>
              </a:solidFill>
              <a:latin typeface="Calibri"/>
              <a:ea typeface="Calibri"/>
              <a:cs typeface="Calibri"/>
              <a:sym typeface="Calibri"/>
            </a:endParaRPr>
          </a:p>
        </p:txBody>
      </p:sp>
      <p:sp>
        <p:nvSpPr>
          <p:cNvPr id="423" name="Google Shape;423;p17"/>
          <p:cNvSpPr/>
          <p:nvPr/>
        </p:nvSpPr>
        <p:spPr>
          <a:xfrm>
            <a:off x="6897750" y="5000501"/>
            <a:ext cx="113100" cy="1051500"/>
          </a:xfrm>
          <a:prstGeom prst="rect">
            <a:avLst/>
          </a:prstGeom>
          <a:solidFill>
            <a:srgbClr val="085630"/>
          </a:solidFill>
          <a:ln w="381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7"/>
          <p:cNvSpPr/>
          <p:nvPr/>
        </p:nvSpPr>
        <p:spPr>
          <a:xfrm>
            <a:off x="7166375" y="5000510"/>
            <a:ext cx="41148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2000"/>
              <a:buFont typeface="Fraunces"/>
              <a:buNone/>
            </a:pPr>
            <a:r>
              <a:rPr lang="en-US" sz="2000" b="1" i="0" u="none" strike="noStrike" cap="none">
                <a:solidFill>
                  <a:srgbClr val="1F2328"/>
                </a:solidFill>
                <a:latin typeface="Fraunces"/>
                <a:ea typeface="Fraunces"/>
                <a:cs typeface="Fraunces"/>
                <a:sym typeface="Fraunces"/>
              </a:rPr>
              <a:t>DevOps</a:t>
            </a:r>
            <a:endParaRPr sz="2000" b="0" i="0" u="none" strike="noStrike" cap="none">
              <a:solidFill>
                <a:srgbClr val="000000"/>
              </a:solidFill>
              <a:latin typeface="Calibri"/>
              <a:ea typeface="Calibri"/>
              <a:cs typeface="Calibri"/>
              <a:sym typeface="Calibri"/>
            </a:endParaRPr>
          </a:p>
        </p:txBody>
      </p:sp>
      <p:sp>
        <p:nvSpPr>
          <p:cNvPr id="425" name="Google Shape;425;p17"/>
          <p:cNvSpPr/>
          <p:nvPr/>
        </p:nvSpPr>
        <p:spPr>
          <a:xfrm>
            <a:off x="7166375" y="5373828"/>
            <a:ext cx="41148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7280"/>
              </a:buClr>
              <a:buSzPts val="1800"/>
              <a:buFont typeface="DM Sans"/>
              <a:buNone/>
            </a:pPr>
            <a:r>
              <a:rPr lang="en-US" sz="1800" b="0" i="0" u="none" strike="noStrike" cap="none">
                <a:solidFill>
                  <a:srgbClr val="6B7280"/>
                </a:solidFill>
                <a:latin typeface="DM Sans"/>
                <a:ea typeface="DM Sans"/>
                <a:cs typeface="DM Sans"/>
                <a:sym typeface="DM Sans"/>
              </a:rPr>
              <a:t>Verify it won't produce a runaway query that crashes prod at 2 AM.</a:t>
            </a:r>
            <a:endParaRPr sz="1800" b="0" i="0" u="none" strike="noStrike" cap="none">
              <a:solidFill>
                <a:srgbClr val="000000"/>
              </a:solidFill>
              <a:latin typeface="Calibri"/>
              <a:ea typeface="Calibri"/>
              <a:cs typeface="Calibri"/>
              <a:sym typeface="Calibri"/>
            </a:endParaRPr>
          </a:p>
        </p:txBody>
      </p:sp>
      <p:sp>
        <p:nvSpPr>
          <p:cNvPr id="426" name="Google Shape;426;p17"/>
          <p:cNvSpPr/>
          <p:nvPr/>
        </p:nvSpPr>
        <p:spPr>
          <a:xfrm>
            <a:off x="3271363" y="5158938"/>
            <a:ext cx="1740600" cy="41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B8A6"/>
              </a:buClr>
              <a:buSzPts val="2200"/>
              <a:buFont typeface="Consolas"/>
              <a:buNone/>
            </a:pPr>
            <a:r>
              <a:rPr lang="en-US" sz="1800" b="1">
                <a:solidFill>
                  <a:srgbClr val="F5F5F2"/>
                </a:solidFill>
                <a:latin typeface="Consolas"/>
                <a:ea typeface="Consolas"/>
                <a:cs typeface="Consolas"/>
                <a:sym typeface="Consolas"/>
              </a:rPr>
              <a:t>Stability</a:t>
            </a:r>
            <a:endParaRPr sz="1800" b="0" i="0" u="none" strike="noStrike" cap="none">
              <a:solidFill>
                <a:srgbClr val="F5F5F2"/>
              </a:solidFill>
              <a:latin typeface="Calibri"/>
              <a:ea typeface="Calibri"/>
              <a:cs typeface="Calibri"/>
              <a:sym typeface="Calibri"/>
            </a:endParaRPr>
          </a:p>
        </p:txBody>
      </p:sp>
      <p:sp>
        <p:nvSpPr>
          <p:cNvPr id="427" name="Google Shape;427;p17"/>
          <p:cNvSpPr/>
          <p:nvPr/>
        </p:nvSpPr>
        <p:spPr>
          <a:xfrm>
            <a:off x="1212700" y="5158950"/>
            <a:ext cx="17406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2200"/>
              <a:buFont typeface="Consolas"/>
              <a:buNone/>
            </a:pPr>
            <a:r>
              <a:rPr lang="en-US" sz="1800" b="1">
                <a:solidFill>
                  <a:srgbClr val="F5F5F2"/>
                </a:solidFill>
                <a:latin typeface="Consolas"/>
                <a:ea typeface="Consolas"/>
                <a:cs typeface="Consolas"/>
                <a:sym typeface="Consolas"/>
              </a:rPr>
              <a:t>Correctness</a:t>
            </a:r>
            <a:endParaRPr sz="1800" b="0" i="0" u="none" strike="noStrike" cap="none">
              <a:solidFill>
                <a:srgbClr val="F5F5F2"/>
              </a:solidFill>
              <a:latin typeface="Calibri"/>
              <a:ea typeface="Calibri"/>
              <a:cs typeface="Calibri"/>
              <a:sym typeface="Calibri"/>
            </a:endParaRPr>
          </a:p>
        </p:txBody>
      </p:sp>
      <p:sp>
        <p:nvSpPr>
          <p:cNvPr id="428" name="Google Shape;428;p17"/>
          <p:cNvSpPr/>
          <p:nvPr/>
        </p:nvSpPr>
        <p:spPr>
          <a:xfrm>
            <a:off x="2106188" y="3253525"/>
            <a:ext cx="1740600" cy="41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4B8A6"/>
              </a:buClr>
              <a:buSzPts val="2200"/>
              <a:buFont typeface="Consolas"/>
              <a:buNone/>
            </a:pPr>
            <a:r>
              <a:rPr lang="en-US" sz="1800" b="1">
                <a:solidFill>
                  <a:srgbClr val="F5F5F2"/>
                </a:solidFill>
                <a:latin typeface="Consolas"/>
                <a:ea typeface="Consolas"/>
                <a:cs typeface="Consolas"/>
                <a:sym typeface="Consolas"/>
              </a:rPr>
              <a:t>Meaning</a:t>
            </a:r>
            <a:endParaRPr sz="1800" b="0" i="0" u="none" strike="noStrike" cap="none">
              <a:solidFill>
                <a:srgbClr val="F5F5F2"/>
              </a:solidFill>
              <a:latin typeface="Calibri"/>
              <a:ea typeface="Calibri"/>
              <a:cs typeface="Calibri"/>
              <a:sym typeface="Calibri"/>
            </a:endParaRPr>
          </a:p>
        </p:txBody>
      </p:sp>
      <p:sp>
        <p:nvSpPr>
          <p:cNvPr id="429" name="Google Shape;429;p17"/>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F2328"/>
                </a:solidFill>
                <a:latin typeface="DM Sans"/>
                <a:ea typeface="DM Sans"/>
                <a:cs typeface="DM Sans"/>
                <a:sym typeface="DM Sans"/>
              </a:rPr>
              <a:t>‹#›</a:t>
            </a:r>
            <a:endParaRPr>
              <a:solidFill>
                <a:srgbClr val="1F2328"/>
              </a:solidFill>
            </a:endParaRPr>
          </a:p>
        </p:txBody>
      </p:sp>
      <p:cxnSp>
        <p:nvCxnSpPr>
          <p:cNvPr id="430" name="Google Shape;430;p17"/>
          <p:cNvCxnSpPr/>
          <p:nvPr/>
        </p:nvCxnSpPr>
        <p:spPr>
          <a:xfrm>
            <a:off x="572063" y="6617763"/>
            <a:ext cx="4984200" cy="0"/>
          </a:xfrm>
          <a:prstGeom prst="straightConnector1">
            <a:avLst/>
          </a:prstGeom>
          <a:noFill/>
          <a:ln w="38100" cap="rnd" cmpd="sng">
            <a:solidFill>
              <a:srgbClr val="1F2328"/>
            </a:solidFill>
            <a:prstDash val="solid"/>
            <a:round/>
            <a:headEnd type="none" w="lg" len="lg"/>
            <a:tailEnd type="none" w="sm" len="sm"/>
          </a:ln>
        </p:spPr>
      </p:cxnSp>
      <p:cxnSp>
        <p:nvCxnSpPr>
          <p:cNvPr id="431" name="Google Shape;431;p17"/>
          <p:cNvCxnSpPr/>
          <p:nvPr/>
        </p:nvCxnSpPr>
        <p:spPr>
          <a:xfrm>
            <a:off x="6520483" y="6617751"/>
            <a:ext cx="5178000" cy="0"/>
          </a:xfrm>
          <a:prstGeom prst="straightConnector1">
            <a:avLst/>
          </a:prstGeom>
          <a:noFill/>
          <a:ln w="38100" cap="rnd" cmpd="sng">
            <a:solidFill>
              <a:srgbClr val="1F2328"/>
            </a:solidFill>
            <a:prstDash val="solid"/>
            <a:round/>
            <a:headEnd type="none" w="sm" len="sm"/>
            <a:tailEnd type="none" w="lg" len="lg"/>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436"/>
        <p:cNvGrpSpPr/>
        <p:nvPr/>
      </p:nvGrpSpPr>
      <p:grpSpPr>
        <a:xfrm>
          <a:off x="0" y="0"/>
          <a:ext cx="0" cy="0"/>
          <a:chOff x="0" y="0"/>
          <a:chExt cx="0" cy="0"/>
        </a:xfrm>
      </p:grpSpPr>
      <p:sp>
        <p:nvSpPr>
          <p:cNvPr id="437" name="Google Shape;437;p18"/>
          <p:cNvSpPr/>
          <p:nvPr/>
        </p:nvSpPr>
        <p:spPr>
          <a:xfrm>
            <a:off x="457200" y="960124"/>
            <a:ext cx="1124700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i="0" u="none" strike="noStrike" cap="none">
                <a:solidFill>
                  <a:srgbClr val="14B8A6"/>
                </a:solidFill>
                <a:latin typeface="Fraunces"/>
                <a:ea typeface="Fraunces"/>
                <a:cs typeface="Fraunces"/>
                <a:sym typeface="Fraunces"/>
              </a:rPr>
              <a:t>Why this holds up across hype cycles</a:t>
            </a:r>
            <a:endParaRPr sz="4400" b="0" i="0" u="none" strike="noStrike" cap="none">
              <a:solidFill>
                <a:srgbClr val="14B8A6"/>
              </a:solidFill>
              <a:latin typeface="Calibri"/>
              <a:ea typeface="Calibri"/>
              <a:cs typeface="Calibri"/>
              <a:sym typeface="Calibri"/>
            </a:endParaRPr>
          </a:p>
        </p:txBody>
      </p:sp>
      <p:sp>
        <p:nvSpPr>
          <p:cNvPr id="438" name="Google Shape;438;p18"/>
          <p:cNvSpPr/>
          <p:nvPr/>
        </p:nvSpPr>
        <p:spPr>
          <a:xfrm>
            <a:off x="457200" y="27432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COMMIT</a:t>
            </a:r>
            <a:endParaRPr sz="3000" b="0" i="0" u="none" strike="noStrike" cap="none">
              <a:solidFill>
                <a:srgbClr val="14B8A6"/>
              </a:solidFill>
              <a:latin typeface="Calibri"/>
              <a:ea typeface="Calibri"/>
              <a:cs typeface="Calibri"/>
              <a:sym typeface="Calibri"/>
            </a:endParaRPr>
          </a:p>
        </p:txBody>
      </p:sp>
      <p:sp>
        <p:nvSpPr>
          <p:cNvPr id="439" name="Google Shape;439;p18"/>
          <p:cNvSpPr/>
          <p:nvPr/>
        </p:nvSpPr>
        <p:spPr>
          <a:xfrm>
            <a:off x="457200" y="1674465"/>
            <a:ext cx="11247000" cy="36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2328"/>
              </a:buClr>
              <a:buSzPts val="2000"/>
              <a:buFont typeface="Fraunces"/>
              <a:buNone/>
            </a:pPr>
            <a:r>
              <a:rPr lang="en-US" sz="2000" b="1" i="1">
                <a:solidFill>
                  <a:srgbClr val="F5F5F2"/>
                </a:solidFill>
                <a:latin typeface="Fraunces"/>
                <a:ea typeface="Fraunces"/>
                <a:cs typeface="Fraunces"/>
                <a:sym typeface="Fraunces"/>
              </a:rPr>
              <a:t>Six waves of database innovation.</a:t>
            </a:r>
            <a:r>
              <a:rPr lang="en-US" sz="2000" b="1" i="1">
                <a:solidFill>
                  <a:srgbClr val="1F2328"/>
                </a:solidFill>
                <a:latin typeface="Fraunces"/>
                <a:ea typeface="Fraunces"/>
                <a:cs typeface="Fraunces"/>
                <a:sym typeface="Fraunces"/>
              </a:rPr>
              <a:t> </a:t>
            </a:r>
            <a:r>
              <a:rPr lang="en-US" sz="2000" b="1" i="1">
                <a:solidFill>
                  <a:srgbClr val="F59E0B"/>
                </a:solidFill>
                <a:latin typeface="Fraunces"/>
                <a:ea typeface="Fraunces"/>
                <a:cs typeface="Fraunces"/>
                <a:sym typeface="Fraunces"/>
              </a:rPr>
              <a:t>Every single one pulled back to SQL.</a:t>
            </a:r>
            <a:endParaRPr sz="1800" i="1">
              <a:solidFill>
                <a:srgbClr val="F59E0B"/>
              </a:solidFill>
              <a:latin typeface="DM Sans"/>
              <a:ea typeface="DM Sans"/>
              <a:cs typeface="DM Sans"/>
              <a:sym typeface="DM Sans"/>
            </a:endParaRPr>
          </a:p>
        </p:txBody>
      </p:sp>
      <p:sp>
        <p:nvSpPr>
          <p:cNvPr id="440" name="Google Shape;440;p18"/>
          <p:cNvSpPr/>
          <p:nvPr/>
        </p:nvSpPr>
        <p:spPr>
          <a:xfrm>
            <a:off x="457075" y="3539819"/>
            <a:ext cx="11247000" cy="33900"/>
          </a:xfrm>
          <a:prstGeom prst="rect">
            <a:avLst/>
          </a:prstGeom>
          <a:solidFill>
            <a:srgbClr val="CBD5E1"/>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8"/>
          <p:cNvSpPr/>
          <p:nvPr/>
        </p:nvSpPr>
        <p:spPr>
          <a:xfrm>
            <a:off x="457075" y="2952524"/>
            <a:ext cx="1783200" cy="45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onsolas"/>
              <a:buNone/>
            </a:pPr>
            <a:r>
              <a:rPr lang="en-US" sz="2200" b="1" i="0" u="none" strike="noStrike" cap="none">
                <a:solidFill>
                  <a:srgbClr val="F5F5F2"/>
                </a:solidFill>
                <a:latin typeface="Consolas"/>
                <a:ea typeface="Consolas"/>
                <a:cs typeface="Consolas"/>
                <a:sym typeface="Consolas"/>
              </a:rPr>
              <a:t>1970</a:t>
            </a:r>
            <a:endParaRPr sz="2200" b="0" i="0" u="none" strike="noStrike" cap="none">
              <a:solidFill>
                <a:srgbClr val="F5F5F2"/>
              </a:solidFill>
              <a:latin typeface="Calibri"/>
              <a:ea typeface="Calibri"/>
              <a:cs typeface="Calibri"/>
              <a:sym typeface="Calibri"/>
            </a:endParaRPr>
          </a:p>
        </p:txBody>
      </p:sp>
      <p:sp>
        <p:nvSpPr>
          <p:cNvPr id="442" name="Google Shape;442;p18"/>
          <p:cNvSpPr/>
          <p:nvPr/>
        </p:nvSpPr>
        <p:spPr>
          <a:xfrm>
            <a:off x="457075" y="3790597"/>
            <a:ext cx="1783200" cy="57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9488"/>
              </a:buClr>
              <a:buSzPts val="1800"/>
              <a:buFont typeface="Fraunces"/>
              <a:buNone/>
            </a:pPr>
            <a:r>
              <a:rPr lang="en-US" sz="1800" b="1" i="0" u="none" strike="noStrike" cap="none">
                <a:solidFill>
                  <a:srgbClr val="14B8A6"/>
                </a:solidFill>
                <a:latin typeface="Fraunces"/>
                <a:ea typeface="Fraunces"/>
                <a:cs typeface="Fraunces"/>
                <a:sym typeface="Fraunces"/>
              </a:rPr>
              <a:t>Relational / SQL</a:t>
            </a:r>
            <a:endParaRPr sz="1800" b="0" i="0" u="none" strike="noStrike" cap="none">
              <a:solidFill>
                <a:srgbClr val="14B8A6"/>
              </a:solidFill>
              <a:latin typeface="Calibri"/>
              <a:ea typeface="Calibri"/>
              <a:cs typeface="Calibri"/>
              <a:sym typeface="Calibri"/>
            </a:endParaRPr>
          </a:p>
        </p:txBody>
      </p:sp>
      <p:sp>
        <p:nvSpPr>
          <p:cNvPr id="443" name="Google Shape;443;p18"/>
          <p:cNvSpPr/>
          <p:nvPr/>
        </p:nvSpPr>
        <p:spPr>
          <a:xfrm>
            <a:off x="457075" y="4394742"/>
            <a:ext cx="1783200" cy="13107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6B7280"/>
              </a:buClr>
              <a:buSzPts val="1800"/>
              <a:buFont typeface="DM Sans"/>
              <a:buNone/>
            </a:pPr>
            <a:r>
              <a:rPr lang="en-US" sz="1800" b="0" i="1" u="none" strike="noStrike" cap="none">
                <a:solidFill>
                  <a:srgbClr val="F5F5F2"/>
                </a:solidFill>
                <a:latin typeface="DM Sans"/>
                <a:ea typeface="DM Sans"/>
                <a:cs typeface="DM Sans"/>
                <a:sym typeface="DM Sans"/>
              </a:rPr>
              <a:t>The foundation.</a:t>
            </a:r>
            <a:endParaRPr sz="1800" b="0" i="0" u="none" strike="noStrike" cap="none">
              <a:solidFill>
                <a:srgbClr val="F5F5F2"/>
              </a:solidFill>
              <a:latin typeface="Calibri"/>
              <a:ea typeface="Calibri"/>
              <a:cs typeface="Calibri"/>
              <a:sym typeface="Calibri"/>
            </a:endParaRPr>
          </a:p>
        </p:txBody>
      </p:sp>
      <p:sp>
        <p:nvSpPr>
          <p:cNvPr id="444" name="Google Shape;444;p18"/>
          <p:cNvSpPr/>
          <p:nvPr/>
        </p:nvSpPr>
        <p:spPr>
          <a:xfrm>
            <a:off x="2349885" y="2952524"/>
            <a:ext cx="1783200" cy="45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onsolas"/>
              <a:buNone/>
            </a:pPr>
            <a:r>
              <a:rPr lang="en-US" sz="2200" b="1" i="0" u="none" strike="noStrike" cap="none">
                <a:solidFill>
                  <a:srgbClr val="F5F5F2"/>
                </a:solidFill>
                <a:latin typeface="Consolas"/>
                <a:ea typeface="Consolas"/>
                <a:cs typeface="Consolas"/>
                <a:sym typeface="Consolas"/>
              </a:rPr>
              <a:t>1985</a:t>
            </a:r>
            <a:endParaRPr sz="2200" b="0" i="0" u="none" strike="noStrike" cap="none">
              <a:solidFill>
                <a:srgbClr val="F5F5F2"/>
              </a:solidFill>
              <a:latin typeface="Calibri"/>
              <a:ea typeface="Calibri"/>
              <a:cs typeface="Calibri"/>
              <a:sym typeface="Calibri"/>
            </a:endParaRPr>
          </a:p>
        </p:txBody>
      </p:sp>
      <p:sp>
        <p:nvSpPr>
          <p:cNvPr id="445" name="Google Shape;445;p18"/>
          <p:cNvSpPr/>
          <p:nvPr/>
        </p:nvSpPr>
        <p:spPr>
          <a:xfrm>
            <a:off x="2295151" y="3793647"/>
            <a:ext cx="1892700" cy="57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328"/>
              </a:buClr>
              <a:buSzPts val="1800"/>
              <a:buFont typeface="Fraunces"/>
              <a:buNone/>
            </a:pPr>
            <a:r>
              <a:rPr lang="en-US" sz="1800" b="1" i="0" u="none" strike="noStrike" cap="none">
                <a:solidFill>
                  <a:srgbClr val="14B8A6"/>
                </a:solidFill>
                <a:latin typeface="Fraunces"/>
                <a:ea typeface="Fraunces"/>
                <a:cs typeface="Fraunces"/>
                <a:sym typeface="Fraunces"/>
              </a:rPr>
              <a:t>Object-Oriented</a:t>
            </a:r>
            <a:endParaRPr sz="1800" b="0" i="0" u="none" strike="noStrike" cap="none">
              <a:solidFill>
                <a:srgbClr val="14B8A6"/>
              </a:solidFill>
              <a:latin typeface="Calibri"/>
              <a:ea typeface="Calibri"/>
              <a:cs typeface="Calibri"/>
              <a:sym typeface="Calibri"/>
            </a:endParaRPr>
          </a:p>
        </p:txBody>
      </p:sp>
      <p:sp>
        <p:nvSpPr>
          <p:cNvPr id="446" name="Google Shape;446;p18"/>
          <p:cNvSpPr/>
          <p:nvPr/>
        </p:nvSpPr>
        <p:spPr>
          <a:xfrm>
            <a:off x="2349885" y="4394742"/>
            <a:ext cx="1783200" cy="13107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6B7280"/>
              </a:buClr>
              <a:buSzPts val="1800"/>
              <a:buFont typeface="DM Sans"/>
              <a:buNone/>
            </a:pPr>
            <a:r>
              <a:rPr lang="en-US" sz="1800" b="0" i="1" u="none" strike="noStrike" cap="none">
                <a:solidFill>
                  <a:srgbClr val="F5F5F2"/>
                </a:solidFill>
                <a:latin typeface="DM Sans"/>
                <a:ea typeface="DM Sans"/>
                <a:cs typeface="DM Sans"/>
                <a:sym typeface="DM Sans"/>
              </a:rPr>
              <a:t>Absorbed into SQL:1999.</a:t>
            </a:r>
            <a:endParaRPr sz="1800" b="0" i="0" u="none" strike="noStrike" cap="none">
              <a:solidFill>
                <a:srgbClr val="F5F5F2"/>
              </a:solidFill>
              <a:latin typeface="Calibri"/>
              <a:ea typeface="Calibri"/>
              <a:cs typeface="Calibri"/>
              <a:sym typeface="Calibri"/>
            </a:endParaRPr>
          </a:p>
        </p:txBody>
      </p:sp>
      <p:sp>
        <p:nvSpPr>
          <p:cNvPr id="447" name="Google Shape;447;p18"/>
          <p:cNvSpPr/>
          <p:nvPr/>
        </p:nvSpPr>
        <p:spPr>
          <a:xfrm>
            <a:off x="4242694" y="2952524"/>
            <a:ext cx="1783200" cy="45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onsolas"/>
              <a:buNone/>
            </a:pPr>
            <a:r>
              <a:rPr lang="en-US" sz="2200" b="1" i="0" u="none" strike="noStrike" cap="none">
                <a:solidFill>
                  <a:srgbClr val="F5F5F2"/>
                </a:solidFill>
                <a:latin typeface="Consolas"/>
                <a:ea typeface="Consolas"/>
                <a:cs typeface="Consolas"/>
                <a:sym typeface="Consolas"/>
              </a:rPr>
              <a:t>2004</a:t>
            </a:r>
            <a:endParaRPr sz="2200" b="0" i="0" u="none" strike="noStrike" cap="none">
              <a:solidFill>
                <a:srgbClr val="F5F5F2"/>
              </a:solidFill>
              <a:latin typeface="Calibri"/>
              <a:ea typeface="Calibri"/>
              <a:cs typeface="Calibri"/>
              <a:sym typeface="Calibri"/>
            </a:endParaRPr>
          </a:p>
        </p:txBody>
      </p:sp>
      <p:sp>
        <p:nvSpPr>
          <p:cNvPr id="448" name="Google Shape;448;p18"/>
          <p:cNvSpPr/>
          <p:nvPr/>
        </p:nvSpPr>
        <p:spPr>
          <a:xfrm>
            <a:off x="4242694" y="3790597"/>
            <a:ext cx="1783200" cy="57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328"/>
              </a:buClr>
              <a:buSzPts val="1800"/>
              <a:buFont typeface="Fraunces"/>
              <a:buNone/>
            </a:pPr>
            <a:r>
              <a:rPr lang="en-US" sz="1800" b="1" i="0" u="none" strike="noStrike" cap="none">
                <a:solidFill>
                  <a:srgbClr val="14B8A6"/>
                </a:solidFill>
                <a:latin typeface="Fraunces"/>
                <a:ea typeface="Fraunces"/>
                <a:cs typeface="Fraunces"/>
                <a:sym typeface="Fraunces"/>
              </a:rPr>
              <a:t>MapReduce</a:t>
            </a:r>
            <a:endParaRPr sz="1800" b="0" i="0" u="none" strike="noStrike" cap="none">
              <a:solidFill>
                <a:srgbClr val="14B8A6"/>
              </a:solidFill>
              <a:latin typeface="Calibri"/>
              <a:ea typeface="Calibri"/>
              <a:cs typeface="Calibri"/>
              <a:sym typeface="Calibri"/>
            </a:endParaRPr>
          </a:p>
        </p:txBody>
      </p:sp>
      <p:sp>
        <p:nvSpPr>
          <p:cNvPr id="449" name="Google Shape;449;p18"/>
          <p:cNvSpPr/>
          <p:nvPr/>
        </p:nvSpPr>
        <p:spPr>
          <a:xfrm>
            <a:off x="4242694" y="4394742"/>
            <a:ext cx="1783200" cy="13107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6B7280"/>
              </a:buClr>
              <a:buSzPts val="1800"/>
              <a:buFont typeface="DM Sans"/>
              <a:buNone/>
            </a:pPr>
            <a:r>
              <a:rPr lang="en-US" sz="1800" b="0" i="1" u="none" strike="noStrike" cap="none">
                <a:solidFill>
                  <a:srgbClr val="F5F5F2"/>
                </a:solidFill>
                <a:latin typeface="DM Sans"/>
                <a:ea typeface="DM Sans"/>
                <a:cs typeface="DM Sans"/>
                <a:sym typeface="DM Sans"/>
              </a:rPr>
              <a:t>Replaced by Spark SQL.</a:t>
            </a:r>
            <a:endParaRPr sz="1800" b="0" i="0" u="none" strike="noStrike" cap="none">
              <a:solidFill>
                <a:srgbClr val="F5F5F2"/>
              </a:solidFill>
              <a:latin typeface="Calibri"/>
              <a:ea typeface="Calibri"/>
              <a:cs typeface="Calibri"/>
              <a:sym typeface="Calibri"/>
            </a:endParaRPr>
          </a:p>
        </p:txBody>
      </p:sp>
      <p:sp>
        <p:nvSpPr>
          <p:cNvPr id="450" name="Google Shape;450;p18"/>
          <p:cNvSpPr/>
          <p:nvPr/>
        </p:nvSpPr>
        <p:spPr>
          <a:xfrm>
            <a:off x="6135504" y="2952524"/>
            <a:ext cx="1783200" cy="45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onsolas"/>
              <a:buNone/>
            </a:pPr>
            <a:r>
              <a:rPr lang="en-US" sz="2200" b="1" i="0" u="none" strike="noStrike" cap="none">
                <a:solidFill>
                  <a:srgbClr val="F5F5F2"/>
                </a:solidFill>
                <a:latin typeface="Consolas"/>
                <a:ea typeface="Consolas"/>
                <a:cs typeface="Consolas"/>
                <a:sym typeface="Consolas"/>
              </a:rPr>
              <a:t>2009</a:t>
            </a:r>
            <a:endParaRPr sz="2200" b="0" i="0" u="none" strike="noStrike" cap="none">
              <a:solidFill>
                <a:srgbClr val="F5F5F2"/>
              </a:solidFill>
              <a:latin typeface="Calibri"/>
              <a:ea typeface="Calibri"/>
              <a:cs typeface="Calibri"/>
              <a:sym typeface="Calibri"/>
            </a:endParaRPr>
          </a:p>
        </p:txBody>
      </p:sp>
      <p:sp>
        <p:nvSpPr>
          <p:cNvPr id="451" name="Google Shape;451;p18"/>
          <p:cNvSpPr/>
          <p:nvPr/>
        </p:nvSpPr>
        <p:spPr>
          <a:xfrm>
            <a:off x="6135504" y="3790597"/>
            <a:ext cx="1783200" cy="57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328"/>
              </a:buClr>
              <a:buSzPts val="1800"/>
              <a:buFont typeface="Fraunces"/>
              <a:buNone/>
            </a:pPr>
            <a:r>
              <a:rPr lang="en-US" sz="1800" b="1" i="0" u="none" strike="noStrike" cap="none">
                <a:solidFill>
                  <a:srgbClr val="14B8A6"/>
                </a:solidFill>
                <a:latin typeface="Fraunces"/>
                <a:ea typeface="Fraunces"/>
                <a:cs typeface="Fraunces"/>
                <a:sym typeface="Fraunces"/>
              </a:rPr>
              <a:t>NoSQL</a:t>
            </a:r>
            <a:endParaRPr sz="1800" b="0" i="0" u="none" strike="noStrike" cap="none">
              <a:solidFill>
                <a:srgbClr val="14B8A6"/>
              </a:solidFill>
              <a:latin typeface="Calibri"/>
              <a:ea typeface="Calibri"/>
              <a:cs typeface="Calibri"/>
              <a:sym typeface="Calibri"/>
            </a:endParaRPr>
          </a:p>
        </p:txBody>
      </p:sp>
      <p:sp>
        <p:nvSpPr>
          <p:cNvPr id="452" name="Google Shape;452;p18"/>
          <p:cNvSpPr/>
          <p:nvPr/>
        </p:nvSpPr>
        <p:spPr>
          <a:xfrm>
            <a:off x="6135504" y="4394742"/>
            <a:ext cx="1783200" cy="13107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6B7280"/>
              </a:buClr>
              <a:buSzPts val="1800"/>
              <a:buFont typeface="DM Sans"/>
              <a:buNone/>
            </a:pPr>
            <a:r>
              <a:rPr lang="en-US" sz="1800" b="0" i="1" u="none" strike="noStrike" cap="none">
                <a:solidFill>
                  <a:srgbClr val="F5F5F2"/>
                </a:solidFill>
                <a:latin typeface="DM Sans"/>
                <a:ea typeface="DM Sans"/>
                <a:cs typeface="DM Sans"/>
                <a:sym typeface="DM Sans"/>
              </a:rPr>
              <a:t>Ships with SQL layers.</a:t>
            </a:r>
            <a:endParaRPr sz="1800" b="0" i="0" u="none" strike="noStrike" cap="none">
              <a:solidFill>
                <a:srgbClr val="F5F5F2"/>
              </a:solidFill>
              <a:latin typeface="Calibri"/>
              <a:ea typeface="Calibri"/>
              <a:cs typeface="Calibri"/>
              <a:sym typeface="Calibri"/>
            </a:endParaRPr>
          </a:p>
        </p:txBody>
      </p:sp>
      <p:sp>
        <p:nvSpPr>
          <p:cNvPr id="453" name="Google Shape;453;p18"/>
          <p:cNvSpPr/>
          <p:nvPr/>
        </p:nvSpPr>
        <p:spPr>
          <a:xfrm>
            <a:off x="8028314" y="2952524"/>
            <a:ext cx="1783200" cy="45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onsolas"/>
              <a:buNone/>
            </a:pPr>
            <a:r>
              <a:rPr lang="en-US" sz="2200" b="1" i="0" u="none" strike="noStrike" cap="none">
                <a:solidFill>
                  <a:srgbClr val="F5F5F2"/>
                </a:solidFill>
                <a:latin typeface="Consolas"/>
                <a:ea typeface="Consolas"/>
                <a:cs typeface="Consolas"/>
                <a:sym typeface="Consolas"/>
              </a:rPr>
              <a:t>2010</a:t>
            </a:r>
            <a:endParaRPr sz="2200" b="0" i="0" u="none" strike="noStrike" cap="none">
              <a:solidFill>
                <a:srgbClr val="F5F5F2"/>
              </a:solidFill>
              <a:latin typeface="Calibri"/>
              <a:ea typeface="Calibri"/>
              <a:cs typeface="Calibri"/>
              <a:sym typeface="Calibri"/>
            </a:endParaRPr>
          </a:p>
        </p:txBody>
      </p:sp>
      <p:sp>
        <p:nvSpPr>
          <p:cNvPr id="454" name="Google Shape;454;p18"/>
          <p:cNvSpPr/>
          <p:nvPr/>
        </p:nvSpPr>
        <p:spPr>
          <a:xfrm>
            <a:off x="8028314" y="3790597"/>
            <a:ext cx="1783200" cy="57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328"/>
              </a:buClr>
              <a:buSzPts val="1800"/>
              <a:buFont typeface="Fraunces"/>
              <a:buNone/>
            </a:pPr>
            <a:r>
              <a:rPr lang="en-US" sz="1800" b="1" i="0" u="none" strike="noStrike" cap="none">
                <a:solidFill>
                  <a:srgbClr val="14B8A6"/>
                </a:solidFill>
                <a:latin typeface="Fraunces"/>
                <a:ea typeface="Fraunces"/>
                <a:cs typeface="Fraunces"/>
                <a:sym typeface="Fraunces"/>
              </a:rPr>
              <a:t>Graph</a:t>
            </a:r>
            <a:endParaRPr sz="1800" b="0" i="0" u="none" strike="noStrike" cap="none">
              <a:solidFill>
                <a:srgbClr val="14B8A6"/>
              </a:solidFill>
              <a:latin typeface="Calibri"/>
              <a:ea typeface="Calibri"/>
              <a:cs typeface="Calibri"/>
              <a:sym typeface="Calibri"/>
            </a:endParaRPr>
          </a:p>
        </p:txBody>
      </p:sp>
      <p:sp>
        <p:nvSpPr>
          <p:cNvPr id="455" name="Google Shape;455;p18"/>
          <p:cNvSpPr/>
          <p:nvPr/>
        </p:nvSpPr>
        <p:spPr>
          <a:xfrm>
            <a:off x="8028314" y="4394742"/>
            <a:ext cx="1783200" cy="13107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6B7280"/>
              </a:buClr>
              <a:buSzPts val="1800"/>
              <a:buFont typeface="DM Sans"/>
              <a:buNone/>
            </a:pPr>
            <a:r>
              <a:rPr lang="en-US" sz="1800" b="0" i="1" u="none" strike="noStrike" cap="none">
                <a:solidFill>
                  <a:srgbClr val="F5F5F2"/>
                </a:solidFill>
                <a:latin typeface="DM Sans"/>
                <a:ea typeface="DM Sans"/>
                <a:cs typeface="DM Sans"/>
                <a:sym typeface="DM Sans"/>
              </a:rPr>
              <a:t>GQL mirrors SQL.</a:t>
            </a:r>
            <a:endParaRPr sz="1800" b="0" i="0" u="none" strike="noStrike" cap="none">
              <a:solidFill>
                <a:srgbClr val="F5F5F2"/>
              </a:solidFill>
              <a:latin typeface="Calibri"/>
              <a:ea typeface="Calibri"/>
              <a:cs typeface="Calibri"/>
              <a:sym typeface="Calibri"/>
            </a:endParaRPr>
          </a:p>
        </p:txBody>
      </p:sp>
      <p:sp>
        <p:nvSpPr>
          <p:cNvPr id="456" name="Google Shape;456;p18"/>
          <p:cNvSpPr/>
          <p:nvPr/>
        </p:nvSpPr>
        <p:spPr>
          <a:xfrm>
            <a:off x="9921123" y="2952524"/>
            <a:ext cx="1783200" cy="45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B7280"/>
              </a:buClr>
              <a:buSzPts val="1800"/>
              <a:buFont typeface="Consolas"/>
              <a:buNone/>
            </a:pPr>
            <a:r>
              <a:rPr lang="en-US" sz="2200" b="1" i="0" u="none" strike="noStrike" cap="none">
                <a:solidFill>
                  <a:srgbClr val="F5F5F2"/>
                </a:solidFill>
                <a:latin typeface="Consolas"/>
                <a:ea typeface="Consolas"/>
                <a:cs typeface="Consolas"/>
                <a:sym typeface="Consolas"/>
              </a:rPr>
              <a:t>2022</a:t>
            </a:r>
            <a:endParaRPr sz="2200" b="0" i="0" u="none" strike="noStrike" cap="none">
              <a:solidFill>
                <a:srgbClr val="F5F5F2"/>
              </a:solidFill>
              <a:latin typeface="Calibri"/>
              <a:ea typeface="Calibri"/>
              <a:cs typeface="Calibri"/>
              <a:sym typeface="Calibri"/>
            </a:endParaRPr>
          </a:p>
        </p:txBody>
      </p:sp>
      <p:sp>
        <p:nvSpPr>
          <p:cNvPr id="457" name="Google Shape;457;p18"/>
          <p:cNvSpPr/>
          <p:nvPr/>
        </p:nvSpPr>
        <p:spPr>
          <a:xfrm>
            <a:off x="9921123" y="3790597"/>
            <a:ext cx="1783200" cy="57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2328"/>
              </a:buClr>
              <a:buSzPts val="1800"/>
              <a:buFont typeface="Fraunces"/>
              <a:buNone/>
            </a:pPr>
            <a:r>
              <a:rPr lang="en-US" sz="1800" b="1" i="0" u="none" strike="noStrike" cap="none">
                <a:solidFill>
                  <a:srgbClr val="14B8A6"/>
                </a:solidFill>
                <a:latin typeface="Fraunces"/>
                <a:ea typeface="Fraunces"/>
                <a:cs typeface="Fraunces"/>
                <a:sym typeface="Fraunces"/>
              </a:rPr>
              <a:t>AI / Vector</a:t>
            </a:r>
            <a:endParaRPr sz="1800" b="0" i="0" u="none" strike="noStrike" cap="none">
              <a:solidFill>
                <a:srgbClr val="14B8A6"/>
              </a:solidFill>
              <a:latin typeface="Calibri"/>
              <a:ea typeface="Calibri"/>
              <a:cs typeface="Calibri"/>
              <a:sym typeface="Calibri"/>
            </a:endParaRPr>
          </a:p>
        </p:txBody>
      </p:sp>
      <p:sp>
        <p:nvSpPr>
          <p:cNvPr id="458" name="Google Shape;458;p18"/>
          <p:cNvSpPr/>
          <p:nvPr/>
        </p:nvSpPr>
        <p:spPr>
          <a:xfrm>
            <a:off x="9921123" y="4394742"/>
            <a:ext cx="1783200" cy="13107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6B7280"/>
              </a:buClr>
              <a:buSzPts val="1800"/>
              <a:buFont typeface="DM Sans"/>
              <a:buNone/>
            </a:pPr>
            <a:r>
              <a:rPr lang="en-US" sz="1800" b="0" i="1" u="none" strike="noStrike" cap="none">
                <a:solidFill>
                  <a:srgbClr val="F5F5F2"/>
                </a:solidFill>
                <a:latin typeface="DM Sans"/>
                <a:ea typeface="DM Sans"/>
                <a:cs typeface="DM Sans"/>
                <a:sym typeface="DM Sans"/>
              </a:rPr>
              <a:t>Vectors inside Postgres.</a:t>
            </a:r>
            <a:endParaRPr sz="1800" b="0" i="0" u="none" strike="noStrike" cap="none">
              <a:solidFill>
                <a:srgbClr val="F5F5F2"/>
              </a:solidFill>
              <a:latin typeface="Calibri"/>
              <a:ea typeface="Calibri"/>
              <a:cs typeface="Calibri"/>
              <a:sym typeface="Calibri"/>
            </a:endParaRPr>
          </a:p>
        </p:txBody>
      </p:sp>
      <p:sp>
        <p:nvSpPr>
          <p:cNvPr id="459" name="Google Shape;459;p18"/>
          <p:cNvSpPr/>
          <p:nvPr/>
        </p:nvSpPr>
        <p:spPr>
          <a:xfrm>
            <a:off x="1248032" y="3437229"/>
            <a:ext cx="201300" cy="2508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59E0B"/>
              </a:solidFill>
            </a:endParaRPr>
          </a:p>
        </p:txBody>
      </p:sp>
      <p:sp>
        <p:nvSpPr>
          <p:cNvPr id="460" name="Google Shape;460;p18"/>
          <p:cNvSpPr/>
          <p:nvPr/>
        </p:nvSpPr>
        <p:spPr>
          <a:xfrm>
            <a:off x="3140841" y="3437229"/>
            <a:ext cx="201300" cy="2508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59E0B"/>
              </a:solidFill>
            </a:endParaRPr>
          </a:p>
        </p:txBody>
      </p:sp>
      <p:sp>
        <p:nvSpPr>
          <p:cNvPr id="461" name="Google Shape;461;p18"/>
          <p:cNvSpPr/>
          <p:nvPr/>
        </p:nvSpPr>
        <p:spPr>
          <a:xfrm>
            <a:off x="5033651" y="3437229"/>
            <a:ext cx="201300" cy="2508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59E0B"/>
              </a:solidFill>
            </a:endParaRPr>
          </a:p>
        </p:txBody>
      </p:sp>
      <p:sp>
        <p:nvSpPr>
          <p:cNvPr id="462" name="Google Shape;462;p18"/>
          <p:cNvSpPr/>
          <p:nvPr/>
        </p:nvSpPr>
        <p:spPr>
          <a:xfrm>
            <a:off x="6926461" y="3437229"/>
            <a:ext cx="201300" cy="2508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59E0B"/>
              </a:solidFill>
            </a:endParaRPr>
          </a:p>
        </p:txBody>
      </p:sp>
      <p:sp>
        <p:nvSpPr>
          <p:cNvPr id="463" name="Google Shape;463;p18"/>
          <p:cNvSpPr/>
          <p:nvPr/>
        </p:nvSpPr>
        <p:spPr>
          <a:xfrm>
            <a:off x="8819270" y="3437229"/>
            <a:ext cx="201300" cy="2508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59E0B"/>
              </a:solidFill>
            </a:endParaRPr>
          </a:p>
        </p:txBody>
      </p:sp>
      <p:sp>
        <p:nvSpPr>
          <p:cNvPr id="464" name="Google Shape;464;p18"/>
          <p:cNvSpPr/>
          <p:nvPr/>
        </p:nvSpPr>
        <p:spPr>
          <a:xfrm>
            <a:off x="10712080" y="3437229"/>
            <a:ext cx="201300" cy="250800"/>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59E0B"/>
              </a:solidFill>
            </a:endParaRPr>
          </a:p>
        </p:txBody>
      </p:sp>
      <p:sp>
        <p:nvSpPr>
          <p:cNvPr id="465" name="Google Shape;465;p18"/>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F59E0B"/>
                </a:solidFill>
                <a:latin typeface="DM Sans"/>
                <a:ea typeface="DM Sans"/>
                <a:cs typeface="DM Sans"/>
                <a:sym typeface="DM Sans"/>
              </a:rPr>
              <a:t>‹#›</a:t>
            </a:r>
            <a:endParaRPr>
              <a:solidFill>
                <a:srgbClr val="F59E0B"/>
              </a:solidFill>
            </a:endParaRPr>
          </a:p>
        </p:txBody>
      </p:sp>
      <p:cxnSp>
        <p:nvCxnSpPr>
          <p:cNvPr id="466" name="Google Shape;466;p18"/>
          <p:cNvCxnSpPr/>
          <p:nvPr/>
        </p:nvCxnSpPr>
        <p:spPr>
          <a:xfrm>
            <a:off x="572063" y="6617763"/>
            <a:ext cx="4984200" cy="0"/>
          </a:xfrm>
          <a:prstGeom prst="straightConnector1">
            <a:avLst/>
          </a:prstGeom>
          <a:noFill/>
          <a:ln w="38100" cap="rnd" cmpd="sng">
            <a:solidFill>
              <a:srgbClr val="F59E0B"/>
            </a:solidFill>
            <a:prstDash val="solid"/>
            <a:round/>
            <a:headEnd type="none" w="lg" len="lg"/>
            <a:tailEnd type="none" w="sm" len="sm"/>
          </a:ln>
        </p:spPr>
      </p:cxnSp>
      <p:cxnSp>
        <p:nvCxnSpPr>
          <p:cNvPr id="467" name="Google Shape;467;p18"/>
          <p:cNvCxnSpPr/>
          <p:nvPr/>
        </p:nvCxnSpPr>
        <p:spPr>
          <a:xfrm>
            <a:off x="6520483" y="6617751"/>
            <a:ext cx="5178000" cy="0"/>
          </a:xfrm>
          <a:prstGeom prst="straightConnector1">
            <a:avLst/>
          </a:prstGeom>
          <a:noFill/>
          <a:ln w="38100" cap="rnd" cmpd="sng">
            <a:solidFill>
              <a:srgbClr val="F59E0B"/>
            </a:solidFill>
            <a:prstDash val="solid"/>
            <a:round/>
            <a:headEnd type="none" w="sm" len="sm"/>
            <a:tailEnd type="none" w="lg" len="lg"/>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1F2328"/>
        </a:solidFill>
        <a:effectLst/>
      </p:bgPr>
    </p:bg>
    <p:spTree>
      <p:nvGrpSpPr>
        <p:cNvPr id="1" name="Shape 472"/>
        <p:cNvGrpSpPr/>
        <p:nvPr/>
      </p:nvGrpSpPr>
      <p:grpSpPr>
        <a:xfrm>
          <a:off x="0" y="0"/>
          <a:ext cx="0" cy="0"/>
          <a:chOff x="0" y="0"/>
          <a:chExt cx="0" cy="0"/>
        </a:xfrm>
      </p:grpSpPr>
      <p:sp>
        <p:nvSpPr>
          <p:cNvPr id="473" name="Google Shape;473;p19"/>
          <p:cNvSpPr/>
          <p:nvPr/>
        </p:nvSpPr>
        <p:spPr>
          <a:xfrm>
            <a:off x="618725" y="3204901"/>
            <a:ext cx="10789800" cy="856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3000"/>
              <a:buFont typeface="Fraunces"/>
              <a:buNone/>
            </a:pPr>
            <a:r>
              <a:rPr lang="en-US" sz="2600" i="1">
                <a:solidFill>
                  <a:srgbClr val="F5F5F2"/>
                </a:solidFill>
                <a:latin typeface="Fraunces"/>
                <a:ea typeface="Fraunces"/>
                <a:cs typeface="Fraunces"/>
                <a:sym typeface="Fraunces"/>
              </a:rPr>
              <a:t>The durable pain has never been the choice of technology…</a:t>
            </a:r>
            <a:endParaRPr sz="2600" b="0" i="0" u="none" strike="noStrike" cap="none">
              <a:solidFill>
                <a:srgbClr val="F5F5F2"/>
              </a:solidFill>
              <a:latin typeface="Calibri"/>
              <a:ea typeface="Calibri"/>
              <a:cs typeface="Calibri"/>
              <a:sym typeface="Calibri"/>
            </a:endParaRPr>
          </a:p>
        </p:txBody>
      </p:sp>
      <p:sp>
        <p:nvSpPr>
          <p:cNvPr id="474" name="Google Shape;474;p19"/>
          <p:cNvSpPr/>
          <p:nvPr/>
        </p:nvSpPr>
        <p:spPr>
          <a:xfrm>
            <a:off x="609600" y="4061416"/>
            <a:ext cx="822900" cy="36600"/>
          </a:xfrm>
          <a:prstGeom prst="rect">
            <a:avLst/>
          </a:prstGeom>
          <a:solidFill>
            <a:srgbClr val="F59E0B"/>
          </a:solidFill>
          <a:ln w="381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609600" y="1599783"/>
            <a:ext cx="10972800" cy="201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9600"/>
              <a:buFont typeface="Fraunces"/>
              <a:buNone/>
            </a:pPr>
            <a:r>
              <a:rPr lang="en-US" sz="9600" b="1">
                <a:solidFill>
                  <a:srgbClr val="F5F5F2"/>
                </a:solidFill>
                <a:latin typeface="Fraunces"/>
                <a:ea typeface="Fraunces"/>
                <a:cs typeface="Fraunces"/>
                <a:sym typeface="Fraunces"/>
              </a:rPr>
              <a:t>COMMIT</a:t>
            </a:r>
            <a:endParaRPr sz="9600" b="0" i="0" u="none" strike="noStrike" cap="none">
              <a:solidFill>
                <a:srgbClr val="F5F5F2"/>
              </a:solidFill>
              <a:latin typeface="Calibri"/>
              <a:ea typeface="Calibri"/>
              <a:cs typeface="Calibri"/>
              <a:sym typeface="Calibri"/>
            </a:endParaRPr>
          </a:p>
        </p:txBody>
      </p:sp>
      <p:sp>
        <p:nvSpPr>
          <p:cNvPr id="476" name="Google Shape;476;p19"/>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F59E0B"/>
                </a:solidFill>
                <a:latin typeface="DM Sans"/>
                <a:ea typeface="DM Sans"/>
                <a:cs typeface="DM Sans"/>
                <a:sym typeface="DM Sans"/>
              </a:rPr>
              <a:t>‹#›</a:t>
            </a:r>
            <a:endParaRPr>
              <a:solidFill>
                <a:srgbClr val="F59E0B"/>
              </a:solidFill>
            </a:endParaRPr>
          </a:p>
        </p:txBody>
      </p:sp>
      <p:cxnSp>
        <p:nvCxnSpPr>
          <p:cNvPr id="477" name="Google Shape;477;p19"/>
          <p:cNvCxnSpPr/>
          <p:nvPr/>
        </p:nvCxnSpPr>
        <p:spPr>
          <a:xfrm>
            <a:off x="572063" y="6617763"/>
            <a:ext cx="4984200" cy="0"/>
          </a:xfrm>
          <a:prstGeom prst="straightConnector1">
            <a:avLst/>
          </a:prstGeom>
          <a:noFill/>
          <a:ln w="38100" cap="rnd" cmpd="sng">
            <a:solidFill>
              <a:srgbClr val="F59E0B"/>
            </a:solidFill>
            <a:prstDash val="solid"/>
            <a:round/>
            <a:headEnd type="none" w="lg" len="lg"/>
            <a:tailEnd type="none" w="sm" len="sm"/>
          </a:ln>
        </p:spPr>
      </p:cxnSp>
      <p:cxnSp>
        <p:nvCxnSpPr>
          <p:cNvPr id="478" name="Google Shape;478;p19"/>
          <p:cNvCxnSpPr/>
          <p:nvPr/>
        </p:nvCxnSpPr>
        <p:spPr>
          <a:xfrm>
            <a:off x="6520483" y="6617751"/>
            <a:ext cx="5178000" cy="0"/>
          </a:xfrm>
          <a:prstGeom prst="straightConnector1">
            <a:avLst/>
          </a:prstGeom>
          <a:noFill/>
          <a:ln w="38100" cap="rnd" cmpd="sng">
            <a:solidFill>
              <a:srgbClr val="F59E0B"/>
            </a:solidFill>
            <a:prstDash val="solid"/>
            <a:round/>
            <a:headEnd type="none" w="sm" len="sm"/>
            <a:tailEnd type="none" w="lg" len="lg"/>
          </a:ln>
        </p:spPr>
      </p:cxnSp>
      <p:sp>
        <p:nvSpPr>
          <p:cNvPr id="479" name="Google Shape;479;p19"/>
          <p:cNvSpPr/>
          <p:nvPr/>
        </p:nvSpPr>
        <p:spPr>
          <a:xfrm>
            <a:off x="618725" y="5306027"/>
            <a:ext cx="10789800" cy="8565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5F5F2"/>
              </a:buClr>
              <a:buSzPts val="3000"/>
              <a:buFont typeface="Fraunces"/>
              <a:buNone/>
            </a:pPr>
            <a:r>
              <a:rPr lang="en-US" sz="2600" i="1">
                <a:solidFill>
                  <a:srgbClr val="F59E0B"/>
                </a:solidFill>
                <a:latin typeface="Fraunces"/>
                <a:ea typeface="Fraunces"/>
                <a:cs typeface="Fraunces"/>
                <a:sym typeface="Fraunces"/>
              </a:rPr>
              <a:t>It has always been the integration of data. </a:t>
            </a:r>
            <a:endParaRPr sz="2600" b="0" i="0" u="none" strike="noStrike" cap="none">
              <a:solidFill>
                <a:srgbClr val="F59E0B"/>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484"/>
        <p:cNvGrpSpPr/>
        <p:nvPr/>
      </p:nvGrpSpPr>
      <p:grpSpPr>
        <a:xfrm>
          <a:off x="0" y="0"/>
          <a:ext cx="0" cy="0"/>
          <a:chOff x="0" y="0"/>
          <a:chExt cx="0" cy="0"/>
        </a:xfrm>
      </p:grpSpPr>
      <p:sp>
        <p:nvSpPr>
          <p:cNvPr id="485" name="Google Shape;485;p20"/>
          <p:cNvSpPr/>
          <p:nvPr/>
        </p:nvSpPr>
        <p:spPr>
          <a:xfrm rot="10800000" flipH="1">
            <a:off x="457200" y="1604875"/>
            <a:ext cx="11247000" cy="681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457200" y="960120"/>
            <a:ext cx="11247000" cy="1051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i="0" u="none" strike="noStrike" cap="none">
                <a:solidFill>
                  <a:srgbClr val="1F2328"/>
                </a:solidFill>
                <a:latin typeface="Fraunces"/>
                <a:ea typeface="Fraunces"/>
                <a:cs typeface="Fraunces"/>
                <a:sym typeface="Fraunces"/>
              </a:rPr>
              <a:t>Same pattern, three industries</a:t>
            </a:r>
            <a:endParaRPr sz="4400" b="0" i="0" u="none" strike="noStrike" cap="none">
              <a:solidFill>
                <a:schemeClr val="dk1"/>
              </a:solidFill>
              <a:latin typeface="Calibri"/>
              <a:ea typeface="Calibri"/>
              <a:cs typeface="Calibri"/>
              <a:sym typeface="Calibri"/>
            </a:endParaRPr>
          </a:p>
        </p:txBody>
      </p:sp>
      <p:sp>
        <p:nvSpPr>
          <p:cNvPr id="487" name="Google Shape;487;p20"/>
          <p:cNvSpPr/>
          <p:nvPr/>
        </p:nvSpPr>
        <p:spPr>
          <a:xfrm>
            <a:off x="457200" y="27432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EXECUTE</a:t>
            </a:r>
            <a:endParaRPr sz="3000" b="0" i="0" u="none" strike="noStrike" cap="none">
              <a:solidFill>
                <a:srgbClr val="14B8A6"/>
              </a:solidFill>
              <a:latin typeface="Calibri"/>
              <a:ea typeface="Calibri"/>
              <a:cs typeface="Calibri"/>
              <a:sym typeface="Calibri"/>
            </a:endParaRPr>
          </a:p>
        </p:txBody>
      </p:sp>
      <p:sp>
        <p:nvSpPr>
          <p:cNvPr id="488" name="Google Shape;488;p20"/>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489" name="Google Shape;489;p20"/>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490" name="Google Shape;490;p20"/>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sp>
        <p:nvSpPr>
          <p:cNvPr id="491" name="Google Shape;491;p20"/>
          <p:cNvSpPr/>
          <p:nvPr/>
        </p:nvSpPr>
        <p:spPr>
          <a:xfrm>
            <a:off x="2513575" y="2147675"/>
            <a:ext cx="2900100" cy="42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Fraunces"/>
                <a:ea typeface="Fraunces"/>
                <a:cs typeface="Fraunces"/>
                <a:sym typeface="Fraunces"/>
              </a:rPr>
              <a:t>BANKING</a:t>
            </a:r>
            <a:endParaRPr sz="2000" b="1">
              <a:solidFill>
                <a:srgbClr val="1F2328"/>
              </a:solidFill>
              <a:latin typeface="Fraunces"/>
              <a:ea typeface="Fraunces"/>
              <a:cs typeface="Fraunces"/>
              <a:sym typeface="Fraunces"/>
            </a:endParaRPr>
          </a:p>
        </p:txBody>
      </p:sp>
      <p:cxnSp>
        <p:nvCxnSpPr>
          <p:cNvPr id="492" name="Google Shape;492;p20"/>
          <p:cNvCxnSpPr/>
          <p:nvPr/>
        </p:nvCxnSpPr>
        <p:spPr>
          <a:xfrm>
            <a:off x="2633575" y="2607675"/>
            <a:ext cx="2660100" cy="0"/>
          </a:xfrm>
          <a:prstGeom prst="straightConnector1">
            <a:avLst/>
          </a:prstGeom>
          <a:noFill/>
          <a:ln w="22000" cap="rnd" cmpd="sng">
            <a:solidFill>
              <a:srgbClr val="F59E0B"/>
            </a:solidFill>
            <a:prstDash val="solid"/>
            <a:round/>
            <a:headEnd type="none" w="sm" len="sm"/>
            <a:tailEnd type="none" w="sm" len="sm"/>
          </a:ln>
        </p:spPr>
      </p:cxnSp>
      <p:sp>
        <p:nvSpPr>
          <p:cNvPr id="493" name="Google Shape;493;p20"/>
          <p:cNvSpPr/>
          <p:nvPr/>
        </p:nvSpPr>
        <p:spPr>
          <a:xfrm>
            <a:off x="5413575" y="2147675"/>
            <a:ext cx="2900100" cy="42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Fraunces"/>
                <a:ea typeface="Fraunces"/>
                <a:cs typeface="Fraunces"/>
                <a:sym typeface="Fraunces"/>
              </a:rPr>
              <a:t>HEALTHCARE</a:t>
            </a:r>
            <a:endParaRPr sz="2000" b="1">
              <a:solidFill>
                <a:srgbClr val="1F2328"/>
              </a:solidFill>
              <a:latin typeface="Fraunces"/>
              <a:ea typeface="Fraunces"/>
              <a:cs typeface="Fraunces"/>
              <a:sym typeface="Fraunces"/>
            </a:endParaRPr>
          </a:p>
        </p:txBody>
      </p:sp>
      <p:cxnSp>
        <p:nvCxnSpPr>
          <p:cNvPr id="494" name="Google Shape;494;p20"/>
          <p:cNvCxnSpPr/>
          <p:nvPr/>
        </p:nvCxnSpPr>
        <p:spPr>
          <a:xfrm>
            <a:off x="5533575" y="2607675"/>
            <a:ext cx="2660100" cy="0"/>
          </a:xfrm>
          <a:prstGeom prst="straightConnector1">
            <a:avLst/>
          </a:prstGeom>
          <a:noFill/>
          <a:ln w="22000" cap="rnd" cmpd="sng">
            <a:solidFill>
              <a:srgbClr val="F59E0B"/>
            </a:solidFill>
            <a:prstDash val="solid"/>
            <a:round/>
            <a:headEnd type="none" w="sm" len="sm"/>
            <a:tailEnd type="none" w="sm" len="sm"/>
          </a:ln>
        </p:spPr>
      </p:cxnSp>
      <p:sp>
        <p:nvSpPr>
          <p:cNvPr id="495" name="Google Shape;495;p20"/>
          <p:cNvSpPr/>
          <p:nvPr/>
        </p:nvSpPr>
        <p:spPr>
          <a:xfrm>
            <a:off x="8313575" y="2147675"/>
            <a:ext cx="2900100" cy="42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Fraunces"/>
                <a:ea typeface="Fraunces"/>
                <a:cs typeface="Fraunces"/>
                <a:sym typeface="Fraunces"/>
              </a:rPr>
              <a:t>TRAVEL</a:t>
            </a:r>
            <a:endParaRPr sz="2000" b="1">
              <a:solidFill>
                <a:srgbClr val="1F2328"/>
              </a:solidFill>
              <a:latin typeface="Fraunces"/>
              <a:ea typeface="Fraunces"/>
              <a:cs typeface="Fraunces"/>
              <a:sym typeface="Fraunces"/>
            </a:endParaRPr>
          </a:p>
        </p:txBody>
      </p:sp>
      <p:cxnSp>
        <p:nvCxnSpPr>
          <p:cNvPr id="496" name="Google Shape;496;p20"/>
          <p:cNvCxnSpPr/>
          <p:nvPr/>
        </p:nvCxnSpPr>
        <p:spPr>
          <a:xfrm>
            <a:off x="8433575" y="2607675"/>
            <a:ext cx="2660100" cy="0"/>
          </a:xfrm>
          <a:prstGeom prst="straightConnector1">
            <a:avLst/>
          </a:prstGeom>
          <a:noFill/>
          <a:ln w="22000" cap="rnd" cmpd="sng">
            <a:solidFill>
              <a:srgbClr val="F59E0B"/>
            </a:solidFill>
            <a:prstDash val="solid"/>
            <a:round/>
            <a:headEnd type="none" w="sm" len="sm"/>
            <a:tailEnd type="none" w="sm" len="sm"/>
          </a:ln>
        </p:spPr>
      </p:cxnSp>
      <p:sp>
        <p:nvSpPr>
          <p:cNvPr id="497" name="Google Shape;497;p20"/>
          <p:cNvSpPr/>
          <p:nvPr/>
        </p:nvSpPr>
        <p:spPr>
          <a:xfrm>
            <a:off x="813575" y="2647675"/>
            <a:ext cx="1599900" cy="11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F59E0B"/>
                </a:solidFill>
                <a:latin typeface="Consolas"/>
                <a:ea typeface="Consolas"/>
                <a:cs typeface="Consolas"/>
                <a:sym typeface="Consolas"/>
              </a:rPr>
              <a:t>ORG STRUCTURE</a:t>
            </a:r>
            <a:endParaRPr sz="2200">
              <a:solidFill>
                <a:srgbClr val="F59E0B"/>
              </a:solidFill>
            </a:endParaRPr>
          </a:p>
        </p:txBody>
      </p:sp>
      <p:sp>
        <p:nvSpPr>
          <p:cNvPr id="498" name="Google Shape;498;p20"/>
          <p:cNvSpPr/>
          <p:nvPr/>
        </p:nvSpPr>
        <p:spPr>
          <a:xfrm>
            <a:off x="2563575" y="26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50+ federated</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service teams</a:t>
            </a:r>
            <a:endParaRPr sz="2000" b="1">
              <a:solidFill>
                <a:srgbClr val="1F2328"/>
              </a:solidFill>
              <a:latin typeface="DM Sans"/>
              <a:ea typeface="DM Sans"/>
              <a:cs typeface="DM Sans"/>
              <a:sym typeface="DM Sans"/>
            </a:endParaRPr>
          </a:p>
        </p:txBody>
      </p:sp>
      <p:sp>
        <p:nvSpPr>
          <p:cNvPr id="499" name="Google Shape;499;p20"/>
          <p:cNvSpPr/>
          <p:nvPr/>
        </p:nvSpPr>
        <p:spPr>
          <a:xfrm>
            <a:off x="5463575" y="26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Centralized</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product teams</a:t>
            </a:r>
            <a:endParaRPr sz="2000" b="1">
              <a:solidFill>
                <a:srgbClr val="1F2328"/>
              </a:solidFill>
              <a:latin typeface="DM Sans"/>
              <a:ea typeface="DM Sans"/>
              <a:cs typeface="DM Sans"/>
              <a:sym typeface="DM Sans"/>
            </a:endParaRPr>
          </a:p>
        </p:txBody>
      </p:sp>
      <p:sp>
        <p:nvSpPr>
          <p:cNvPr id="500" name="Google Shape;500;p20"/>
          <p:cNvSpPr/>
          <p:nvPr/>
        </p:nvSpPr>
        <p:spPr>
          <a:xfrm>
            <a:off x="8363575" y="26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a:solidFill>
                  <a:srgbClr val="1F2328"/>
                </a:solidFill>
                <a:latin typeface="DM Sans"/>
                <a:ea typeface="DM Sans"/>
                <a:cs typeface="DM Sans"/>
                <a:sym typeface="DM Sans"/>
              </a:rPr>
              <a:t>International </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a:solidFill>
                  <a:srgbClr val="1F2328"/>
                </a:solidFill>
                <a:latin typeface="DM Sans"/>
                <a:ea typeface="DM Sans"/>
                <a:cs typeface="DM Sans"/>
                <a:sym typeface="DM Sans"/>
              </a:rPr>
              <a:t>Network</a:t>
            </a:r>
            <a:endParaRPr sz="2000" b="1">
              <a:solidFill>
                <a:srgbClr val="1F2328"/>
              </a:solidFill>
              <a:latin typeface="DM Sans"/>
              <a:ea typeface="DM Sans"/>
              <a:cs typeface="DM Sans"/>
              <a:sym typeface="DM Sans"/>
            </a:endParaRPr>
          </a:p>
        </p:txBody>
      </p:sp>
      <p:sp>
        <p:nvSpPr>
          <p:cNvPr id="501" name="Google Shape;501;p20"/>
          <p:cNvSpPr/>
          <p:nvPr/>
        </p:nvSpPr>
        <p:spPr>
          <a:xfrm>
            <a:off x="813575" y="3747675"/>
            <a:ext cx="1599900" cy="11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F59E0B"/>
                </a:solidFill>
                <a:latin typeface="Consolas"/>
                <a:ea typeface="Consolas"/>
                <a:cs typeface="Consolas"/>
                <a:sym typeface="Consolas"/>
              </a:rPr>
              <a:t>REGULATORY</a:t>
            </a:r>
            <a:endParaRPr sz="2200">
              <a:solidFill>
                <a:srgbClr val="F59E0B"/>
              </a:solidFill>
            </a:endParaRPr>
          </a:p>
        </p:txBody>
      </p:sp>
      <p:sp>
        <p:nvSpPr>
          <p:cNvPr id="502" name="Google Shape;502;p20"/>
          <p:cNvSpPr/>
          <p:nvPr/>
        </p:nvSpPr>
        <p:spPr>
          <a:xfrm>
            <a:off x="2563575" y="37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Financial</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compliance</a:t>
            </a:r>
            <a:endParaRPr sz="2000" b="1">
              <a:solidFill>
                <a:srgbClr val="1F2328"/>
              </a:solidFill>
              <a:latin typeface="DM Sans"/>
              <a:ea typeface="DM Sans"/>
              <a:cs typeface="DM Sans"/>
              <a:sym typeface="DM Sans"/>
            </a:endParaRPr>
          </a:p>
        </p:txBody>
      </p:sp>
      <p:sp>
        <p:nvSpPr>
          <p:cNvPr id="503" name="Google Shape;503;p20"/>
          <p:cNvSpPr/>
          <p:nvPr/>
        </p:nvSpPr>
        <p:spPr>
          <a:xfrm>
            <a:off x="5463575" y="37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HIPAA</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 clinical</a:t>
            </a:r>
            <a:endParaRPr sz="2000" b="1">
              <a:solidFill>
                <a:srgbClr val="1F2328"/>
              </a:solidFill>
              <a:latin typeface="DM Sans"/>
              <a:ea typeface="DM Sans"/>
              <a:cs typeface="DM Sans"/>
              <a:sym typeface="DM Sans"/>
            </a:endParaRPr>
          </a:p>
        </p:txBody>
      </p:sp>
      <p:sp>
        <p:nvSpPr>
          <p:cNvPr id="504" name="Google Shape;504;p20"/>
          <p:cNvSpPr/>
          <p:nvPr/>
        </p:nvSpPr>
        <p:spPr>
          <a:xfrm>
            <a:off x="8363575" y="37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Governance</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by committee</a:t>
            </a:r>
            <a:endParaRPr sz="2000" b="1">
              <a:solidFill>
                <a:srgbClr val="1F2328"/>
              </a:solidFill>
              <a:latin typeface="DM Sans"/>
              <a:ea typeface="DM Sans"/>
              <a:cs typeface="DM Sans"/>
              <a:sym typeface="DM Sans"/>
            </a:endParaRPr>
          </a:p>
        </p:txBody>
      </p:sp>
      <p:sp>
        <p:nvSpPr>
          <p:cNvPr id="505" name="Google Shape;505;p20"/>
          <p:cNvSpPr/>
          <p:nvPr/>
        </p:nvSpPr>
        <p:spPr>
          <a:xfrm>
            <a:off x="813575" y="4847675"/>
            <a:ext cx="1599900" cy="11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100" b="1" i="0" u="none" strike="noStrike" cap="none">
                <a:solidFill>
                  <a:srgbClr val="F59E0B"/>
                </a:solidFill>
                <a:latin typeface="Consolas"/>
                <a:ea typeface="Consolas"/>
                <a:cs typeface="Consolas"/>
                <a:sym typeface="Consolas"/>
              </a:rPr>
              <a:t>STARTING POINT</a:t>
            </a:r>
            <a:endParaRPr sz="2200">
              <a:solidFill>
                <a:srgbClr val="F59E0B"/>
              </a:solidFill>
            </a:endParaRPr>
          </a:p>
        </p:txBody>
      </p:sp>
      <p:sp>
        <p:nvSpPr>
          <p:cNvPr id="506" name="Google Shape;506;p20"/>
          <p:cNvSpPr/>
          <p:nvPr/>
        </p:nvSpPr>
        <p:spPr>
          <a:xfrm>
            <a:off x="2563575" y="48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Brownfield</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infrastructure</a:t>
            </a:r>
            <a:endParaRPr sz="2000" b="1">
              <a:solidFill>
                <a:srgbClr val="1F2328"/>
              </a:solidFill>
              <a:latin typeface="DM Sans"/>
              <a:ea typeface="DM Sans"/>
              <a:cs typeface="DM Sans"/>
              <a:sym typeface="DM Sans"/>
            </a:endParaRPr>
          </a:p>
        </p:txBody>
      </p:sp>
      <p:sp>
        <p:nvSpPr>
          <p:cNvPr id="507" name="Google Shape;507;p20"/>
          <p:cNvSpPr/>
          <p:nvPr/>
        </p:nvSpPr>
        <p:spPr>
          <a:xfrm>
            <a:off x="5463575" y="48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Running</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at scale</a:t>
            </a:r>
            <a:endParaRPr sz="2000" b="1">
              <a:solidFill>
                <a:srgbClr val="1F2328"/>
              </a:solidFill>
              <a:latin typeface="DM Sans"/>
              <a:ea typeface="DM Sans"/>
              <a:cs typeface="DM Sans"/>
              <a:sym typeface="DM Sans"/>
            </a:endParaRPr>
          </a:p>
        </p:txBody>
      </p:sp>
      <p:sp>
        <p:nvSpPr>
          <p:cNvPr id="508" name="Google Shape;508;p20"/>
          <p:cNvSpPr/>
          <p:nvPr/>
        </p:nvSpPr>
        <p:spPr>
          <a:xfrm>
            <a:off x="8363575" y="4897675"/>
            <a:ext cx="2799900" cy="999900"/>
          </a:xfrm>
          <a:prstGeom prst="roundRect">
            <a:avLst>
              <a:gd name="adj" fmla="val 16667"/>
            </a:avLst>
          </a:prstGeom>
          <a:solidFill>
            <a:srgbClr val="FFFFFF"/>
          </a:solidFill>
          <a:ln w="10000" cap="rnd" cmpd="sng">
            <a:solidFill>
              <a:srgbClr val="E5E7EB"/>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Greenfield</a:t>
            </a:r>
            <a:endParaRPr sz="2000" b="1">
              <a:solidFill>
                <a:srgbClr val="1F2328"/>
              </a:solidFill>
              <a:latin typeface="DM Sans"/>
              <a:ea typeface="DM Sans"/>
              <a:cs typeface="DM Sans"/>
              <a:sym typeface="DM Sans"/>
            </a:endParaRPr>
          </a:p>
          <a:p>
            <a:pPr marL="0" marR="0" lvl="0" indent="0" algn="ctr" rtl="0">
              <a:lnSpc>
                <a:spcPct val="100000"/>
              </a:lnSpc>
              <a:spcBef>
                <a:spcPts val="0"/>
              </a:spcBef>
              <a:spcAft>
                <a:spcPts val="0"/>
              </a:spcAft>
              <a:buNone/>
            </a:pPr>
            <a:r>
              <a:rPr lang="en-US" sz="2000" b="1" i="0" u="none" strike="noStrike" cap="none">
                <a:solidFill>
                  <a:srgbClr val="1F2328"/>
                </a:solidFill>
                <a:latin typeface="DM Sans"/>
                <a:ea typeface="DM Sans"/>
                <a:cs typeface="DM Sans"/>
                <a:sym typeface="DM Sans"/>
              </a:rPr>
              <a:t>build</a:t>
            </a:r>
            <a:endParaRPr sz="2000" b="1">
              <a:solidFill>
                <a:srgbClr val="1F2328"/>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513"/>
        <p:cNvGrpSpPr/>
        <p:nvPr/>
      </p:nvGrpSpPr>
      <p:grpSpPr>
        <a:xfrm>
          <a:off x="0" y="0"/>
          <a:ext cx="0" cy="0"/>
          <a:chOff x="0" y="0"/>
          <a:chExt cx="0" cy="0"/>
        </a:xfrm>
      </p:grpSpPr>
      <p:sp>
        <p:nvSpPr>
          <p:cNvPr id="514" name="Google Shape;514;p21"/>
          <p:cNvSpPr/>
          <p:nvPr/>
        </p:nvSpPr>
        <p:spPr>
          <a:xfrm>
            <a:off x="685800" y="1955670"/>
            <a:ext cx="10972800" cy="201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9600"/>
              <a:buFont typeface="Fraunces"/>
              <a:buNone/>
            </a:pPr>
            <a:r>
              <a:rPr lang="en-US" sz="9600" b="1">
                <a:solidFill>
                  <a:srgbClr val="1F2328"/>
                </a:solidFill>
                <a:latin typeface="Fraunces"/>
                <a:ea typeface="Fraunces"/>
                <a:cs typeface="Fraunces"/>
                <a:sym typeface="Fraunces"/>
              </a:rPr>
              <a:t>NULL</a:t>
            </a:r>
            <a:endParaRPr sz="9600" b="0" i="0" u="none" strike="noStrike" cap="none">
              <a:solidFill>
                <a:srgbClr val="1F2328"/>
              </a:solidFill>
              <a:latin typeface="Calibri"/>
              <a:ea typeface="Calibri"/>
              <a:cs typeface="Calibri"/>
              <a:sym typeface="Calibri"/>
            </a:endParaRPr>
          </a:p>
        </p:txBody>
      </p:sp>
      <p:sp>
        <p:nvSpPr>
          <p:cNvPr id="515" name="Google Shape;515;p21"/>
          <p:cNvSpPr/>
          <p:nvPr/>
        </p:nvSpPr>
        <p:spPr>
          <a:xfrm>
            <a:off x="685800" y="3520440"/>
            <a:ext cx="107898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3000"/>
              <a:buFont typeface="Fraunces"/>
              <a:buNone/>
            </a:pPr>
            <a:r>
              <a:rPr lang="en-US" sz="2400" b="0" i="1" u="none" strike="noStrike" cap="none">
                <a:solidFill>
                  <a:srgbClr val="F5F5F2"/>
                </a:solidFill>
                <a:latin typeface="Fraunces"/>
                <a:ea typeface="Fraunces"/>
                <a:cs typeface="Fraunces"/>
                <a:sym typeface="Fraunces"/>
              </a:rPr>
              <a:t>Every query starts with context.</a:t>
            </a:r>
            <a:endParaRPr sz="2400" b="0" i="0" u="none" strike="noStrike" cap="none">
              <a:solidFill>
                <a:schemeClr val="dk1"/>
              </a:solidFill>
              <a:latin typeface="Calibri"/>
              <a:ea typeface="Calibri"/>
              <a:cs typeface="Calibri"/>
              <a:sym typeface="Calibri"/>
            </a:endParaRPr>
          </a:p>
        </p:txBody>
      </p:sp>
      <p:sp>
        <p:nvSpPr>
          <p:cNvPr id="516" name="Google Shape;516;p21"/>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517" name="Google Shape;517;p21"/>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518" name="Google Shape;518;p21"/>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2"/>
        </a:solidFill>
        <a:effectLst/>
      </p:bgPr>
    </p:bg>
    <p:spTree>
      <p:nvGrpSpPr>
        <p:cNvPr id="1" name="Shape 523"/>
        <p:cNvGrpSpPr/>
        <p:nvPr/>
      </p:nvGrpSpPr>
      <p:grpSpPr>
        <a:xfrm>
          <a:off x="0" y="0"/>
          <a:ext cx="0" cy="0"/>
          <a:chOff x="0" y="0"/>
          <a:chExt cx="0" cy="0"/>
        </a:xfrm>
      </p:grpSpPr>
      <p:sp>
        <p:nvSpPr>
          <p:cNvPr id="524" name="Google Shape;524;p22"/>
          <p:cNvSpPr/>
          <p:nvPr/>
        </p:nvSpPr>
        <p:spPr>
          <a:xfrm rot="10800000" flipH="1">
            <a:off x="457200" y="1604875"/>
            <a:ext cx="11247000" cy="681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2"/>
          <p:cNvSpPr/>
          <p:nvPr/>
        </p:nvSpPr>
        <p:spPr>
          <a:xfrm>
            <a:off x="457200" y="27432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3000"/>
              <a:buFont typeface="Consolas"/>
              <a:buNone/>
            </a:pPr>
            <a:r>
              <a:rPr lang="en-US" sz="3000" b="1" i="0" u="none" strike="noStrike" cap="none">
                <a:solidFill>
                  <a:srgbClr val="14B8A6"/>
                </a:solidFill>
                <a:latin typeface="Consolas"/>
                <a:ea typeface="Consolas"/>
                <a:cs typeface="Consolas"/>
                <a:sym typeface="Consolas"/>
              </a:rPr>
              <a:t>NULL</a:t>
            </a:r>
            <a:endParaRPr sz="3000" b="0" i="0" u="none" strike="noStrike" cap="none">
              <a:solidFill>
                <a:srgbClr val="14B8A6"/>
              </a:solidFill>
              <a:latin typeface="Calibri"/>
              <a:ea typeface="Calibri"/>
              <a:cs typeface="Calibri"/>
              <a:sym typeface="Calibri"/>
            </a:endParaRPr>
          </a:p>
        </p:txBody>
      </p:sp>
      <p:sp>
        <p:nvSpPr>
          <p:cNvPr id="526" name="Google Shape;526;p22"/>
          <p:cNvSpPr/>
          <p:nvPr/>
        </p:nvSpPr>
        <p:spPr>
          <a:xfrm>
            <a:off x="457200" y="960124"/>
            <a:ext cx="11247000" cy="712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800"/>
              <a:buFont typeface="Fraunces"/>
              <a:buNone/>
            </a:pPr>
            <a:r>
              <a:rPr lang="en-US" sz="4400" b="1">
                <a:solidFill>
                  <a:srgbClr val="1F2328"/>
                </a:solidFill>
                <a:latin typeface="Fraunces"/>
                <a:ea typeface="Fraunces"/>
                <a:cs typeface="Fraunces"/>
                <a:sym typeface="Fraunces"/>
              </a:rPr>
              <a:t>What ideas do you have for solving…</a:t>
            </a:r>
            <a:endParaRPr sz="4400" b="0" i="0" u="none" strike="noStrike" cap="none">
              <a:solidFill>
                <a:schemeClr val="dk1"/>
              </a:solidFill>
              <a:latin typeface="Calibri"/>
              <a:ea typeface="Calibri"/>
              <a:cs typeface="Calibri"/>
              <a:sym typeface="Calibri"/>
            </a:endParaRPr>
          </a:p>
        </p:txBody>
      </p:sp>
      <p:sp>
        <p:nvSpPr>
          <p:cNvPr id="527" name="Google Shape;527;p22"/>
          <p:cNvSpPr/>
          <p:nvPr/>
        </p:nvSpPr>
        <p:spPr>
          <a:xfrm>
            <a:off x="472500" y="1741435"/>
            <a:ext cx="112470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2328"/>
              </a:buClr>
              <a:buSzPts val="2000"/>
              <a:buFont typeface="Fraunces"/>
              <a:buNone/>
            </a:pPr>
            <a:r>
              <a:rPr lang="en-US" sz="2000" b="1" i="1" u="none" strike="noStrike" cap="none">
                <a:solidFill>
                  <a:srgbClr val="1F2328"/>
                </a:solidFill>
                <a:latin typeface="Fraunces"/>
                <a:ea typeface="Fraunces"/>
                <a:cs typeface="Fraunces"/>
                <a:sym typeface="Fraunces"/>
              </a:rPr>
              <a:t>Four fields in the schema </a:t>
            </a:r>
            <a:r>
              <a:rPr lang="en-US" sz="2000" b="1" i="1">
                <a:solidFill>
                  <a:srgbClr val="14B8A6"/>
                </a:solidFill>
                <a:latin typeface="Fraunces"/>
                <a:ea typeface="Fraunces"/>
                <a:cs typeface="Fraunces"/>
                <a:sym typeface="Fraunces"/>
              </a:rPr>
              <a:t>we</a:t>
            </a:r>
            <a:r>
              <a:rPr lang="en-US" sz="2000" b="1" i="1" u="none" strike="noStrike" cap="none">
                <a:solidFill>
                  <a:srgbClr val="14B8A6"/>
                </a:solidFill>
                <a:latin typeface="Fraunces"/>
                <a:ea typeface="Fraunces"/>
                <a:cs typeface="Fraunces"/>
                <a:sym typeface="Fraunces"/>
              </a:rPr>
              <a:t> haven't filled in yet.</a:t>
            </a:r>
            <a:endParaRPr sz="2000" b="0" i="0" u="none" strike="noStrike" cap="none">
              <a:solidFill>
                <a:srgbClr val="14B8A6"/>
              </a:solidFill>
              <a:latin typeface="Calibri"/>
              <a:ea typeface="Calibri"/>
              <a:cs typeface="Calibri"/>
              <a:sym typeface="Calibri"/>
            </a:endParaRPr>
          </a:p>
        </p:txBody>
      </p:sp>
      <p:sp>
        <p:nvSpPr>
          <p:cNvPr id="528" name="Google Shape;528;p22"/>
          <p:cNvSpPr/>
          <p:nvPr/>
        </p:nvSpPr>
        <p:spPr>
          <a:xfrm>
            <a:off x="457200" y="2507513"/>
            <a:ext cx="5486400" cy="1707000"/>
          </a:xfrm>
          <a:prstGeom prst="rect">
            <a:avLst/>
          </a:prstGeom>
          <a:solidFill>
            <a:srgbClr val="FFFFFF"/>
          </a:solidFill>
          <a:ln w="9525" cap="flat" cmpd="sng">
            <a:solidFill>
              <a:srgbClr val="E5E7EB"/>
            </a:solidFill>
            <a:prstDash val="solid"/>
            <a:round/>
            <a:headEnd type="none" w="sm" len="sm"/>
            <a:tailEnd type="none" w="sm" len="sm"/>
          </a:ln>
          <a:effectLst>
            <a:outerShdw blurRad="101600" dist="25400" dir="54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2"/>
          <p:cNvSpPr/>
          <p:nvPr/>
        </p:nvSpPr>
        <p:spPr>
          <a:xfrm>
            <a:off x="731520" y="2658116"/>
            <a:ext cx="4937700" cy="301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300"/>
              <a:buFont typeface="Consolas"/>
              <a:buNone/>
            </a:pPr>
            <a:r>
              <a:rPr lang="en-US" sz="1800" b="1" i="0" u="none" strike="noStrike" cap="none">
                <a:solidFill>
                  <a:srgbClr val="14B8A6"/>
                </a:solidFill>
                <a:latin typeface="Consolas"/>
                <a:ea typeface="Consolas"/>
                <a:cs typeface="Consolas"/>
                <a:sym typeface="Consolas"/>
              </a:rPr>
              <a:t>review_process</a:t>
            </a:r>
            <a:r>
              <a:rPr lang="en-US" sz="1800" b="1" i="0" u="none" strike="noStrike" cap="none">
                <a:solidFill>
                  <a:srgbClr val="0D9488"/>
                </a:solidFill>
                <a:latin typeface="Consolas"/>
                <a:ea typeface="Consolas"/>
                <a:cs typeface="Consolas"/>
                <a:sym typeface="Consolas"/>
              </a:rPr>
              <a:t> </a:t>
            </a:r>
            <a:r>
              <a:rPr lang="en-US" sz="1800" b="0" i="0" u="none" strike="noStrike" cap="none">
                <a:solidFill>
                  <a:srgbClr val="6B7280"/>
                </a:solidFill>
                <a:latin typeface="Consolas"/>
                <a:ea typeface="Consolas"/>
                <a:cs typeface="Consolas"/>
                <a:sym typeface="Consolas"/>
              </a:rPr>
              <a:t>:: </a:t>
            </a:r>
            <a:r>
              <a:rPr lang="en-US" sz="1800" b="1" i="0" u="none" strike="noStrike" cap="none">
                <a:solidFill>
                  <a:srgbClr val="F59E0B"/>
                </a:solidFill>
                <a:latin typeface="Consolas"/>
                <a:ea typeface="Consolas"/>
                <a:cs typeface="Consolas"/>
                <a:sym typeface="Consolas"/>
              </a:rPr>
              <a:t>NULL</a:t>
            </a:r>
            <a:endParaRPr sz="1800" b="0" i="0" u="none" strike="noStrike" cap="none">
              <a:solidFill>
                <a:schemeClr val="dk1"/>
              </a:solidFill>
              <a:latin typeface="Calibri"/>
              <a:ea typeface="Calibri"/>
              <a:cs typeface="Calibri"/>
              <a:sym typeface="Calibri"/>
            </a:endParaRPr>
          </a:p>
        </p:txBody>
      </p:sp>
      <p:sp>
        <p:nvSpPr>
          <p:cNvPr id="530" name="Google Shape;530;p22"/>
          <p:cNvSpPr/>
          <p:nvPr/>
        </p:nvSpPr>
        <p:spPr>
          <a:xfrm>
            <a:off x="731520" y="3009524"/>
            <a:ext cx="4937700" cy="153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2"/>
          <p:cNvSpPr/>
          <p:nvPr/>
        </p:nvSpPr>
        <p:spPr>
          <a:xfrm>
            <a:off x="731520" y="3109926"/>
            <a:ext cx="4937700" cy="451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000"/>
              <a:buFont typeface="Fraunces"/>
              <a:buNone/>
            </a:pPr>
            <a:r>
              <a:rPr lang="en-US" sz="2000" b="1" i="0" u="none" strike="noStrike" cap="none">
                <a:solidFill>
                  <a:srgbClr val="1F2328"/>
                </a:solidFill>
                <a:latin typeface="Fraunces"/>
                <a:ea typeface="Fraunces"/>
                <a:cs typeface="Fraunces"/>
                <a:sym typeface="Fraunces"/>
              </a:rPr>
              <a:t>What </a:t>
            </a:r>
            <a:r>
              <a:rPr lang="en-US" sz="2000" b="1">
                <a:solidFill>
                  <a:srgbClr val="1F2328"/>
                </a:solidFill>
                <a:latin typeface="Fraunces"/>
                <a:ea typeface="Fraunces"/>
                <a:cs typeface="Fraunces"/>
                <a:sym typeface="Fraunces"/>
              </a:rPr>
              <a:t>do</a:t>
            </a:r>
            <a:r>
              <a:rPr lang="en-US" sz="2000" b="1" i="0" u="none" strike="noStrike" cap="none">
                <a:solidFill>
                  <a:srgbClr val="1F2328"/>
                </a:solidFill>
                <a:latin typeface="Fraunces"/>
                <a:ea typeface="Fraunces"/>
                <a:cs typeface="Fraunces"/>
                <a:sym typeface="Fraunces"/>
              </a:rPr>
              <a:t> </a:t>
            </a:r>
            <a:r>
              <a:rPr lang="en-US" sz="2000" b="1">
                <a:solidFill>
                  <a:srgbClr val="1F2328"/>
                </a:solidFill>
                <a:latin typeface="Fraunces"/>
                <a:ea typeface="Fraunces"/>
                <a:cs typeface="Fraunces"/>
                <a:sym typeface="Fraunces"/>
              </a:rPr>
              <a:t>safety and review</a:t>
            </a:r>
            <a:r>
              <a:rPr lang="en-US" sz="2000" b="1" i="0" u="none" strike="noStrike" cap="none">
                <a:solidFill>
                  <a:srgbClr val="1F2328"/>
                </a:solidFill>
                <a:latin typeface="Fraunces"/>
                <a:ea typeface="Fraunces"/>
                <a:cs typeface="Fraunces"/>
                <a:sym typeface="Fraunces"/>
              </a:rPr>
              <a:t> look like?</a:t>
            </a:r>
            <a:endParaRPr sz="2000" b="0" i="0" u="none" strike="noStrike" cap="none">
              <a:solidFill>
                <a:schemeClr val="dk1"/>
              </a:solidFill>
              <a:latin typeface="Calibri"/>
              <a:ea typeface="Calibri"/>
              <a:cs typeface="Calibri"/>
              <a:sym typeface="Calibri"/>
            </a:endParaRPr>
          </a:p>
        </p:txBody>
      </p:sp>
      <p:sp>
        <p:nvSpPr>
          <p:cNvPr id="532" name="Google Shape;532;p22"/>
          <p:cNvSpPr/>
          <p:nvPr/>
        </p:nvSpPr>
        <p:spPr>
          <a:xfrm>
            <a:off x="731520" y="3463976"/>
            <a:ext cx="4937700" cy="55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B7280"/>
              </a:buClr>
              <a:buSzPts val="1800"/>
              <a:buFont typeface="DM Sans"/>
              <a:buNone/>
            </a:pPr>
            <a:r>
              <a:rPr lang="en-US" sz="1800" i="1">
                <a:solidFill>
                  <a:srgbClr val="6B7280"/>
                </a:solidFill>
                <a:latin typeface="DM Sans Light"/>
                <a:ea typeface="DM Sans Light"/>
                <a:cs typeface="DM Sans Light"/>
                <a:sym typeface="DM Sans Light"/>
              </a:rPr>
              <a:t>Hold deployment for human code</a:t>
            </a:r>
            <a:r>
              <a:rPr lang="en-US" sz="1800" i="1" u="none" strike="noStrike" cap="none">
                <a:solidFill>
                  <a:srgbClr val="6B7280"/>
                </a:solidFill>
                <a:latin typeface="DM Sans Light"/>
                <a:ea typeface="DM Sans Light"/>
                <a:cs typeface="DM Sans Light"/>
                <a:sym typeface="DM Sans Light"/>
              </a:rPr>
              <a:t> review? Automated compliance scan? Both?</a:t>
            </a:r>
            <a:endParaRPr sz="1800" i="0" u="none" strike="noStrike" cap="none">
              <a:solidFill>
                <a:schemeClr val="dk1"/>
              </a:solidFill>
              <a:latin typeface="DM Sans Light"/>
              <a:ea typeface="DM Sans Light"/>
              <a:cs typeface="DM Sans Light"/>
              <a:sym typeface="DM Sans Light"/>
            </a:endParaRPr>
          </a:p>
        </p:txBody>
      </p:sp>
      <p:sp>
        <p:nvSpPr>
          <p:cNvPr id="533" name="Google Shape;533;p22"/>
          <p:cNvSpPr/>
          <p:nvPr/>
        </p:nvSpPr>
        <p:spPr>
          <a:xfrm>
            <a:off x="6217923" y="2507513"/>
            <a:ext cx="5486400" cy="1707000"/>
          </a:xfrm>
          <a:prstGeom prst="rect">
            <a:avLst/>
          </a:prstGeom>
          <a:solidFill>
            <a:srgbClr val="FFFFFF"/>
          </a:solidFill>
          <a:ln w="9525" cap="flat" cmpd="sng">
            <a:solidFill>
              <a:srgbClr val="E5E7EB"/>
            </a:solidFill>
            <a:prstDash val="solid"/>
            <a:round/>
            <a:headEnd type="none" w="sm" len="sm"/>
            <a:tailEnd type="none" w="sm" len="sm"/>
          </a:ln>
          <a:effectLst>
            <a:outerShdw blurRad="101600" dist="25400" dir="54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2"/>
          <p:cNvSpPr/>
          <p:nvPr/>
        </p:nvSpPr>
        <p:spPr>
          <a:xfrm>
            <a:off x="6492243" y="2658116"/>
            <a:ext cx="4937700" cy="301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300"/>
              <a:buFont typeface="Consolas"/>
              <a:buNone/>
            </a:pPr>
            <a:r>
              <a:rPr lang="en-US" sz="1800" b="1" i="0" u="none" strike="noStrike" cap="none">
                <a:solidFill>
                  <a:srgbClr val="14B8A6"/>
                </a:solidFill>
                <a:latin typeface="Consolas"/>
                <a:ea typeface="Consolas"/>
                <a:cs typeface="Consolas"/>
                <a:sym typeface="Consolas"/>
              </a:rPr>
              <a:t>handoff</a:t>
            </a:r>
            <a:r>
              <a:rPr lang="en-US" sz="1800" b="1" i="0" u="none" strike="noStrike" cap="none">
                <a:solidFill>
                  <a:srgbClr val="0D9488"/>
                </a:solidFill>
                <a:latin typeface="Consolas"/>
                <a:ea typeface="Consolas"/>
                <a:cs typeface="Consolas"/>
                <a:sym typeface="Consolas"/>
              </a:rPr>
              <a:t> </a:t>
            </a:r>
            <a:r>
              <a:rPr lang="en-US" sz="1800" b="0" i="0" u="none" strike="noStrike" cap="none">
                <a:solidFill>
                  <a:srgbClr val="6B7280"/>
                </a:solidFill>
                <a:latin typeface="Consolas"/>
                <a:ea typeface="Consolas"/>
                <a:cs typeface="Consolas"/>
                <a:sym typeface="Consolas"/>
              </a:rPr>
              <a:t>:: </a:t>
            </a:r>
            <a:r>
              <a:rPr lang="en-US" sz="1800" b="1" i="0" u="none" strike="noStrike" cap="none">
                <a:solidFill>
                  <a:srgbClr val="F59E0B"/>
                </a:solidFill>
                <a:latin typeface="Consolas"/>
                <a:ea typeface="Consolas"/>
                <a:cs typeface="Consolas"/>
                <a:sym typeface="Consolas"/>
              </a:rPr>
              <a:t>NULL</a:t>
            </a:r>
            <a:endParaRPr sz="1800" b="0" i="0" u="none" strike="noStrike" cap="none">
              <a:solidFill>
                <a:schemeClr val="dk1"/>
              </a:solidFill>
              <a:latin typeface="Calibri"/>
              <a:ea typeface="Calibri"/>
              <a:cs typeface="Calibri"/>
              <a:sym typeface="Calibri"/>
            </a:endParaRPr>
          </a:p>
        </p:txBody>
      </p:sp>
      <p:sp>
        <p:nvSpPr>
          <p:cNvPr id="535" name="Google Shape;535;p22"/>
          <p:cNvSpPr/>
          <p:nvPr/>
        </p:nvSpPr>
        <p:spPr>
          <a:xfrm>
            <a:off x="6492243" y="3009524"/>
            <a:ext cx="4937700" cy="153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2"/>
          <p:cNvSpPr/>
          <p:nvPr/>
        </p:nvSpPr>
        <p:spPr>
          <a:xfrm>
            <a:off x="6492243" y="3109926"/>
            <a:ext cx="4937700" cy="451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000"/>
              <a:buFont typeface="Fraunces"/>
              <a:buNone/>
            </a:pPr>
            <a:r>
              <a:rPr lang="en-US" sz="2000" b="1" i="0" u="none" strike="noStrike" cap="none">
                <a:solidFill>
                  <a:srgbClr val="1F2328"/>
                </a:solidFill>
                <a:latin typeface="Fraunces"/>
                <a:ea typeface="Fraunces"/>
                <a:cs typeface="Fraunces"/>
                <a:sym typeface="Fraunces"/>
              </a:rPr>
              <a:t>What pulls a human back in?</a:t>
            </a:r>
            <a:endParaRPr sz="2000" b="0" i="0" u="none" strike="noStrike" cap="none">
              <a:solidFill>
                <a:schemeClr val="dk1"/>
              </a:solidFill>
              <a:latin typeface="Calibri"/>
              <a:ea typeface="Calibri"/>
              <a:cs typeface="Calibri"/>
              <a:sym typeface="Calibri"/>
            </a:endParaRPr>
          </a:p>
        </p:txBody>
      </p:sp>
      <p:sp>
        <p:nvSpPr>
          <p:cNvPr id="537" name="Google Shape;537;p22"/>
          <p:cNvSpPr/>
          <p:nvPr/>
        </p:nvSpPr>
        <p:spPr>
          <a:xfrm>
            <a:off x="6492243" y="3463976"/>
            <a:ext cx="4937700" cy="55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B7280"/>
              </a:buClr>
              <a:buSzPts val="1800"/>
              <a:buFont typeface="DM Sans"/>
              <a:buNone/>
            </a:pPr>
            <a:r>
              <a:rPr lang="en-US" sz="1800" i="1" u="none" strike="noStrike" cap="none">
                <a:solidFill>
                  <a:srgbClr val="6B7280"/>
                </a:solidFill>
                <a:latin typeface="DM Sans Light"/>
                <a:ea typeface="DM Sans Light"/>
                <a:cs typeface="DM Sans Light"/>
                <a:sym typeface="DM Sans Light"/>
              </a:rPr>
              <a:t>Once SQL is approved, where does observability pick up?</a:t>
            </a:r>
            <a:endParaRPr sz="1800" i="0" u="none" strike="noStrike" cap="none">
              <a:solidFill>
                <a:schemeClr val="dk1"/>
              </a:solidFill>
              <a:latin typeface="DM Sans Light"/>
              <a:ea typeface="DM Sans Light"/>
              <a:cs typeface="DM Sans Light"/>
              <a:sym typeface="DM Sans Light"/>
            </a:endParaRPr>
          </a:p>
        </p:txBody>
      </p:sp>
      <p:sp>
        <p:nvSpPr>
          <p:cNvPr id="538" name="Google Shape;538;p22"/>
          <p:cNvSpPr/>
          <p:nvPr/>
        </p:nvSpPr>
        <p:spPr>
          <a:xfrm>
            <a:off x="457200" y="4465356"/>
            <a:ext cx="5486400" cy="1707000"/>
          </a:xfrm>
          <a:prstGeom prst="rect">
            <a:avLst/>
          </a:prstGeom>
          <a:solidFill>
            <a:srgbClr val="FFFFFF"/>
          </a:solidFill>
          <a:ln w="9525" cap="flat" cmpd="sng">
            <a:solidFill>
              <a:srgbClr val="E5E7EB"/>
            </a:solidFill>
            <a:prstDash val="solid"/>
            <a:round/>
            <a:headEnd type="none" w="sm" len="sm"/>
            <a:tailEnd type="none" w="sm" len="sm"/>
          </a:ln>
          <a:effectLst>
            <a:outerShdw blurRad="101600" dist="25400" dir="54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2"/>
          <p:cNvSpPr/>
          <p:nvPr/>
        </p:nvSpPr>
        <p:spPr>
          <a:xfrm>
            <a:off x="731520" y="4615959"/>
            <a:ext cx="4937700" cy="301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300"/>
              <a:buFont typeface="Consolas"/>
              <a:buNone/>
            </a:pPr>
            <a:r>
              <a:rPr lang="en-US" sz="1800" b="1" i="0" u="none" strike="noStrike" cap="none">
                <a:solidFill>
                  <a:srgbClr val="14B8A6"/>
                </a:solidFill>
                <a:latin typeface="Consolas"/>
                <a:ea typeface="Consolas"/>
                <a:cs typeface="Consolas"/>
                <a:sym typeface="Consolas"/>
              </a:rPr>
              <a:t>feedback_flow</a:t>
            </a:r>
            <a:r>
              <a:rPr lang="en-US" sz="1800" b="1" i="0" u="none" strike="noStrike" cap="none">
                <a:solidFill>
                  <a:srgbClr val="0D9488"/>
                </a:solidFill>
                <a:latin typeface="Consolas"/>
                <a:ea typeface="Consolas"/>
                <a:cs typeface="Consolas"/>
                <a:sym typeface="Consolas"/>
              </a:rPr>
              <a:t> </a:t>
            </a:r>
            <a:r>
              <a:rPr lang="en-US" sz="1800" b="0" i="0" u="none" strike="noStrike" cap="none">
                <a:solidFill>
                  <a:srgbClr val="6B7280"/>
                </a:solidFill>
                <a:latin typeface="Consolas"/>
                <a:ea typeface="Consolas"/>
                <a:cs typeface="Consolas"/>
                <a:sym typeface="Consolas"/>
              </a:rPr>
              <a:t>:: </a:t>
            </a:r>
            <a:r>
              <a:rPr lang="en-US" sz="1800" b="1" i="0" u="none" strike="noStrike" cap="none">
                <a:solidFill>
                  <a:srgbClr val="F59E0B"/>
                </a:solidFill>
                <a:latin typeface="Consolas"/>
                <a:ea typeface="Consolas"/>
                <a:cs typeface="Consolas"/>
                <a:sym typeface="Consolas"/>
              </a:rPr>
              <a:t>NULL</a:t>
            </a:r>
            <a:endParaRPr sz="1800" b="0" i="0" u="none" strike="noStrike" cap="none">
              <a:solidFill>
                <a:schemeClr val="dk1"/>
              </a:solidFill>
              <a:latin typeface="Calibri"/>
              <a:ea typeface="Calibri"/>
              <a:cs typeface="Calibri"/>
              <a:sym typeface="Calibri"/>
            </a:endParaRPr>
          </a:p>
        </p:txBody>
      </p:sp>
      <p:sp>
        <p:nvSpPr>
          <p:cNvPr id="540" name="Google Shape;540;p22"/>
          <p:cNvSpPr/>
          <p:nvPr/>
        </p:nvSpPr>
        <p:spPr>
          <a:xfrm>
            <a:off x="731520" y="4967367"/>
            <a:ext cx="4937700" cy="153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2"/>
          <p:cNvSpPr/>
          <p:nvPr/>
        </p:nvSpPr>
        <p:spPr>
          <a:xfrm>
            <a:off x="731520" y="5067769"/>
            <a:ext cx="4937700" cy="451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000"/>
              <a:buFont typeface="Fraunces"/>
              <a:buNone/>
            </a:pPr>
            <a:r>
              <a:rPr lang="en-US" sz="2000" b="1" i="0" u="none" strike="noStrike" cap="none">
                <a:solidFill>
                  <a:srgbClr val="1F2328"/>
                </a:solidFill>
                <a:latin typeface="Fraunces"/>
                <a:ea typeface="Fraunces"/>
                <a:cs typeface="Fraunces"/>
                <a:sym typeface="Fraunces"/>
              </a:rPr>
              <a:t>How does</a:t>
            </a:r>
            <a:r>
              <a:rPr lang="en-US" sz="2000" b="1">
                <a:solidFill>
                  <a:srgbClr val="1F2328"/>
                </a:solidFill>
                <a:latin typeface="Fraunces"/>
                <a:ea typeface="Fraunces"/>
                <a:cs typeface="Fraunces"/>
                <a:sym typeface="Fraunces"/>
              </a:rPr>
              <a:t> the </a:t>
            </a:r>
            <a:r>
              <a:rPr lang="en-US" sz="2000" b="1" i="0" u="none" strike="noStrike" cap="none">
                <a:solidFill>
                  <a:srgbClr val="1F2328"/>
                </a:solidFill>
                <a:latin typeface="Fraunces"/>
                <a:ea typeface="Fraunces"/>
                <a:cs typeface="Fraunces"/>
                <a:sym typeface="Fraunces"/>
              </a:rPr>
              <a:t>feedback</a:t>
            </a:r>
            <a:r>
              <a:rPr lang="en-US" sz="2000" b="1">
                <a:solidFill>
                  <a:srgbClr val="1F2328"/>
                </a:solidFill>
                <a:latin typeface="Fraunces"/>
                <a:ea typeface="Fraunces"/>
                <a:cs typeface="Fraunces"/>
                <a:sym typeface="Fraunces"/>
              </a:rPr>
              <a:t> loop</a:t>
            </a:r>
            <a:r>
              <a:rPr lang="en-US" sz="2000" b="1" i="0" u="none" strike="noStrike" cap="none">
                <a:solidFill>
                  <a:srgbClr val="1F2328"/>
                </a:solidFill>
                <a:latin typeface="Fraunces"/>
                <a:ea typeface="Fraunces"/>
                <a:cs typeface="Fraunces"/>
                <a:sym typeface="Fraunces"/>
              </a:rPr>
              <a:t> close?</a:t>
            </a:r>
            <a:endParaRPr sz="2000" b="0" i="0" u="none" strike="noStrike" cap="none">
              <a:solidFill>
                <a:schemeClr val="dk1"/>
              </a:solidFill>
              <a:latin typeface="Calibri"/>
              <a:ea typeface="Calibri"/>
              <a:cs typeface="Calibri"/>
              <a:sym typeface="Calibri"/>
            </a:endParaRPr>
          </a:p>
        </p:txBody>
      </p:sp>
      <p:sp>
        <p:nvSpPr>
          <p:cNvPr id="542" name="Google Shape;542;p22"/>
          <p:cNvSpPr/>
          <p:nvPr/>
        </p:nvSpPr>
        <p:spPr>
          <a:xfrm>
            <a:off x="731520" y="5421819"/>
            <a:ext cx="4937700" cy="55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B7280"/>
              </a:buClr>
              <a:buSzPts val="1800"/>
              <a:buFont typeface="DM Sans"/>
              <a:buNone/>
            </a:pPr>
            <a:r>
              <a:rPr lang="en-US" sz="1800" i="1" u="none" strike="noStrike" cap="none">
                <a:solidFill>
                  <a:srgbClr val="6B7280"/>
                </a:solidFill>
                <a:latin typeface="DM Sans Light"/>
                <a:ea typeface="DM Sans Light"/>
                <a:cs typeface="DM Sans Light"/>
                <a:sym typeface="DM Sans Light"/>
              </a:rPr>
              <a:t>When infrastructure surfaces issues, does it reach the author?</a:t>
            </a:r>
            <a:endParaRPr sz="1800" i="0" u="none" strike="noStrike" cap="none">
              <a:solidFill>
                <a:schemeClr val="dk1"/>
              </a:solidFill>
              <a:latin typeface="DM Sans Light"/>
              <a:ea typeface="DM Sans Light"/>
              <a:cs typeface="DM Sans Light"/>
              <a:sym typeface="DM Sans Light"/>
            </a:endParaRPr>
          </a:p>
        </p:txBody>
      </p:sp>
      <p:sp>
        <p:nvSpPr>
          <p:cNvPr id="543" name="Google Shape;543;p22"/>
          <p:cNvSpPr/>
          <p:nvPr/>
        </p:nvSpPr>
        <p:spPr>
          <a:xfrm>
            <a:off x="6217923" y="4465356"/>
            <a:ext cx="5486400" cy="1707000"/>
          </a:xfrm>
          <a:prstGeom prst="rect">
            <a:avLst/>
          </a:prstGeom>
          <a:solidFill>
            <a:srgbClr val="FFFFFF"/>
          </a:solidFill>
          <a:ln w="9525" cap="flat" cmpd="sng">
            <a:solidFill>
              <a:srgbClr val="E5E7EB"/>
            </a:solidFill>
            <a:prstDash val="solid"/>
            <a:round/>
            <a:headEnd type="none" w="sm" len="sm"/>
            <a:tailEnd type="none" w="sm" len="sm"/>
          </a:ln>
          <a:effectLst>
            <a:outerShdw blurRad="101600" dist="25400" dir="54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2"/>
          <p:cNvSpPr/>
          <p:nvPr/>
        </p:nvSpPr>
        <p:spPr>
          <a:xfrm>
            <a:off x="6492243" y="4615959"/>
            <a:ext cx="4937700" cy="301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9488"/>
              </a:buClr>
              <a:buSzPts val="1300"/>
              <a:buFont typeface="Consolas"/>
              <a:buNone/>
            </a:pPr>
            <a:r>
              <a:rPr lang="en-US" sz="1800" b="1" i="0" u="none" strike="noStrike" cap="none">
                <a:solidFill>
                  <a:srgbClr val="14B8A6"/>
                </a:solidFill>
                <a:latin typeface="Consolas"/>
                <a:ea typeface="Consolas"/>
                <a:cs typeface="Consolas"/>
                <a:sym typeface="Consolas"/>
              </a:rPr>
              <a:t>the_line</a:t>
            </a:r>
            <a:r>
              <a:rPr lang="en-US" sz="1800" b="1" i="0" u="none" strike="noStrike" cap="none">
                <a:solidFill>
                  <a:srgbClr val="0D9488"/>
                </a:solidFill>
                <a:latin typeface="Consolas"/>
                <a:ea typeface="Consolas"/>
                <a:cs typeface="Consolas"/>
                <a:sym typeface="Consolas"/>
              </a:rPr>
              <a:t> </a:t>
            </a:r>
            <a:r>
              <a:rPr lang="en-US" sz="1800" b="0" i="0" u="none" strike="noStrike" cap="none">
                <a:solidFill>
                  <a:srgbClr val="6B7280"/>
                </a:solidFill>
                <a:latin typeface="Consolas"/>
                <a:ea typeface="Consolas"/>
                <a:cs typeface="Consolas"/>
                <a:sym typeface="Consolas"/>
              </a:rPr>
              <a:t>:: </a:t>
            </a:r>
            <a:r>
              <a:rPr lang="en-US" sz="1800" b="1" i="0" u="none" strike="noStrike" cap="none">
                <a:solidFill>
                  <a:srgbClr val="F59E0B"/>
                </a:solidFill>
                <a:latin typeface="Consolas"/>
                <a:ea typeface="Consolas"/>
                <a:cs typeface="Consolas"/>
                <a:sym typeface="Consolas"/>
              </a:rPr>
              <a:t>NULL</a:t>
            </a:r>
            <a:endParaRPr sz="1800" b="0" i="0" u="none" strike="noStrike" cap="none">
              <a:solidFill>
                <a:schemeClr val="dk1"/>
              </a:solidFill>
              <a:latin typeface="Calibri"/>
              <a:ea typeface="Calibri"/>
              <a:cs typeface="Calibri"/>
              <a:sym typeface="Calibri"/>
            </a:endParaRPr>
          </a:p>
        </p:txBody>
      </p:sp>
      <p:sp>
        <p:nvSpPr>
          <p:cNvPr id="545" name="Google Shape;545;p22"/>
          <p:cNvSpPr/>
          <p:nvPr/>
        </p:nvSpPr>
        <p:spPr>
          <a:xfrm>
            <a:off x="6492243" y="4967367"/>
            <a:ext cx="4937700" cy="15300"/>
          </a:xfrm>
          <a:prstGeom prst="rect">
            <a:avLst/>
          </a:prstGeom>
          <a:solidFill>
            <a:srgbClr val="E5E7EB"/>
          </a:solid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2"/>
          <p:cNvSpPr/>
          <p:nvPr/>
        </p:nvSpPr>
        <p:spPr>
          <a:xfrm>
            <a:off x="6492243" y="5067769"/>
            <a:ext cx="4937700" cy="451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F2328"/>
              </a:buClr>
              <a:buSzPts val="2000"/>
              <a:buFont typeface="Fraunces"/>
              <a:buNone/>
            </a:pPr>
            <a:r>
              <a:rPr lang="en-US" sz="2000" b="1" i="0" u="none" strike="noStrike" cap="none">
                <a:solidFill>
                  <a:srgbClr val="1F2328"/>
                </a:solidFill>
                <a:latin typeface="Fraunces"/>
                <a:ea typeface="Fraunces"/>
                <a:cs typeface="Fraunces"/>
                <a:sym typeface="Fraunces"/>
              </a:rPr>
              <a:t>Does the line move?</a:t>
            </a:r>
            <a:endParaRPr sz="2000" b="0" i="0" u="none" strike="noStrike" cap="none">
              <a:solidFill>
                <a:schemeClr val="dk1"/>
              </a:solidFill>
              <a:latin typeface="Calibri"/>
              <a:ea typeface="Calibri"/>
              <a:cs typeface="Calibri"/>
              <a:sym typeface="Calibri"/>
            </a:endParaRPr>
          </a:p>
        </p:txBody>
      </p:sp>
      <p:sp>
        <p:nvSpPr>
          <p:cNvPr id="547" name="Google Shape;547;p22"/>
          <p:cNvSpPr/>
          <p:nvPr/>
        </p:nvSpPr>
        <p:spPr>
          <a:xfrm>
            <a:off x="6492243" y="5421819"/>
            <a:ext cx="4937700" cy="55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6B7280"/>
              </a:buClr>
              <a:buSzPts val="1800"/>
              <a:buFont typeface="DM Sans"/>
              <a:buNone/>
            </a:pPr>
            <a:r>
              <a:rPr lang="en-US" sz="1800" i="1" u="none" strike="noStrike" cap="none">
                <a:solidFill>
                  <a:srgbClr val="6B7280"/>
                </a:solidFill>
                <a:latin typeface="DM Sans Light"/>
                <a:ea typeface="DM Sans Light"/>
                <a:cs typeface="DM Sans Light"/>
                <a:sym typeface="DM Sans Light"/>
              </a:rPr>
              <a:t>As AI improves, does SQL hold as the collaboration point?</a:t>
            </a:r>
            <a:endParaRPr sz="1800" i="0" u="none" strike="noStrike" cap="none">
              <a:solidFill>
                <a:schemeClr val="dk1"/>
              </a:solidFill>
              <a:latin typeface="DM Sans Light"/>
              <a:ea typeface="DM Sans Light"/>
              <a:cs typeface="DM Sans Light"/>
              <a:sym typeface="DM Sans Light"/>
            </a:endParaRPr>
          </a:p>
        </p:txBody>
      </p:sp>
      <p:sp>
        <p:nvSpPr>
          <p:cNvPr id="548" name="Google Shape;548;p22"/>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14B8A6"/>
                </a:solidFill>
                <a:latin typeface="DM Sans"/>
                <a:ea typeface="DM Sans"/>
                <a:cs typeface="DM Sans"/>
                <a:sym typeface="DM Sans"/>
              </a:rPr>
              <a:t>‹#›</a:t>
            </a:r>
            <a:endParaRPr>
              <a:solidFill>
                <a:srgbClr val="14B8A6"/>
              </a:solidFill>
            </a:endParaRPr>
          </a:p>
        </p:txBody>
      </p:sp>
      <p:cxnSp>
        <p:nvCxnSpPr>
          <p:cNvPr id="549" name="Google Shape;549;p22"/>
          <p:cNvCxnSpPr/>
          <p:nvPr/>
        </p:nvCxnSpPr>
        <p:spPr>
          <a:xfrm>
            <a:off x="572063" y="6617763"/>
            <a:ext cx="4984200" cy="0"/>
          </a:xfrm>
          <a:prstGeom prst="straightConnector1">
            <a:avLst/>
          </a:prstGeom>
          <a:noFill/>
          <a:ln w="38100" cap="rnd" cmpd="sng">
            <a:solidFill>
              <a:srgbClr val="14B8A6"/>
            </a:solidFill>
            <a:prstDash val="solid"/>
            <a:round/>
            <a:headEnd type="none" w="lg" len="lg"/>
            <a:tailEnd type="none" w="sm" len="sm"/>
          </a:ln>
        </p:spPr>
      </p:cxnSp>
      <p:cxnSp>
        <p:nvCxnSpPr>
          <p:cNvPr id="550" name="Google Shape;550;p22"/>
          <p:cNvCxnSpPr/>
          <p:nvPr/>
        </p:nvCxnSpPr>
        <p:spPr>
          <a:xfrm>
            <a:off x="6520483" y="6617751"/>
            <a:ext cx="5178000" cy="0"/>
          </a:xfrm>
          <a:prstGeom prst="straightConnector1">
            <a:avLst/>
          </a:prstGeom>
          <a:noFill/>
          <a:ln w="38100" cap="rnd" cmpd="sng">
            <a:solidFill>
              <a:srgbClr val="14B8A6"/>
            </a:solidFill>
            <a:prstDash val="solid"/>
            <a:round/>
            <a:headEnd type="none" w="sm" len="sm"/>
            <a:tailEnd type="none" w="lg" len="lg"/>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555"/>
        <p:cNvGrpSpPr/>
        <p:nvPr/>
      </p:nvGrpSpPr>
      <p:grpSpPr>
        <a:xfrm>
          <a:off x="0" y="0"/>
          <a:ext cx="0" cy="0"/>
          <a:chOff x="0" y="0"/>
          <a:chExt cx="0" cy="0"/>
        </a:xfrm>
      </p:grpSpPr>
      <p:sp>
        <p:nvSpPr>
          <p:cNvPr id="556" name="Google Shape;556;p23"/>
          <p:cNvSpPr/>
          <p:nvPr/>
        </p:nvSpPr>
        <p:spPr>
          <a:xfrm>
            <a:off x="472500" y="1265370"/>
            <a:ext cx="11247000" cy="82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5F5F2"/>
              </a:buClr>
              <a:buSzPts val="3200"/>
              <a:buFont typeface="Fraunces"/>
              <a:buNone/>
            </a:pPr>
            <a:r>
              <a:rPr lang="en-US" sz="4400" b="1" i="0" u="none" strike="noStrike" cap="none">
                <a:solidFill>
                  <a:srgbClr val="F5F5F2"/>
                </a:solidFill>
                <a:latin typeface="Fraunces"/>
                <a:ea typeface="Fraunces"/>
                <a:cs typeface="Fraunces"/>
                <a:sym typeface="Fraunces"/>
              </a:rPr>
              <a:t>Bringing it together</a:t>
            </a:r>
            <a:endParaRPr sz="4400" b="0" i="0" u="none" strike="noStrike" cap="none">
              <a:solidFill>
                <a:srgbClr val="F5F5F2"/>
              </a:solidFill>
              <a:latin typeface="Calibri"/>
              <a:ea typeface="Calibri"/>
              <a:cs typeface="Calibri"/>
              <a:sym typeface="Calibri"/>
            </a:endParaRPr>
          </a:p>
        </p:txBody>
      </p:sp>
      <p:sp>
        <p:nvSpPr>
          <p:cNvPr id="557" name="Google Shape;557;p23"/>
          <p:cNvSpPr/>
          <p:nvPr/>
        </p:nvSpPr>
        <p:spPr>
          <a:xfrm>
            <a:off x="472500" y="57957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3000"/>
              <a:buFont typeface="Consolas"/>
              <a:buNone/>
            </a:pPr>
            <a:r>
              <a:rPr lang="en-US" sz="3000" b="1" i="0" u="none" strike="noStrike" cap="none">
                <a:solidFill>
                  <a:srgbClr val="14B8A6"/>
                </a:solidFill>
                <a:latin typeface="Consolas"/>
                <a:ea typeface="Consolas"/>
                <a:cs typeface="Consolas"/>
                <a:sym typeface="Consolas"/>
              </a:rPr>
              <a:t>COALESCE</a:t>
            </a:r>
            <a:endParaRPr sz="3000" b="0" i="0" u="none" strike="noStrike" cap="none">
              <a:solidFill>
                <a:schemeClr val="dk1"/>
              </a:solidFill>
              <a:latin typeface="Calibri"/>
              <a:ea typeface="Calibri"/>
              <a:cs typeface="Calibri"/>
              <a:sym typeface="Calibri"/>
            </a:endParaRPr>
          </a:p>
        </p:txBody>
      </p:sp>
      <p:sp>
        <p:nvSpPr>
          <p:cNvPr id="558" name="Google Shape;558;p23"/>
          <p:cNvSpPr/>
          <p:nvPr/>
        </p:nvSpPr>
        <p:spPr>
          <a:xfrm>
            <a:off x="472500" y="2042610"/>
            <a:ext cx="822900" cy="36600"/>
          </a:xfrm>
          <a:prstGeom prst="rect">
            <a:avLst/>
          </a:prstGeom>
          <a:solidFill>
            <a:srgbClr val="14B8A6"/>
          </a:solidFill>
          <a:ln w="127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3"/>
          <p:cNvSpPr/>
          <p:nvPr/>
        </p:nvSpPr>
        <p:spPr>
          <a:xfrm>
            <a:off x="892850" y="5766725"/>
            <a:ext cx="10805700" cy="411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4B8A6"/>
              </a:buClr>
              <a:buSzPts val="1800"/>
              <a:buFont typeface="Consolas"/>
              <a:buNone/>
            </a:pPr>
            <a:r>
              <a:rPr lang="en-US" sz="2200" b="1" i="0" u="none" strike="noStrike" cap="none">
                <a:solidFill>
                  <a:srgbClr val="14B8A6"/>
                </a:solidFill>
                <a:latin typeface="Consolas"/>
                <a:ea typeface="Consolas"/>
                <a:cs typeface="Consolas"/>
                <a:sym typeface="Consolas"/>
              </a:rPr>
              <a:t>COALESCE</a:t>
            </a:r>
            <a:r>
              <a:rPr lang="en-US" sz="2200" b="0" i="0" u="none" strike="noStrike" cap="none">
                <a:solidFill>
                  <a:srgbClr val="F5F5F2"/>
                </a:solidFill>
                <a:latin typeface="Consolas"/>
                <a:ea typeface="Consolas"/>
                <a:cs typeface="Consolas"/>
                <a:sym typeface="Consolas"/>
              </a:rPr>
              <a:t>(</a:t>
            </a:r>
            <a:r>
              <a:rPr lang="en-US" sz="2200" b="1" i="0" u="none" strike="noStrike" cap="none">
                <a:solidFill>
                  <a:srgbClr val="F59E0B"/>
                </a:solidFill>
                <a:latin typeface="Consolas"/>
                <a:ea typeface="Consolas"/>
                <a:cs typeface="Consolas"/>
                <a:sym typeface="Consolas"/>
              </a:rPr>
              <a:t>humans</a:t>
            </a:r>
            <a:r>
              <a:rPr lang="en-US" sz="2200" b="0" i="0" u="none" strike="noStrike" cap="none">
                <a:solidFill>
                  <a:srgbClr val="F5F5F2"/>
                </a:solidFill>
                <a:latin typeface="Consolas"/>
                <a:ea typeface="Consolas"/>
                <a:cs typeface="Consolas"/>
                <a:sym typeface="Consolas"/>
              </a:rPr>
              <a:t>, </a:t>
            </a:r>
            <a:r>
              <a:rPr lang="en-US" sz="2200" b="1" i="0" u="none" strike="noStrike" cap="none">
                <a:solidFill>
                  <a:srgbClr val="F59E0B"/>
                </a:solidFill>
                <a:latin typeface="Consolas"/>
                <a:ea typeface="Consolas"/>
                <a:cs typeface="Consolas"/>
                <a:sym typeface="Consolas"/>
              </a:rPr>
              <a:t>ai</a:t>
            </a:r>
            <a:r>
              <a:rPr lang="en-US" sz="2200" b="0" i="0" u="none" strike="noStrike" cap="none">
                <a:solidFill>
                  <a:srgbClr val="F5F5F2"/>
                </a:solidFill>
                <a:latin typeface="Consolas"/>
                <a:ea typeface="Consolas"/>
                <a:cs typeface="Consolas"/>
                <a:sym typeface="Consolas"/>
              </a:rPr>
              <a:t>) → </a:t>
            </a:r>
            <a:r>
              <a:rPr lang="en-US" sz="2200" b="0" i="1" u="none" strike="noStrike" cap="none">
                <a:solidFill>
                  <a:srgbClr val="14B8A6"/>
                </a:solidFill>
                <a:latin typeface="Consolas"/>
                <a:ea typeface="Consolas"/>
                <a:cs typeface="Consolas"/>
                <a:sym typeface="Consolas"/>
              </a:rPr>
              <a:t>one operational flow</a:t>
            </a:r>
            <a:r>
              <a:rPr lang="en-US" sz="2200" b="0" i="0" u="none" strike="noStrike" cap="none">
                <a:solidFill>
                  <a:srgbClr val="F5F5F2"/>
                </a:solidFill>
                <a:latin typeface="Consolas"/>
                <a:ea typeface="Consolas"/>
                <a:cs typeface="Consolas"/>
                <a:sym typeface="Consolas"/>
              </a:rPr>
              <a:t>;</a:t>
            </a:r>
            <a:endParaRPr sz="2200" b="0" i="0" u="none" strike="noStrike" cap="none">
              <a:solidFill>
                <a:schemeClr val="dk1"/>
              </a:solidFill>
              <a:latin typeface="Calibri"/>
              <a:ea typeface="Calibri"/>
              <a:cs typeface="Calibri"/>
              <a:sym typeface="Calibri"/>
            </a:endParaRPr>
          </a:p>
        </p:txBody>
      </p:sp>
      <p:sp>
        <p:nvSpPr>
          <p:cNvPr id="560" name="Google Shape;560;p23"/>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F59E0B"/>
                </a:solidFill>
                <a:latin typeface="DM Sans"/>
                <a:ea typeface="DM Sans"/>
                <a:cs typeface="DM Sans"/>
                <a:sym typeface="DM Sans"/>
              </a:rPr>
              <a:t>‹#›</a:t>
            </a:r>
            <a:endParaRPr>
              <a:solidFill>
                <a:srgbClr val="F59E0B"/>
              </a:solidFill>
            </a:endParaRPr>
          </a:p>
        </p:txBody>
      </p:sp>
      <p:cxnSp>
        <p:nvCxnSpPr>
          <p:cNvPr id="561" name="Google Shape;561;p23"/>
          <p:cNvCxnSpPr/>
          <p:nvPr/>
        </p:nvCxnSpPr>
        <p:spPr>
          <a:xfrm>
            <a:off x="572063" y="6617763"/>
            <a:ext cx="4984200" cy="0"/>
          </a:xfrm>
          <a:prstGeom prst="straightConnector1">
            <a:avLst/>
          </a:prstGeom>
          <a:noFill/>
          <a:ln w="38100" cap="rnd" cmpd="sng">
            <a:solidFill>
              <a:srgbClr val="F59E0B"/>
            </a:solidFill>
            <a:prstDash val="solid"/>
            <a:round/>
            <a:headEnd type="none" w="lg" len="lg"/>
            <a:tailEnd type="none" w="sm" len="sm"/>
          </a:ln>
        </p:spPr>
      </p:cxnSp>
      <p:cxnSp>
        <p:nvCxnSpPr>
          <p:cNvPr id="562" name="Google Shape;562;p23"/>
          <p:cNvCxnSpPr/>
          <p:nvPr/>
        </p:nvCxnSpPr>
        <p:spPr>
          <a:xfrm>
            <a:off x="6520483" y="6617751"/>
            <a:ext cx="5178000" cy="0"/>
          </a:xfrm>
          <a:prstGeom prst="straightConnector1">
            <a:avLst/>
          </a:prstGeom>
          <a:noFill/>
          <a:ln w="38100" cap="rnd" cmpd="sng">
            <a:solidFill>
              <a:srgbClr val="F59E0B"/>
            </a:solidFill>
            <a:prstDash val="solid"/>
            <a:round/>
            <a:headEnd type="none" w="sm" len="sm"/>
            <a:tailEnd type="none" w="lg" len="lg"/>
          </a:ln>
        </p:spPr>
      </p:cxnSp>
      <p:sp>
        <p:nvSpPr>
          <p:cNvPr id="563" name="Google Shape;563;p23"/>
          <p:cNvSpPr/>
          <p:nvPr/>
        </p:nvSpPr>
        <p:spPr>
          <a:xfrm>
            <a:off x="3136400" y="2583350"/>
            <a:ext cx="3046000" cy="1170000"/>
          </a:xfrm>
          <a:custGeom>
            <a:avLst/>
            <a:gdLst/>
            <a:ahLst/>
            <a:cxnLst/>
            <a:rect l="l" t="t" r="r" b="b"/>
            <a:pathLst>
              <a:path w="3046000" h="1170000" fill="none" extrusionOk="0">
                <a:moveTo>
                  <a:pt x="0" y="0"/>
                </a:moveTo>
                <a:cubicBezTo>
                  <a:pt x="2430000" y="0"/>
                  <a:pt x="2276000" y="1170000"/>
                  <a:pt x="3046000" y="1170000"/>
                </a:cubicBezTo>
              </a:path>
            </a:pathLst>
          </a:custGeom>
          <a:noFill/>
          <a:ln w="70000" cap="rnd" cmpd="sng">
            <a:solidFill>
              <a:srgbClr val="14B8A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4" name="Google Shape;564;p23"/>
          <p:cNvSpPr/>
          <p:nvPr/>
        </p:nvSpPr>
        <p:spPr>
          <a:xfrm>
            <a:off x="3136400" y="4113350"/>
            <a:ext cx="3046000" cy="1170000"/>
          </a:xfrm>
          <a:custGeom>
            <a:avLst/>
            <a:gdLst/>
            <a:ahLst/>
            <a:cxnLst/>
            <a:rect l="l" t="t" r="r" b="b"/>
            <a:pathLst>
              <a:path w="3046000" h="1170000" fill="none" extrusionOk="0">
                <a:moveTo>
                  <a:pt x="0" y="1170000"/>
                </a:moveTo>
                <a:cubicBezTo>
                  <a:pt x="2430000" y="1170000"/>
                  <a:pt x="2276000" y="0"/>
                  <a:pt x="3046000" y="0"/>
                </a:cubicBezTo>
              </a:path>
            </a:pathLst>
          </a:custGeom>
          <a:noFill/>
          <a:ln w="70000" cap="rnd" cmpd="sng">
            <a:solidFill>
              <a:srgbClr val="F59E0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5" name="Google Shape;565;p23"/>
          <p:cNvSpPr/>
          <p:nvPr/>
        </p:nvSpPr>
        <p:spPr>
          <a:xfrm>
            <a:off x="1366400" y="2323350"/>
            <a:ext cx="1800000" cy="519900"/>
          </a:xfrm>
          <a:prstGeom prst="roundRect">
            <a:avLst>
              <a:gd name="adj" fmla="val 16667"/>
            </a:avLst>
          </a:prstGeom>
          <a:solidFill>
            <a:srgbClr val="14B8A6"/>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400" b="1" i="1" u="none" strike="noStrike" cap="none">
                <a:solidFill>
                  <a:srgbClr val="1F2328"/>
                </a:solidFill>
                <a:latin typeface="Fraunces"/>
                <a:ea typeface="Fraunces"/>
                <a:cs typeface="Fraunces"/>
                <a:sym typeface="Fraunces"/>
              </a:rPr>
              <a:t>humans</a:t>
            </a:r>
            <a:endParaRPr/>
          </a:p>
        </p:txBody>
      </p:sp>
      <p:sp>
        <p:nvSpPr>
          <p:cNvPr id="566" name="Google Shape;566;p23"/>
          <p:cNvSpPr/>
          <p:nvPr/>
        </p:nvSpPr>
        <p:spPr>
          <a:xfrm>
            <a:off x="1266400" y="2903350"/>
            <a:ext cx="2000100" cy="320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800" i="1" u="none" strike="noStrike" cap="none">
                <a:solidFill>
                  <a:srgbClr val="B8BEC9"/>
                </a:solidFill>
                <a:latin typeface="Consolas"/>
                <a:ea typeface="Consolas"/>
                <a:cs typeface="Consolas"/>
                <a:sym typeface="Consolas"/>
              </a:rPr>
              <a:t>judgment </a:t>
            </a:r>
            <a:endParaRPr sz="1800" i="1" u="none" strike="noStrike" cap="none">
              <a:solidFill>
                <a:srgbClr val="B8BEC9"/>
              </a:solidFill>
              <a:latin typeface="Consolas"/>
              <a:ea typeface="Consolas"/>
              <a:cs typeface="Consolas"/>
              <a:sym typeface="Consolas"/>
            </a:endParaRPr>
          </a:p>
          <a:p>
            <a:pPr marL="0" marR="0" lvl="0" indent="0" algn="ctr" rtl="0">
              <a:lnSpc>
                <a:spcPct val="100000"/>
              </a:lnSpc>
              <a:spcBef>
                <a:spcPts val="0"/>
              </a:spcBef>
              <a:spcAft>
                <a:spcPts val="0"/>
              </a:spcAft>
              <a:buNone/>
            </a:pPr>
            <a:r>
              <a:rPr lang="en-US" sz="1800" i="1" u="none" strike="noStrike" cap="none">
                <a:solidFill>
                  <a:srgbClr val="B8BEC9"/>
                </a:solidFill>
                <a:latin typeface="Consolas"/>
                <a:ea typeface="Consolas"/>
                <a:cs typeface="Consolas"/>
                <a:sym typeface="Consolas"/>
              </a:rPr>
              <a:t>domain </a:t>
            </a:r>
            <a:endParaRPr sz="1800" i="1" u="none" strike="noStrike" cap="none">
              <a:solidFill>
                <a:srgbClr val="B8BEC9"/>
              </a:solidFill>
              <a:latin typeface="Consolas"/>
              <a:ea typeface="Consolas"/>
              <a:cs typeface="Consolas"/>
              <a:sym typeface="Consolas"/>
            </a:endParaRPr>
          </a:p>
          <a:p>
            <a:pPr marL="0" marR="0" lvl="0" indent="0" algn="ctr" rtl="0">
              <a:lnSpc>
                <a:spcPct val="100000"/>
              </a:lnSpc>
              <a:spcBef>
                <a:spcPts val="0"/>
              </a:spcBef>
              <a:spcAft>
                <a:spcPts val="0"/>
              </a:spcAft>
              <a:buNone/>
            </a:pPr>
            <a:r>
              <a:rPr lang="en-US" sz="1800" i="1" u="none" strike="noStrike" cap="none">
                <a:solidFill>
                  <a:srgbClr val="B8BEC9"/>
                </a:solidFill>
                <a:latin typeface="Consolas"/>
                <a:ea typeface="Consolas"/>
                <a:cs typeface="Consolas"/>
                <a:sym typeface="Consolas"/>
              </a:rPr>
              <a:t>review</a:t>
            </a:r>
            <a:endParaRPr sz="1800">
              <a:latin typeface="Consolas"/>
              <a:ea typeface="Consolas"/>
              <a:cs typeface="Consolas"/>
              <a:sym typeface="Consolas"/>
            </a:endParaRPr>
          </a:p>
        </p:txBody>
      </p:sp>
      <p:sp>
        <p:nvSpPr>
          <p:cNvPr id="567" name="Google Shape;567;p23"/>
          <p:cNvSpPr/>
          <p:nvPr/>
        </p:nvSpPr>
        <p:spPr>
          <a:xfrm>
            <a:off x="1366400" y="5023350"/>
            <a:ext cx="1800000" cy="519900"/>
          </a:xfrm>
          <a:prstGeom prst="roundRect">
            <a:avLst>
              <a:gd name="adj" fmla="val 16667"/>
            </a:avLst>
          </a:prstGeom>
          <a:solidFill>
            <a:srgbClr val="F59E0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2400" b="1" i="1" u="none" strike="noStrike" cap="none">
                <a:solidFill>
                  <a:srgbClr val="1F2328"/>
                </a:solidFill>
                <a:latin typeface="Fraunces"/>
                <a:ea typeface="Fraunces"/>
                <a:cs typeface="Fraunces"/>
                <a:sym typeface="Fraunces"/>
              </a:rPr>
              <a:t>ai</a:t>
            </a:r>
            <a:endParaRPr/>
          </a:p>
        </p:txBody>
      </p:sp>
      <p:sp>
        <p:nvSpPr>
          <p:cNvPr id="568" name="Google Shape;568;p23"/>
          <p:cNvSpPr/>
          <p:nvPr/>
        </p:nvSpPr>
        <p:spPr>
          <a:xfrm>
            <a:off x="1266400" y="5604675"/>
            <a:ext cx="2000100" cy="320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800" b="0" i="1" u="none" strike="noStrike" cap="none">
                <a:solidFill>
                  <a:srgbClr val="B8BEC9"/>
                </a:solidFill>
                <a:latin typeface="Consolas"/>
                <a:ea typeface="Consolas"/>
                <a:cs typeface="Consolas"/>
                <a:sym typeface="Consolas"/>
              </a:rPr>
              <a:t>pipelines </a:t>
            </a:r>
            <a:endParaRPr sz="1800" b="0" i="1" u="none" strike="noStrike" cap="none">
              <a:solidFill>
                <a:srgbClr val="B8BEC9"/>
              </a:solidFill>
              <a:latin typeface="Consolas"/>
              <a:ea typeface="Consolas"/>
              <a:cs typeface="Consolas"/>
              <a:sym typeface="Consolas"/>
            </a:endParaRPr>
          </a:p>
          <a:p>
            <a:pPr marL="0" marR="0" lvl="0" indent="0" algn="ctr" rtl="0">
              <a:lnSpc>
                <a:spcPct val="100000"/>
              </a:lnSpc>
              <a:spcBef>
                <a:spcPts val="0"/>
              </a:spcBef>
              <a:spcAft>
                <a:spcPts val="0"/>
              </a:spcAft>
              <a:buNone/>
            </a:pPr>
            <a:r>
              <a:rPr lang="en-US" sz="1800" b="0" i="1" u="none" strike="noStrike" cap="none">
                <a:solidFill>
                  <a:srgbClr val="B8BEC9"/>
                </a:solidFill>
                <a:latin typeface="Consolas"/>
                <a:ea typeface="Consolas"/>
                <a:cs typeface="Consolas"/>
                <a:sym typeface="Consolas"/>
              </a:rPr>
              <a:t>APIs </a:t>
            </a:r>
            <a:endParaRPr sz="1800" b="0" i="1" u="none" strike="noStrike" cap="none">
              <a:solidFill>
                <a:srgbClr val="B8BEC9"/>
              </a:solidFill>
              <a:latin typeface="Consolas"/>
              <a:ea typeface="Consolas"/>
              <a:cs typeface="Consolas"/>
              <a:sym typeface="Consolas"/>
            </a:endParaRPr>
          </a:p>
          <a:p>
            <a:pPr marL="0" marR="0" lvl="0" indent="0" algn="ctr" rtl="0">
              <a:lnSpc>
                <a:spcPct val="100000"/>
              </a:lnSpc>
              <a:spcBef>
                <a:spcPts val="0"/>
              </a:spcBef>
              <a:spcAft>
                <a:spcPts val="0"/>
              </a:spcAft>
              <a:buNone/>
            </a:pPr>
            <a:r>
              <a:rPr lang="en-US" sz="1800" b="0" i="1" u="none" strike="noStrike" cap="none">
                <a:solidFill>
                  <a:srgbClr val="B8BEC9"/>
                </a:solidFill>
                <a:latin typeface="Consolas"/>
                <a:ea typeface="Consolas"/>
                <a:cs typeface="Consolas"/>
                <a:sym typeface="Consolas"/>
              </a:rPr>
              <a:t>ops</a:t>
            </a:r>
            <a:endParaRPr sz="1800"/>
          </a:p>
        </p:txBody>
      </p:sp>
      <p:sp>
        <p:nvSpPr>
          <p:cNvPr id="569" name="Google Shape;569;p23"/>
          <p:cNvSpPr/>
          <p:nvPr/>
        </p:nvSpPr>
        <p:spPr>
          <a:xfrm>
            <a:off x="5709675" y="3532663"/>
            <a:ext cx="1299900" cy="759900"/>
          </a:xfrm>
          <a:prstGeom prst="roundRect">
            <a:avLst>
              <a:gd name="adj" fmla="val 16667"/>
            </a:avLst>
          </a:prstGeom>
          <a:solidFill>
            <a:srgbClr val="F59E0B"/>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3800" b="1" i="0" u="none" strike="noStrike" cap="none">
                <a:solidFill>
                  <a:srgbClr val="1F2328"/>
                </a:solidFill>
                <a:latin typeface="Consolas"/>
                <a:ea typeface="Consolas"/>
                <a:cs typeface="Consolas"/>
                <a:sym typeface="Consolas"/>
              </a:rPr>
              <a:t>SQL</a:t>
            </a:r>
            <a:endParaRPr/>
          </a:p>
        </p:txBody>
      </p:sp>
      <p:cxnSp>
        <p:nvCxnSpPr>
          <p:cNvPr id="570" name="Google Shape;570;p23"/>
          <p:cNvCxnSpPr/>
          <p:nvPr/>
        </p:nvCxnSpPr>
        <p:spPr>
          <a:xfrm>
            <a:off x="7089675" y="3912663"/>
            <a:ext cx="4173900" cy="0"/>
          </a:xfrm>
          <a:prstGeom prst="straightConnector1">
            <a:avLst/>
          </a:prstGeom>
          <a:noFill/>
          <a:ln w="80000" cap="rnd" cmpd="sng">
            <a:solidFill>
              <a:srgbClr val="F5F5F2"/>
            </a:solidFill>
            <a:prstDash val="solid"/>
            <a:round/>
            <a:headEnd type="none" w="sm" len="sm"/>
            <a:tailEnd type="triangle" w="lg" len="lg"/>
          </a:ln>
        </p:spPr>
      </p:cxnSp>
      <p:sp>
        <p:nvSpPr>
          <p:cNvPr id="571" name="Google Shape;571;p23"/>
          <p:cNvSpPr/>
          <p:nvPr/>
        </p:nvSpPr>
        <p:spPr>
          <a:xfrm>
            <a:off x="7376675" y="3257149"/>
            <a:ext cx="2889300" cy="380700"/>
          </a:xfrm>
          <a:prstGeom prst="roundRect">
            <a:avLst>
              <a:gd name="adj" fmla="val 16667"/>
            </a:avLst>
          </a:prstGeom>
          <a:noFill/>
          <a:ln w="10000" cap="rnd" cmpd="sng">
            <a:solidFill>
              <a:srgbClr val="F5F5F2"/>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None/>
            </a:pPr>
            <a:r>
              <a:rPr lang="en-US" sz="1800" b="1" i="1" u="none" strike="noStrike" cap="none">
                <a:solidFill>
                  <a:srgbClr val="F5F5F2"/>
                </a:solidFill>
                <a:latin typeface="Fraunces"/>
                <a:ea typeface="Fraunces"/>
                <a:cs typeface="Fraunces"/>
                <a:sym typeface="Fraunces"/>
              </a:rPr>
              <a:t>one operational flow</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576"/>
        <p:cNvGrpSpPr/>
        <p:nvPr/>
      </p:nvGrpSpPr>
      <p:grpSpPr>
        <a:xfrm>
          <a:off x="0" y="0"/>
          <a:ext cx="0" cy="0"/>
          <a:chOff x="0" y="0"/>
          <a:chExt cx="0" cy="0"/>
        </a:xfrm>
      </p:grpSpPr>
      <p:sp>
        <p:nvSpPr>
          <p:cNvPr id="577" name="Google Shape;577;p24"/>
          <p:cNvSpPr txBox="1"/>
          <p:nvPr/>
        </p:nvSpPr>
        <p:spPr>
          <a:xfrm>
            <a:off x="5556263" y="6422488"/>
            <a:ext cx="914700" cy="4002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600" b="0" i="0" u="none" strike="noStrike" cap="none">
                <a:solidFill>
                  <a:srgbClr val="F59E0B"/>
                </a:solidFill>
                <a:latin typeface="DM Sans"/>
                <a:ea typeface="DM Sans"/>
                <a:cs typeface="DM Sans"/>
                <a:sym typeface="DM Sans"/>
              </a:rPr>
              <a:t>‹#›</a:t>
            </a:r>
            <a:endParaRPr>
              <a:solidFill>
                <a:srgbClr val="F59E0B"/>
              </a:solidFill>
            </a:endParaRPr>
          </a:p>
        </p:txBody>
      </p:sp>
      <p:cxnSp>
        <p:nvCxnSpPr>
          <p:cNvPr id="578" name="Google Shape;578;p24"/>
          <p:cNvCxnSpPr/>
          <p:nvPr/>
        </p:nvCxnSpPr>
        <p:spPr>
          <a:xfrm>
            <a:off x="572063" y="6617763"/>
            <a:ext cx="4984200" cy="0"/>
          </a:xfrm>
          <a:prstGeom prst="straightConnector1">
            <a:avLst/>
          </a:prstGeom>
          <a:noFill/>
          <a:ln w="38100" cap="rnd" cmpd="sng">
            <a:solidFill>
              <a:srgbClr val="F59E0B"/>
            </a:solidFill>
            <a:prstDash val="solid"/>
            <a:round/>
            <a:headEnd type="none" w="lg" len="lg"/>
            <a:tailEnd type="none" w="sm" len="sm"/>
          </a:ln>
        </p:spPr>
      </p:cxnSp>
      <p:cxnSp>
        <p:nvCxnSpPr>
          <p:cNvPr id="579" name="Google Shape;579;p24"/>
          <p:cNvCxnSpPr/>
          <p:nvPr/>
        </p:nvCxnSpPr>
        <p:spPr>
          <a:xfrm>
            <a:off x="6520483" y="6617751"/>
            <a:ext cx="5178000" cy="0"/>
          </a:xfrm>
          <a:prstGeom prst="straightConnector1">
            <a:avLst/>
          </a:prstGeom>
          <a:noFill/>
          <a:ln w="38100" cap="rnd" cmpd="sng">
            <a:solidFill>
              <a:srgbClr val="F59E0B"/>
            </a:solidFill>
            <a:prstDash val="solid"/>
            <a:round/>
            <a:headEnd type="none" w="sm" len="sm"/>
            <a:tailEnd type="none" w="lg" len="lg"/>
          </a:ln>
        </p:spPr>
      </p:cxnSp>
      <p:sp>
        <p:nvSpPr>
          <p:cNvPr id="580" name="Google Shape;580;p24"/>
          <p:cNvSpPr/>
          <p:nvPr/>
        </p:nvSpPr>
        <p:spPr>
          <a:xfrm>
            <a:off x="472500" y="579570"/>
            <a:ext cx="73152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3000"/>
              <a:buFont typeface="Consolas"/>
              <a:buNone/>
            </a:pPr>
            <a:r>
              <a:rPr lang="en-US" sz="3000" b="1" i="0" u="none" strike="noStrike" cap="none">
                <a:solidFill>
                  <a:srgbClr val="F59E0B"/>
                </a:solidFill>
                <a:latin typeface="Consolas"/>
                <a:ea typeface="Consolas"/>
                <a:cs typeface="Consolas"/>
                <a:sym typeface="Consolas"/>
              </a:rPr>
              <a:t>COALESCE</a:t>
            </a:r>
            <a:endParaRPr sz="3000" b="0" i="0" u="none" strike="noStrike" cap="none">
              <a:solidFill>
                <a:srgbClr val="F59E0B"/>
              </a:solidFill>
              <a:latin typeface="Calibri"/>
              <a:ea typeface="Calibri"/>
              <a:cs typeface="Calibri"/>
              <a:sym typeface="Calibri"/>
            </a:endParaRPr>
          </a:p>
        </p:txBody>
      </p:sp>
      <p:sp>
        <p:nvSpPr>
          <p:cNvPr id="581" name="Google Shape;581;p24"/>
          <p:cNvSpPr/>
          <p:nvPr/>
        </p:nvSpPr>
        <p:spPr>
          <a:xfrm>
            <a:off x="457200" y="1665338"/>
            <a:ext cx="11277600" cy="14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3200" b="0" i="1" u="none" strike="noStrike" cap="none">
                <a:solidFill>
                  <a:srgbClr val="F5F5F2"/>
                </a:solidFill>
                <a:latin typeface="Fraunces"/>
                <a:ea typeface="Fraunces"/>
                <a:cs typeface="Fraunces"/>
                <a:sym typeface="Fraunces"/>
              </a:rPr>
              <a:t>The most impactful application of AI</a:t>
            </a:r>
            <a:endParaRPr/>
          </a:p>
          <a:p>
            <a:pPr marL="0" marR="0" lvl="0" indent="0" algn="ctr" rtl="0">
              <a:lnSpc>
                <a:spcPct val="100000"/>
              </a:lnSpc>
              <a:spcBef>
                <a:spcPts val="0"/>
              </a:spcBef>
              <a:spcAft>
                <a:spcPts val="0"/>
              </a:spcAft>
              <a:buNone/>
            </a:pPr>
            <a:r>
              <a:rPr lang="en-US" sz="3200" b="0" i="1" u="none" strike="noStrike" cap="none">
                <a:solidFill>
                  <a:srgbClr val="F5F5F2"/>
                </a:solidFill>
                <a:latin typeface="Fraunces"/>
                <a:ea typeface="Fraunces"/>
                <a:cs typeface="Fraunces"/>
                <a:sym typeface="Fraunces"/>
              </a:rPr>
              <a:t>in the enterprise data world</a:t>
            </a:r>
            <a:endParaRPr/>
          </a:p>
        </p:txBody>
      </p:sp>
      <p:sp>
        <p:nvSpPr>
          <p:cNvPr id="582" name="Google Shape;582;p24"/>
          <p:cNvSpPr/>
          <p:nvPr/>
        </p:nvSpPr>
        <p:spPr>
          <a:xfrm>
            <a:off x="457200" y="3065338"/>
            <a:ext cx="11277600" cy="42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2000" b="0" i="1" u="none" strike="noStrike" cap="none">
                <a:solidFill>
                  <a:srgbClr val="B8BEC9"/>
                </a:solidFill>
                <a:latin typeface="Fraunces"/>
                <a:ea typeface="Fraunces"/>
                <a:cs typeface="Fraunces"/>
                <a:sym typeface="Fraunces"/>
              </a:rPr>
              <a:t>might turn out to be</a:t>
            </a:r>
            <a:endParaRPr/>
          </a:p>
        </p:txBody>
      </p:sp>
      <p:sp>
        <p:nvSpPr>
          <p:cNvPr id="583" name="Google Shape;583;p24"/>
          <p:cNvSpPr/>
          <p:nvPr/>
        </p:nvSpPr>
        <p:spPr>
          <a:xfrm>
            <a:off x="457200" y="3615338"/>
            <a:ext cx="11277600" cy="1599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6800" b="1" i="0" u="none" strike="noStrike" cap="none">
                <a:solidFill>
                  <a:srgbClr val="F59E0B"/>
                </a:solidFill>
                <a:latin typeface="Fraunces"/>
                <a:ea typeface="Fraunces"/>
                <a:cs typeface="Fraunces"/>
                <a:sym typeface="Fraunces"/>
              </a:rPr>
              <a:t>the least flashy one.</a:t>
            </a:r>
            <a:endParaRPr/>
          </a:p>
        </p:txBody>
      </p:sp>
      <p:sp>
        <p:nvSpPr>
          <p:cNvPr id="584" name="Google Shape;584;p24"/>
          <p:cNvSpPr/>
          <p:nvPr/>
        </p:nvSpPr>
        <p:spPr>
          <a:xfrm>
            <a:off x="5496000" y="5415338"/>
            <a:ext cx="1200000" cy="20100"/>
          </a:xfrm>
          <a:prstGeom prst="rect">
            <a:avLst/>
          </a:prstGeom>
          <a:solidFill>
            <a:srgbClr val="F59E0B"/>
          </a:solidFill>
          <a:ln>
            <a:noFill/>
          </a:ln>
        </p:spPr>
        <p:txBody>
          <a:bodyPr spcFirstLastPara="1" wrap="square" lIns="45700" tIns="45700" rIns="45700" bIns="45700" anchor="ctr" anchorCtr="0">
            <a:noAutofit/>
          </a:bodyPr>
          <a:lstStyle/>
          <a:p>
            <a:pPr marL="0" lvl="0" indent="0" algn="l" rtl="0">
              <a:spcBef>
                <a:spcPts val="0"/>
              </a:spcBef>
              <a:spcAft>
                <a:spcPts val="0"/>
              </a:spcAft>
              <a:buNone/>
            </a:pPr>
            <a:endParaRPr/>
          </a:p>
        </p:txBody>
      </p:sp>
      <p:sp>
        <p:nvSpPr>
          <p:cNvPr id="585" name="Google Shape;585;p24"/>
          <p:cNvSpPr/>
          <p:nvPr/>
        </p:nvSpPr>
        <p:spPr>
          <a:xfrm>
            <a:off x="457200" y="5565338"/>
            <a:ext cx="11277600" cy="3201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b="0" i="1" u="none" strike="noStrike" cap="none">
                <a:solidFill>
                  <a:srgbClr val="B8BEC9"/>
                </a:solidFill>
                <a:latin typeface="Fraunces"/>
                <a:ea typeface="Fraunces"/>
                <a:cs typeface="Fraunces"/>
                <a:sym typeface="Fraunces"/>
              </a:rPr>
              <a:t>Shorten the feedback loop</a:t>
            </a:r>
            <a:r>
              <a:rPr lang="en-US" i="1">
                <a:solidFill>
                  <a:srgbClr val="B8BEC9"/>
                </a:solidFill>
                <a:latin typeface="Fraunces"/>
                <a:ea typeface="Fraunces"/>
                <a:cs typeface="Fraunces"/>
                <a:sym typeface="Fraunces"/>
              </a:rPr>
              <a:t>, and trust</a:t>
            </a:r>
            <a:r>
              <a:rPr lang="en-US" b="0" i="1" u="none" strike="noStrike" cap="none">
                <a:solidFill>
                  <a:srgbClr val="B8BEC9"/>
                </a:solidFill>
                <a:latin typeface="Fraunces"/>
                <a:ea typeface="Fraunces"/>
                <a:cs typeface="Fraunces"/>
                <a:sym typeface="Fraunces"/>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590"/>
        <p:cNvGrpSpPr/>
        <p:nvPr/>
      </p:nvGrpSpPr>
      <p:grpSpPr>
        <a:xfrm>
          <a:off x="0" y="0"/>
          <a:ext cx="0" cy="0"/>
          <a:chOff x="0" y="0"/>
          <a:chExt cx="0" cy="0"/>
        </a:xfrm>
      </p:grpSpPr>
      <p:sp>
        <p:nvSpPr>
          <p:cNvPr id="591" name="Google Shape;591;p25"/>
          <p:cNvSpPr/>
          <p:nvPr/>
        </p:nvSpPr>
        <p:spPr>
          <a:xfrm>
            <a:off x="472488" y="3422110"/>
            <a:ext cx="11247000" cy="13800"/>
          </a:xfrm>
          <a:prstGeom prst="rect">
            <a:avLst/>
          </a:prstGeom>
          <a:solidFill>
            <a:srgbClr val="14B8A6"/>
          </a:solidFill>
          <a:ln w="381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452688" y="860970"/>
            <a:ext cx="1097280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1000"/>
              <a:buFont typeface="Consolas"/>
              <a:buNone/>
            </a:pPr>
            <a:r>
              <a:rPr lang="en-US" sz="11000" b="1" i="0" u="none" strike="noStrike" cap="none">
                <a:solidFill>
                  <a:srgbClr val="14B8A6"/>
                </a:solidFill>
                <a:latin typeface="Consolas"/>
                <a:ea typeface="Consolas"/>
                <a:cs typeface="Consolas"/>
                <a:sym typeface="Consolas"/>
              </a:rPr>
              <a:t>COMMIT</a:t>
            </a:r>
            <a:r>
              <a:rPr lang="en-US" sz="11000" b="0" i="0" u="none" strike="noStrike" cap="none">
                <a:solidFill>
                  <a:srgbClr val="F5F5F2"/>
                </a:solidFill>
                <a:latin typeface="Consolas"/>
                <a:ea typeface="Consolas"/>
                <a:cs typeface="Consolas"/>
                <a:sym typeface="Consolas"/>
              </a:rPr>
              <a:t>;</a:t>
            </a:r>
            <a:endParaRPr sz="11000" b="0" i="0" u="none" strike="noStrike" cap="none">
              <a:solidFill>
                <a:schemeClr val="dk1"/>
              </a:solidFill>
              <a:latin typeface="Calibri"/>
              <a:ea typeface="Calibri"/>
              <a:cs typeface="Calibri"/>
              <a:sym typeface="Calibri"/>
            </a:endParaRPr>
          </a:p>
        </p:txBody>
      </p:sp>
      <p:sp>
        <p:nvSpPr>
          <p:cNvPr id="593" name="Google Shape;593;p25"/>
          <p:cNvSpPr/>
          <p:nvPr/>
        </p:nvSpPr>
        <p:spPr>
          <a:xfrm>
            <a:off x="452688" y="2598330"/>
            <a:ext cx="109728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5600"/>
              <a:buFont typeface="Fraunces"/>
              <a:buNone/>
            </a:pPr>
            <a:r>
              <a:rPr lang="en-US" sz="5600" b="1" i="1" u="none" strike="noStrike" cap="none">
                <a:solidFill>
                  <a:srgbClr val="F5F5F2"/>
                </a:solidFill>
                <a:latin typeface="Fraunces"/>
                <a:ea typeface="Fraunces"/>
                <a:cs typeface="Fraunces"/>
                <a:sym typeface="Fraunces"/>
              </a:rPr>
              <a:t>Thank you.</a:t>
            </a:r>
            <a:endParaRPr sz="5600" b="0" i="0" u="none" strike="noStrike" cap="none">
              <a:solidFill>
                <a:schemeClr val="dk1"/>
              </a:solidFill>
              <a:latin typeface="Calibri"/>
              <a:ea typeface="Calibri"/>
              <a:cs typeface="Calibri"/>
              <a:sym typeface="Calibri"/>
            </a:endParaRPr>
          </a:p>
        </p:txBody>
      </p:sp>
      <p:pic>
        <p:nvPicPr>
          <p:cNvPr id="594" name="Google Shape;594;p25" title="Screenshot 2026-04-27 at 11.54.27 AM.png"/>
          <p:cNvPicPr preferRelativeResize="0"/>
          <p:nvPr/>
        </p:nvPicPr>
        <p:blipFill>
          <a:blip r:embed="rId3">
            <a:alphaModFix/>
          </a:blip>
          <a:stretch>
            <a:fillRect/>
          </a:stretch>
        </p:blipFill>
        <p:spPr>
          <a:xfrm>
            <a:off x="10198208" y="329833"/>
            <a:ext cx="1521300" cy="1495800"/>
          </a:xfrm>
          <a:prstGeom prst="roundRect">
            <a:avLst>
              <a:gd name="adj" fmla="val 16667"/>
            </a:avLst>
          </a:prstGeom>
          <a:noFill/>
          <a:ln>
            <a:noFill/>
          </a:ln>
        </p:spPr>
      </p:pic>
      <p:sp>
        <p:nvSpPr>
          <p:cNvPr id="595" name="Google Shape;595;p25"/>
          <p:cNvSpPr/>
          <p:nvPr/>
        </p:nvSpPr>
        <p:spPr>
          <a:xfrm>
            <a:off x="8369023" y="1881495"/>
            <a:ext cx="3612000" cy="411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4B8A6"/>
              </a:buClr>
              <a:buSzPts val="2000"/>
              <a:buFont typeface="Fraunces"/>
              <a:buNone/>
            </a:pPr>
            <a:r>
              <a:rPr lang="en-US" b="1">
                <a:solidFill>
                  <a:srgbClr val="14B8A6"/>
                </a:solidFill>
                <a:latin typeface="Fraunces"/>
                <a:ea typeface="Fraunces"/>
                <a:cs typeface="Fraunces"/>
                <a:sym typeface="Fraunces"/>
              </a:rPr>
              <a:t>Access these slides </a:t>
            </a:r>
            <a:r>
              <a:rPr lang="en-US">
                <a:solidFill>
                  <a:srgbClr val="E8E8E8"/>
                </a:solidFill>
                <a:highlight>
                  <a:srgbClr val="1F1F1F"/>
                </a:highlight>
                <a:latin typeface="Montserrat Black"/>
                <a:ea typeface="Montserrat Black"/>
                <a:cs typeface="Montserrat Black"/>
                <a:sym typeface="Montserrat Black"/>
              </a:rPr>
              <a:t>👆</a:t>
            </a:r>
            <a:endParaRPr b="0" i="0" u="none" strike="noStrike" cap="none">
              <a:solidFill>
                <a:schemeClr val="dk1"/>
              </a:solidFill>
              <a:latin typeface="Calibri"/>
              <a:ea typeface="Calibri"/>
              <a:cs typeface="Calibri"/>
              <a:sym typeface="Calibri"/>
            </a:endParaRPr>
          </a:p>
        </p:txBody>
      </p:sp>
      <p:sp>
        <p:nvSpPr>
          <p:cNvPr id="596" name="Google Shape;596;p25"/>
          <p:cNvSpPr txBox="1"/>
          <p:nvPr/>
        </p:nvSpPr>
        <p:spPr>
          <a:xfrm>
            <a:off x="2562750" y="4353025"/>
            <a:ext cx="67527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800" b="1">
                <a:solidFill>
                  <a:schemeClr val="lt1"/>
                </a:solidFill>
                <a:latin typeface="Montserrat"/>
                <a:ea typeface="Montserrat"/>
                <a:cs typeface="Montserrat"/>
                <a:sym typeface="Montserrat"/>
              </a:rPr>
              <a:t>A few places to find me next…</a:t>
            </a:r>
            <a:endParaRPr sz="2800" b="1">
              <a:solidFill>
                <a:schemeClr val="lt1"/>
              </a:solidFill>
              <a:latin typeface="Montserrat"/>
              <a:ea typeface="Montserrat"/>
              <a:cs typeface="Montserrat"/>
              <a:sym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
          <a:extLst>
            <a:ext uri="{FF2B5EF4-FFF2-40B4-BE49-F238E27FC236}">
              <a16:creationId xmlns:a16="http://schemas.microsoft.com/office/drawing/2014/main" id="{FFA0EC1A-4916-4BCE-3403-8603DC49C21C}"/>
            </a:ext>
          </a:extLst>
        </p:cNvPr>
        <p:cNvGrpSpPr/>
        <p:nvPr/>
      </p:nvGrpSpPr>
      <p:grpSpPr>
        <a:xfrm>
          <a:off x="0" y="0"/>
          <a:ext cx="0" cy="0"/>
          <a:chOff x="0" y="0"/>
          <a:chExt cx="0" cy="0"/>
        </a:xfrm>
      </p:grpSpPr>
      <p:pic>
        <p:nvPicPr>
          <p:cNvPr id="24" name="Google Shape;24;p5">
            <a:extLst>
              <a:ext uri="{FF2B5EF4-FFF2-40B4-BE49-F238E27FC236}">
                <a16:creationId xmlns:a16="http://schemas.microsoft.com/office/drawing/2014/main" id="{CB1D06B6-D8B5-91DF-9903-284C77B21D20}"/>
              </a:ext>
            </a:extLst>
          </p:cNvPr>
          <p:cNvPicPr preferRelativeResize="0"/>
          <p:nvPr/>
        </p:nvPicPr>
        <p:blipFill>
          <a:blip r:embed="rId3">
            <a:alphaModFix/>
          </a:blip>
          <a:srcRect/>
          <a:stretch/>
        </p:blipFill>
        <p:spPr>
          <a:xfrm>
            <a:off x="0" y="2"/>
            <a:ext cx="12192000" cy="6858000"/>
          </a:xfrm>
          <a:prstGeom prst="rect">
            <a:avLst/>
          </a:prstGeom>
          <a:noFill/>
          <a:ln>
            <a:noFill/>
          </a:ln>
        </p:spPr>
      </p:pic>
      <p:sp>
        <p:nvSpPr>
          <p:cNvPr id="2" name="Google Shape;604;p26">
            <a:extLst>
              <a:ext uri="{FF2B5EF4-FFF2-40B4-BE49-F238E27FC236}">
                <a16:creationId xmlns:a16="http://schemas.microsoft.com/office/drawing/2014/main" id="{6605522A-F517-433B-6163-D94DB48675E0}"/>
              </a:ext>
            </a:extLst>
          </p:cNvPr>
          <p:cNvSpPr txBox="1"/>
          <p:nvPr/>
        </p:nvSpPr>
        <p:spPr>
          <a:xfrm rot="317838">
            <a:off x="4561009" y="2638066"/>
            <a:ext cx="7291743" cy="1846629"/>
          </a:xfrm>
          <a:prstGeom prst="rect">
            <a:avLst/>
          </a:prstGeom>
          <a:solidFill>
            <a:srgbClr val="00B140"/>
          </a:solidFill>
          <a:ln w="38100" cap="flat" cmpd="sng">
            <a:solidFill>
              <a:schemeClr val="lt1"/>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US" sz="5400" b="1" dirty="0">
                <a:solidFill>
                  <a:schemeClr val="lt1"/>
                </a:solidFill>
                <a:latin typeface="Montserrat"/>
                <a:ea typeface="Montserrat"/>
                <a:cs typeface="Montserrat"/>
                <a:sym typeface="Montserrat"/>
              </a:rPr>
              <a:t>NEXT:</a:t>
            </a:r>
          </a:p>
          <a:p>
            <a:pPr marL="0" lvl="0" indent="0" algn="ctr" rtl="0">
              <a:spcBef>
                <a:spcPts val="0"/>
              </a:spcBef>
              <a:spcAft>
                <a:spcPts val="0"/>
              </a:spcAft>
              <a:buNone/>
            </a:pPr>
            <a:r>
              <a:rPr lang="en-US" sz="5400" b="1" dirty="0">
                <a:solidFill>
                  <a:schemeClr val="lt1"/>
                </a:solidFill>
                <a:latin typeface="Montserrat"/>
                <a:ea typeface="Montserrat"/>
                <a:cs typeface="Montserrat"/>
                <a:sym typeface="Montserrat"/>
              </a:rPr>
              <a:t>Workshop @ 3:30</a:t>
            </a:r>
          </a:p>
        </p:txBody>
      </p:sp>
    </p:spTree>
    <p:extLst>
      <p:ext uri="{BB962C8B-B14F-4D97-AF65-F5344CB8AC3E}">
        <p14:creationId xmlns:p14="http://schemas.microsoft.com/office/powerpoint/2010/main" val="2532081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F2328"/>
        </a:solidFill>
        <a:effectLst/>
      </p:bgPr>
    </p:bg>
    <p:spTree>
      <p:nvGrpSpPr>
        <p:cNvPr id="1" name="Shape 609"/>
        <p:cNvGrpSpPr/>
        <p:nvPr/>
      </p:nvGrpSpPr>
      <p:grpSpPr>
        <a:xfrm>
          <a:off x="0" y="0"/>
          <a:ext cx="0" cy="0"/>
          <a:chOff x="0" y="0"/>
          <a:chExt cx="0" cy="0"/>
        </a:xfrm>
      </p:grpSpPr>
      <p:sp>
        <p:nvSpPr>
          <p:cNvPr id="610" name="Google Shape;610;p27"/>
          <p:cNvSpPr/>
          <p:nvPr/>
        </p:nvSpPr>
        <p:spPr>
          <a:xfrm>
            <a:off x="472488" y="3422110"/>
            <a:ext cx="11247000" cy="13800"/>
          </a:xfrm>
          <a:prstGeom prst="rect">
            <a:avLst/>
          </a:prstGeom>
          <a:solidFill>
            <a:srgbClr val="14B8A6"/>
          </a:solidFill>
          <a:ln w="38100" cap="flat" cmpd="sng">
            <a:solidFill>
              <a:srgbClr val="14B8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452688" y="860970"/>
            <a:ext cx="10972800" cy="137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B8A6"/>
              </a:buClr>
              <a:buSzPts val="11000"/>
              <a:buFont typeface="Consolas"/>
              <a:buNone/>
            </a:pPr>
            <a:r>
              <a:rPr lang="en-US" sz="11000" b="1" i="0" u="none" strike="noStrike" cap="none">
                <a:solidFill>
                  <a:srgbClr val="14B8A6"/>
                </a:solidFill>
                <a:latin typeface="Consolas"/>
                <a:ea typeface="Consolas"/>
                <a:cs typeface="Consolas"/>
                <a:sym typeface="Consolas"/>
              </a:rPr>
              <a:t>COMMIT</a:t>
            </a:r>
            <a:r>
              <a:rPr lang="en-US" sz="11000" b="0" i="0" u="none" strike="noStrike" cap="none">
                <a:solidFill>
                  <a:srgbClr val="F5F5F2"/>
                </a:solidFill>
                <a:latin typeface="Consolas"/>
                <a:ea typeface="Consolas"/>
                <a:cs typeface="Consolas"/>
                <a:sym typeface="Consolas"/>
              </a:rPr>
              <a:t>;</a:t>
            </a:r>
            <a:endParaRPr sz="11000" b="0" i="0" u="none" strike="noStrike" cap="none">
              <a:solidFill>
                <a:schemeClr val="dk1"/>
              </a:solidFill>
              <a:latin typeface="Calibri"/>
              <a:ea typeface="Calibri"/>
              <a:cs typeface="Calibri"/>
              <a:sym typeface="Calibri"/>
            </a:endParaRPr>
          </a:p>
        </p:txBody>
      </p:sp>
      <p:sp>
        <p:nvSpPr>
          <p:cNvPr id="612" name="Google Shape;612;p27"/>
          <p:cNvSpPr/>
          <p:nvPr/>
        </p:nvSpPr>
        <p:spPr>
          <a:xfrm>
            <a:off x="452688" y="2598330"/>
            <a:ext cx="109728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2"/>
              </a:buClr>
              <a:buSzPts val="5600"/>
              <a:buFont typeface="Fraunces"/>
              <a:buNone/>
            </a:pPr>
            <a:r>
              <a:rPr lang="en-US" sz="5600" b="1" i="1" u="none" strike="noStrike" cap="none">
                <a:solidFill>
                  <a:srgbClr val="F5F5F2"/>
                </a:solidFill>
                <a:latin typeface="Fraunces"/>
                <a:ea typeface="Fraunces"/>
                <a:cs typeface="Fraunces"/>
                <a:sym typeface="Fraunces"/>
              </a:rPr>
              <a:t>Thank you.</a:t>
            </a:r>
            <a:endParaRPr sz="5600" b="0" i="0" u="none" strike="noStrike" cap="none">
              <a:solidFill>
                <a:schemeClr val="dk1"/>
              </a:solidFill>
              <a:latin typeface="Calibri"/>
              <a:ea typeface="Calibri"/>
              <a:cs typeface="Calibri"/>
              <a:sym typeface="Calibri"/>
            </a:endParaRPr>
          </a:p>
        </p:txBody>
      </p:sp>
      <p:sp>
        <p:nvSpPr>
          <p:cNvPr id="3" name="Google Shape;665;p84">
            <a:extLst>
              <a:ext uri="{FF2B5EF4-FFF2-40B4-BE49-F238E27FC236}">
                <a16:creationId xmlns:a16="http://schemas.microsoft.com/office/drawing/2014/main" id="{43B7EF29-5859-1721-43A4-B99219229D3D}"/>
              </a:ext>
            </a:extLst>
          </p:cNvPr>
          <p:cNvSpPr txBox="1">
            <a:spLocks/>
          </p:cNvSpPr>
          <p:nvPr/>
        </p:nvSpPr>
        <p:spPr>
          <a:xfrm>
            <a:off x="3638911" y="4425178"/>
            <a:ext cx="4600354" cy="230565"/>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dk1"/>
              </a:buClr>
              <a:buSzPts val="4800"/>
              <a:buFont typeface="Fraunces"/>
              <a:buNone/>
              <a:defRPr sz="8000" b="0" i="0" u="none" strike="noStrike" cap="none" spc="0">
                <a:solidFill>
                  <a:schemeClr val="dk1"/>
                </a:solidFill>
                <a:latin typeface="Fraunces"/>
                <a:ea typeface="Fraunces"/>
                <a:cs typeface="Fraunces"/>
                <a:sym typeface="Fraunces"/>
              </a:defRPr>
            </a:lvl1pPr>
            <a:lvl2pPr marR="0" lvl="1"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9pPr>
          </a:lstStyle>
          <a:p>
            <a:r>
              <a:rPr lang="en-US" sz="2800" dirty="0" err="1">
                <a:solidFill>
                  <a:schemeClr val="bg1"/>
                </a:solidFill>
              </a:rPr>
              <a:t>denise@denisegosnell.ai</a:t>
            </a:r>
            <a:endParaRPr lang="en-US" sz="2800" dirty="0">
              <a:solidFill>
                <a:schemeClr val="bg1"/>
              </a:solidFill>
            </a:endParaRPr>
          </a:p>
        </p:txBody>
      </p:sp>
      <p:sp>
        <p:nvSpPr>
          <p:cNvPr id="4" name="Google Shape;665;p84">
            <a:extLst>
              <a:ext uri="{FF2B5EF4-FFF2-40B4-BE49-F238E27FC236}">
                <a16:creationId xmlns:a16="http://schemas.microsoft.com/office/drawing/2014/main" id="{40D2C924-FBF3-7200-643E-6760A8B6A3DF}"/>
              </a:ext>
            </a:extLst>
          </p:cNvPr>
          <p:cNvSpPr txBox="1">
            <a:spLocks/>
          </p:cNvSpPr>
          <p:nvPr/>
        </p:nvSpPr>
        <p:spPr>
          <a:xfrm>
            <a:off x="3179887" y="3859625"/>
            <a:ext cx="5832201" cy="58496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dk1"/>
              </a:buClr>
              <a:buSzPts val="4800"/>
              <a:buFont typeface="Fraunces"/>
              <a:buNone/>
              <a:defRPr sz="8000" b="0" i="0" u="none" strike="noStrike" cap="none" spc="0">
                <a:solidFill>
                  <a:schemeClr val="dk1"/>
                </a:solidFill>
                <a:latin typeface="Fraunces"/>
                <a:ea typeface="Fraunces"/>
                <a:cs typeface="Fraunces"/>
                <a:sym typeface="Fraunces"/>
              </a:defRPr>
            </a:lvl1pPr>
            <a:lvl2pPr marR="0" lvl="1"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9pPr>
          </a:lstStyle>
          <a:p>
            <a:r>
              <a:rPr lang="en-US" sz="2800" dirty="0">
                <a:solidFill>
                  <a:schemeClr val="bg1"/>
                </a:solidFill>
              </a:rPr>
              <a:t>Wanna build?👇</a:t>
            </a:r>
          </a:p>
        </p:txBody>
      </p:sp>
      <p:pic>
        <p:nvPicPr>
          <p:cNvPr id="5" name="Picture 4" descr="A qr code on a white background&#10;&#10;AI-generated content may be incorrect.">
            <a:extLst>
              <a:ext uri="{FF2B5EF4-FFF2-40B4-BE49-F238E27FC236}">
                <a16:creationId xmlns:a16="http://schemas.microsoft.com/office/drawing/2014/main" id="{16C9D443-47C6-90C5-DC79-062C04B428A4}"/>
              </a:ext>
            </a:extLst>
          </p:cNvPr>
          <p:cNvPicPr>
            <a:picLocks noChangeAspect="1"/>
          </p:cNvPicPr>
          <p:nvPr/>
        </p:nvPicPr>
        <p:blipFill>
          <a:blip r:embed="rId3"/>
          <a:stretch>
            <a:fillRect/>
          </a:stretch>
        </p:blipFill>
        <p:spPr>
          <a:xfrm>
            <a:off x="8747051" y="3404817"/>
            <a:ext cx="3444949" cy="3444949"/>
          </a:xfrm>
          <a:prstGeom prst="rect">
            <a:avLst/>
          </a:prstGeom>
        </p:spPr>
      </p:pic>
      <p:pic>
        <p:nvPicPr>
          <p:cNvPr id="6" name="Picture 5" descr="A blue and black logo&#10;&#10;AI-generated content may be incorrect.">
            <a:extLst>
              <a:ext uri="{FF2B5EF4-FFF2-40B4-BE49-F238E27FC236}">
                <a16:creationId xmlns:a16="http://schemas.microsoft.com/office/drawing/2014/main" id="{13565713-EFDD-9606-3FCF-57157534478E}"/>
              </a:ext>
            </a:extLst>
          </p:cNvPr>
          <p:cNvPicPr>
            <a:picLocks noChangeAspect="1"/>
          </p:cNvPicPr>
          <p:nvPr/>
        </p:nvPicPr>
        <p:blipFill rotWithShape="1">
          <a:blip r:embed="rId4"/>
          <a:srcRect l="13523" t="13328" r="12412" b="11728"/>
          <a:stretch>
            <a:fillRect/>
          </a:stretch>
        </p:blipFill>
        <p:spPr>
          <a:xfrm>
            <a:off x="4203926" y="5307335"/>
            <a:ext cx="444624" cy="449899"/>
          </a:xfrm>
          <a:prstGeom prst="roundRect">
            <a:avLst/>
          </a:prstGeom>
        </p:spPr>
      </p:pic>
      <p:sp>
        <p:nvSpPr>
          <p:cNvPr id="7" name="Google Shape;665;p84">
            <a:extLst>
              <a:ext uri="{FF2B5EF4-FFF2-40B4-BE49-F238E27FC236}">
                <a16:creationId xmlns:a16="http://schemas.microsoft.com/office/drawing/2014/main" id="{430E81B0-7205-D92D-330C-D9CE45B0E87E}"/>
              </a:ext>
            </a:extLst>
          </p:cNvPr>
          <p:cNvSpPr txBox="1">
            <a:spLocks/>
          </p:cNvSpPr>
          <p:nvPr/>
        </p:nvSpPr>
        <p:spPr>
          <a:xfrm>
            <a:off x="4426238" y="5419873"/>
            <a:ext cx="3444949" cy="27900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dk1"/>
              </a:buClr>
              <a:buSzPts val="4800"/>
              <a:buFont typeface="Fraunces"/>
              <a:buNone/>
              <a:defRPr sz="8000" b="0" i="0" u="none" strike="noStrike" cap="none" spc="0">
                <a:solidFill>
                  <a:schemeClr val="dk1"/>
                </a:solidFill>
                <a:latin typeface="Fraunces"/>
                <a:ea typeface="Fraunces"/>
                <a:cs typeface="Fraunces"/>
                <a:sym typeface="Fraunces"/>
              </a:defRPr>
            </a:lvl1pPr>
            <a:lvl2pPr marR="0" lvl="1"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9pPr>
          </a:lstStyle>
          <a:p>
            <a:r>
              <a:rPr lang="en-US" sz="2800" dirty="0">
                <a:solidFill>
                  <a:schemeClr val="bg1"/>
                </a:solidFill>
              </a:rPr>
              <a:t>@</a:t>
            </a:r>
            <a:r>
              <a:rPr lang="en-US" sz="2800" dirty="0" err="1">
                <a:solidFill>
                  <a:schemeClr val="bg1"/>
                </a:solidFill>
              </a:rPr>
              <a:t>denisekgosnell</a:t>
            </a:r>
            <a:endParaRPr lang="en-US" sz="2800" dirty="0">
              <a:solidFill>
                <a:schemeClr val="bg1"/>
              </a:solidFill>
            </a:endParaRPr>
          </a:p>
        </p:txBody>
      </p:sp>
      <p:sp>
        <p:nvSpPr>
          <p:cNvPr id="8" name="Google Shape;665;p84">
            <a:extLst>
              <a:ext uri="{FF2B5EF4-FFF2-40B4-BE49-F238E27FC236}">
                <a16:creationId xmlns:a16="http://schemas.microsoft.com/office/drawing/2014/main" id="{ED73ACF3-E86F-D289-FE17-A681CBAB9AE2}"/>
              </a:ext>
            </a:extLst>
          </p:cNvPr>
          <p:cNvSpPr txBox="1">
            <a:spLocks/>
          </p:cNvSpPr>
          <p:nvPr/>
        </p:nvSpPr>
        <p:spPr>
          <a:xfrm>
            <a:off x="4643950" y="5992186"/>
            <a:ext cx="3444949" cy="27900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dk1"/>
              </a:buClr>
              <a:buSzPts val="4800"/>
              <a:buFont typeface="Fraunces"/>
              <a:buNone/>
              <a:defRPr sz="8000" b="0" i="0" u="none" strike="noStrike" cap="none" spc="0">
                <a:solidFill>
                  <a:schemeClr val="dk1"/>
                </a:solidFill>
                <a:latin typeface="Fraunces"/>
                <a:ea typeface="Fraunces"/>
                <a:cs typeface="Fraunces"/>
                <a:sym typeface="Fraunces"/>
              </a:defRPr>
            </a:lvl1pPr>
            <a:lvl2pPr marR="0" lvl="1"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800"/>
              <a:buFont typeface="Arial"/>
              <a:buNone/>
              <a:defRPr sz="6400" b="0" i="0" u="none" strike="noStrike" cap="none" spc="0">
                <a:solidFill>
                  <a:srgbClr val="000000"/>
                </a:solidFill>
                <a:latin typeface="Arial"/>
                <a:ea typeface="Arial"/>
                <a:cs typeface="Arial"/>
                <a:sym typeface="Arial"/>
              </a:defRPr>
            </a:lvl9pPr>
          </a:lstStyle>
          <a:p>
            <a:pPr algn="l"/>
            <a:r>
              <a:rPr lang="en-US" sz="2800" dirty="0">
                <a:solidFill>
                  <a:schemeClr val="bg1"/>
                </a:solidFill>
              </a:rPr>
              <a:t>@</a:t>
            </a:r>
            <a:r>
              <a:rPr lang="en-US" sz="2800" dirty="0" err="1">
                <a:solidFill>
                  <a:schemeClr val="bg1"/>
                </a:solidFill>
              </a:rPr>
              <a:t>denisegosnell.ai</a:t>
            </a:r>
            <a:endParaRPr lang="en-US" sz="2800" dirty="0">
              <a:solidFill>
                <a:schemeClr val="bg1"/>
              </a:solidFill>
            </a:endParaRPr>
          </a:p>
        </p:txBody>
      </p:sp>
      <p:pic>
        <p:nvPicPr>
          <p:cNvPr id="9" name="Picture 2">
            <a:extLst>
              <a:ext uri="{FF2B5EF4-FFF2-40B4-BE49-F238E27FC236}">
                <a16:creationId xmlns:a16="http://schemas.microsoft.com/office/drawing/2014/main" id="{C00DE193-FB99-669E-5E31-B8578EFE12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3708" y="5869772"/>
            <a:ext cx="444842" cy="4448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1" presetID="10"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6067</Words>
  <Application>Microsoft Macintosh PowerPoint</Application>
  <PresentationFormat>Widescreen</PresentationFormat>
  <Paragraphs>647</Paragraphs>
  <Slides>22</Slides>
  <Notes>22</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Fraunces</vt:lpstr>
      <vt:lpstr>DM Sans Light</vt:lpstr>
      <vt:lpstr>DM Sans</vt:lpstr>
      <vt:lpstr>Montserrat Medium</vt:lpstr>
      <vt:lpstr>Roboto SemiBold</vt:lpstr>
      <vt:lpstr>Montserrat Black</vt:lpstr>
      <vt:lpstr>Montserrat</vt:lpstr>
      <vt:lpstr>Consolas</vt:lpstr>
      <vt:lpstr>Roboto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Denise Gosnell</cp:lastModifiedBy>
  <cp:revision>1</cp:revision>
  <dcterms:modified xsi:type="dcterms:W3CDTF">2026-10-23T15:22:59Z</dcterms:modified>
</cp:coreProperties>
</file>