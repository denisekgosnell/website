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20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63"/>
  </p:notesMasterIdLst>
  <p:sldIdLst>
    <p:sldId id="31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18" r:id="rId14"/>
    <p:sldId id="31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embeddedFontLst>
    <p:embeddedFont>
      <p:font typeface="Bebas Neue" panose="020B0606020202050201" pitchFamily="34" charset="77"/>
      <p:regular r:id="rId64"/>
    </p:embeddedFont>
    <p:embeddedFont>
      <p:font typeface="DM Sans" pitchFamily="2" charset="77"/>
      <p:regular r:id="rId65"/>
      <p:bold r:id="rId66"/>
      <p:italic r:id="rId67"/>
      <p:boldItalic r:id="rId68"/>
    </p:embeddedFont>
    <p:embeddedFont>
      <p:font typeface="Fraunces" pitchFamily="2" charset="77"/>
      <p:regular r:id="rId69"/>
      <p:bold r:id="rId70"/>
      <p:italic r:id="rId71"/>
      <p:boldItalic r:id="rId72"/>
    </p:embeddedFont>
    <p:embeddedFont>
      <p:font typeface="Fraunces SemiBold" pitchFamily="2" charset="77"/>
      <p:regular r:id="rId73"/>
      <p:bold r:id="rId74"/>
      <p:italic r:id="rId75"/>
      <p:boldItalic r:id="rId76"/>
    </p:embeddedFont>
    <p:embeddedFont>
      <p:font typeface="Montserrat" pitchFamily="2" charset="77"/>
      <p:regular r:id="rId77"/>
      <p:bold r:id="rId78"/>
      <p:italic r:id="rId79"/>
      <p:boldItalic r:id="rId80"/>
    </p:embeddedFont>
    <p:embeddedFont>
      <p:font typeface="Open Sans" panose="020B0606030504020204" pitchFamily="34" charset="0"/>
      <p:regular r:id="rId81"/>
      <p:bold r:id="rId82"/>
      <p:italic r:id="rId83"/>
      <p:boldItalic r:id="rId84"/>
    </p:embeddedFont>
    <p:embeddedFont>
      <p:font typeface="PT Sans" panose="020B0503020203020204" pitchFamily="34" charset="77"/>
      <p:regular r:id="rId85"/>
      <p:bold r:id="rId86"/>
      <p:italic r:id="rId87"/>
      <p:boldItalic r:id="rId88"/>
    </p:embeddedFont>
    <p:embeddedFont>
      <p:font typeface="Quicksand" pitchFamily="2" charset="77"/>
      <p:regular r:id="rId89"/>
      <p:bold r:id="rId90"/>
    </p:embeddedFont>
    <p:embeddedFont>
      <p:font typeface="Roboto SemiBold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rinn Abarbanell" initials="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E7DB"/>
    <a:srgbClr val="26004D"/>
    <a:srgbClr val="20003E"/>
    <a:srgbClr val="E1C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470"/>
    <p:restoredTop sz="54384"/>
  </p:normalViewPr>
  <p:slideViewPr>
    <p:cSldViewPr snapToGrid="0">
      <p:cViewPr varScale="1">
        <p:scale>
          <a:sx n="52" d="100"/>
          <a:sy n="52" d="100"/>
        </p:scale>
        <p:origin x="1584" y="47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84" Type="http://schemas.openxmlformats.org/officeDocument/2006/relationships/font" Target="fonts/font21.fntdata"/><Relationship Id="rId89" Type="http://schemas.openxmlformats.org/officeDocument/2006/relationships/font" Target="fonts/font2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1.fntdata"/><Relationship Id="rId79" Type="http://schemas.openxmlformats.org/officeDocument/2006/relationships/font" Target="fonts/font16.fntdata"/><Relationship Id="rId5" Type="http://schemas.openxmlformats.org/officeDocument/2006/relationships/slide" Target="slides/slide4.xml"/><Relationship Id="rId90" Type="http://schemas.openxmlformats.org/officeDocument/2006/relationships/font" Target="fonts/font27.fntdata"/><Relationship Id="rId95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80" Type="http://schemas.openxmlformats.org/officeDocument/2006/relationships/font" Target="fonts/font17.fntdata"/><Relationship Id="rId85" Type="http://schemas.openxmlformats.org/officeDocument/2006/relationships/font" Target="fonts/font2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83" Type="http://schemas.openxmlformats.org/officeDocument/2006/relationships/font" Target="fonts/font20.fntdata"/><Relationship Id="rId88" Type="http://schemas.openxmlformats.org/officeDocument/2006/relationships/font" Target="fonts/font25.fntdata"/><Relationship Id="rId91" Type="http://schemas.openxmlformats.org/officeDocument/2006/relationships/font" Target="fonts/font28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font" Target="fonts/font15.fntdata"/><Relationship Id="rId81" Type="http://schemas.openxmlformats.org/officeDocument/2006/relationships/font" Target="fonts/font18.fntdata"/><Relationship Id="rId86" Type="http://schemas.openxmlformats.org/officeDocument/2006/relationships/font" Target="fonts/font23.fntdata"/><Relationship Id="rId94" Type="http://schemas.openxmlformats.org/officeDocument/2006/relationships/font" Target="fonts/font31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3.fntdata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8.fntdata"/><Relationship Id="rId92" Type="http://schemas.openxmlformats.org/officeDocument/2006/relationships/font" Target="fonts/font2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3.fntdata"/><Relationship Id="rId87" Type="http://schemas.openxmlformats.org/officeDocument/2006/relationships/font" Target="fonts/font24.fntdata"/><Relationship Id="rId61" Type="http://schemas.openxmlformats.org/officeDocument/2006/relationships/slide" Target="slides/slide60.xml"/><Relationship Id="rId82" Type="http://schemas.openxmlformats.org/officeDocument/2006/relationships/font" Target="fonts/font1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93" Type="http://schemas.openxmlformats.org/officeDocument/2006/relationships/font" Target="fonts/font30.fntdata"/><Relationship Id="rId98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19:08:07.043" idx="8">
    <p:pos x="0" y="0"/>
    <p:text>pulled a couple stock photos we could use for this (if we don't have a photo of karen)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19:08:17.926" idx="9">
    <p:pos x="0" y="0"/>
    <p:text>option 2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23:35:31.099" idx="3">
    <p:pos x="0" y="0"/>
    <p:text>replacement for sad man that aligns to deepfake example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19:01:29.131" idx="4">
    <p:pos x="0" y="0"/>
    <p:text>optional if you want it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23:30:26.187" idx="5">
    <p:pos x="6000" y="0"/>
    <p:text>I know we said we didn't need this one - just adding it here in case we want it for balance.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8T01:25:28.913" idx="6">
    <p:pos x="3931" y="536"/>
    <p:text>There are a few of these that float in and out automatically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23:44:12.735" idx="7">
    <p:pos x="0" y="0"/>
    <p:text>Try this out in slideshow mode - this is as slow as I can get it with native Google Slides animation. If we need to slow it down more lmk.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Host intro • wait for applause • click → TN photos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no script on this slide</a:t>
            </a:r>
          </a:p>
          <a:p>
            <a:pPr>
              <a:defRPr sz="2800"/>
            </a:pPr>
            <a:r>
              <a:rPr sz="2800"/>
              <a:t>• first click → two TN photos → your opener, then "In late April of 2014…"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3082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YOUR OPENER • then 2014 • cs102 • 120 students • last gate • check the box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Every executive I talk to is hearing the same pitches on AI</a:t>
            </a:r>
          </a:p>
          <a:p>
            <a:pPr>
              <a:defRPr sz="2800"/>
            </a:pPr>
            <a:r>
              <a:rPr sz="2800"/>
              <a:t>• And almost nobody will tell them what's real</a:t>
            </a:r>
          </a:p>
          <a:p>
            <a:pPr>
              <a:defRPr sz="2800"/>
            </a:pPr>
            <a:r>
              <a:rPr sz="2800"/>
              <a:t>• Buckle up y'all. I'm about to dive into the on-the-ground reality of AI</a:t>
            </a:r>
          </a:p>
          <a:p>
            <a:pPr>
              <a:defRPr sz="2800"/>
            </a:pPr>
            <a:r>
              <a:rPr sz="2800"/>
              <a:t>• In late April of 2014… lecture hall at the University of Tennessee (not "just down the street")</a:t>
            </a:r>
          </a:p>
          <a:p>
            <a:pPr>
              <a:defRPr sz="2800"/>
            </a:pPr>
            <a:r>
              <a:rPr sz="2800"/>
              <a:t>• 525 Min Kao • proctoring Dr. Mike Berry's CS 102 final • my last final as a TA</a:t>
            </a:r>
          </a:p>
          <a:p>
            <a:pPr>
              <a:defRPr sz="2800"/>
            </a:pPr>
            <a:r>
              <a:rPr sz="2800"/>
              <a:t>• 120 students, heads down • last gate before summer break</a:t>
            </a:r>
          </a:p>
          <a:p>
            <a:pPr>
              <a:defRPr sz="2800"/>
            </a:pPr>
            <a:r>
              <a:rPr sz="2800"/>
              <a:t>• some passionate • others simply checking a box</a:t>
            </a:r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Micah • curious • for loops • blue books • bear hug • invisible puzzles • why I'm here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One of those students was Micah • mostly showed up • middle of the pack</a:t>
            </a:r>
          </a:p>
          <a:p>
            <a:pPr>
              <a:defRPr sz="2800"/>
            </a:pPr>
            <a:r>
              <a:rPr sz="2800"/>
              <a:t>• curious • "mostly showed up" → "always showed up" • for loops in the lab</a:t>
            </a:r>
          </a:p>
          <a:p>
            <a:pPr>
              <a:defRPr sz="2800"/>
            </a:pPr>
            <a:r>
              <a:rPr sz="2800"/>
              <a:t>• compounding benefits of automation</a:t>
            </a:r>
          </a:p>
          <a:p>
            <a:pPr>
              <a:defRPr sz="2800"/>
            </a:pPr>
            <a:r>
              <a:rPr sz="2800"/>
              <a:t>• So there I was, standing in room 525 • blue books • they're probably coming back</a:t>
            </a:r>
          </a:p>
          <a:p>
            <a:pPr>
              <a:defRPr sz="2800"/>
            </a:pPr>
            <a:r>
              <a:rPr sz="2800"/>
              <a:t>• hands it to me • biggest bear hug of my life • lifts me clean off the ground</a:t>
            </a:r>
          </a:p>
          <a:p>
            <a:pPr>
              <a:defRPr sz="2800"/>
            </a:pPr>
            <a:r>
              <a:rPr sz="2800"/>
              <a:t>• just wanting a box checked → new passion for solving invisible math puzzles</a:t>
            </a:r>
          </a:p>
          <a:p>
            <a:pPr>
              <a:defRPr sz="2800"/>
            </a:pPr>
            <a:r>
              <a:rPr sz="2800"/>
              <a:t>• Dr. Berry: "you've lit that kid on fire" • switched his major • thank me for showing him his path</a:t>
            </a:r>
          </a:p>
          <a:p>
            <a:pPr>
              <a:defRPr sz="2800"/>
            </a:pPr>
            <a:r>
              <a:rPr sz="2800"/>
              <a:t>• And that is why I'm standing here today</a:t>
            </a:r>
          </a:p>
        </p:txBody>
      </p:sp>
      <p:sp>
        <p:nvSpPr>
          <p:cNvPr id="167" name="Google Shape;1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open a door • make it visible • GOOD MORNING SAN FRANCISCO • Denise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I thought I had spent the semester teaching computer science</a:t>
            </a:r>
          </a:p>
          <a:p>
            <a:pPr>
              <a:defRPr sz="2800"/>
            </a:pPr>
            <a:r>
              <a:rPr sz="2800"/>
              <a:t>• What I had really done was open a door • Micah walked through it</a:t>
            </a:r>
          </a:p>
          <a:p>
            <a:pPr>
              <a:defRPr sz="2800"/>
            </a:pPr>
            <a:r>
              <a:rPr sz="2800"/>
              <a:t>• But first, somebody had to make the door visible</a:t>
            </a:r>
          </a:p>
          <a:p>
            <a:pPr>
              <a:defRPr sz="2800"/>
            </a:pPr>
            <a:r>
              <a:rPr sz="2800"/>
              <a:t>• Good morning, San Francisco. My name is Denise Gosnell.</a:t>
            </a:r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puzzle story (not in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one destination: Silicon Valley • learn from the best • gravity well of open source • graph tech • broken silo = duality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After finishing my PhD, only one destination for me: Silicon Valley</a:t>
            </a:r>
          </a:p>
          <a:p>
            <a:pPr>
              <a:defRPr sz="2800"/>
            </a:pPr>
            <a:r>
              <a:rPr sz="2800"/>
              <a:t>• I wanted to learn and build from the best</a:t>
            </a:r>
          </a:p>
          <a:p>
            <a:pPr>
              <a:defRPr sz="2800"/>
            </a:pPr>
            <a:r>
              <a:rPr sz="2800"/>
              <a:t>• quickly fell into the gravity well of open source</a:t>
            </a:r>
          </a:p>
          <a:p>
            <a:pPr>
              <a:defRPr sz="2800"/>
            </a:pPr>
            <a:r>
              <a:rPr sz="2800"/>
              <a:t>• leader in open-source graph technology • Netflix, Starbucks, Home Depot, FedEx, SnapChat, the Federal Government</a:t>
            </a:r>
          </a:p>
          <a:p>
            <a:pPr>
              <a:defRPr sz="2800"/>
            </a:pPr>
            <a:r>
              <a:rPr sz="2800"/>
              <a:t>• connect data in ways that break silos</a:t>
            </a:r>
          </a:p>
          <a:p>
            <a:pPr>
              <a:defRPr sz="2800"/>
            </a:pPr>
            <a:r>
              <a:rPr sz="2800"/>
              <a:t>• a broken silo is itself a duality • breaks somebody's comfortable model → opportunity for someone else</a:t>
            </a:r>
          </a:p>
        </p:txBody>
      </p:sp>
      <p:sp>
        <p:nvSpPr>
          <p:cNvPr id="189" name="Google Shape;18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$20M medicare fraud • claims processing • PBMs • sued out of existence • door for one = wall for another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Like that time, right after my PhD, at a healthcare startup in Charleston, South Carolina (say "in", not "here in")</a:t>
            </a:r>
          </a:p>
          <a:p>
            <a:pPr>
              <a:defRPr sz="2800"/>
            </a:pPr>
            <a:r>
              <a:rPr sz="2800"/>
              <a:t>• exposed a $20M medicare fraud scheme simply by connecting data sets</a:t>
            </a:r>
          </a:p>
          <a:p>
            <a:pPr>
              <a:defRPr sz="2800"/>
            </a:pPr>
            <a:r>
              <a:rPr sz="2800"/>
              <a:t>• same start-up: automated claims processing • saved people real money</a:t>
            </a:r>
          </a:p>
          <a:p>
            <a:pPr>
              <a:defRPr sz="2800"/>
            </a:pPr>
            <a:r>
              <a:rPr sz="2800"/>
              <a:t>• made drug prices transparent • exposed games the PBMs were running</a:t>
            </a:r>
          </a:p>
          <a:p>
            <a:pPr>
              <a:defRPr sz="2800"/>
            </a:pPr>
            <a:r>
              <a:rPr sz="2800"/>
              <a:t>• you can guess what happened next: (pause) a PBM sued us out of existence</a:t>
            </a:r>
          </a:p>
          <a:p>
            <a:pPr>
              <a:defRPr sz="2800"/>
            </a:pPr>
            <a:r>
              <a:rPr sz="2800"/>
              <a:t>• After enough times, you stop seeing innovation as one thing</a:t>
            </a:r>
          </a:p>
          <a:p>
            <a:pPr>
              <a:defRPr sz="2800"/>
            </a:pPr>
            <a:r>
              <a:rPr sz="2800"/>
              <a:t>• a door for one person is a wall coming down for someone else</a:t>
            </a:r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TECH DOESN'T PICK • my duality • colorblind • synthesis when moving • swimming laps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Here's the important thing about that:</a:t>
            </a:r>
          </a:p>
          <a:p>
            <a:pPr>
              <a:defRPr sz="2800"/>
            </a:pPr>
            <a:r>
              <a:rPr sz="2800"/>
              <a:t>• The technology doesn't pick. People do.</a:t>
            </a:r>
          </a:p>
          <a:p>
            <a:pPr>
              <a:defRPr sz="2800"/>
            </a:pPr>
            <a:r>
              <a:rPr sz="2800"/>
              <a:t>• something else about me: I've always lived in a duality between what makes sense to me and what everybody else says is true</a:t>
            </a:r>
          </a:p>
          <a:p>
            <a:pPr>
              <a:defRPr sz="2800"/>
            </a:pPr>
            <a:r>
              <a:rPr sz="2800"/>
              <a:t>• not like colorblindness (Peyton Manning as mayor of Knoxville = TN joke, optional here)</a:t>
            </a:r>
          </a:p>
          <a:p>
            <a:pPr>
              <a:defRPr sz="2800"/>
            </a:pPr>
            <a:r>
              <a:rPr sz="2800"/>
              <a:t>• my biggest moments of synthesis don't arrive at my desk • they arrive later, when I'm moving</a:t>
            </a:r>
          </a:p>
          <a:p>
            <a:pPr>
              <a:defRPr sz="2800"/>
            </a:pPr>
            <a:r>
              <a:rPr sz="2800"/>
              <a:t>• swimming laps • I understand by moving. Talking. Testing. Making.</a:t>
            </a:r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four buckets • kinesthetic = me • software = reading &amp; writing • Python, Java, C++ • outside the door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research rabbit hole… four buckets</a:t>
            </a:r>
          </a:p>
          <a:p>
            <a:pPr>
              <a:defRPr sz="2800"/>
            </a:pPr>
            <a:r>
              <a:rPr sz="2800"/>
              <a:t>----&gt; Visual. Auditory. Reading and writing. Kinesthetic.</a:t>
            </a:r>
          </a:p>
          <a:p>
            <a:pPr>
              <a:defRPr sz="2800"/>
            </a:pPr>
            <a:r>
              <a:rPr sz="2800"/>
              <a:t>• I'm the kinesthetic type. Things click for me when I'm moving.</a:t>
            </a:r>
          </a:p>
          <a:p>
            <a:pPr>
              <a:defRPr sz="2800"/>
            </a:pPr>
            <a:r>
              <a:rPr sz="2800"/>
              <a:t>• traditional software development is tailored for the reading and writing learners • Python, Java, C++</a:t>
            </a:r>
          </a:p>
          <a:p>
            <a:pPr>
              <a:defRPr sz="2800"/>
            </a:pPr>
            <a:r>
              <a:rPr sz="2800"/>
              <a:t>• If that's hard for you, you were standing outside the door</a:t>
            </a:r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AI opens that door • plain English • polished memo • dozen responsibilities • THAT IS REAL • new builders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AI, however, is opening that door</a:t>
            </a:r>
          </a:p>
          <a:p>
            <a:pPr>
              <a:defRPr sz="2800"/>
            </a:pPr>
            <a:r>
              <a:rPr sz="2800"/>
              <a:t>• describe the problem in plain English—or French or Mandarin or Hungarian—and begin to build</a:t>
            </a:r>
          </a:p>
          <a:p>
            <a:pPr>
              <a:defRPr sz="2800"/>
            </a:pPr>
            <a:r>
              <a:rPr sz="2800"/>
              <a:t>• struggles to turn an idea into a polished memo → talk it through with Claude, find the shape of the argument</a:t>
            </a:r>
          </a:p>
          <a:p>
            <a:pPr>
              <a:defRPr sz="2800"/>
            </a:pPr>
            <a:r>
              <a:rPr sz="2800"/>
              <a:t>• overwhelmed by a dozen responsibilities → a system that gives them more of their day—and themselves—back</a:t>
            </a:r>
          </a:p>
          <a:p>
            <a:pPr>
              <a:defRPr sz="2800"/>
            </a:pPr>
            <a:r>
              <a:rPr sz="2800"/>
              <a:t>• That is real. I see it happening in front of me. We all do.</a:t>
            </a:r>
          </a:p>
          <a:p>
            <a:pPr>
              <a:defRPr sz="2800"/>
            </a:pPr>
            <a:r>
              <a:rPr sz="2800"/>
              <a:t>• open the door and show people through → a whole new group of builders who can finally be seen</a:t>
            </a:r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b528294b6_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fb528294b6_5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J (not in the SF talk — Karen instead)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230" name="Google Shape;230;g3fb528294b6_5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b528294b6_5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fb528294b6_5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J's app (not in the SF talk — Karen instead)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239" name="Google Shape;239;g3fb528294b6_5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6cd4901ced323fef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h6cd4901ced323fef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Karen • multi-billion • millions on Salesforce • 18 months, didn't work • losing streak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Take an executive I work with, Karen. She owns tech for a multi-billion-dollar company.</a:t>
            </a:r>
          </a:p>
          <a:p>
            <a:pPr>
              <a:defRPr sz="2800"/>
            </a:pPr>
            <a:r>
              <a:rPr sz="2800"/>
              <a:t>• Before we ever met: millions out of her own P&amp;L on a project with Salesforce</a:t>
            </a:r>
          </a:p>
          <a:p>
            <a:pPr>
              <a:defRPr sz="2800"/>
            </a:pPr>
            <a:r>
              <a:rPr sz="2800"/>
              <a:t>• modernize and secure her data infrastructure • a year and a half later, it still didn't work</a:t>
            </a:r>
          </a:p>
          <a:p>
            <a:pPr>
              <a:defRPr sz="2800"/>
            </a:pPr>
            <a:r>
              <a:rPr sz="2800"/>
              <a:t>• walked into our first meeting like someone on a losing streak, bracing for one more</a:t>
            </a:r>
          </a:p>
          <a:p>
            <a:pPr>
              <a:defRPr sz="2800"/>
            </a:pPr>
            <a:r>
              <a:rPr sz="2800"/>
              <a:t>• buried under a run of projects that didn't land</a:t>
            </a:r>
          </a:p>
        </p:txBody>
      </p:sp>
      <p:sp>
        <p:nvSpPr>
          <p:cNvPr id="247" name="Google Shape;247;h6cd4901ced323fef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6cd4901ced323fef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h6cd4901ced323fef_1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open source + AI • 90 days • 40% less • no miracle • opened the door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Together, using open source and AI, we built</a:t>
            </a:r>
          </a:p>
          <a:p>
            <a:pPr>
              <a:defRPr sz="2800"/>
            </a:pPr>
            <a:r>
              <a:rPr sz="2800"/>
              <a:t>• Ninety days later she had the thing Salesforce couldn't deliver in eighteen months</a:t>
            </a:r>
          </a:p>
          <a:p>
            <a:pPr>
              <a:defRPr sz="2800"/>
            </a:pPr>
            <a:r>
              <a:rPr sz="2800"/>
              <a:t>• and it cost her about 40% less</a:t>
            </a:r>
          </a:p>
          <a:p>
            <a:pPr>
              <a:defRPr sz="2800"/>
            </a:pPr>
            <a:r>
              <a:rPr sz="2800"/>
              <a:t>• For Karen—I didn't perform a miracle. All I did was open the door for her.</a:t>
            </a:r>
          </a:p>
        </p:txBody>
      </p:sp>
      <p:sp>
        <p:nvSpPr>
          <p:cNvPr id="256" name="Google Shape;256;h6cd4901ced323fef_1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not immune • disruption, displacement, fear • NOT IRRATIONAL • job • parents / deepfakes • kids / startup pivots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even as I talk about the positives: AI is not immune from the duality of technology</a:t>
            </a:r>
          </a:p>
          <a:p>
            <a:pPr>
              <a:defRPr sz="2800"/>
            </a:pPr>
            <a:r>
              <a:rPr sz="2800"/>
              <a:t>• The disruption, the displacement, the fear</a:t>
            </a:r>
          </a:p>
          <a:p>
            <a:pPr>
              <a:defRPr sz="2800"/>
            </a:pPr>
            <a:r>
              <a:rPr sz="2800"/>
              <a:t>• It is not irrational for people to worry about their job</a:t>
            </a:r>
          </a:p>
          <a:p>
            <a:pPr>
              <a:defRPr sz="2800"/>
            </a:pPr>
            <a:r>
              <a:rPr sz="2800"/>
              <a:t>• …their elderly parents falling victim to deepfake scams</a:t>
            </a:r>
          </a:p>
          <a:p>
            <a:pPr>
              <a:defRPr sz="2800"/>
            </a:pPr>
            <a:r>
              <a:rPr sz="2800"/>
              <a:t>• …their children growing up in a less stable world, disrupted more quickly than a startup pivots (SF swap for "UT freshman changes majors")</a:t>
            </a:r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THE DUALITY • open / close • voice / counterfeit • first-time builder / control the tools • time back / automate away • both real, neither guaranteed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This is the Duality of AI</a:t>
            </a:r>
          </a:p>
          <a:p>
            <a:pPr>
              <a:defRPr sz="2800"/>
            </a:pPr>
            <a:r>
              <a:rPr sz="2800"/>
              <a:t>• AI can open doors, but just as easily, AI can close them</a:t>
            </a:r>
          </a:p>
          <a:p>
            <a:pPr>
              <a:defRPr sz="2800"/>
            </a:pPr>
            <a:r>
              <a:rPr sz="2800"/>
              <a:t>• give voice to people who have been talked over—and counterfeit someone's voice and steal their identity</a:t>
            </a:r>
          </a:p>
          <a:p>
            <a:pPr>
              <a:defRPr sz="2800"/>
            </a:pPr>
            <a:r>
              <a:rPr sz="2800"/>
              <a:t>• help a first-time builder create something valuable—and let a small group of companies control the tools every builder depends on</a:t>
            </a:r>
          </a:p>
          <a:p>
            <a:pPr>
              <a:defRPr sz="2800"/>
            </a:pPr>
            <a:r>
              <a:rPr sz="2800"/>
              <a:t>• give us time back for families, friends, ourselves—and tempt us to automate away the relationships that make the time worth having</a:t>
            </a:r>
          </a:p>
          <a:p>
            <a:pPr>
              <a:defRPr sz="2800"/>
            </a:pPr>
            <a:r>
              <a:rPr sz="2800"/>
              <a:t>• Both sides are real. Neither is guaranteed.</a:t>
            </a:r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not Field of Dreams • built on purpose • door openers • three places: jobs, prosperity, agency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AI is not Field of Dreams. If we build it, the positive side will not magically come.</a:t>
            </a:r>
          </a:p>
          <a:p>
            <a:pPr>
              <a:defRPr sz="2800"/>
            </a:pPr>
            <a:r>
              <a:rPr sz="2800"/>
              <a:t>• The positive side has to be built on purpose</a:t>
            </a:r>
          </a:p>
          <a:p>
            <a:pPr>
              <a:defRPr sz="2800"/>
            </a:pPr>
            <a:r>
              <a:rPr sz="2800"/>
              <a:t>• people in positions of leadership—technology, business, society—must become door openers</a:t>
            </a:r>
          </a:p>
          <a:p>
            <a:pPr>
              <a:defRPr sz="2800"/>
            </a:pPr>
            <a:r>
              <a:rPr sz="2800"/>
              <a:t>• three places where the Duality of AI is present in all of our lives • the choice to open or close doors for…</a:t>
            </a:r>
          </a:p>
          <a:p>
            <a:pPr>
              <a:defRPr sz="2800"/>
            </a:pPr>
            <a:r>
              <a:rPr sz="2800"/>
              <a:t>• …individuals and their jobs • …communities and their prosperity • …our own agency</a:t>
            </a:r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6cd4901ced323fef_1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Three Great Tensions • RAISE HAND • right room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I call these the Three Great Tensions of AI</a:t>
            </a:r>
          </a:p>
          <a:p>
            <a:pPr>
              <a:defRPr sz="2800"/>
            </a:pPr>
            <a:r>
              <a:rPr sz="2800"/>
              <a:t>• Let me ask you: Who here wants to open doors for individuals, for their communities, and for society? [raise hand]</a:t>
            </a:r>
          </a:p>
          <a:p>
            <a:pPr>
              <a:defRPr sz="2800"/>
            </a:pPr>
            <a:r>
              <a:rPr sz="2800"/>
              <a:t>• Who here wants to close doors instead? [lower hand]</a:t>
            </a:r>
          </a:p>
          <a:p>
            <a:pPr>
              <a:defRPr sz="2800"/>
            </a:pPr>
            <a:r>
              <a:rPr sz="2800"/>
              <a:t>• Great. You're in the right room.</a:t>
            </a:r>
          </a:p>
        </p:txBody>
      </p:sp>
      <p:sp>
        <p:nvSpPr>
          <p:cNvPr id="286" name="Google Shape;286;h6cd4901ced323fef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6cd4901ced323fef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say it again • PEOPLE DO. WE DO. • → first tension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So let me say it again, the technology doesn't pick. People do. We Do.</a:t>
            </a:r>
          </a:p>
        </p:txBody>
      </p:sp>
      <p:sp>
        <p:nvSpPr>
          <p:cNvPr id="303" name="Google Shape;303;h6cd4901ced323fef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6cd4901ced323fef_1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First Great Tension divider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"Let me show you a quote I read recently that rings true to me"</a:t>
            </a:r>
          </a:p>
        </p:txBody>
      </p:sp>
      <p:sp>
        <p:nvSpPr>
          <p:cNvPr id="311" name="Google Shape;311;h6cd4901ced323fef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read the quote • any guesses? • JFK • written for this moment • early 60s = today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(read the quote on the slide)</a:t>
            </a:r>
          </a:p>
          <a:p>
            <a:pPr>
              <a:defRPr sz="2800"/>
            </a:pPr>
            <a:r>
              <a:rPr sz="2800"/>
              <a:t>• Anyone know who that was? Any guesses?</a:t>
            </a:r>
          </a:p>
          <a:p>
            <a:pPr>
              <a:defRPr sz="2800"/>
            </a:pPr>
            <a:r>
              <a:rPr sz="2800"/>
              <a:t>• That's John F. Kennedy. Read it again and try to tell me it wasn't written for this moment.</a:t>
            </a:r>
          </a:p>
          <a:p>
            <a:pPr>
              <a:defRPr sz="2800"/>
            </a:pPr>
            <a:r>
              <a:rPr sz="2800"/>
              <a:t>• A quote from the early 60s is equally applicable today</a:t>
            </a:r>
          </a:p>
        </p:txBody>
      </p:sp>
      <p:sp>
        <p:nvSpPr>
          <p:cNvPr id="317" name="Google Shape;3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Thog &amp; Grog • sledge vs wheel • invent → change → disruption • positive &amp; negative • inherent tension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Thog probably lamented the downfall of his sledge business when Grog invented the wheel</a:t>
            </a:r>
          </a:p>
          <a:p>
            <a:pPr>
              <a:defRPr sz="2800"/>
            </a:pPr>
            <a:r>
              <a:rPr sz="2800"/>
              <a:t>• We invent new things. Those new things bring change. Change is disruptive.</a:t>
            </a:r>
          </a:p>
          <a:p>
            <a:pPr>
              <a:defRPr sz="2800"/>
            </a:pPr>
            <a:r>
              <a:rPr sz="2800"/>
              <a:t>• positive effects and negative effects • This is the inherent tension in change</a:t>
            </a:r>
          </a:p>
        </p:txBody>
      </p:sp>
      <p:sp>
        <p:nvSpPr>
          <p:cNvPr id="322" name="Google Shape;3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humans don't like change • when it happens to US • feels like loss • careers, lifetime • LOSS OF IDENTITY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But humans don't like change</a:t>
            </a:r>
          </a:p>
          <a:p>
            <a:pPr>
              <a:defRPr sz="2800"/>
            </a:pPr>
            <a:r>
              <a:rPr sz="2800"/>
              <a:t>• we understand intellectually that change is inevitable</a:t>
            </a:r>
          </a:p>
          <a:p>
            <a:pPr>
              <a:defRPr sz="2800"/>
            </a:pPr>
            <a:r>
              <a:rPr sz="2800"/>
              <a:t>• but when it happens to us—alters our routines, threatens what we built, removes a path we counted on—it does not feel like progress</a:t>
            </a:r>
          </a:p>
          <a:p>
            <a:pPr>
              <a:defRPr sz="2800"/>
            </a:pPr>
            <a:r>
              <a:rPr sz="2800"/>
              <a:t>• It feels like loss.</a:t>
            </a:r>
          </a:p>
          <a:p>
            <a:pPr>
              <a:defRPr sz="2800"/>
            </a:pPr>
            <a:r>
              <a:rPr sz="2800"/>
              <a:t>• when it touches our careers • paths built over years, decades, a lifetime</a:t>
            </a:r>
          </a:p>
          <a:p>
            <a:pPr>
              <a:defRPr sz="2800"/>
            </a:pPr>
            <a:r>
              <a:rPr sz="2800"/>
              <a:t>• That's not just a loss of convenience or routine. That's a loss of identity.</a:t>
            </a:r>
          </a:p>
        </p:txBody>
      </p:sp>
      <p:sp>
        <p:nvSpPr>
          <p:cNvPr id="329" name="Google Shape;3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6cd4901ced323fef_1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we lose who we are • dismiss resistance as ignorance • WE TELL THEM… • tell that to the person who lost their job • AI eliminates &amp; creates • "technically possible"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We lose who we are.</a:t>
            </a:r>
          </a:p>
          <a:p>
            <a:pPr>
              <a:defRPr sz="2800"/>
            </a:pPr>
            <a:r>
              <a:rPr sz="2800"/>
              <a:t>• tempting for those of us excited about AI to dismiss resistance as ignorance</a:t>
            </a:r>
          </a:p>
          <a:p>
            <a:pPr>
              <a:defRPr sz="2800"/>
            </a:pPr>
            <a:r>
              <a:rPr sz="2800"/>
              <a:t>• We tell them disruption has happened before • in the long run, innovation creates more prosperity</a:t>
            </a:r>
          </a:p>
          <a:p>
            <a:pPr>
              <a:defRPr sz="2800"/>
            </a:pPr>
            <a:r>
              <a:rPr sz="2800"/>
              <a:t>• And that's true, but tell that to the person who lost their job.</a:t>
            </a:r>
          </a:p>
          <a:p>
            <a:pPr>
              <a:defRPr sz="2800"/>
            </a:pPr>
            <a:r>
              <a:rPr sz="2800"/>
              <a:t>• AI will eliminate jobs. But equally inevitable is the creation of new work.</a:t>
            </a:r>
          </a:p>
          <a:p>
            <a:pPr>
              <a:defRPr sz="2800"/>
            </a:pPr>
            <a:r>
              <a:rPr sz="2800"/>
              <a:t>• robot automates an assembly-line job → "technically possible" to retrain in robotics or software engineering</a:t>
            </a:r>
          </a:p>
          <a:p>
            <a:pPr>
              <a:defRPr sz="2800"/>
            </a:pPr>
            <a:r>
              <a:rPr sz="2800"/>
              <a:t>• "technically possible" is doing a lot of work there</a:t>
            </a:r>
          </a:p>
        </p:txBody>
      </p:sp>
      <p:sp>
        <p:nvSpPr>
          <p:cNvPr id="350" name="Google Shape;350;h6cd4901ced323fef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switchboard: 1.5M → 40k → &lt;2k • new jobs: design, maintain, computerized • SOMEONE HAD TO • on a chart = recovery • AGGREGATE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1950: almost 1.5 million telephone switchboard operators • 1984: 40,000 • today: under 2,000</a:t>
            </a:r>
          </a:p>
          <a:p>
            <a:pPr>
              <a:defRPr sz="2800"/>
            </a:pPr>
            <a:r>
              <a:rPr sz="2800"/>
              <a:t>• jobs disappeared even as new ones were created: design and build the automation • maintain it • computerized</a:t>
            </a:r>
          </a:p>
          <a:p>
            <a:pPr>
              <a:defRPr sz="2800"/>
            </a:pPr>
            <a:r>
              <a:rPr sz="2800"/>
              <a:t>• Those new jobs required different skills. Someone had to learn them, and someone had to pay for that.</a:t>
            </a:r>
          </a:p>
          <a:p>
            <a:pPr>
              <a:defRPr sz="2800"/>
            </a:pPr>
            <a:r>
              <a:rPr sz="2800"/>
              <a:t>• They were in different places. Someone had to move, or be left behind.</a:t>
            </a:r>
          </a:p>
          <a:p>
            <a:pPr>
              <a:defRPr sz="2800"/>
            </a:pPr>
            <a:r>
              <a:rPr sz="2800"/>
              <a:t>• They came years later. Someone had to live through the gap.</a:t>
            </a:r>
          </a:p>
          <a:p>
            <a:pPr>
              <a:defRPr sz="2800"/>
            </a:pPr>
            <a:r>
              <a:rPr sz="2800"/>
              <a:t>• And many of them went to entirely different people.</a:t>
            </a:r>
          </a:p>
          <a:p>
            <a:pPr>
              <a:defRPr sz="2800"/>
            </a:pPr>
            <a:r>
              <a:rPr sz="2800"/>
              <a:t>• On a chart, that looks like a recovery. To the operator who lost her job, it was not.</a:t>
            </a:r>
          </a:p>
          <a:p>
            <a:pPr>
              <a:defRPr sz="2800"/>
            </a:pPr>
            <a:r>
              <a:rPr sz="2800"/>
              <a:t>• That is the part we risk losing when we talk only in aggregate</a:t>
            </a:r>
          </a:p>
        </p:txBody>
      </p:sp>
      <p:sp>
        <p:nvSpPr>
          <p:cNvPr id="357" name="Google Shape;3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5959befff8a16715_51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WE RISK • the part that makes us human • (pause) • → second tension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We risk losing the part that makes us human.</a:t>
            </a:r>
          </a:p>
        </p:txBody>
      </p:sp>
      <p:sp>
        <p:nvSpPr>
          <p:cNvPr id="376" name="Google Shape;376;h5959befff8a16715_5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6cd4901ced323fef_1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who benefits — who pays • innovation vs community • adds or extracts • extraordinary value • growth ≠ prosperity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The second great tension is about who benefits—and who pays</a:t>
            </a:r>
          </a:p>
          <a:p>
            <a:pPr>
              <a:defRPr sz="2800"/>
            </a:pPr>
            <a:r>
              <a:rPr sz="2800"/>
              <a:t>• the tension between innovation and community—whether innovation adds to community or extracts from it</a:t>
            </a:r>
          </a:p>
          <a:p>
            <a:pPr>
              <a:defRPr sz="2800"/>
            </a:pPr>
            <a:r>
              <a:rPr sz="2800"/>
              <a:t>• AI has the potential to create extraordinary value</a:t>
            </a:r>
          </a:p>
          <a:p>
            <a:pPr>
              <a:defRPr sz="2800"/>
            </a:pPr>
            <a:r>
              <a:rPr sz="2800"/>
              <a:t>• But economic growth does not automagically equate to community prosperity</a:t>
            </a:r>
          </a:p>
        </p:txBody>
      </p:sp>
      <p:sp>
        <p:nvSpPr>
          <p:cNvPr id="381" name="Google Shape;381;h6cd4901ced323fef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innovation is global • BURDEN IS LOCAL • land, power, water, public infrastructure • no guarantee it returns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The innovation may be global. The benefits may flow to customers, investors, and businesses around the world.</a:t>
            </a:r>
          </a:p>
          <a:p>
            <a:pPr>
              <a:defRPr sz="2800"/>
            </a:pPr>
            <a:r>
              <a:rPr sz="2800"/>
              <a:t>• But the burden is local.</a:t>
            </a:r>
          </a:p>
          <a:p>
            <a:pPr>
              <a:defRPr sz="2800"/>
            </a:pPr>
            <a:r>
              <a:rPr sz="2800"/>
              <a:t>• It is the community that supplies the land, the power, the water, and the public infrastructure</a:t>
            </a:r>
          </a:p>
          <a:p>
            <a:pPr>
              <a:defRPr sz="2800"/>
            </a:pPr>
            <a:r>
              <a:rPr sz="2800"/>
              <a:t>• no guarantee that the value created will return to the people who live there</a:t>
            </a:r>
          </a:p>
        </p:txBody>
      </p:sp>
      <p:sp>
        <p:nvSpPr>
          <p:cNvPr id="388" name="Google Shape;38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6cd4901ced323fef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h6cd4901ced323fef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data center = what people can see • PINATA • abstract vs concrete • NOT to stop building • earn trust • what else can we build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 data center is the first part of the AI economy people can actually see</a:t>
            </a:r>
          </a:p>
          <a:p>
            <a:pPr>
              <a:defRPr sz="2800"/>
            </a:pPr>
            <a:r>
              <a:rPr sz="2800"/>
              <a:t>• Data centers are the pinata in the room they can hit</a:t>
            </a:r>
          </a:p>
          <a:p>
            <a:pPr>
              <a:defRPr sz="2800"/>
            </a:pPr>
            <a:r>
              <a:rPr sz="2800"/>
              <a:t>• An AI model is abstract. The algorithm is invisible. But the building at the edge of town? That's concrete.</a:t>
            </a:r>
          </a:p>
          <a:p>
            <a:pPr>
              <a:defRPr sz="2800"/>
            </a:pPr>
            <a:r>
              <a:rPr sz="2800"/>
              <a:t>• The answer is not to stop building.</a:t>
            </a:r>
          </a:p>
          <a:p>
            <a:pPr>
              <a:defRPr sz="2800"/>
            </a:pPr>
            <a:r>
              <a:rPr sz="2800"/>
              <a:t>• build in a way that earns and sustains community support and trust</a:t>
            </a:r>
          </a:p>
          <a:p>
            <a:pPr>
              <a:defRPr sz="2800"/>
            </a:pPr>
            <a:r>
              <a:rPr sz="2800"/>
              <a:t>• And it means asking what else we can build.</a:t>
            </a:r>
          </a:p>
        </p:txBody>
      </p:sp>
      <p:sp>
        <p:nvSpPr>
          <p:cNvPr id="397" name="Google Shape;397;h6cd4901ced323fef_1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6cd4901ced323fef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h6cd4901ced323fef_1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earn &amp; sustain trust (folded into slide 29 in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406" name="Google Shape;406;h6cd4901ced323fef_1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Katie Schuman • same time at UT • I left, she stayed • neuromorphic = chips like a brain • fraction of the energy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Dr. Katie Schuman and I were doing our PhD research at the University of Tennessee at the same time</a:t>
            </a:r>
          </a:p>
          <a:p>
            <a:pPr>
              <a:defRPr sz="2800"/>
            </a:pPr>
            <a:r>
              <a:rPr sz="2800"/>
              <a:t>• I left for Silicon Valley. Dr. Schuman stayed and became one of the leading neuromorphic-computing researchers in the world.</a:t>
            </a:r>
          </a:p>
          <a:p>
            <a:pPr>
              <a:defRPr sz="2800"/>
            </a:pPr>
            <a:r>
              <a:rPr sz="2800"/>
              <a:t>• Neuromorphic chips work more like a brain than a conventional processor</a:t>
            </a:r>
          </a:p>
          <a:p>
            <a:pPr>
              <a:defRPr sz="2800"/>
            </a:pPr>
            <a:r>
              <a:rPr sz="2800"/>
              <a:t>• certain learning tasks on a fraction of the energy</a:t>
            </a:r>
          </a:p>
        </p:txBody>
      </p:sp>
      <p:sp>
        <p:nvSpPr>
          <p:cNvPr id="414" name="Google Shape;41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lab tour • pole-balancing • &lt;10% of GPU energy • DROPPED THE CHIPS • better and worse • something important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I toured Dr. Schuman's lab • summer research students • chips learning the classic pole-balancing problem</a:t>
            </a:r>
          </a:p>
          <a:p>
            <a:pPr>
              <a:defRPr sz="2800"/>
            </a:pPr>
            <a:r>
              <a:rPr sz="2800"/>
              <a:t>• less than 10% of the energy required using today's GPUs</a:t>
            </a:r>
          </a:p>
          <a:p>
            <a:pPr>
              <a:defRPr sz="2800"/>
            </a:pPr>
            <a:r>
              <a:rPr sz="2800"/>
              <a:t>• Then they handed me a tray of the early chips. And I dropped them.</a:t>
            </a:r>
          </a:p>
          <a:p>
            <a:pPr>
              <a:defRPr sz="2800"/>
            </a:pPr>
            <a:r>
              <a:rPr sz="2800"/>
              <a:t>• My stomach fell through the floor • millions of dollars of research</a:t>
            </a:r>
          </a:p>
          <a:p>
            <a:pPr>
              <a:defRPr sz="2800"/>
            </a:pPr>
            <a:r>
              <a:rPr sz="2800"/>
              <a:t>• "Oh, don't worry. Those are from years ago. We're already generations past those. We wouldn't hand you one of the new ones."</a:t>
            </a:r>
          </a:p>
          <a:p>
            <a:pPr>
              <a:defRPr sz="2800"/>
            </a:pPr>
            <a:r>
              <a:rPr sz="2800"/>
              <a:t>• better and worse at exactly the same time</a:t>
            </a:r>
          </a:p>
          <a:p>
            <a:pPr>
              <a:defRPr sz="2800"/>
            </a:pPr>
            <a:r>
              <a:rPr sz="2800"/>
              <a:t>• But those chips represented something important.</a:t>
            </a:r>
          </a:p>
        </p:txBody>
      </p:sp>
      <p:sp>
        <p:nvSpPr>
          <p:cNvPr id="423" name="Google Shape;4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6cd4901ced323fef_1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price of progress? • THEY ARE NOT • shaped by decisions • not choose—CONNECT • COST of what stays behind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we talk about the demands created by AI as if they are simply the unavoidable price of progress</a:t>
            </a:r>
          </a:p>
          <a:p>
            <a:pPr>
              <a:defRPr sz="2800"/>
            </a:pPr>
            <a:r>
              <a:rPr sz="2800"/>
              <a:t>• They are not.</a:t>
            </a:r>
          </a:p>
          <a:p>
            <a:pPr>
              <a:defRPr sz="2800"/>
            </a:pPr>
            <a:r>
              <a:rPr sz="2800"/>
              <a:t>• They are shaped by decisions: what we fund, what we build, which approaches we pursue, whose needs we consider</a:t>
            </a:r>
          </a:p>
          <a:p>
            <a:pPr>
              <a:defRPr sz="2800"/>
            </a:pPr>
            <a:r>
              <a:rPr sz="2800"/>
              <a:t>• The leadership responsibility is not to choose between innovation and community. It is to connect them.</a:t>
            </a:r>
          </a:p>
          <a:p>
            <a:pPr>
              <a:defRPr sz="2800"/>
            </a:pPr>
            <a:r>
              <a:rPr sz="2800"/>
              <a:t>• That is what we miss when we measure the opportunity of innovation and not the cost of what stays behind</a:t>
            </a:r>
          </a:p>
        </p:txBody>
      </p:sp>
      <p:sp>
        <p:nvSpPr>
          <p:cNvPr id="433" name="Google Shape;433;h6cd4901ced323fef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5959befff8a16715_5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WE RISK • hollowing out • communities we should be building up • → third tension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We risk hollowing out the communities we are supposed to be building up.</a:t>
            </a:r>
          </a:p>
        </p:txBody>
      </p:sp>
      <p:sp>
        <p:nvSpPr>
          <p:cNvPr id="441" name="Google Shape;441;h5959befff8a16715_5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6cd4901ced323fef_1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third tension: CONTROL • who builds • inspect, question, adapt, decide • who retains agency • can be narrow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And that brings us to the third great tension: control</a:t>
            </a:r>
          </a:p>
          <a:p>
            <a:pPr>
              <a:defRPr sz="2800"/>
            </a:pPr>
            <a:r>
              <a:rPr sz="2800"/>
              <a:t>• Who gets to build with AI? Who gets to inspect it, question it, adapt it, and decide how it is used?</a:t>
            </a:r>
          </a:p>
          <a:p>
            <a:pPr>
              <a:defRPr sz="2800"/>
            </a:pPr>
            <a:r>
              <a:rPr sz="2800"/>
              <a:t>• And who retains agency over the parts of their lives that AI increasingly touches?</a:t>
            </a:r>
          </a:p>
          <a:p>
            <a:pPr>
              <a:defRPr sz="2800"/>
            </a:pPr>
            <a:r>
              <a:rPr sz="2800"/>
              <a:t>• This tension can be narrow.</a:t>
            </a:r>
          </a:p>
        </p:txBody>
      </p:sp>
      <p:sp>
        <p:nvSpPr>
          <p:cNvPr id="446" name="Google Shape;446;h6cd4901ced323fef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(quote on slide — pause, let them read) • democratize software? • OR handful of companies • renting access • forfeit data, privacy, thoughts • wider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Will AI democratize software development… far more people building tools and solving problems?</a:t>
            </a:r>
          </a:p>
          <a:p>
            <a:pPr>
              <a:defRPr sz="2800"/>
            </a:pPr>
            <a:r>
              <a:rPr sz="2800"/>
              <a:t>• Or will the essential technology be controlled by a handful of companies</a:t>
            </a:r>
          </a:p>
          <a:p>
            <a:pPr>
              <a:defRPr sz="2800"/>
            </a:pPr>
            <a:r>
              <a:rPr sz="2800"/>
              <a:t>• everyone else renting access on terms they did not set • forfeit their data, their privacy, their deeply personal thoughts</a:t>
            </a:r>
          </a:p>
          <a:p>
            <a:pPr>
              <a:defRPr sz="2800"/>
            </a:pPr>
            <a:r>
              <a:rPr sz="2800"/>
              <a:t>• But the tension can also be much wider.</a:t>
            </a:r>
          </a:p>
        </p:txBody>
      </p:sp>
      <p:sp>
        <p:nvSpPr>
          <p:cNvPr id="452" name="Google Shape;45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(quote on slide — pause, let them read) • control over their own lives? • OR institutions monitor, predict, influence • not an alarmist • sane people pause • opening or closing?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Will AI give people more control over their own lives?</a:t>
            </a:r>
          </a:p>
          <a:p>
            <a:pPr>
              <a:defRPr sz="2800"/>
            </a:pPr>
            <a:r>
              <a:rPr sz="2800"/>
              <a:t>• Or will it give institutions more power to monitor people, predict them, influence them, and make decisions about them?</a:t>
            </a:r>
          </a:p>
          <a:p>
            <a:pPr>
              <a:defRPr sz="2800"/>
            </a:pPr>
            <a:r>
              <a:rPr sz="2800"/>
              <a:t>• Believe me, I'm not an alarmist, but these kinds of quotes from the people building the tools that will power our future should give most sane people pause</a:t>
            </a:r>
          </a:p>
          <a:p>
            <a:pPr>
              <a:defRPr sz="2800"/>
            </a:pPr>
            <a:r>
              <a:rPr sz="2800"/>
              <a:t>• Is this future opening doors or closing them?</a:t>
            </a:r>
          </a:p>
        </p:txBody>
      </p:sp>
      <p:sp>
        <p:nvSpPr>
          <p:cNvPr id="458" name="Google Shape;45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6cd4901ced323fef_1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open source explainer / Apple / Google EU (not in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464" name="Google Shape;464;h6cd4901ced323fef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we ask AI: true, matters • ACT on our behalf • can also weaken • outsourcing the struggle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We ask AI in chat what is true. We ask AI what matters.</a:t>
            </a:r>
          </a:p>
          <a:p>
            <a:pPr>
              <a:defRPr sz="2800"/>
            </a:pPr>
            <a:r>
              <a:rPr sz="2800"/>
              <a:t>• And increasingly, we ask AI to act on our behalf.</a:t>
            </a:r>
          </a:p>
          <a:p>
            <a:pPr>
              <a:defRPr sz="2800"/>
            </a:pPr>
            <a:r>
              <a:rPr sz="2800"/>
              <a:t>• (callback if you want one: Karen, not J)</a:t>
            </a:r>
          </a:p>
          <a:p>
            <a:pPr>
              <a:defRPr sz="2800"/>
            </a:pPr>
            <a:r>
              <a:rPr sz="2800"/>
              <a:t>• But the same technology can also weaken the very capabilities it appears to expand</a:t>
            </a:r>
          </a:p>
          <a:p>
            <a:pPr>
              <a:defRPr sz="2800"/>
            </a:pPr>
            <a:r>
              <a:rPr sz="2800"/>
              <a:t>• If we routinely ask AI what to think before we have tried to think, we risk outsourcing more than a task</a:t>
            </a:r>
          </a:p>
          <a:p>
            <a:pPr>
              <a:defRPr sz="2800"/>
            </a:pPr>
            <a:r>
              <a:rPr sz="2800"/>
              <a:t>• We risk outsourcing the struggle through which judgment develops.</a:t>
            </a:r>
          </a:p>
        </p:txBody>
      </p:sp>
      <p:sp>
        <p:nvSpPr>
          <p:cNvPr id="469" name="Google Shape;4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analytical cognition • not just an answer • the PROCESS: evidence, uncertainty, assumptions, bias, changing our minds • enhance or short-circuit • answer as gospel • convenient like Google • Manning or Brady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I'm talking about analytical cognition, about critical thinking</a:t>
            </a:r>
          </a:p>
          <a:p>
            <a:pPr>
              <a:defRPr sz="2800"/>
            </a:pPr>
            <a:r>
              <a:rPr sz="2800"/>
              <a:t>• not simply the production of an answer</a:t>
            </a:r>
          </a:p>
          <a:p>
            <a:pPr>
              <a:defRPr sz="2800"/>
            </a:pPr>
            <a:r>
              <a:rPr sz="2800"/>
              <a:t>• the process: examining evidence, tolerating uncertainty, recognizing assumptions, acknowledging our own bias, changing our minds</a:t>
            </a:r>
          </a:p>
          <a:p>
            <a:pPr>
              <a:defRPr sz="2800"/>
            </a:pPr>
            <a:r>
              <a:rPr sz="2800"/>
              <a:t>• AI can enhance that process. Or short-circuit it if we take the answer as gospel.</a:t>
            </a:r>
          </a:p>
          <a:p>
            <a:pPr>
              <a:defRPr sz="2800"/>
            </a:pPr>
            <a:r>
              <a:rPr sz="2800"/>
              <a:t>• It's convenient. So is Google. • library • argument at a bar: more passing TDs, Manning or Brady?</a:t>
            </a:r>
          </a:p>
        </p:txBody>
      </p:sp>
      <p:sp>
        <p:nvSpPr>
          <p:cNvPr id="483" name="Google Shape;48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6cd4901ced323fef_1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convenience conceals control • 3 questions: reason / choices / control • open source = control &amp; freedom of choice • what we miss: control we surrender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The convenience of AI can conceal a transfer of control. That's the risk.</a:t>
            </a:r>
          </a:p>
          <a:p>
            <a:pPr>
              <a:defRPr sz="2800"/>
            </a:pPr>
            <a:r>
              <a:rPr sz="2800"/>
              <a:t>• Are we asking AI to help us reason or asking it to reason for us?</a:t>
            </a:r>
          </a:p>
          <a:p>
            <a:pPr>
              <a:defRPr sz="2800"/>
            </a:pPr>
            <a:r>
              <a:rPr sz="2800"/>
              <a:t>• Are we using it to expand our choices or allowing it to narrow them without our awareness?</a:t>
            </a:r>
          </a:p>
          <a:p>
            <a:pPr>
              <a:defRPr sz="2800"/>
            </a:pPr>
            <a:r>
              <a:rPr sz="2800"/>
              <a:t>• Are we gaining greater control over our lives or becoming more dependent on systems we cannot inspect, challenge, or leave?</a:t>
            </a:r>
          </a:p>
          <a:p>
            <a:pPr>
              <a:defRPr sz="2800"/>
            </a:pPr>
            <a:r>
              <a:rPr sz="2800"/>
              <a:t>• Open source is one response • not the only one, but one I happen to love</a:t>
            </a:r>
          </a:p>
          <a:p>
            <a:pPr>
              <a:defRPr sz="2800"/>
            </a:pPr>
            <a:r>
              <a:rPr sz="2800"/>
              <a:t>• openness is about control and freedom of choice • understand the system, question it, build on it, create an alternative</a:t>
            </a:r>
          </a:p>
          <a:p>
            <a:pPr>
              <a:defRPr sz="2800"/>
            </a:pPr>
            <a:r>
              <a:rPr sz="2800"/>
              <a:t>• what we miss when we measure everything AI can do for us without quantifying how much control we surrender in return</a:t>
            </a:r>
          </a:p>
        </p:txBody>
      </p:sp>
      <p:sp>
        <p:nvSpPr>
          <p:cNvPr id="490" name="Google Shape;490;h6cd4901ced323fef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5959befff8a16715_51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WE RISK • surrendering our agency • cannot question, change, or leave • → three questions (Part 4 slides are hidden)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We risk surrendering our agency to systems we cannot question, change, or leave.</a:t>
            </a:r>
          </a:p>
        </p:txBody>
      </p:sp>
      <p:sp>
        <p:nvSpPr>
          <p:cNvPr id="499" name="Google Shape;499;h5959befff8a16715_5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Strategy &amp; Execution (Amazon section cut from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504" name="Google Shape;50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6cd4901ced323fef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Writing is Thinking (cut from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509" name="Google Shape;509;h6cd4901ced323fef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football play (cut from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514" name="Google Shape;51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6cd4901ced323fef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back to the present (cut from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534" name="Google Shape;534;h6cd4901ced323fef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6cd4901ced323fef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HIDDEN IN SF DECK • AI Agents are Just Files (cut from the SF talk)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skip</a:t>
            </a:r>
          </a:p>
        </p:txBody>
      </p:sp>
      <p:sp>
        <p:nvSpPr>
          <p:cNvPr id="541" name="Google Shape;541;h6cd4901ced323fef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6cd4901ced323fef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three tensions • cannot make every consequence positive • cannot resolve all • CAN influence how change is experienced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The leaders in this room cannot make every consequence of AI positive</a:t>
            </a:r>
          </a:p>
          <a:p>
            <a:pPr>
              <a:defRPr sz="2800"/>
            </a:pPr>
            <a:r>
              <a:rPr sz="2800"/>
              <a:t>• We cannot resolve all of these tensions.</a:t>
            </a:r>
          </a:p>
          <a:p>
            <a:pPr>
              <a:defRPr sz="2800"/>
            </a:pPr>
            <a:r>
              <a:rPr sz="2800"/>
              <a:t>• But we can influence how the change is experienced.</a:t>
            </a:r>
          </a:p>
        </p:txBody>
      </p:sp>
      <p:sp>
        <p:nvSpPr>
          <p:cNvPr id="546" name="Google Shape;546;h6cd4901ced323fef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h6cd4901ced323fef_1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RESOLUTION 1 • jobs disappear, paths narrow • closing off work / lowering the threshold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Some jobs will disappear. Some career paths will narrow.</a:t>
            </a:r>
          </a:p>
          <a:p>
            <a:pPr>
              <a:defRPr sz="2800"/>
            </a:pPr>
            <a:r>
              <a:rPr sz="2800"/>
              <a:t>• At the same time AI is closing off some forms of work, it is dramatically lowering the threshold for creating others</a:t>
            </a:r>
          </a:p>
        </p:txBody>
      </p:sp>
      <p:sp>
        <p:nvSpPr>
          <p:cNvPr id="563" name="Google Shape;563;h6cd4901ced323fe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6cd4901ced323fef_1_2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who in your organization • insight but not the title • never invited to be a builder • FIRST QUESTION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Who in your organization could do more meaningful work if someone made these new capabilities accessible to them?</a:t>
            </a:r>
          </a:p>
          <a:p>
            <a:pPr>
              <a:defRPr sz="2800"/>
            </a:pPr>
            <a:r>
              <a:rPr sz="2800"/>
              <a:t>• Who has insight but not the title? Who has never been invited to see themselves as a builder?</a:t>
            </a:r>
          </a:p>
          <a:p>
            <a:pPr>
              <a:defRPr sz="2800"/>
            </a:pPr>
            <a:r>
              <a:rPr sz="2800"/>
              <a:t>• So here is the first question I want you to carry out of this room.</a:t>
            </a:r>
          </a:p>
        </p:txBody>
      </p:sp>
      <p:sp>
        <p:nvSpPr>
          <p:cNvPr id="572" name="Google Shape;572;h6cd4901ced323fef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QUESTION 1 • who gets the tools • who gets a path • when their old one closes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Who gets the tools, and who gets a path when their old one closes?</a:t>
            </a:r>
          </a:p>
        </p:txBody>
      </p:sp>
      <p:sp>
        <p:nvSpPr>
          <p:cNvPr id="581" name="Google Shape;5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h6cd4901ced323fef_1_1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RESOLUTION 2 • value created ≠ where it stays • leave the community more capable • not charity — stewardship • SECOND QUESTION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AI investment can create enormous value. But where that value is created is not always where it stays.</a:t>
            </a:r>
          </a:p>
          <a:p>
            <a:pPr>
              <a:defRPr sz="2800"/>
            </a:pPr>
            <a:r>
              <a:rPr sz="2800"/>
              <a:t>• The goal is not simply to locate innovation in a community. It is to leave that community more capable than you found it.</a:t>
            </a:r>
          </a:p>
          <a:p>
            <a:pPr>
              <a:defRPr sz="2800"/>
            </a:pPr>
            <a:r>
              <a:rPr sz="2800"/>
              <a:t>• That is not charity. It is stewardship. It is good business.</a:t>
            </a:r>
          </a:p>
          <a:p>
            <a:pPr>
              <a:defRPr sz="2800"/>
            </a:pPr>
            <a:r>
              <a:rPr sz="2800"/>
              <a:t>• So here is the second question I want you to carry out of this room.</a:t>
            </a:r>
          </a:p>
        </p:txBody>
      </p:sp>
      <p:sp>
        <p:nvSpPr>
          <p:cNvPr id="589" name="Google Shape;589;h6cd4901ced323fef_1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QUESTION 2 • who benefits • who pays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Who benefits, and who pays?</a:t>
            </a:r>
          </a:p>
        </p:txBody>
      </p:sp>
      <p:sp>
        <p:nvSpPr>
          <p:cNvPr id="596" name="Google Shape;59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h6cd4901ced323fef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RESOLUTION 3 • understand, decide, act • open or closed — retain agency • employees question it? customers' data? change providers? • THIRD QUESTION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AI systems will increasingly help us understand information, make decisions, and act</a:t>
            </a:r>
          </a:p>
          <a:p>
            <a:pPr>
              <a:defRPr sz="2800"/>
            </a:pPr>
            <a:r>
              <a:rPr sz="2800"/>
              <a:t>• Some open. Some closed. Either way, the people who depend on them must retain meaningful agency.</a:t>
            </a:r>
          </a:p>
          <a:p>
            <a:pPr>
              <a:defRPr sz="2800"/>
            </a:pPr>
            <a:r>
              <a:rPr sz="2800"/>
              <a:t>• can your employees understand and question it? • can your customers control their data? • can you change providers if the technology, the terms, or the leadership changes?</a:t>
            </a:r>
          </a:p>
          <a:p>
            <a:pPr>
              <a:defRPr sz="2800"/>
            </a:pPr>
            <a:r>
              <a:rPr sz="2800"/>
              <a:t>• So here is the third question I want you to carry out of this room:</a:t>
            </a:r>
          </a:p>
        </p:txBody>
      </p:sp>
      <p:sp>
        <p:nvSpPr>
          <p:cNvPr id="604" name="Google Shape;604;h6cd4901ced323fef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QUESTION 3 • who can understand and question this • who can leave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Who can understand and question this, and who can leave?</a:t>
            </a:r>
          </a:p>
        </p:txBody>
      </p:sp>
      <p:sp>
        <p:nvSpPr>
          <p:cNvPr id="611" name="Google Shape;61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h6cd4901ced323fef_1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run those three questions on every AI decision • OPEN DOOR TEST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I want you to run those three questions on every single one of your AI decisions</a:t>
            </a:r>
          </a:p>
          <a:p>
            <a:pPr>
              <a:defRPr sz="2800"/>
            </a:pPr>
            <a:r>
              <a:rPr sz="2800"/>
              <a:t>• Call it the Open Door Test.</a:t>
            </a:r>
          </a:p>
        </p:txBody>
      </p:sp>
      <p:sp>
        <p:nvSpPr>
          <p:cNvPr id="619" name="Google Shape;619;h6cd4901ced323fef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before your next AI decision • vendor contract, reorg, next product you ship • open a door or happen TO them? • 3 checks: Opportunity, Prosperity, Control • answer all three = opening doors • door quietly closing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Before your next AI decision—a vendor contract, a reorg, or the next product you ship (SF swap for the Working Backwards doc)</a:t>
            </a:r>
          </a:p>
          <a:p>
            <a:pPr>
              <a:defRPr sz="2800"/>
            </a:pPr>
            <a:r>
              <a:rPr sz="2800"/>
              <a:t>• ask yourself: does this open a door for people, or does it just happen to them?</a:t>
            </a:r>
          </a:p>
          <a:p>
            <a:pPr>
              <a:defRPr sz="2800"/>
            </a:pPr>
            <a:r>
              <a:rPr sz="2800"/>
              <a:t>• then apply those 3 simple checks:</a:t>
            </a:r>
          </a:p>
          <a:p>
            <a:pPr>
              <a:defRPr sz="2800"/>
            </a:pPr>
            <a:r>
              <a:rPr sz="2800"/>
              <a:t>• Opportunity. Who gets the tools and a new path, and whose paths close?</a:t>
            </a:r>
          </a:p>
          <a:p>
            <a:pPr>
              <a:defRPr sz="2800"/>
            </a:pPr>
            <a:r>
              <a:rPr sz="2800"/>
              <a:t>• Prosperity. Who benefits, and who pays?</a:t>
            </a:r>
          </a:p>
          <a:p>
            <a:pPr>
              <a:defRPr sz="2800"/>
            </a:pPr>
            <a:r>
              <a:rPr sz="2800"/>
              <a:t>• Control. Who can understand and question this, and who is forced out?</a:t>
            </a:r>
          </a:p>
          <a:p>
            <a:pPr>
              <a:defRPr sz="2800"/>
            </a:pPr>
            <a:r>
              <a:rPr sz="2800"/>
              <a:t>• answer all three = opening doors • cannot answer one = the door that is quietly closing on someone</a:t>
            </a:r>
          </a:p>
        </p:txBody>
      </p:sp>
      <p:sp>
        <p:nvSpPr>
          <p:cNvPr id="628" name="Google Shape;62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what lights me up • not the chips • THAT KID • until it did • the Micahs • same choice → happen TO or agency? • fear narrows: pick a side • both sides at once • my challenge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what is really lighting me up • It isn't the chips. I'd still drop those anyway.</a:t>
            </a:r>
          </a:p>
          <a:p>
            <a:pPr>
              <a:defRPr sz="2800"/>
            </a:pPr>
            <a:r>
              <a:rPr sz="2800"/>
              <a:t>• that kid who sees an open door—a door I helped open—and walks through • hugs me, lifts me off the ground</a:t>
            </a:r>
          </a:p>
          <a:p>
            <a:pPr>
              <a:defRPr sz="2800"/>
            </a:pPr>
            <a:r>
              <a:rPr sz="2800"/>
              <a:t>• Because for her, it didn't. Until it did.</a:t>
            </a:r>
          </a:p>
          <a:p>
            <a:pPr>
              <a:defRPr sz="2800"/>
            </a:pPr>
            <a:r>
              <a:rPr sz="2800"/>
              <a:t>• all she needed was for someone to open the door and show her where it was</a:t>
            </a:r>
          </a:p>
          <a:p>
            <a:pPr>
              <a:defRPr sz="2800"/>
            </a:pPr>
            <a:r>
              <a:rPr sz="2800"/>
              <a:t>• That's it. That's the whole thing. I do what I do for the Micahs of the world. I exist to light somebody else's fire.</a:t>
            </a:r>
          </a:p>
          <a:p>
            <a:pPr>
              <a:defRPr sz="2800"/>
            </a:pPr>
            <a:r>
              <a:rPr sz="2800"/>
              <a:t>• every duality comes back to the same choice: Will AI happen TO people, or will we help people have agency?</a:t>
            </a:r>
          </a:p>
          <a:p>
            <a:pPr>
              <a:defRPr sz="2800"/>
            </a:pPr>
            <a:r>
              <a:rPr sz="2800"/>
              <a:t>• headlines want you to be afraid • fear narrows: acceleration or obstruction, optimism or pessimism, opportunity or danger</a:t>
            </a:r>
          </a:p>
          <a:p>
            <a:pPr>
              <a:defRPr sz="2800"/>
            </a:pPr>
            <a:r>
              <a:rPr sz="2800"/>
              <a:t>• The Duality demands something harder: see both sides at once</a:t>
            </a:r>
          </a:p>
          <a:p>
            <a:pPr>
              <a:defRPr sz="2800"/>
            </a:pPr>
            <a:r>
              <a:rPr sz="2800"/>
              <a:t>• we do not have to choose between a future in which AI succeeds and one in which people do</a:t>
            </a:r>
          </a:p>
          <a:p>
            <a:pPr>
              <a:defRPr sz="2800"/>
            </a:pPr>
            <a:r>
              <a:rPr sz="2800"/>
              <a:t>• So that is my challenge to you.</a:t>
            </a:r>
          </a:p>
        </p:txBody>
      </p:sp>
      <p:sp>
        <p:nvSpPr>
          <p:cNvPr id="644" name="Google Shape;64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every month, find your Micah • problem / idea / old path / doesn't look like you • just open the door • tools, threshold, surprise you • AI will open &amp; close • WE WILL • keep it human • hold the door open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Do not let a month go by when you cannot say, "I opened a door for someone." Every month, find your Micah.</a:t>
            </a:r>
          </a:p>
          <a:p>
            <a:pPr>
              <a:defRPr sz="2800"/>
            </a:pPr>
            <a:r>
              <a:rPr sz="2800"/>
              <a:t>• the problem but not the title • the idea but not the vocabulary • the old path disappearing • does not look like you, think like you, learn like you</a:t>
            </a:r>
          </a:p>
          <a:p>
            <a:pPr>
              <a:defRPr sz="2800"/>
            </a:pPr>
            <a:r>
              <a:rPr sz="2800"/>
              <a:t>• You do not have to carry them through the door. Just open the door and make it visible.</a:t>
            </a:r>
          </a:p>
          <a:p>
            <a:pPr>
              <a:defRPr sz="2800"/>
            </a:pPr>
            <a:r>
              <a:rPr sz="2800"/>
              <a:t>• Give them the tools. Help them reach the threshold. And then let them surprise you.</a:t>
            </a:r>
          </a:p>
          <a:p>
            <a:pPr>
              <a:defRPr sz="2800"/>
            </a:pPr>
            <a:r>
              <a:rPr sz="2800"/>
              <a:t>• AI will open extraordinary doors. AI will close some, too.</a:t>
            </a:r>
          </a:p>
          <a:p>
            <a:pPr>
              <a:defRPr sz="2800"/>
            </a:pPr>
            <a:r>
              <a:rPr sz="2800"/>
              <a:t>• The technology alone will not decide which side of that Duality defines this era. We will.</a:t>
            </a:r>
          </a:p>
          <a:p>
            <a:pPr>
              <a:defRPr sz="2800"/>
            </a:pPr>
            <a:r>
              <a:rPr sz="2800"/>
              <a:t>• So keep it human. And hold the door open.</a:t>
            </a:r>
          </a:p>
        </p:txBody>
      </p:sp>
      <p:sp>
        <p:nvSpPr>
          <p:cNvPr id="656" name="Google Shape;65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THANK YOU • hold the door open • book me in 2027 • QR code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Thank you.</a:t>
            </a:r>
          </a:p>
          <a:p>
            <a:pPr>
              <a:defRPr sz="2800"/>
            </a:pPr>
            <a:r>
              <a:rPr sz="2800"/>
              <a:t>• email • LinkedIn • Instagram • QR on the slide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/>
            </a:pPr>
            <a:r>
              <a:rPr sz="2800" b="1"/>
              <a:t>Data Engineering Keynote • Wednesday @ 2pm • invite them</a:t>
            </a:r>
          </a:p>
          <a:p>
            <a:pPr>
              <a:defRPr sz="2800"/>
            </a:pPr>
            <a:endParaRPr sz="2800"/>
          </a:p>
          <a:p>
            <a:pPr>
              <a:defRPr sz="2800"/>
            </a:pPr>
            <a:r>
              <a:rPr sz="2800"/>
              <a:t>• no script on this slide</a:t>
            </a:r>
          </a:p>
          <a:p>
            <a:pPr>
              <a:defRPr sz="2800"/>
            </a:pPr>
            <a:r>
              <a:rPr sz="2800"/>
              <a:t>• "If you want the builder's version of this, come find me Wednesday at 2."</a:t>
            </a:r>
          </a:p>
        </p:txBody>
      </p:sp>
      <p:sp>
        <p:nvSpPr>
          <p:cNvPr id="668" name="Google Shape;66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 rot="-4921543">
            <a:off x="6879130" y="-196985"/>
            <a:ext cx="6290069" cy="5879220"/>
            <a:chOff x="15063802" y="-5771526"/>
            <a:chExt cx="6290069" cy="5879220"/>
          </a:xfrm>
        </p:grpSpPr>
        <p:sp>
          <p:nvSpPr>
            <p:cNvPr id="17" name="Google Shape;17;p3"/>
            <p:cNvSpPr/>
            <p:nvPr/>
          </p:nvSpPr>
          <p:spPr>
            <a:xfrm>
              <a:off x="15120498" y="-5726608"/>
              <a:ext cx="5992886" cy="5768426"/>
            </a:xfrm>
            <a:custGeom>
              <a:avLst/>
              <a:gdLst/>
              <a:ahLst/>
              <a:cxnLst/>
              <a:rect l="l" t="t" r="r" b="b"/>
              <a:pathLst>
                <a:path w="5992886" h="5768426" extrusionOk="0">
                  <a:moveTo>
                    <a:pt x="2554419" y="5636897"/>
                  </a:moveTo>
                  <a:lnTo>
                    <a:pt x="2352536" y="5056136"/>
                  </a:lnTo>
                  <a:lnTo>
                    <a:pt x="1717508" y="5552789"/>
                  </a:lnTo>
                  <a:lnTo>
                    <a:pt x="1715810" y="5557769"/>
                  </a:lnTo>
                  <a:lnTo>
                    <a:pt x="1714582" y="5552400"/>
                  </a:lnTo>
                  <a:lnTo>
                    <a:pt x="1400077" y="4994153"/>
                  </a:lnTo>
                  <a:lnTo>
                    <a:pt x="1231615" y="5554644"/>
                  </a:lnTo>
                  <a:lnTo>
                    <a:pt x="843968" y="5220392"/>
                  </a:lnTo>
                  <a:lnTo>
                    <a:pt x="0" y="5768427"/>
                  </a:lnTo>
                  <a:lnTo>
                    <a:pt x="465524" y="4723183"/>
                  </a:lnTo>
                  <a:lnTo>
                    <a:pt x="844700" y="5215986"/>
                  </a:lnTo>
                  <a:lnTo>
                    <a:pt x="1386328" y="4857159"/>
                  </a:lnTo>
                  <a:lnTo>
                    <a:pt x="1355049" y="4513975"/>
                  </a:lnTo>
                  <a:lnTo>
                    <a:pt x="2115902" y="4373392"/>
                  </a:lnTo>
                  <a:lnTo>
                    <a:pt x="2159317" y="3906702"/>
                  </a:lnTo>
                  <a:lnTo>
                    <a:pt x="2161694" y="3908655"/>
                  </a:lnTo>
                  <a:lnTo>
                    <a:pt x="2476326" y="4167257"/>
                  </a:lnTo>
                  <a:lnTo>
                    <a:pt x="3262325" y="3716925"/>
                  </a:lnTo>
                  <a:lnTo>
                    <a:pt x="3262406" y="3716788"/>
                  </a:lnTo>
                  <a:lnTo>
                    <a:pt x="3262746" y="3716667"/>
                  </a:lnTo>
                  <a:lnTo>
                    <a:pt x="4228068" y="2890523"/>
                  </a:lnTo>
                  <a:lnTo>
                    <a:pt x="4005823" y="2593595"/>
                  </a:lnTo>
                  <a:lnTo>
                    <a:pt x="4875529" y="2116536"/>
                  </a:lnTo>
                  <a:lnTo>
                    <a:pt x="4657412" y="1857839"/>
                  </a:lnTo>
                  <a:lnTo>
                    <a:pt x="4651942" y="1859926"/>
                  </a:lnTo>
                  <a:lnTo>
                    <a:pt x="4656462" y="1855063"/>
                  </a:lnTo>
                  <a:lnTo>
                    <a:pt x="4932225" y="958350"/>
                  </a:lnTo>
                  <a:lnTo>
                    <a:pt x="4343877" y="878827"/>
                  </a:lnTo>
                  <a:lnTo>
                    <a:pt x="5007879" y="712344"/>
                  </a:lnTo>
                  <a:lnTo>
                    <a:pt x="5085896" y="458650"/>
                  </a:lnTo>
                  <a:lnTo>
                    <a:pt x="5210346" y="661578"/>
                  </a:lnTo>
                  <a:lnTo>
                    <a:pt x="5478024" y="594465"/>
                  </a:lnTo>
                  <a:lnTo>
                    <a:pt x="5478530" y="590033"/>
                  </a:lnTo>
                  <a:lnTo>
                    <a:pt x="5479901" y="592838"/>
                  </a:lnTo>
                  <a:lnTo>
                    <a:pt x="5992887" y="0"/>
                  </a:lnTo>
                  <a:lnTo>
                    <a:pt x="5788051" y="1230724"/>
                  </a:lnTo>
                  <a:lnTo>
                    <a:pt x="5785807" y="1226142"/>
                  </a:lnTo>
                  <a:lnTo>
                    <a:pt x="5480506" y="601518"/>
                  </a:lnTo>
                  <a:lnTo>
                    <a:pt x="5432931" y="1019334"/>
                  </a:lnTo>
                  <a:lnTo>
                    <a:pt x="5434893" y="1017224"/>
                  </a:lnTo>
                  <a:lnTo>
                    <a:pt x="5432545" y="1023893"/>
                  </a:lnTo>
                  <a:lnTo>
                    <a:pt x="5433937" y="1026163"/>
                  </a:lnTo>
                  <a:lnTo>
                    <a:pt x="5432565" y="1025976"/>
                  </a:lnTo>
                  <a:lnTo>
                    <a:pt x="5481260" y="1543475"/>
                  </a:lnTo>
                  <a:lnTo>
                    <a:pt x="5480104" y="1543919"/>
                  </a:lnTo>
                  <a:lnTo>
                    <a:pt x="5213814" y="1645528"/>
                  </a:lnTo>
                  <a:lnTo>
                    <a:pt x="5088052" y="2002944"/>
                  </a:lnTo>
                  <a:lnTo>
                    <a:pt x="5124860" y="2412256"/>
                  </a:lnTo>
                  <a:lnTo>
                    <a:pt x="4930262" y="2181452"/>
                  </a:lnTo>
                  <a:lnTo>
                    <a:pt x="4520183" y="2644370"/>
                  </a:lnTo>
                  <a:lnTo>
                    <a:pt x="5211055" y="2898959"/>
                  </a:lnTo>
                  <a:lnTo>
                    <a:pt x="4997617" y="3713529"/>
                  </a:lnTo>
                  <a:lnTo>
                    <a:pt x="4519011" y="2652668"/>
                  </a:lnTo>
                  <a:lnTo>
                    <a:pt x="4519011" y="3272021"/>
                  </a:lnTo>
                  <a:lnTo>
                    <a:pt x="4525438" y="3269744"/>
                  </a:lnTo>
                  <a:lnTo>
                    <a:pt x="4519011" y="3275097"/>
                  </a:lnTo>
                  <a:lnTo>
                    <a:pt x="4519011" y="3279234"/>
                  </a:lnTo>
                  <a:lnTo>
                    <a:pt x="4517100" y="3276684"/>
                  </a:lnTo>
                  <a:lnTo>
                    <a:pt x="4048052" y="3667129"/>
                  </a:lnTo>
                  <a:lnTo>
                    <a:pt x="4170833" y="3398720"/>
                  </a:lnTo>
                  <a:lnTo>
                    <a:pt x="3264601" y="3719479"/>
                  </a:lnTo>
                  <a:lnTo>
                    <a:pt x="2823018" y="4452217"/>
                  </a:lnTo>
                  <a:lnTo>
                    <a:pt x="3218450" y="4777231"/>
                  </a:lnTo>
                  <a:lnTo>
                    <a:pt x="3214991" y="4777864"/>
                  </a:lnTo>
                  <a:lnTo>
                    <a:pt x="2554422" y="4898817"/>
                  </a:lnTo>
                  <a:lnTo>
                    <a:pt x="2554422" y="5636897"/>
                  </a:lnTo>
                  <a:close/>
                  <a:moveTo>
                    <a:pt x="2355256" y="5054013"/>
                  </a:moveTo>
                  <a:lnTo>
                    <a:pt x="2551153" y="5617558"/>
                  </a:lnTo>
                  <a:lnTo>
                    <a:pt x="2551153" y="4900799"/>
                  </a:lnTo>
                  <a:lnTo>
                    <a:pt x="2355256" y="5054013"/>
                  </a:lnTo>
                  <a:close/>
                  <a:moveTo>
                    <a:pt x="1919453" y="4960470"/>
                  </a:moveTo>
                  <a:lnTo>
                    <a:pt x="1719438" y="5547139"/>
                  </a:lnTo>
                  <a:lnTo>
                    <a:pt x="2351403" y="5052877"/>
                  </a:lnTo>
                  <a:lnTo>
                    <a:pt x="2306251" y="4922983"/>
                  </a:lnTo>
                  <a:lnTo>
                    <a:pt x="1919453" y="4960470"/>
                  </a:lnTo>
                  <a:close/>
                  <a:moveTo>
                    <a:pt x="1589697" y="4992428"/>
                  </a:moveTo>
                  <a:lnTo>
                    <a:pt x="1716430" y="5545836"/>
                  </a:lnTo>
                  <a:lnTo>
                    <a:pt x="1915884" y="4960813"/>
                  </a:lnTo>
                  <a:lnTo>
                    <a:pt x="1589697" y="4992428"/>
                  </a:lnTo>
                  <a:close/>
                  <a:moveTo>
                    <a:pt x="1402957" y="4992614"/>
                  </a:moveTo>
                  <a:lnTo>
                    <a:pt x="1712015" y="5541189"/>
                  </a:lnTo>
                  <a:lnTo>
                    <a:pt x="1586422" y="4992745"/>
                  </a:lnTo>
                  <a:lnTo>
                    <a:pt x="1583806" y="4993000"/>
                  </a:lnTo>
                  <a:lnTo>
                    <a:pt x="1584136" y="4992614"/>
                  </a:lnTo>
                  <a:lnTo>
                    <a:pt x="1402957" y="4992614"/>
                  </a:lnTo>
                  <a:close/>
                  <a:moveTo>
                    <a:pt x="467957" y="4731704"/>
                  </a:moveTo>
                  <a:lnTo>
                    <a:pt x="3932" y="5761899"/>
                  </a:lnTo>
                  <a:lnTo>
                    <a:pt x="841973" y="5217792"/>
                  </a:lnTo>
                  <a:lnTo>
                    <a:pt x="467957" y="4731704"/>
                  </a:lnTo>
                  <a:close/>
                  <a:moveTo>
                    <a:pt x="846699" y="5218582"/>
                  </a:moveTo>
                  <a:lnTo>
                    <a:pt x="1231367" y="5548965"/>
                  </a:lnTo>
                  <a:lnTo>
                    <a:pt x="1398261" y="4990929"/>
                  </a:lnTo>
                  <a:lnTo>
                    <a:pt x="1397373" y="4989349"/>
                  </a:lnTo>
                  <a:lnTo>
                    <a:pt x="1398379" y="4989349"/>
                  </a:lnTo>
                  <a:lnTo>
                    <a:pt x="1386668" y="4860853"/>
                  </a:lnTo>
                  <a:lnTo>
                    <a:pt x="846699" y="5218582"/>
                  </a:lnTo>
                  <a:close/>
                  <a:moveTo>
                    <a:pt x="2309595" y="4922659"/>
                  </a:moveTo>
                  <a:lnTo>
                    <a:pt x="2354123" y="5050754"/>
                  </a:lnTo>
                  <a:lnTo>
                    <a:pt x="2547368" y="4899617"/>
                  </a:lnTo>
                  <a:lnTo>
                    <a:pt x="2309595" y="4922659"/>
                  </a:lnTo>
                  <a:close/>
                  <a:moveTo>
                    <a:pt x="1401654" y="4989349"/>
                  </a:moveTo>
                  <a:lnTo>
                    <a:pt x="1586941" y="4989349"/>
                  </a:lnTo>
                  <a:lnTo>
                    <a:pt x="2108499" y="4382641"/>
                  </a:lnTo>
                  <a:lnTo>
                    <a:pt x="1389761" y="4858808"/>
                  </a:lnTo>
                  <a:lnTo>
                    <a:pt x="1401654" y="4989349"/>
                  </a:lnTo>
                  <a:close/>
                  <a:moveTo>
                    <a:pt x="2113136" y="4382249"/>
                  </a:moveTo>
                  <a:lnTo>
                    <a:pt x="1591579" y="4988960"/>
                  </a:lnTo>
                  <a:lnTo>
                    <a:pt x="1917043" y="4957420"/>
                  </a:lnTo>
                  <a:lnTo>
                    <a:pt x="2113136" y="4382249"/>
                  </a:lnTo>
                  <a:close/>
                  <a:moveTo>
                    <a:pt x="2117424" y="4379793"/>
                  </a:moveTo>
                  <a:lnTo>
                    <a:pt x="1920609" y="4957077"/>
                  </a:lnTo>
                  <a:lnTo>
                    <a:pt x="2305147" y="4919809"/>
                  </a:lnTo>
                  <a:lnTo>
                    <a:pt x="2117424" y="4379793"/>
                  </a:lnTo>
                  <a:close/>
                  <a:moveTo>
                    <a:pt x="2121901" y="4382716"/>
                  </a:moveTo>
                  <a:lnTo>
                    <a:pt x="2308491" y="4919482"/>
                  </a:lnTo>
                  <a:lnTo>
                    <a:pt x="2549556" y="4896122"/>
                  </a:lnTo>
                  <a:lnTo>
                    <a:pt x="2121901" y="4382716"/>
                  </a:lnTo>
                  <a:close/>
                  <a:moveTo>
                    <a:pt x="2821310" y="4455039"/>
                  </a:moveTo>
                  <a:lnTo>
                    <a:pt x="2556052" y="4895192"/>
                  </a:lnTo>
                  <a:lnTo>
                    <a:pt x="3210935" y="4775278"/>
                  </a:lnTo>
                  <a:lnTo>
                    <a:pt x="2821310" y="4455039"/>
                  </a:lnTo>
                  <a:close/>
                  <a:moveTo>
                    <a:pt x="2119912" y="4375225"/>
                  </a:moveTo>
                  <a:lnTo>
                    <a:pt x="2552574" y="4894640"/>
                  </a:lnTo>
                  <a:lnTo>
                    <a:pt x="2818762" y="4452942"/>
                  </a:lnTo>
                  <a:lnTo>
                    <a:pt x="2475983" y="4171202"/>
                  </a:lnTo>
                  <a:lnTo>
                    <a:pt x="2119912" y="4375225"/>
                  </a:lnTo>
                  <a:close/>
                  <a:moveTo>
                    <a:pt x="1358573" y="4516650"/>
                  </a:moveTo>
                  <a:lnTo>
                    <a:pt x="1389421" y="4855112"/>
                  </a:lnTo>
                  <a:lnTo>
                    <a:pt x="2109835" y="4377837"/>
                  </a:lnTo>
                  <a:lnTo>
                    <a:pt x="1358573" y="4516650"/>
                  </a:lnTo>
                  <a:close/>
                  <a:moveTo>
                    <a:pt x="2479014" y="4169468"/>
                  </a:moveTo>
                  <a:lnTo>
                    <a:pt x="2820467" y="4450114"/>
                  </a:lnTo>
                  <a:lnTo>
                    <a:pt x="3258889" y="3722617"/>
                  </a:lnTo>
                  <a:lnTo>
                    <a:pt x="2479014" y="4169468"/>
                  </a:lnTo>
                  <a:close/>
                  <a:moveTo>
                    <a:pt x="2161994" y="3913133"/>
                  </a:moveTo>
                  <a:lnTo>
                    <a:pt x="2119351" y="4371528"/>
                  </a:lnTo>
                  <a:lnTo>
                    <a:pt x="2126323" y="4366910"/>
                  </a:lnTo>
                  <a:lnTo>
                    <a:pt x="2124840" y="4368635"/>
                  </a:lnTo>
                  <a:lnTo>
                    <a:pt x="2473289" y="4168991"/>
                  </a:lnTo>
                  <a:lnTo>
                    <a:pt x="2161994" y="3913133"/>
                  </a:lnTo>
                  <a:close/>
                  <a:moveTo>
                    <a:pt x="4230024" y="2893136"/>
                  </a:moveTo>
                  <a:lnTo>
                    <a:pt x="3271234" y="3713659"/>
                  </a:lnTo>
                  <a:lnTo>
                    <a:pt x="4172721" y="3394579"/>
                  </a:lnTo>
                  <a:lnTo>
                    <a:pt x="4336830" y="3035828"/>
                  </a:lnTo>
                  <a:lnTo>
                    <a:pt x="4230024" y="2893136"/>
                  </a:lnTo>
                  <a:close/>
                  <a:moveTo>
                    <a:pt x="4520464" y="2647952"/>
                  </a:moveTo>
                  <a:lnTo>
                    <a:pt x="4996795" y="3703764"/>
                  </a:lnTo>
                  <a:lnTo>
                    <a:pt x="5207139" y="2900996"/>
                  </a:lnTo>
                  <a:lnTo>
                    <a:pt x="4520464" y="2647952"/>
                  </a:lnTo>
                  <a:close/>
                  <a:moveTo>
                    <a:pt x="4175115" y="3397195"/>
                  </a:moveTo>
                  <a:lnTo>
                    <a:pt x="4056984" y="3655428"/>
                  </a:lnTo>
                  <a:lnTo>
                    <a:pt x="4509311" y="3278908"/>
                  </a:lnTo>
                  <a:lnTo>
                    <a:pt x="4175115" y="3397195"/>
                  </a:lnTo>
                  <a:close/>
                  <a:moveTo>
                    <a:pt x="4339060" y="3038809"/>
                  </a:moveTo>
                  <a:lnTo>
                    <a:pt x="4177005" y="3393064"/>
                  </a:lnTo>
                  <a:lnTo>
                    <a:pt x="4514739" y="3273526"/>
                  </a:lnTo>
                  <a:lnTo>
                    <a:pt x="4339060" y="3038809"/>
                  </a:lnTo>
                  <a:close/>
                  <a:moveTo>
                    <a:pt x="4340605" y="3035423"/>
                  </a:moveTo>
                  <a:lnTo>
                    <a:pt x="4515742" y="3269411"/>
                  </a:lnTo>
                  <a:lnTo>
                    <a:pt x="4515742" y="2652564"/>
                  </a:lnTo>
                  <a:lnTo>
                    <a:pt x="4340605" y="3035423"/>
                  </a:lnTo>
                  <a:close/>
                  <a:moveTo>
                    <a:pt x="4232506" y="2891006"/>
                  </a:moveTo>
                  <a:lnTo>
                    <a:pt x="4338374" y="3032448"/>
                  </a:lnTo>
                  <a:lnTo>
                    <a:pt x="4512806" y="2651127"/>
                  </a:lnTo>
                  <a:lnTo>
                    <a:pt x="4232506" y="2891006"/>
                  </a:lnTo>
                  <a:close/>
                  <a:moveTo>
                    <a:pt x="4010689" y="2594646"/>
                  </a:moveTo>
                  <a:lnTo>
                    <a:pt x="4230554" y="2888390"/>
                  </a:lnTo>
                  <a:lnTo>
                    <a:pt x="4516039" y="2644066"/>
                  </a:lnTo>
                  <a:lnTo>
                    <a:pt x="4517384" y="2641124"/>
                  </a:lnTo>
                  <a:lnTo>
                    <a:pt x="4517825" y="2642100"/>
                  </a:lnTo>
                  <a:lnTo>
                    <a:pt x="4928136" y="2178921"/>
                  </a:lnTo>
                  <a:lnTo>
                    <a:pt x="4877681" y="2119080"/>
                  </a:lnTo>
                  <a:lnTo>
                    <a:pt x="4010689" y="2594646"/>
                  </a:lnTo>
                  <a:close/>
                  <a:moveTo>
                    <a:pt x="4932450" y="2178976"/>
                  </a:moveTo>
                  <a:lnTo>
                    <a:pt x="5120683" y="2402227"/>
                  </a:lnTo>
                  <a:lnTo>
                    <a:pt x="5085106" y="2006648"/>
                  </a:lnTo>
                  <a:lnTo>
                    <a:pt x="4932450" y="2178976"/>
                  </a:lnTo>
                  <a:close/>
                  <a:moveTo>
                    <a:pt x="4880597" y="2117480"/>
                  </a:moveTo>
                  <a:lnTo>
                    <a:pt x="4930321" y="2176455"/>
                  </a:lnTo>
                  <a:lnTo>
                    <a:pt x="5078940" y="2008685"/>
                  </a:lnTo>
                  <a:lnTo>
                    <a:pt x="4880597" y="2117480"/>
                  </a:lnTo>
                  <a:close/>
                  <a:moveTo>
                    <a:pt x="4660642" y="1856601"/>
                  </a:moveTo>
                  <a:lnTo>
                    <a:pt x="4878448" y="2114932"/>
                  </a:lnTo>
                  <a:lnTo>
                    <a:pt x="5085060" y="2001599"/>
                  </a:lnTo>
                  <a:lnTo>
                    <a:pt x="5209814" y="1647047"/>
                  </a:lnTo>
                  <a:lnTo>
                    <a:pt x="4660642" y="1856601"/>
                  </a:lnTo>
                  <a:close/>
                  <a:moveTo>
                    <a:pt x="5426602" y="1030940"/>
                  </a:moveTo>
                  <a:lnTo>
                    <a:pt x="4663878" y="1851872"/>
                  </a:lnTo>
                  <a:lnTo>
                    <a:pt x="5211238" y="1643014"/>
                  </a:lnTo>
                  <a:lnTo>
                    <a:pt x="5426602" y="1030940"/>
                  </a:lnTo>
                  <a:close/>
                  <a:moveTo>
                    <a:pt x="4935503" y="958791"/>
                  </a:moveTo>
                  <a:lnTo>
                    <a:pt x="4661566" y="1849564"/>
                  </a:lnTo>
                  <a:lnTo>
                    <a:pt x="5427408" y="1025278"/>
                  </a:lnTo>
                  <a:lnTo>
                    <a:pt x="4935503" y="958791"/>
                  </a:lnTo>
                  <a:close/>
                  <a:moveTo>
                    <a:pt x="5429818" y="1031639"/>
                  </a:moveTo>
                  <a:lnTo>
                    <a:pt x="5215235" y="1641485"/>
                  </a:lnTo>
                  <a:lnTo>
                    <a:pt x="5477776" y="1541303"/>
                  </a:lnTo>
                  <a:lnTo>
                    <a:pt x="5429818" y="1031639"/>
                  </a:lnTo>
                  <a:close/>
                  <a:moveTo>
                    <a:pt x="5481463" y="596026"/>
                  </a:moveTo>
                  <a:lnTo>
                    <a:pt x="5786506" y="1220123"/>
                  </a:lnTo>
                  <a:lnTo>
                    <a:pt x="5987759" y="10917"/>
                  </a:lnTo>
                  <a:lnTo>
                    <a:pt x="5481463" y="596026"/>
                  </a:lnTo>
                  <a:close/>
                  <a:moveTo>
                    <a:pt x="4936477" y="955626"/>
                  </a:moveTo>
                  <a:lnTo>
                    <a:pt x="5427555" y="1022002"/>
                  </a:lnTo>
                  <a:lnTo>
                    <a:pt x="5208818" y="665331"/>
                  </a:lnTo>
                  <a:lnTo>
                    <a:pt x="5010461" y="715064"/>
                  </a:lnTo>
                  <a:lnTo>
                    <a:pt x="4936477" y="955626"/>
                  </a:lnTo>
                  <a:close/>
                  <a:moveTo>
                    <a:pt x="5212136" y="664498"/>
                  </a:moveTo>
                  <a:lnTo>
                    <a:pt x="5429662" y="1019187"/>
                  </a:lnTo>
                  <a:lnTo>
                    <a:pt x="5477632" y="597929"/>
                  </a:lnTo>
                  <a:lnTo>
                    <a:pt x="5212136" y="664498"/>
                  </a:lnTo>
                  <a:close/>
                  <a:moveTo>
                    <a:pt x="4361143" y="877863"/>
                  </a:moveTo>
                  <a:lnTo>
                    <a:pt x="4933198" y="955186"/>
                  </a:lnTo>
                  <a:lnTo>
                    <a:pt x="5006755" y="715992"/>
                  </a:lnTo>
                  <a:lnTo>
                    <a:pt x="4361143" y="877863"/>
                  </a:lnTo>
                  <a:close/>
                  <a:moveTo>
                    <a:pt x="5086892" y="466520"/>
                  </a:moveTo>
                  <a:lnTo>
                    <a:pt x="5011578" y="711413"/>
                  </a:lnTo>
                  <a:lnTo>
                    <a:pt x="5207028" y="662411"/>
                  </a:lnTo>
                  <a:lnTo>
                    <a:pt x="5086892" y="466520"/>
                  </a:lnTo>
                  <a:close/>
                </a:path>
              </a:pathLst>
            </a:custGeom>
            <a:solidFill>
              <a:schemeClr val="accent3">
                <a:alpha val="14902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5733862" y="-5475484"/>
              <a:ext cx="5592617" cy="5549712"/>
            </a:xfrm>
            <a:custGeom>
              <a:avLst/>
              <a:gdLst/>
              <a:ahLst/>
              <a:cxnLst/>
              <a:rect l="l" t="t" r="r" b="b"/>
              <a:pathLst>
                <a:path w="5592617" h="5549712" extrusionOk="0">
                  <a:moveTo>
                    <a:pt x="0" y="5549713"/>
                  </a:moveTo>
                  <a:lnTo>
                    <a:pt x="206406" y="4813768"/>
                  </a:lnTo>
                  <a:lnTo>
                    <a:pt x="207882" y="4814052"/>
                  </a:lnTo>
                  <a:lnTo>
                    <a:pt x="817513" y="4930909"/>
                  </a:lnTo>
                  <a:lnTo>
                    <a:pt x="930213" y="4199591"/>
                  </a:lnTo>
                  <a:lnTo>
                    <a:pt x="771195" y="3722748"/>
                  </a:lnTo>
                  <a:lnTo>
                    <a:pt x="1298530" y="4489038"/>
                  </a:lnTo>
                  <a:lnTo>
                    <a:pt x="1882244" y="4073205"/>
                  </a:lnTo>
                  <a:lnTo>
                    <a:pt x="1772858" y="3515332"/>
                  </a:lnTo>
                  <a:lnTo>
                    <a:pt x="2606076" y="3955740"/>
                  </a:lnTo>
                  <a:lnTo>
                    <a:pt x="2605436" y="3957144"/>
                  </a:lnTo>
                  <a:lnTo>
                    <a:pt x="2421713" y="4358096"/>
                  </a:lnTo>
                  <a:lnTo>
                    <a:pt x="3143694" y="4273534"/>
                  </a:lnTo>
                  <a:lnTo>
                    <a:pt x="3151104" y="4269641"/>
                  </a:lnTo>
                  <a:lnTo>
                    <a:pt x="3147943" y="4273282"/>
                  </a:lnTo>
                  <a:lnTo>
                    <a:pt x="3990011" y="4227066"/>
                  </a:lnTo>
                  <a:lnTo>
                    <a:pt x="4133493" y="3655098"/>
                  </a:lnTo>
                  <a:lnTo>
                    <a:pt x="3014382" y="3400229"/>
                  </a:lnTo>
                  <a:lnTo>
                    <a:pt x="3017409" y="3398120"/>
                  </a:lnTo>
                  <a:lnTo>
                    <a:pt x="3640148" y="2963469"/>
                  </a:lnTo>
                  <a:lnTo>
                    <a:pt x="3955045" y="2743262"/>
                  </a:lnTo>
                  <a:lnTo>
                    <a:pt x="3856466" y="2548730"/>
                  </a:lnTo>
                  <a:lnTo>
                    <a:pt x="2928925" y="2330192"/>
                  </a:lnTo>
                  <a:lnTo>
                    <a:pt x="3435473" y="1717015"/>
                  </a:lnTo>
                  <a:lnTo>
                    <a:pt x="3420163" y="1154192"/>
                  </a:lnTo>
                  <a:lnTo>
                    <a:pt x="3417982" y="1153372"/>
                  </a:lnTo>
                  <a:lnTo>
                    <a:pt x="3420104" y="1152131"/>
                  </a:lnTo>
                  <a:lnTo>
                    <a:pt x="3420088" y="1151488"/>
                  </a:lnTo>
                  <a:lnTo>
                    <a:pt x="3421290" y="1151435"/>
                  </a:lnTo>
                  <a:lnTo>
                    <a:pt x="3980622" y="824557"/>
                  </a:lnTo>
                  <a:lnTo>
                    <a:pt x="3981497" y="825239"/>
                  </a:lnTo>
                  <a:lnTo>
                    <a:pt x="4261581" y="1045078"/>
                  </a:lnTo>
                  <a:lnTo>
                    <a:pt x="4685896" y="667287"/>
                  </a:lnTo>
                  <a:lnTo>
                    <a:pt x="5049115" y="277579"/>
                  </a:lnTo>
                  <a:lnTo>
                    <a:pt x="5049115" y="277223"/>
                  </a:lnTo>
                  <a:lnTo>
                    <a:pt x="5049748" y="276900"/>
                  </a:lnTo>
                  <a:lnTo>
                    <a:pt x="5050920" y="275639"/>
                  </a:lnTo>
                  <a:lnTo>
                    <a:pt x="5051267" y="276123"/>
                  </a:lnTo>
                  <a:lnTo>
                    <a:pt x="5592618" y="0"/>
                  </a:lnTo>
                  <a:lnTo>
                    <a:pt x="5592248" y="3044"/>
                  </a:lnTo>
                  <a:lnTo>
                    <a:pt x="5484281" y="895795"/>
                  </a:lnTo>
                  <a:lnTo>
                    <a:pt x="5052380" y="283369"/>
                  </a:lnTo>
                  <a:lnTo>
                    <a:pt x="5052380" y="1085680"/>
                  </a:lnTo>
                  <a:lnTo>
                    <a:pt x="5052312" y="1085909"/>
                  </a:lnTo>
                  <a:lnTo>
                    <a:pt x="4910874" y="1555718"/>
                  </a:lnTo>
                  <a:lnTo>
                    <a:pt x="4922637" y="2068908"/>
                  </a:lnTo>
                  <a:lnTo>
                    <a:pt x="4923166" y="2069294"/>
                  </a:lnTo>
                  <a:lnTo>
                    <a:pt x="4922666" y="2070169"/>
                  </a:lnTo>
                  <a:lnTo>
                    <a:pt x="4922676" y="2070590"/>
                  </a:lnTo>
                  <a:lnTo>
                    <a:pt x="4922261" y="2070881"/>
                  </a:lnTo>
                  <a:lnTo>
                    <a:pt x="4556824" y="2710389"/>
                  </a:lnTo>
                  <a:lnTo>
                    <a:pt x="4877403" y="2785919"/>
                  </a:lnTo>
                  <a:lnTo>
                    <a:pt x="4879248" y="2784514"/>
                  </a:lnTo>
                  <a:lnTo>
                    <a:pt x="4879346" y="2786376"/>
                  </a:lnTo>
                  <a:lnTo>
                    <a:pt x="4886560" y="2788078"/>
                  </a:lnTo>
                  <a:lnTo>
                    <a:pt x="4879484" y="2789093"/>
                  </a:lnTo>
                  <a:lnTo>
                    <a:pt x="4933423" y="3834422"/>
                  </a:lnTo>
                  <a:lnTo>
                    <a:pt x="4938515" y="3838442"/>
                  </a:lnTo>
                  <a:lnTo>
                    <a:pt x="4931977" y="3836953"/>
                  </a:lnTo>
                  <a:lnTo>
                    <a:pt x="3992689" y="4229825"/>
                  </a:lnTo>
                  <a:lnTo>
                    <a:pt x="3992597" y="4230201"/>
                  </a:lnTo>
                  <a:lnTo>
                    <a:pt x="3991761" y="4230247"/>
                  </a:lnTo>
                  <a:lnTo>
                    <a:pt x="2906518" y="4877939"/>
                  </a:lnTo>
                  <a:lnTo>
                    <a:pt x="3360188" y="4965614"/>
                  </a:lnTo>
                  <a:lnTo>
                    <a:pt x="3353076" y="4967406"/>
                  </a:lnTo>
                  <a:lnTo>
                    <a:pt x="2319519" y="5228271"/>
                  </a:lnTo>
                  <a:lnTo>
                    <a:pt x="2310989" y="5233363"/>
                  </a:lnTo>
                  <a:lnTo>
                    <a:pt x="2315734" y="5227893"/>
                  </a:lnTo>
                  <a:lnTo>
                    <a:pt x="1246282" y="5055620"/>
                  </a:lnTo>
                  <a:lnTo>
                    <a:pt x="446482" y="5512056"/>
                  </a:lnTo>
                  <a:lnTo>
                    <a:pt x="444810" y="5514051"/>
                  </a:lnTo>
                  <a:lnTo>
                    <a:pt x="402421" y="5390156"/>
                  </a:lnTo>
                  <a:lnTo>
                    <a:pt x="0" y="5549713"/>
                  </a:lnTo>
                  <a:close/>
                  <a:moveTo>
                    <a:pt x="207726" y="4821148"/>
                  </a:moveTo>
                  <a:lnTo>
                    <a:pt x="4921" y="5544246"/>
                  </a:lnTo>
                  <a:lnTo>
                    <a:pt x="401347" y="5387057"/>
                  </a:lnTo>
                  <a:lnTo>
                    <a:pt x="207726" y="4821148"/>
                  </a:lnTo>
                  <a:close/>
                  <a:moveTo>
                    <a:pt x="405448" y="5388948"/>
                  </a:moveTo>
                  <a:lnTo>
                    <a:pt x="446012" y="5507506"/>
                  </a:lnTo>
                  <a:lnTo>
                    <a:pt x="614526" y="5306045"/>
                  </a:lnTo>
                  <a:lnTo>
                    <a:pt x="405448" y="5388948"/>
                  </a:lnTo>
                  <a:close/>
                  <a:moveTo>
                    <a:pt x="620897" y="5303514"/>
                  </a:moveTo>
                  <a:lnTo>
                    <a:pt x="452488" y="5504851"/>
                  </a:lnTo>
                  <a:lnTo>
                    <a:pt x="1225081" y="5063944"/>
                  </a:lnTo>
                  <a:lnTo>
                    <a:pt x="620897" y="5303514"/>
                  </a:lnTo>
                  <a:close/>
                  <a:moveTo>
                    <a:pt x="210028" y="4817788"/>
                  </a:moveTo>
                  <a:lnTo>
                    <a:pt x="404390" y="5385852"/>
                  </a:lnTo>
                  <a:lnTo>
                    <a:pt x="618925" y="5300783"/>
                  </a:lnTo>
                  <a:lnTo>
                    <a:pt x="1296074" y="4491236"/>
                  </a:lnTo>
                  <a:lnTo>
                    <a:pt x="781600" y="3743629"/>
                  </a:lnTo>
                  <a:lnTo>
                    <a:pt x="933560" y="4199304"/>
                  </a:lnTo>
                  <a:lnTo>
                    <a:pt x="933501" y="4199692"/>
                  </a:lnTo>
                  <a:lnTo>
                    <a:pt x="820223" y="4934749"/>
                  </a:lnTo>
                  <a:lnTo>
                    <a:pt x="210028" y="4817788"/>
                  </a:lnTo>
                  <a:close/>
                  <a:moveTo>
                    <a:pt x="1298958" y="4492882"/>
                  </a:moveTo>
                  <a:lnTo>
                    <a:pt x="625293" y="5298259"/>
                  </a:lnTo>
                  <a:lnTo>
                    <a:pt x="1244874" y="5052583"/>
                  </a:lnTo>
                  <a:lnTo>
                    <a:pt x="1634924" y="4453527"/>
                  </a:lnTo>
                  <a:lnTo>
                    <a:pt x="1298958" y="4492882"/>
                  </a:lnTo>
                  <a:close/>
                  <a:moveTo>
                    <a:pt x="1248698" y="5052700"/>
                  </a:moveTo>
                  <a:lnTo>
                    <a:pt x="2318239" y="5224986"/>
                  </a:lnTo>
                  <a:lnTo>
                    <a:pt x="2657988" y="4833238"/>
                  </a:lnTo>
                  <a:lnTo>
                    <a:pt x="2240923" y="4752636"/>
                  </a:lnTo>
                  <a:lnTo>
                    <a:pt x="2240074" y="4754488"/>
                  </a:lnTo>
                  <a:lnTo>
                    <a:pt x="2238896" y="4752241"/>
                  </a:lnTo>
                  <a:lnTo>
                    <a:pt x="2235097" y="4751507"/>
                  </a:lnTo>
                  <a:lnTo>
                    <a:pt x="2237769" y="4750099"/>
                  </a:lnTo>
                  <a:lnTo>
                    <a:pt x="2055888" y="4404224"/>
                  </a:lnTo>
                  <a:lnTo>
                    <a:pt x="1639147" y="4453030"/>
                  </a:lnTo>
                  <a:lnTo>
                    <a:pt x="1248698" y="5052700"/>
                  </a:lnTo>
                  <a:close/>
                  <a:moveTo>
                    <a:pt x="2902299" y="4880450"/>
                  </a:moveTo>
                  <a:lnTo>
                    <a:pt x="2329290" y="5222433"/>
                  </a:lnTo>
                  <a:lnTo>
                    <a:pt x="3345159" y="4966032"/>
                  </a:lnTo>
                  <a:lnTo>
                    <a:pt x="2902299" y="4880450"/>
                  </a:lnTo>
                  <a:close/>
                  <a:moveTo>
                    <a:pt x="2661691" y="4833950"/>
                  </a:moveTo>
                  <a:lnTo>
                    <a:pt x="2326776" y="5220124"/>
                  </a:lnTo>
                  <a:lnTo>
                    <a:pt x="2897492" y="4879519"/>
                  </a:lnTo>
                  <a:lnTo>
                    <a:pt x="2661691" y="4833950"/>
                  </a:lnTo>
                  <a:close/>
                  <a:moveTo>
                    <a:pt x="2664164" y="4831102"/>
                  </a:moveTo>
                  <a:lnTo>
                    <a:pt x="2901702" y="4877008"/>
                  </a:lnTo>
                  <a:lnTo>
                    <a:pt x="3984769" y="4230625"/>
                  </a:lnTo>
                  <a:lnTo>
                    <a:pt x="3144958" y="4276714"/>
                  </a:lnTo>
                  <a:lnTo>
                    <a:pt x="2664164" y="4831102"/>
                  </a:lnTo>
                  <a:close/>
                  <a:moveTo>
                    <a:pt x="2244849" y="4750070"/>
                  </a:moveTo>
                  <a:lnTo>
                    <a:pt x="2660460" y="4830387"/>
                  </a:lnTo>
                  <a:lnTo>
                    <a:pt x="3137261" y="4280607"/>
                  </a:lnTo>
                  <a:lnTo>
                    <a:pt x="2244849" y="4750070"/>
                  </a:lnTo>
                  <a:close/>
                  <a:moveTo>
                    <a:pt x="2420116" y="4361571"/>
                  </a:moveTo>
                  <a:lnTo>
                    <a:pt x="2243454" y="4747114"/>
                  </a:lnTo>
                  <a:lnTo>
                    <a:pt x="3135654" y="4277766"/>
                  </a:lnTo>
                  <a:lnTo>
                    <a:pt x="2420116" y="4361571"/>
                  </a:lnTo>
                  <a:close/>
                  <a:moveTo>
                    <a:pt x="2059363" y="4403819"/>
                  </a:moveTo>
                  <a:lnTo>
                    <a:pt x="2239872" y="4747088"/>
                  </a:lnTo>
                  <a:lnTo>
                    <a:pt x="2416318" y="4362012"/>
                  </a:lnTo>
                  <a:lnTo>
                    <a:pt x="2059363" y="4403819"/>
                  </a:lnTo>
                  <a:close/>
                  <a:moveTo>
                    <a:pt x="1877972" y="4080252"/>
                  </a:moveTo>
                  <a:lnTo>
                    <a:pt x="1304251" y="4488973"/>
                  </a:lnTo>
                  <a:lnTo>
                    <a:pt x="1637246" y="4449973"/>
                  </a:lnTo>
                  <a:lnTo>
                    <a:pt x="1877972" y="4080252"/>
                  </a:lnTo>
                  <a:close/>
                  <a:moveTo>
                    <a:pt x="1883893" y="4077150"/>
                  </a:moveTo>
                  <a:lnTo>
                    <a:pt x="1641462" y="4449477"/>
                  </a:lnTo>
                  <a:lnTo>
                    <a:pt x="2054258" y="4401132"/>
                  </a:lnTo>
                  <a:lnTo>
                    <a:pt x="1883893" y="4077150"/>
                  </a:lnTo>
                  <a:close/>
                  <a:moveTo>
                    <a:pt x="1885597" y="4073378"/>
                  </a:moveTo>
                  <a:lnTo>
                    <a:pt x="2057733" y="4400723"/>
                  </a:lnTo>
                  <a:lnTo>
                    <a:pt x="2417909" y="4358540"/>
                  </a:lnTo>
                  <a:lnTo>
                    <a:pt x="2601814" y="3957190"/>
                  </a:lnTo>
                  <a:lnTo>
                    <a:pt x="1777372" y="3521420"/>
                  </a:lnTo>
                  <a:lnTo>
                    <a:pt x="1885597" y="4073378"/>
                  </a:lnTo>
                  <a:close/>
                  <a:moveTo>
                    <a:pt x="4136671" y="3655827"/>
                  </a:moveTo>
                  <a:lnTo>
                    <a:pt x="3993668" y="4225890"/>
                  </a:lnTo>
                  <a:lnTo>
                    <a:pt x="4926490" y="3835699"/>
                  </a:lnTo>
                  <a:lnTo>
                    <a:pt x="4136671" y="3655827"/>
                  </a:lnTo>
                  <a:close/>
                  <a:moveTo>
                    <a:pt x="4137464" y="3652659"/>
                  </a:moveTo>
                  <a:lnTo>
                    <a:pt x="4925135" y="3832045"/>
                  </a:lnTo>
                  <a:lnTo>
                    <a:pt x="4230096" y="3283392"/>
                  </a:lnTo>
                  <a:lnTo>
                    <a:pt x="4137464" y="3652659"/>
                  </a:lnTo>
                  <a:close/>
                  <a:moveTo>
                    <a:pt x="4231795" y="3280570"/>
                  </a:moveTo>
                  <a:lnTo>
                    <a:pt x="4930008" y="3831728"/>
                  </a:lnTo>
                  <a:lnTo>
                    <a:pt x="4876300" y="2790857"/>
                  </a:lnTo>
                  <a:lnTo>
                    <a:pt x="4231795" y="3280570"/>
                  </a:lnTo>
                  <a:close/>
                  <a:moveTo>
                    <a:pt x="3022298" y="3398688"/>
                  </a:moveTo>
                  <a:lnTo>
                    <a:pt x="4134280" y="3651934"/>
                  </a:lnTo>
                  <a:lnTo>
                    <a:pt x="4227236" y="3281380"/>
                  </a:lnTo>
                  <a:lnTo>
                    <a:pt x="3641190" y="2966722"/>
                  </a:lnTo>
                  <a:lnTo>
                    <a:pt x="3022298" y="3398688"/>
                  </a:lnTo>
                  <a:close/>
                  <a:moveTo>
                    <a:pt x="4042654" y="2908942"/>
                  </a:moveTo>
                  <a:lnTo>
                    <a:pt x="4229215" y="3277102"/>
                  </a:lnTo>
                  <a:lnTo>
                    <a:pt x="4474976" y="2847023"/>
                  </a:lnTo>
                  <a:lnTo>
                    <a:pt x="4042654" y="2908942"/>
                  </a:lnTo>
                  <a:close/>
                  <a:moveTo>
                    <a:pt x="3646229" y="2965723"/>
                  </a:moveTo>
                  <a:lnTo>
                    <a:pt x="4225325" y="3276648"/>
                  </a:lnTo>
                  <a:lnTo>
                    <a:pt x="4039245" y="2909435"/>
                  </a:lnTo>
                  <a:lnTo>
                    <a:pt x="3646229" y="2965723"/>
                  </a:lnTo>
                  <a:close/>
                  <a:moveTo>
                    <a:pt x="4479071" y="2846439"/>
                  </a:moveTo>
                  <a:lnTo>
                    <a:pt x="4234525" y="3274398"/>
                  </a:lnTo>
                  <a:lnTo>
                    <a:pt x="4871767" y="2790194"/>
                  </a:lnTo>
                  <a:lnTo>
                    <a:pt x="4479071" y="2846439"/>
                  </a:lnTo>
                  <a:close/>
                  <a:moveTo>
                    <a:pt x="3956527" y="2746208"/>
                  </a:moveTo>
                  <a:lnTo>
                    <a:pt x="3647627" y="2962222"/>
                  </a:lnTo>
                  <a:lnTo>
                    <a:pt x="4037680" y="2906355"/>
                  </a:lnTo>
                  <a:lnTo>
                    <a:pt x="3956527" y="2746208"/>
                  </a:lnTo>
                  <a:close/>
                  <a:moveTo>
                    <a:pt x="3959231" y="2744317"/>
                  </a:moveTo>
                  <a:lnTo>
                    <a:pt x="4041093" y="2905869"/>
                  </a:lnTo>
                  <a:lnTo>
                    <a:pt x="4477023" y="2843431"/>
                  </a:lnTo>
                  <a:lnTo>
                    <a:pt x="4551805" y="2712564"/>
                  </a:lnTo>
                  <a:lnTo>
                    <a:pt x="4142533" y="2616138"/>
                  </a:lnTo>
                  <a:lnTo>
                    <a:pt x="3959231" y="2744317"/>
                  </a:lnTo>
                  <a:close/>
                  <a:moveTo>
                    <a:pt x="4555126" y="2713345"/>
                  </a:moveTo>
                  <a:lnTo>
                    <a:pt x="4481125" y="2842844"/>
                  </a:lnTo>
                  <a:lnTo>
                    <a:pt x="4868984" y="2787291"/>
                  </a:lnTo>
                  <a:lnTo>
                    <a:pt x="4555126" y="2713345"/>
                  </a:lnTo>
                  <a:close/>
                  <a:moveTo>
                    <a:pt x="3860616" y="2549710"/>
                  </a:moveTo>
                  <a:lnTo>
                    <a:pt x="3957739" y="2741371"/>
                  </a:lnTo>
                  <a:lnTo>
                    <a:pt x="4138271" y="2615129"/>
                  </a:lnTo>
                  <a:lnTo>
                    <a:pt x="3860616" y="2549710"/>
                  </a:lnTo>
                  <a:close/>
                  <a:moveTo>
                    <a:pt x="4146125" y="2613626"/>
                  </a:moveTo>
                  <a:lnTo>
                    <a:pt x="4553500" y="2709609"/>
                  </a:lnTo>
                  <a:lnTo>
                    <a:pt x="4915981" y="2075263"/>
                  </a:lnTo>
                  <a:lnTo>
                    <a:pt x="4146125" y="2613626"/>
                  </a:lnTo>
                  <a:close/>
                  <a:moveTo>
                    <a:pt x="3858687" y="2545899"/>
                  </a:moveTo>
                  <a:lnTo>
                    <a:pt x="4141860" y="2612620"/>
                  </a:lnTo>
                  <a:lnTo>
                    <a:pt x="4918205" y="2069722"/>
                  </a:lnTo>
                  <a:lnTo>
                    <a:pt x="3928459" y="1345915"/>
                  </a:lnTo>
                  <a:lnTo>
                    <a:pt x="3439193" y="1718060"/>
                  </a:lnTo>
                  <a:lnTo>
                    <a:pt x="3858687" y="2545899"/>
                  </a:lnTo>
                  <a:close/>
                  <a:moveTo>
                    <a:pt x="2934786" y="2328223"/>
                  </a:moveTo>
                  <a:lnTo>
                    <a:pt x="3854529" y="2544922"/>
                  </a:lnTo>
                  <a:lnTo>
                    <a:pt x="3436789" y="1720548"/>
                  </a:lnTo>
                  <a:lnTo>
                    <a:pt x="2934786" y="2328223"/>
                  </a:lnTo>
                  <a:close/>
                  <a:moveTo>
                    <a:pt x="3935601" y="1347094"/>
                  </a:moveTo>
                  <a:lnTo>
                    <a:pt x="4919302" y="2066482"/>
                  </a:lnTo>
                  <a:lnTo>
                    <a:pt x="4907621" y="1556822"/>
                  </a:lnTo>
                  <a:lnTo>
                    <a:pt x="3935601" y="1347094"/>
                  </a:lnTo>
                  <a:close/>
                  <a:moveTo>
                    <a:pt x="3423455" y="1155436"/>
                  </a:moveTo>
                  <a:lnTo>
                    <a:pt x="3438663" y="1714356"/>
                  </a:lnTo>
                  <a:lnTo>
                    <a:pt x="3924628" y="1344726"/>
                  </a:lnTo>
                  <a:lnTo>
                    <a:pt x="3920938" y="1343930"/>
                  </a:lnTo>
                  <a:lnTo>
                    <a:pt x="3922802" y="1343498"/>
                  </a:lnTo>
                  <a:lnTo>
                    <a:pt x="3423455" y="1155436"/>
                  </a:lnTo>
                  <a:close/>
                  <a:moveTo>
                    <a:pt x="4481987" y="1218085"/>
                  </a:moveTo>
                  <a:lnTo>
                    <a:pt x="4908349" y="1552736"/>
                  </a:lnTo>
                  <a:lnTo>
                    <a:pt x="5048367" y="1087663"/>
                  </a:lnTo>
                  <a:lnTo>
                    <a:pt x="4481987" y="1218085"/>
                  </a:lnTo>
                  <a:close/>
                  <a:moveTo>
                    <a:pt x="3935937" y="1343825"/>
                  </a:moveTo>
                  <a:lnTo>
                    <a:pt x="4902641" y="1552406"/>
                  </a:lnTo>
                  <a:lnTo>
                    <a:pt x="4477899" y="1219026"/>
                  </a:lnTo>
                  <a:lnTo>
                    <a:pt x="3935937" y="1343825"/>
                  </a:lnTo>
                  <a:close/>
                  <a:moveTo>
                    <a:pt x="3429840" y="1154355"/>
                  </a:moveTo>
                  <a:lnTo>
                    <a:pt x="3928089" y="1342003"/>
                  </a:lnTo>
                  <a:lnTo>
                    <a:pt x="4173514" y="1123487"/>
                  </a:lnTo>
                  <a:lnTo>
                    <a:pt x="3429840" y="1154355"/>
                  </a:lnTo>
                  <a:close/>
                  <a:moveTo>
                    <a:pt x="4178664" y="1123272"/>
                  </a:moveTo>
                  <a:lnTo>
                    <a:pt x="3934291" y="1340857"/>
                  </a:lnTo>
                  <a:lnTo>
                    <a:pt x="4474597" y="1216436"/>
                  </a:lnTo>
                  <a:lnTo>
                    <a:pt x="4347002" y="1116287"/>
                  </a:lnTo>
                  <a:lnTo>
                    <a:pt x="4178664" y="1123272"/>
                  </a:lnTo>
                  <a:close/>
                  <a:moveTo>
                    <a:pt x="4352022" y="1116074"/>
                  </a:moveTo>
                  <a:lnTo>
                    <a:pt x="4478686" y="1215492"/>
                  </a:lnTo>
                  <a:lnTo>
                    <a:pt x="5033204" y="1087800"/>
                  </a:lnTo>
                  <a:lnTo>
                    <a:pt x="4352022" y="1116074"/>
                  </a:lnTo>
                  <a:close/>
                  <a:moveTo>
                    <a:pt x="3980351" y="828499"/>
                  </a:moveTo>
                  <a:lnTo>
                    <a:pt x="3428249" y="1151148"/>
                  </a:lnTo>
                  <a:lnTo>
                    <a:pt x="4177368" y="1120055"/>
                  </a:lnTo>
                  <a:lnTo>
                    <a:pt x="4259096" y="1047285"/>
                  </a:lnTo>
                  <a:lnTo>
                    <a:pt x="3980351" y="828499"/>
                  </a:lnTo>
                  <a:close/>
                  <a:moveTo>
                    <a:pt x="4261702" y="1049336"/>
                  </a:moveTo>
                  <a:lnTo>
                    <a:pt x="4182515" y="1119843"/>
                  </a:lnTo>
                  <a:lnTo>
                    <a:pt x="4343044" y="1113181"/>
                  </a:lnTo>
                  <a:lnTo>
                    <a:pt x="4261702" y="1049336"/>
                  </a:lnTo>
                  <a:close/>
                  <a:moveTo>
                    <a:pt x="4264184" y="1047128"/>
                  </a:moveTo>
                  <a:lnTo>
                    <a:pt x="4348070" y="1112972"/>
                  </a:lnTo>
                  <a:lnTo>
                    <a:pt x="5049108" y="1083874"/>
                  </a:lnTo>
                  <a:lnTo>
                    <a:pt x="5049108" y="282376"/>
                  </a:lnTo>
                  <a:lnTo>
                    <a:pt x="4688175" y="669625"/>
                  </a:lnTo>
                  <a:lnTo>
                    <a:pt x="4264184" y="1047128"/>
                  </a:lnTo>
                  <a:close/>
                  <a:moveTo>
                    <a:pt x="5053161" y="278827"/>
                  </a:moveTo>
                  <a:lnTo>
                    <a:pt x="5482051" y="886984"/>
                  </a:lnTo>
                  <a:lnTo>
                    <a:pt x="5588630" y="5702"/>
                  </a:lnTo>
                  <a:lnTo>
                    <a:pt x="5053161" y="278827"/>
                  </a:lnTo>
                  <a:close/>
                </a:path>
              </a:pathLst>
            </a:custGeom>
            <a:solidFill>
              <a:schemeClr val="accent3">
                <a:alpha val="14902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9" name="Google Shape;19;p3"/>
            <p:cNvGrpSpPr/>
            <p:nvPr/>
          </p:nvGrpSpPr>
          <p:grpSpPr>
            <a:xfrm>
              <a:off x="15700120" y="-5502021"/>
              <a:ext cx="5653751" cy="5609715"/>
              <a:chOff x="15700120" y="-5502021"/>
              <a:chExt cx="5653751" cy="5609715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17924183" y="-774345"/>
                <a:ext cx="99300" cy="99300"/>
              </a:xfrm>
              <a:custGeom>
                <a:avLst/>
                <a:gdLst/>
                <a:ahLst/>
                <a:cxnLst/>
                <a:rect l="l" t="t" r="r" b="b"/>
                <a:pathLst>
                  <a:path w="99300" h="99300" extrusionOk="0">
                    <a:moveTo>
                      <a:pt x="49649" y="99301"/>
                    </a:moveTo>
                    <a:cubicBezTo>
                      <a:pt x="22272" y="99301"/>
                      <a:pt x="0" y="77029"/>
                      <a:pt x="0" y="49652"/>
                    </a:cubicBezTo>
                    <a:cubicBezTo>
                      <a:pt x="0" y="22272"/>
                      <a:pt x="22272" y="0"/>
                      <a:pt x="49649" y="0"/>
                    </a:cubicBezTo>
                    <a:cubicBezTo>
                      <a:pt x="77025" y="0"/>
                      <a:pt x="99301" y="22272"/>
                      <a:pt x="99301" y="49652"/>
                    </a:cubicBezTo>
                    <a:cubicBezTo>
                      <a:pt x="99301" y="77029"/>
                      <a:pt x="77029" y="99301"/>
                      <a:pt x="49649" y="9930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18831548" y="-1246851"/>
                <a:ext cx="92981" cy="92981"/>
              </a:xfrm>
              <a:custGeom>
                <a:avLst/>
                <a:gdLst/>
                <a:ahLst/>
                <a:cxnLst/>
                <a:rect l="l" t="t" r="r" b="b"/>
                <a:pathLst>
                  <a:path w="92981" h="92981" extrusionOk="0">
                    <a:moveTo>
                      <a:pt x="92981" y="46491"/>
                    </a:moveTo>
                    <a:cubicBezTo>
                      <a:pt x="92981" y="72167"/>
                      <a:pt x="72167" y="92981"/>
                      <a:pt x="46491" y="92981"/>
                    </a:cubicBezTo>
                    <a:cubicBezTo>
                      <a:pt x="20815" y="92981"/>
                      <a:pt x="0" y="72167"/>
                      <a:pt x="0" y="46491"/>
                    </a:cubicBezTo>
                    <a:cubicBezTo>
                      <a:pt x="0" y="20815"/>
                      <a:pt x="20815" y="0"/>
                      <a:pt x="46491" y="0"/>
                    </a:cubicBezTo>
                    <a:cubicBezTo>
                      <a:pt x="72167" y="0"/>
                      <a:pt x="92981" y="20815"/>
                      <a:pt x="92981" y="4649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18287719" y="-1562734"/>
                <a:ext cx="87430" cy="87430"/>
              </a:xfrm>
              <a:custGeom>
                <a:avLst/>
                <a:gdLst/>
                <a:ahLst/>
                <a:cxnLst/>
                <a:rect l="l" t="t" r="r" b="b"/>
                <a:pathLst>
                  <a:path w="87430" h="87430" extrusionOk="0">
                    <a:moveTo>
                      <a:pt x="43715" y="87430"/>
                    </a:moveTo>
                    <a:cubicBezTo>
                      <a:pt x="19611" y="87430"/>
                      <a:pt x="0" y="67819"/>
                      <a:pt x="0" y="43715"/>
                    </a:cubicBezTo>
                    <a:cubicBezTo>
                      <a:pt x="0" y="19611"/>
                      <a:pt x="19611" y="0"/>
                      <a:pt x="43715" y="0"/>
                    </a:cubicBezTo>
                    <a:cubicBezTo>
                      <a:pt x="67819" y="0"/>
                      <a:pt x="87430" y="19611"/>
                      <a:pt x="87430" y="43715"/>
                    </a:cubicBezTo>
                    <a:cubicBezTo>
                      <a:pt x="87430" y="67819"/>
                      <a:pt x="67819" y="87430"/>
                      <a:pt x="43715" y="87430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19050602" y="-545591"/>
                <a:ext cx="71852" cy="71855"/>
              </a:xfrm>
              <a:custGeom>
                <a:avLst/>
                <a:gdLst/>
                <a:ahLst/>
                <a:cxnLst/>
                <a:rect l="l" t="t" r="r" b="b"/>
                <a:pathLst>
                  <a:path w="71852" h="71855" extrusionOk="0">
                    <a:moveTo>
                      <a:pt x="35926" y="71855"/>
                    </a:moveTo>
                    <a:cubicBezTo>
                      <a:pt x="16116" y="71855"/>
                      <a:pt x="0" y="55736"/>
                      <a:pt x="0" y="35926"/>
                    </a:cubicBezTo>
                    <a:cubicBezTo>
                      <a:pt x="0" y="16116"/>
                      <a:pt x="16116" y="0"/>
                      <a:pt x="35926" y="0"/>
                    </a:cubicBezTo>
                    <a:cubicBezTo>
                      <a:pt x="55736" y="0"/>
                      <a:pt x="71852" y="16116"/>
                      <a:pt x="71852" y="35926"/>
                    </a:cubicBezTo>
                    <a:cubicBezTo>
                      <a:pt x="71852" y="55736"/>
                      <a:pt x="55736" y="71855"/>
                      <a:pt x="35926" y="7185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18612785" y="-3199203"/>
                <a:ext cx="105858" cy="105854"/>
              </a:xfrm>
              <a:custGeom>
                <a:avLst/>
                <a:gdLst/>
                <a:ahLst/>
                <a:cxnLst/>
                <a:rect l="l" t="t" r="r" b="b"/>
                <a:pathLst>
                  <a:path w="105858" h="105854" extrusionOk="0">
                    <a:moveTo>
                      <a:pt x="52928" y="105855"/>
                    </a:moveTo>
                    <a:cubicBezTo>
                      <a:pt x="23742" y="105855"/>
                      <a:pt x="0" y="82110"/>
                      <a:pt x="0" y="52927"/>
                    </a:cubicBezTo>
                    <a:cubicBezTo>
                      <a:pt x="0" y="23742"/>
                      <a:pt x="23745" y="0"/>
                      <a:pt x="52928" y="0"/>
                    </a:cubicBezTo>
                    <a:cubicBezTo>
                      <a:pt x="82116" y="0"/>
                      <a:pt x="105858" y="23745"/>
                      <a:pt x="105858" y="52927"/>
                    </a:cubicBezTo>
                    <a:cubicBezTo>
                      <a:pt x="105858" y="82113"/>
                      <a:pt x="82116" y="105855"/>
                      <a:pt x="52928" y="10585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19131723" y="-3803661"/>
                <a:ext cx="91524" cy="91524"/>
              </a:xfrm>
              <a:custGeom>
                <a:avLst/>
                <a:gdLst/>
                <a:ahLst/>
                <a:cxnLst/>
                <a:rect l="l" t="t" r="r" b="b"/>
                <a:pathLst>
                  <a:path w="91524" h="91524" extrusionOk="0">
                    <a:moveTo>
                      <a:pt x="45762" y="91525"/>
                    </a:moveTo>
                    <a:cubicBezTo>
                      <a:pt x="20528" y="91525"/>
                      <a:pt x="0" y="70997"/>
                      <a:pt x="0" y="45762"/>
                    </a:cubicBezTo>
                    <a:cubicBezTo>
                      <a:pt x="0" y="20528"/>
                      <a:pt x="20528" y="0"/>
                      <a:pt x="45762" y="0"/>
                    </a:cubicBezTo>
                    <a:cubicBezTo>
                      <a:pt x="70997" y="0"/>
                      <a:pt x="91525" y="20528"/>
                      <a:pt x="91525" y="45762"/>
                    </a:cubicBezTo>
                    <a:cubicBezTo>
                      <a:pt x="91525" y="70997"/>
                      <a:pt x="70993" y="91525"/>
                      <a:pt x="45762" y="9152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19116159" y="-4361892"/>
                <a:ext cx="78919" cy="78919"/>
              </a:xfrm>
              <a:custGeom>
                <a:avLst/>
                <a:gdLst/>
                <a:ahLst/>
                <a:cxnLst/>
                <a:rect l="l" t="t" r="r" b="b"/>
                <a:pathLst>
                  <a:path w="78919" h="78919" extrusionOk="0">
                    <a:moveTo>
                      <a:pt x="78919" y="39460"/>
                    </a:moveTo>
                    <a:cubicBezTo>
                      <a:pt x="78919" y="61253"/>
                      <a:pt x="61252" y="78919"/>
                      <a:pt x="39459" y="78919"/>
                    </a:cubicBezTo>
                    <a:cubicBezTo>
                      <a:pt x="17667" y="78919"/>
                      <a:pt x="0" y="61253"/>
                      <a:pt x="0" y="39460"/>
                    </a:cubicBezTo>
                    <a:cubicBezTo>
                      <a:pt x="0" y="17667"/>
                      <a:pt x="17667" y="0"/>
                      <a:pt x="39459" y="0"/>
                    </a:cubicBezTo>
                    <a:cubicBezTo>
                      <a:pt x="61252" y="0"/>
                      <a:pt x="78919" y="17667"/>
                      <a:pt x="78919" y="39460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 rot="-2700000">
                <a:off x="19677323" y="-4685911"/>
                <a:ext cx="73954" cy="73954"/>
              </a:xfrm>
              <a:custGeom>
                <a:avLst/>
                <a:gdLst/>
                <a:ahLst/>
                <a:cxnLst/>
                <a:rect l="l" t="t" r="r" b="b"/>
                <a:pathLst>
                  <a:path w="73954" h="73954" extrusionOk="0">
                    <a:moveTo>
                      <a:pt x="73955" y="36977"/>
                    </a:moveTo>
                    <a:cubicBezTo>
                      <a:pt x="73955" y="57399"/>
                      <a:pt x="57400" y="73955"/>
                      <a:pt x="36977" y="73955"/>
                    </a:cubicBezTo>
                    <a:cubicBezTo>
                      <a:pt x="16555" y="73955"/>
                      <a:pt x="0" y="57399"/>
                      <a:pt x="0" y="36977"/>
                    </a:cubicBezTo>
                    <a:cubicBezTo>
                      <a:pt x="0" y="16555"/>
                      <a:pt x="16555" y="0"/>
                      <a:pt x="36977" y="0"/>
                    </a:cubicBezTo>
                    <a:cubicBezTo>
                      <a:pt x="57400" y="0"/>
                      <a:pt x="73955" y="16555"/>
                      <a:pt x="73955" y="36977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0599795" y="-3963279"/>
                <a:ext cx="86577" cy="86580"/>
              </a:xfrm>
              <a:custGeom>
                <a:avLst/>
                <a:gdLst/>
                <a:ahLst/>
                <a:cxnLst/>
                <a:rect l="l" t="t" r="r" b="b"/>
                <a:pathLst>
                  <a:path w="86577" h="86580" extrusionOk="0">
                    <a:moveTo>
                      <a:pt x="43287" y="86580"/>
                    </a:moveTo>
                    <a:cubicBezTo>
                      <a:pt x="19418" y="86580"/>
                      <a:pt x="0" y="67159"/>
                      <a:pt x="0" y="43290"/>
                    </a:cubicBezTo>
                    <a:cubicBezTo>
                      <a:pt x="0" y="19421"/>
                      <a:pt x="19418" y="0"/>
                      <a:pt x="43287" y="0"/>
                    </a:cubicBezTo>
                    <a:cubicBezTo>
                      <a:pt x="67160" y="0"/>
                      <a:pt x="86578" y="19421"/>
                      <a:pt x="86578" y="43290"/>
                    </a:cubicBezTo>
                    <a:cubicBezTo>
                      <a:pt x="86578" y="67163"/>
                      <a:pt x="67156" y="86580"/>
                      <a:pt x="43287" y="86580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21181916" y="-4619198"/>
                <a:ext cx="70216" cy="70216"/>
              </a:xfrm>
              <a:custGeom>
                <a:avLst/>
                <a:gdLst/>
                <a:ahLst/>
                <a:cxnLst/>
                <a:rect l="l" t="t" r="r" b="b"/>
                <a:pathLst>
                  <a:path w="70216" h="70216" extrusionOk="0">
                    <a:moveTo>
                      <a:pt x="35110" y="70216"/>
                    </a:moveTo>
                    <a:cubicBezTo>
                      <a:pt x="15751" y="70216"/>
                      <a:pt x="0" y="54466"/>
                      <a:pt x="0" y="35106"/>
                    </a:cubicBezTo>
                    <a:cubicBezTo>
                      <a:pt x="0" y="15747"/>
                      <a:pt x="15751" y="0"/>
                      <a:pt x="35110" y="0"/>
                    </a:cubicBezTo>
                    <a:cubicBezTo>
                      <a:pt x="54469" y="0"/>
                      <a:pt x="70216" y="15751"/>
                      <a:pt x="70216" y="35106"/>
                    </a:cubicBezTo>
                    <a:cubicBezTo>
                      <a:pt x="70216" y="54466"/>
                      <a:pt x="54469" y="70216"/>
                      <a:pt x="35110" y="7021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0729568" y="-5252286"/>
                <a:ext cx="110064" cy="110061"/>
              </a:xfrm>
              <a:custGeom>
                <a:avLst/>
                <a:gdLst/>
                <a:ahLst/>
                <a:cxnLst/>
                <a:rect l="l" t="t" r="r" b="b"/>
                <a:pathLst>
                  <a:path w="110064" h="110061" extrusionOk="0">
                    <a:moveTo>
                      <a:pt x="55034" y="110061"/>
                    </a:moveTo>
                    <a:cubicBezTo>
                      <a:pt x="24689" y="110061"/>
                      <a:pt x="0" y="85372"/>
                      <a:pt x="0" y="55031"/>
                    </a:cubicBezTo>
                    <a:cubicBezTo>
                      <a:pt x="0" y="24689"/>
                      <a:pt x="24689" y="0"/>
                      <a:pt x="55034" y="0"/>
                    </a:cubicBezTo>
                    <a:cubicBezTo>
                      <a:pt x="85376" y="0"/>
                      <a:pt x="110064" y="24689"/>
                      <a:pt x="110064" y="55031"/>
                    </a:cubicBezTo>
                    <a:cubicBezTo>
                      <a:pt x="110061" y="85372"/>
                      <a:pt x="85376" y="110061"/>
                      <a:pt x="55034" y="11006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0604825" y="-3455784"/>
                <a:ext cx="100097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100097" h="100100" extrusionOk="0">
                    <a:moveTo>
                      <a:pt x="50047" y="100101"/>
                    </a:moveTo>
                    <a:cubicBezTo>
                      <a:pt x="22452" y="100101"/>
                      <a:pt x="0" y="77649"/>
                      <a:pt x="0" y="50050"/>
                    </a:cubicBezTo>
                    <a:cubicBezTo>
                      <a:pt x="0" y="22452"/>
                      <a:pt x="22452" y="0"/>
                      <a:pt x="50047" y="0"/>
                    </a:cubicBezTo>
                    <a:cubicBezTo>
                      <a:pt x="77646" y="0"/>
                      <a:pt x="100097" y="22452"/>
                      <a:pt x="100097" y="50050"/>
                    </a:cubicBezTo>
                    <a:cubicBezTo>
                      <a:pt x="100097" y="77649"/>
                      <a:pt x="77646" y="100101"/>
                      <a:pt x="50047" y="10010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19610252" y="-4183653"/>
                <a:ext cx="104094" cy="104094"/>
              </a:xfrm>
              <a:custGeom>
                <a:avLst/>
                <a:gdLst/>
                <a:ahLst/>
                <a:cxnLst/>
                <a:rect l="l" t="t" r="r" b="b"/>
                <a:pathLst>
                  <a:path w="104094" h="104094" extrusionOk="0">
                    <a:moveTo>
                      <a:pt x="52049" y="104095"/>
                    </a:moveTo>
                    <a:cubicBezTo>
                      <a:pt x="23350" y="104095"/>
                      <a:pt x="0" y="80748"/>
                      <a:pt x="0" y="52046"/>
                    </a:cubicBezTo>
                    <a:cubicBezTo>
                      <a:pt x="0" y="23347"/>
                      <a:pt x="23350" y="0"/>
                      <a:pt x="52049" y="0"/>
                    </a:cubicBezTo>
                    <a:cubicBezTo>
                      <a:pt x="80745" y="0"/>
                      <a:pt x="104095" y="23347"/>
                      <a:pt x="104095" y="52046"/>
                    </a:cubicBezTo>
                    <a:cubicBezTo>
                      <a:pt x="104095" y="80745"/>
                      <a:pt x="80745" y="104095"/>
                      <a:pt x="52049" y="10409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19929540" y="-2228388"/>
                <a:ext cx="66898" cy="66894"/>
              </a:xfrm>
              <a:custGeom>
                <a:avLst/>
                <a:gdLst/>
                <a:ahLst/>
                <a:cxnLst/>
                <a:rect l="l" t="t" r="r" b="b"/>
                <a:pathLst>
                  <a:path w="66898" h="66894" extrusionOk="0">
                    <a:moveTo>
                      <a:pt x="33451" y="66895"/>
                    </a:moveTo>
                    <a:cubicBezTo>
                      <a:pt x="15006" y="66895"/>
                      <a:pt x="0" y="51889"/>
                      <a:pt x="0" y="33447"/>
                    </a:cubicBezTo>
                    <a:cubicBezTo>
                      <a:pt x="0" y="15006"/>
                      <a:pt x="15006" y="0"/>
                      <a:pt x="33451" y="0"/>
                    </a:cubicBezTo>
                    <a:cubicBezTo>
                      <a:pt x="51892" y="0"/>
                      <a:pt x="66899" y="15006"/>
                      <a:pt x="66899" y="33447"/>
                    </a:cubicBezTo>
                    <a:cubicBezTo>
                      <a:pt x="66899" y="51889"/>
                      <a:pt x="51895" y="66895"/>
                      <a:pt x="33451" y="6689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 rot="-2700000">
                <a:off x="19335910" y="-2540883"/>
                <a:ext cx="86501" cy="86501"/>
              </a:xfrm>
              <a:custGeom>
                <a:avLst/>
                <a:gdLst/>
                <a:ahLst/>
                <a:cxnLst/>
                <a:rect l="l" t="t" r="r" b="b"/>
                <a:pathLst>
                  <a:path w="86501" h="86501" extrusionOk="0">
                    <a:moveTo>
                      <a:pt x="86501" y="43251"/>
                    </a:moveTo>
                    <a:cubicBezTo>
                      <a:pt x="86501" y="67137"/>
                      <a:pt x="67137" y="86501"/>
                      <a:pt x="43250" y="86501"/>
                    </a:cubicBezTo>
                    <a:cubicBezTo>
                      <a:pt x="19364" y="86501"/>
                      <a:pt x="0" y="67137"/>
                      <a:pt x="0" y="43251"/>
                    </a:cubicBezTo>
                    <a:cubicBezTo>
                      <a:pt x="0" y="19364"/>
                      <a:pt x="19364" y="0"/>
                      <a:pt x="43250" y="0"/>
                    </a:cubicBezTo>
                    <a:cubicBezTo>
                      <a:pt x="67137" y="0"/>
                      <a:pt x="86501" y="19364"/>
                      <a:pt x="86501" y="4325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18713019" y="-2115205"/>
                <a:ext cx="78360" cy="78360"/>
              </a:xfrm>
              <a:custGeom>
                <a:avLst/>
                <a:gdLst/>
                <a:ahLst/>
                <a:cxnLst/>
                <a:rect l="l" t="t" r="r" b="b"/>
                <a:pathLst>
                  <a:path w="78360" h="78360" extrusionOk="0">
                    <a:moveTo>
                      <a:pt x="39182" y="78361"/>
                    </a:moveTo>
                    <a:cubicBezTo>
                      <a:pt x="17576" y="78361"/>
                      <a:pt x="0" y="60785"/>
                      <a:pt x="0" y="39182"/>
                    </a:cubicBezTo>
                    <a:cubicBezTo>
                      <a:pt x="0" y="17576"/>
                      <a:pt x="17576" y="0"/>
                      <a:pt x="39182" y="0"/>
                    </a:cubicBezTo>
                    <a:cubicBezTo>
                      <a:pt x="60785" y="0"/>
                      <a:pt x="78361" y="17576"/>
                      <a:pt x="78361" y="39182"/>
                    </a:cubicBezTo>
                    <a:cubicBezTo>
                      <a:pt x="78361" y="60788"/>
                      <a:pt x="60785" y="78361"/>
                      <a:pt x="39182" y="7836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16979820" y="-1026824"/>
                <a:ext cx="85352" cy="85349"/>
              </a:xfrm>
              <a:custGeom>
                <a:avLst/>
                <a:gdLst/>
                <a:ahLst/>
                <a:cxnLst/>
                <a:rect l="l" t="t" r="r" b="b"/>
                <a:pathLst>
                  <a:path w="85352" h="85349" extrusionOk="0">
                    <a:moveTo>
                      <a:pt x="42676" y="85349"/>
                    </a:moveTo>
                    <a:cubicBezTo>
                      <a:pt x="19144" y="85349"/>
                      <a:pt x="0" y="66206"/>
                      <a:pt x="0" y="42676"/>
                    </a:cubicBezTo>
                    <a:cubicBezTo>
                      <a:pt x="0" y="19143"/>
                      <a:pt x="19144" y="0"/>
                      <a:pt x="42676" y="0"/>
                    </a:cubicBezTo>
                    <a:cubicBezTo>
                      <a:pt x="66209" y="0"/>
                      <a:pt x="85353" y="19143"/>
                      <a:pt x="85353" y="42676"/>
                    </a:cubicBezTo>
                    <a:cubicBezTo>
                      <a:pt x="85353" y="66206"/>
                      <a:pt x="66209" y="85349"/>
                      <a:pt x="42676" y="8534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15902098" y="-699168"/>
                <a:ext cx="78671" cy="78674"/>
              </a:xfrm>
              <a:custGeom>
                <a:avLst/>
                <a:gdLst/>
                <a:ahLst/>
                <a:cxnLst/>
                <a:rect l="l" t="t" r="r" b="b"/>
                <a:pathLst>
                  <a:path w="78671" h="78674" extrusionOk="0">
                    <a:moveTo>
                      <a:pt x="39335" y="78674"/>
                    </a:moveTo>
                    <a:cubicBezTo>
                      <a:pt x="17645" y="78674"/>
                      <a:pt x="0" y="61030"/>
                      <a:pt x="0" y="39339"/>
                    </a:cubicBezTo>
                    <a:cubicBezTo>
                      <a:pt x="0" y="17645"/>
                      <a:pt x="17645" y="0"/>
                      <a:pt x="39335" y="0"/>
                    </a:cubicBezTo>
                    <a:cubicBezTo>
                      <a:pt x="61026" y="0"/>
                      <a:pt x="78671" y="17645"/>
                      <a:pt x="78671" y="39339"/>
                    </a:cubicBezTo>
                    <a:cubicBezTo>
                      <a:pt x="78671" y="61030"/>
                      <a:pt x="61026" y="78674"/>
                      <a:pt x="39335" y="78674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18023483" y="-287881"/>
                <a:ext cx="58508" cy="58508"/>
              </a:xfrm>
              <a:custGeom>
                <a:avLst/>
                <a:gdLst/>
                <a:ahLst/>
                <a:cxnLst/>
                <a:rect l="l" t="t" r="r" b="b"/>
                <a:pathLst>
                  <a:path w="58508" h="58508" extrusionOk="0">
                    <a:moveTo>
                      <a:pt x="29254" y="58509"/>
                    </a:moveTo>
                    <a:cubicBezTo>
                      <a:pt x="13125" y="58509"/>
                      <a:pt x="0" y="45384"/>
                      <a:pt x="0" y="29254"/>
                    </a:cubicBezTo>
                    <a:cubicBezTo>
                      <a:pt x="0" y="13122"/>
                      <a:pt x="13121" y="0"/>
                      <a:pt x="29254" y="0"/>
                    </a:cubicBezTo>
                    <a:cubicBezTo>
                      <a:pt x="45387" y="0"/>
                      <a:pt x="58508" y="13122"/>
                      <a:pt x="58508" y="29254"/>
                    </a:cubicBezTo>
                    <a:cubicBezTo>
                      <a:pt x="58508" y="45384"/>
                      <a:pt x="45387" y="58509"/>
                      <a:pt x="29254" y="5850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2700000">
                <a:off x="16927602" y="-473760"/>
                <a:ext cx="104325" cy="104325"/>
              </a:xfrm>
              <a:custGeom>
                <a:avLst/>
                <a:gdLst/>
                <a:ahLst/>
                <a:cxnLst/>
                <a:rect l="l" t="t" r="r" b="b"/>
                <a:pathLst>
                  <a:path w="104325" h="104325" extrusionOk="0">
                    <a:moveTo>
                      <a:pt x="104326" y="52163"/>
                    </a:moveTo>
                    <a:cubicBezTo>
                      <a:pt x="104326" y="80971"/>
                      <a:pt x="80971" y="104325"/>
                      <a:pt x="52163" y="104325"/>
                    </a:cubicBezTo>
                    <a:cubicBezTo>
                      <a:pt x="23354" y="104325"/>
                      <a:pt x="0" y="80971"/>
                      <a:pt x="0" y="52163"/>
                    </a:cubicBezTo>
                    <a:cubicBezTo>
                      <a:pt x="0" y="23354"/>
                      <a:pt x="23354" y="0"/>
                      <a:pt x="52163" y="0"/>
                    </a:cubicBezTo>
                    <a:cubicBezTo>
                      <a:pt x="80971" y="0"/>
                      <a:pt x="104326" y="23354"/>
                      <a:pt x="104326" y="52163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16129013" y="-29014"/>
                <a:ext cx="100505" cy="100508"/>
              </a:xfrm>
              <a:custGeom>
                <a:avLst/>
                <a:gdLst/>
                <a:ahLst/>
                <a:cxnLst/>
                <a:rect l="l" t="t" r="r" b="b"/>
                <a:pathLst>
                  <a:path w="100505" h="100508" extrusionOk="0">
                    <a:moveTo>
                      <a:pt x="50253" y="100509"/>
                    </a:moveTo>
                    <a:cubicBezTo>
                      <a:pt x="22543" y="100509"/>
                      <a:pt x="0" y="77966"/>
                      <a:pt x="0" y="50256"/>
                    </a:cubicBezTo>
                    <a:cubicBezTo>
                      <a:pt x="0" y="22546"/>
                      <a:pt x="22543" y="0"/>
                      <a:pt x="50253" y="0"/>
                    </a:cubicBezTo>
                    <a:cubicBezTo>
                      <a:pt x="77962" y="0"/>
                      <a:pt x="100506" y="22543"/>
                      <a:pt x="100506" y="50256"/>
                    </a:cubicBezTo>
                    <a:cubicBezTo>
                      <a:pt x="100506" y="77966"/>
                      <a:pt x="77962" y="100509"/>
                      <a:pt x="50253" y="10050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 rot="-2075469">
                <a:off x="16524207" y="-573984"/>
                <a:ext cx="56671" cy="56671"/>
              </a:xfrm>
              <a:custGeom>
                <a:avLst/>
                <a:gdLst/>
                <a:ahLst/>
                <a:cxnLst/>
                <a:rect l="l" t="t" r="r" b="b"/>
                <a:pathLst>
                  <a:path w="56671" h="56671" extrusionOk="0">
                    <a:moveTo>
                      <a:pt x="56671" y="28336"/>
                    </a:moveTo>
                    <a:cubicBezTo>
                      <a:pt x="56671" y="43985"/>
                      <a:pt x="43985" y="56672"/>
                      <a:pt x="28336" y="56672"/>
                    </a:cubicBezTo>
                    <a:cubicBezTo>
                      <a:pt x="12686" y="56672"/>
                      <a:pt x="0" y="43985"/>
                      <a:pt x="0" y="28336"/>
                    </a:cubicBezTo>
                    <a:cubicBezTo>
                      <a:pt x="0" y="12687"/>
                      <a:pt x="12686" y="0"/>
                      <a:pt x="28336" y="0"/>
                    </a:cubicBezTo>
                    <a:cubicBezTo>
                      <a:pt x="43985" y="0"/>
                      <a:pt x="56671" y="12686"/>
                      <a:pt x="56671" y="2833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16616535" y="-1325245"/>
                <a:ext cx="98418" cy="98418"/>
              </a:xfrm>
              <a:custGeom>
                <a:avLst/>
                <a:gdLst/>
                <a:ahLst/>
                <a:cxnLst/>
                <a:rect l="l" t="t" r="r" b="b"/>
                <a:pathLst>
                  <a:path w="98418" h="98418" extrusionOk="0">
                    <a:moveTo>
                      <a:pt x="49211" y="98419"/>
                    </a:moveTo>
                    <a:cubicBezTo>
                      <a:pt x="22076" y="98419"/>
                      <a:pt x="0" y="76342"/>
                      <a:pt x="0" y="49208"/>
                    </a:cubicBezTo>
                    <a:cubicBezTo>
                      <a:pt x="0" y="22073"/>
                      <a:pt x="22076" y="0"/>
                      <a:pt x="49211" y="0"/>
                    </a:cubicBezTo>
                    <a:cubicBezTo>
                      <a:pt x="76346" y="0"/>
                      <a:pt x="98419" y="22076"/>
                      <a:pt x="98419" y="49208"/>
                    </a:cubicBezTo>
                    <a:cubicBezTo>
                      <a:pt x="98419" y="76346"/>
                      <a:pt x="76346" y="98419"/>
                      <a:pt x="49211" y="9841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17472681" y="-1993397"/>
                <a:ext cx="72590" cy="72586"/>
              </a:xfrm>
              <a:custGeom>
                <a:avLst/>
                <a:gdLst/>
                <a:ahLst/>
                <a:cxnLst/>
                <a:rect l="l" t="t" r="r" b="b"/>
                <a:pathLst>
                  <a:path w="72590" h="72586" extrusionOk="0">
                    <a:moveTo>
                      <a:pt x="36295" y="72587"/>
                    </a:moveTo>
                    <a:cubicBezTo>
                      <a:pt x="16283" y="72587"/>
                      <a:pt x="0" y="56304"/>
                      <a:pt x="0" y="36292"/>
                    </a:cubicBezTo>
                    <a:cubicBezTo>
                      <a:pt x="0" y="16280"/>
                      <a:pt x="16283" y="0"/>
                      <a:pt x="36295" y="0"/>
                    </a:cubicBezTo>
                    <a:cubicBezTo>
                      <a:pt x="56307" y="0"/>
                      <a:pt x="72590" y="16280"/>
                      <a:pt x="72590" y="36292"/>
                    </a:cubicBezTo>
                    <a:cubicBezTo>
                      <a:pt x="72590" y="56304"/>
                      <a:pt x="56304" y="72587"/>
                      <a:pt x="36295" y="72587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0558079" y="-2745778"/>
                <a:ext cx="107095" cy="107095"/>
              </a:xfrm>
              <a:custGeom>
                <a:avLst/>
                <a:gdLst/>
                <a:ahLst/>
                <a:cxnLst/>
                <a:rect l="l" t="t" r="r" b="b"/>
                <a:pathLst>
                  <a:path w="107095" h="107095" extrusionOk="0">
                    <a:moveTo>
                      <a:pt x="53548" y="107096"/>
                    </a:moveTo>
                    <a:cubicBezTo>
                      <a:pt x="24019" y="107096"/>
                      <a:pt x="0" y="83076"/>
                      <a:pt x="0" y="53551"/>
                    </a:cubicBezTo>
                    <a:cubicBezTo>
                      <a:pt x="0" y="24022"/>
                      <a:pt x="24019" y="0"/>
                      <a:pt x="53548" y="0"/>
                    </a:cubicBezTo>
                    <a:cubicBezTo>
                      <a:pt x="83076" y="0"/>
                      <a:pt x="107096" y="24022"/>
                      <a:pt x="107096" y="53551"/>
                    </a:cubicBezTo>
                    <a:cubicBezTo>
                      <a:pt x="107099" y="83076"/>
                      <a:pt x="83076" y="107096"/>
                      <a:pt x="53548" y="10709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0749241" y="-4435671"/>
                <a:ext cx="70715" cy="70718"/>
              </a:xfrm>
              <a:custGeom>
                <a:avLst/>
                <a:gdLst/>
                <a:ahLst/>
                <a:cxnLst/>
                <a:rect l="l" t="t" r="r" b="b"/>
                <a:pathLst>
                  <a:path w="70715" h="70718" extrusionOk="0">
                    <a:moveTo>
                      <a:pt x="35358" y="70719"/>
                    </a:moveTo>
                    <a:cubicBezTo>
                      <a:pt x="15861" y="70719"/>
                      <a:pt x="0" y="54857"/>
                      <a:pt x="0" y="35358"/>
                    </a:cubicBezTo>
                    <a:cubicBezTo>
                      <a:pt x="0" y="15862"/>
                      <a:pt x="15861" y="0"/>
                      <a:pt x="35358" y="0"/>
                    </a:cubicBezTo>
                    <a:cubicBezTo>
                      <a:pt x="54854" y="0"/>
                      <a:pt x="70716" y="15862"/>
                      <a:pt x="70716" y="35358"/>
                    </a:cubicBezTo>
                    <a:cubicBezTo>
                      <a:pt x="70716" y="54857"/>
                      <a:pt x="54854" y="70719"/>
                      <a:pt x="35358" y="7071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0379543" y="-4848265"/>
                <a:ext cx="82586" cy="82583"/>
              </a:xfrm>
              <a:custGeom>
                <a:avLst/>
                <a:gdLst/>
                <a:ahLst/>
                <a:cxnLst/>
                <a:rect l="l" t="t" r="r" b="b"/>
                <a:pathLst>
                  <a:path w="82586" h="82583" extrusionOk="0">
                    <a:moveTo>
                      <a:pt x="41292" y="82583"/>
                    </a:moveTo>
                    <a:cubicBezTo>
                      <a:pt x="18523" y="82583"/>
                      <a:pt x="0" y="64060"/>
                      <a:pt x="0" y="41292"/>
                    </a:cubicBezTo>
                    <a:cubicBezTo>
                      <a:pt x="0" y="18523"/>
                      <a:pt x="18523" y="0"/>
                      <a:pt x="41292" y="0"/>
                    </a:cubicBezTo>
                    <a:cubicBezTo>
                      <a:pt x="64064" y="0"/>
                      <a:pt x="82587" y="18523"/>
                      <a:pt x="82587" y="41292"/>
                    </a:cubicBezTo>
                    <a:cubicBezTo>
                      <a:pt x="82587" y="64060"/>
                      <a:pt x="64064" y="82583"/>
                      <a:pt x="41292" y="82583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1295089" y="-5502021"/>
                <a:ext cx="58782" cy="58782"/>
              </a:xfrm>
              <a:custGeom>
                <a:avLst/>
                <a:gdLst/>
                <a:ahLst/>
                <a:cxnLst/>
                <a:rect l="l" t="t" r="r" b="b"/>
                <a:pathLst>
                  <a:path w="58782" h="58782" extrusionOk="0">
                    <a:moveTo>
                      <a:pt x="58783" y="29391"/>
                    </a:moveTo>
                    <a:cubicBezTo>
                      <a:pt x="58783" y="45624"/>
                      <a:pt x="45624" y="58783"/>
                      <a:pt x="29392" y="58783"/>
                    </a:cubicBezTo>
                    <a:cubicBezTo>
                      <a:pt x="13159" y="58783"/>
                      <a:pt x="0" y="45624"/>
                      <a:pt x="0" y="29391"/>
                    </a:cubicBezTo>
                    <a:cubicBezTo>
                      <a:pt x="0" y="13159"/>
                      <a:pt x="13159" y="0"/>
                      <a:pt x="29392" y="0"/>
                    </a:cubicBezTo>
                    <a:cubicBezTo>
                      <a:pt x="45624" y="0"/>
                      <a:pt x="58783" y="13159"/>
                      <a:pt x="58783" y="2939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15700120" y="35290"/>
                <a:ext cx="72404" cy="72404"/>
              </a:xfrm>
              <a:custGeom>
                <a:avLst/>
                <a:gdLst/>
                <a:ahLst/>
                <a:cxnLst/>
                <a:rect l="l" t="t" r="r" b="b"/>
                <a:pathLst>
                  <a:path w="72404" h="72404" extrusionOk="0">
                    <a:moveTo>
                      <a:pt x="36201" y="72404"/>
                    </a:moveTo>
                    <a:cubicBezTo>
                      <a:pt x="16240" y="72404"/>
                      <a:pt x="0" y="56164"/>
                      <a:pt x="0" y="36204"/>
                    </a:cubicBezTo>
                    <a:cubicBezTo>
                      <a:pt x="0" y="16240"/>
                      <a:pt x="16240" y="0"/>
                      <a:pt x="36201" y="0"/>
                    </a:cubicBezTo>
                    <a:cubicBezTo>
                      <a:pt x="56164" y="0"/>
                      <a:pt x="72404" y="16240"/>
                      <a:pt x="72404" y="36204"/>
                    </a:cubicBezTo>
                    <a:cubicBezTo>
                      <a:pt x="72404" y="56167"/>
                      <a:pt x="56164" y="72404"/>
                      <a:pt x="36201" y="72404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9696104" y="-1272654"/>
                <a:ext cx="58103" cy="58103"/>
              </a:xfrm>
              <a:custGeom>
                <a:avLst/>
                <a:gdLst/>
                <a:ahLst/>
                <a:cxnLst/>
                <a:rect l="l" t="t" r="r" b="b"/>
                <a:pathLst>
                  <a:path w="58103" h="58103" extrusionOk="0">
                    <a:moveTo>
                      <a:pt x="58104" y="29052"/>
                    </a:moveTo>
                    <a:cubicBezTo>
                      <a:pt x="58104" y="45097"/>
                      <a:pt x="45096" y="58104"/>
                      <a:pt x="29052" y="58104"/>
                    </a:cubicBezTo>
                    <a:cubicBezTo>
                      <a:pt x="13007" y="58104"/>
                      <a:pt x="0" y="45097"/>
                      <a:pt x="0" y="29052"/>
                    </a:cubicBezTo>
                    <a:cubicBezTo>
                      <a:pt x="0" y="13007"/>
                      <a:pt x="13007" y="0"/>
                      <a:pt x="29052" y="0"/>
                    </a:cubicBezTo>
                    <a:cubicBezTo>
                      <a:pt x="45096" y="0"/>
                      <a:pt x="58104" y="13007"/>
                      <a:pt x="58104" y="29052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-4858032">
                <a:off x="17571250" y="-1448226"/>
                <a:ext cx="93321" cy="93321"/>
              </a:xfrm>
              <a:custGeom>
                <a:avLst/>
                <a:gdLst/>
                <a:ahLst/>
                <a:cxnLst/>
                <a:rect l="l" t="t" r="r" b="b"/>
                <a:pathLst>
                  <a:path w="93321" h="93321" extrusionOk="0">
                    <a:moveTo>
                      <a:pt x="93321" y="46660"/>
                    </a:moveTo>
                    <a:cubicBezTo>
                      <a:pt x="93321" y="72430"/>
                      <a:pt x="72430" y="93321"/>
                      <a:pt x="46661" y="93321"/>
                    </a:cubicBezTo>
                    <a:cubicBezTo>
                      <a:pt x="20891" y="93321"/>
                      <a:pt x="0" y="72430"/>
                      <a:pt x="0" y="46660"/>
                    </a:cubicBezTo>
                    <a:cubicBezTo>
                      <a:pt x="0" y="20891"/>
                      <a:pt x="20891" y="0"/>
                      <a:pt x="46661" y="0"/>
                    </a:cubicBezTo>
                    <a:cubicBezTo>
                      <a:pt x="72430" y="0"/>
                      <a:pt x="93321" y="20891"/>
                      <a:pt x="93321" y="46660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16467785" y="-1784763"/>
                <a:ext cx="84941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84941" h="84941" extrusionOk="0">
                    <a:moveTo>
                      <a:pt x="84941" y="42471"/>
                    </a:moveTo>
                    <a:cubicBezTo>
                      <a:pt x="84941" y="65927"/>
                      <a:pt x="65927" y="84941"/>
                      <a:pt x="42471" y="84941"/>
                    </a:cubicBezTo>
                    <a:cubicBezTo>
                      <a:pt x="19015" y="84941"/>
                      <a:pt x="0" y="65927"/>
                      <a:pt x="0" y="42471"/>
                    </a:cubicBezTo>
                    <a:cubicBezTo>
                      <a:pt x="0" y="19015"/>
                      <a:pt x="19015" y="0"/>
                      <a:pt x="42471" y="0"/>
                    </a:cubicBezTo>
                    <a:cubicBezTo>
                      <a:pt x="65926" y="0"/>
                      <a:pt x="84941" y="19015"/>
                      <a:pt x="84941" y="4247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20621522" y="-1687752"/>
                <a:ext cx="88317" cy="88314"/>
              </a:xfrm>
              <a:custGeom>
                <a:avLst/>
                <a:gdLst/>
                <a:ahLst/>
                <a:cxnLst/>
                <a:rect l="l" t="t" r="r" b="b"/>
                <a:pathLst>
                  <a:path w="88317" h="88314" extrusionOk="0">
                    <a:moveTo>
                      <a:pt x="44159" y="88315"/>
                    </a:moveTo>
                    <a:cubicBezTo>
                      <a:pt x="19810" y="88315"/>
                      <a:pt x="0" y="68505"/>
                      <a:pt x="0" y="44156"/>
                    </a:cubicBezTo>
                    <a:cubicBezTo>
                      <a:pt x="0" y="19807"/>
                      <a:pt x="19810" y="0"/>
                      <a:pt x="44159" y="0"/>
                    </a:cubicBezTo>
                    <a:cubicBezTo>
                      <a:pt x="68508" y="0"/>
                      <a:pt x="88318" y="19807"/>
                      <a:pt x="88318" y="44156"/>
                    </a:cubicBezTo>
                    <a:cubicBezTo>
                      <a:pt x="88318" y="68505"/>
                      <a:pt x="68508" y="88315"/>
                      <a:pt x="44159" y="8831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3" name="Google Shape;53;p3"/>
            <p:cNvGrpSpPr/>
            <p:nvPr/>
          </p:nvGrpSpPr>
          <p:grpSpPr>
            <a:xfrm>
              <a:off x="15063802" y="-5771526"/>
              <a:ext cx="6097452" cy="5867362"/>
              <a:chOff x="15063802" y="-5771526"/>
              <a:chExt cx="6097452" cy="5867362"/>
            </a:xfrm>
          </p:grpSpPr>
          <p:sp>
            <p:nvSpPr>
              <p:cNvPr id="54" name="Google Shape;54;p3"/>
              <p:cNvSpPr/>
              <p:nvPr/>
            </p:nvSpPr>
            <p:spPr>
              <a:xfrm rot="-1340452">
                <a:off x="17636846" y="-135934"/>
                <a:ext cx="72574" cy="72574"/>
              </a:xfrm>
              <a:custGeom>
                <a:avLst/>
                <a:gdLst/>
                <a:ahLst/>
                <a:cxnLst/>
                <a:rect l="l" t="t" r="r" b="b"/>
                <a:pathLst>
                  <a:path w="72574" h="72574" extrusionOk="0">
                    <a:moveTo>
                      <a:pt x="72574" y="36287"/>
                    </a:moveTo>
                    <a:cubicBezTo>
                      <a:pt x="72574" y="56328"/>
                      <a:pt x="56328" y="72574"/>
                      <a:pt x="36287" y="72574"/>
                    </a:cubicBezTo>
                    <a:cubicBezTo>
                      <a:pt x="16246" y="72574"/>
                      <a:pt x="0" y="56328"/>
                      <a:pt x="0" y="36287"/>
                    </a:cubicBezTo>
                    <a:cubicBezTo>
                      <a:pt x="0" y="16246"/>
                      <a:pt x="16246" y="0"/>
                      <a:pt x="36287" y="0"/>
                    </a:cubicBezTo>
                    <a:cubicBezTo>
                      <a:pt x="56328" y="0"/>
                      <a:pt x="72574" y="16246"/>
                      <a:pt x="72574" y="36287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 rot="-2700000">
                <a:off x="17617848" y="-884557"/>
                <a:ext cx="110758" cy="110758"/>
              </a:xfrm>
              <a:custGeom>
                <a:avLst/>
                <a:gdLst/>
                <a:ahLst/>
                <a:cxnLst/>
                <a:rect l="l" t="t" r="r" b="b"/>
                <a:pathLst>
                  <a:path w="110758" h="110758" extrusionOk="0">
                    <a:moveTo>
                      <a:pt x="110759" y="55379"/>
                    </a:moveTo>
                    <a:cubicBezTo>
                      <a:pt x="110759" y="85964"/>
                      <a:pt x="85965" y="110759"/>
                      <a:pt x="55379" y="110759"/>
                    </a:cubicBezTo>
                    <a:cubicBezTo>
                      <a:pt x="24794" y="110759"/>
                      <a:pt x="0" y="85964"/>
                      <a:pt x="0" y="55379"/>
                    </a:cubicBezTo>
                    <a:cubicBezTo>
                      <a:pt x="0" y="24794"/>
                      <a:pt x="24794" y="0"/>
                      <a:pt x="55379" y="0"/>
                    </a:cubicBezTo>
                    <a:cubicBezTo>
                      <a:pt x="85965" y="0"/>
                      <a:pt x="110759" y="24794"/>
                      <a:pt x="110759" y="5537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-2700000">
                <a:off x="16425755" y="-1262823"/>
                <a:ext cx="103012" cy="103012"/>
              </a:xfrm>
              <a:custGeom>
                <a:avLst/>
                <a:gdLst/>
                <a:ahLst/>
                <a:cxnLst/>
                <a:rect l="l" t="t" r="r" b="b"/>
                <a:pathLst>
                  <a:path w="103012" h="103012" extrusionOk="0">
                    <a:moveTo>
                      <a:pt x="103013" y="51506"/>
                    </a:moveTo>
                    <a:cubicBezTo>
                      <a:pt x="103013" y="79953"/>
                      <a:pt x="79952" y="103012"/>
                      <a:pt x="51506" y="103012"/>
                    </a:cubicBezTo>
                    <a:cubicBezTo>
                      <a:pt x="23060" y="103012"/>
                      <a:pt x="0" y="79952"/>
                      <a:pt x="0" y="51506"/>
                    </a:cubicBezTo>
                    <a:cubicBezTo>
                      <a:pt x="0" y="23060"/>
                      <a:pt x="23060" y="0"/>
                      <a:pt x="51506" y="0"/>
                    </a:cubicBezTo>
                    <a:cubicBezTo>
                      <a:pt x="79952" y="0"/>
                      <a:pt x="103013" y="23060"/>
                      <a:pt x="103013" y="5150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-1350026">
                <a:off x="18286541" y="-999113"/>
                <a:ext cx="97621" cy="97621"/>
              </a:xfrm>
              <a:custGeom>
                <a:avLst/>
                <a:gdLst/>
                <a:ahLst/>
                <a:cxnLst/>
                <a:rect l="l" t="t" r="r" b="b"/>
                <a:pathLst>
                  <a:path w="97621" h="97621" extrusionOk="0">
                    <a:moveTo>
                      <a:pt x="97621" y="48811"/>
                    </a:moveTo>
                    <a:cubicBezTo>
                      <a:pt x="97621" y="75768"/>
                      <a:pt x="75768" y="97622"/>
                      <a:pt x="48811" y="97622"/>
                    </a:cubicBezTo>
                    <a:cubicBezTo>
                      <a:pt x="21853" y="97622"/>
                      <a:pt x="0" y="75768"/>
                      <a:pt x="0" y="48811"/>
                    </a:cubicBezTo>
                    <a:cubicBezTo>
                      <a:pt x="0" y="21854"/>
                      <a:pt x="21853" y="0"/>
                      <a:pt x="48811" y="0"/>
                    </a:cubicBezTo>
                    <a:cubicBezTo>
                      <a:pt x="75768" y="0"/>
                      <a:pt x="97621" y="21853"/>
                      <a:pt x="97621" y="48811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-4597597">
                <a:off x="17188328" y="-1401374"/>
                <a:ext cx="99449" cy="99449"/>
              </a:xfrm>
              <a:custGeom>
                <a:avLst/>
                <a:gdLst/>
                <a:ahLst/>
                <a:cxnLst/>
                <a:rect l="l" t="t" r="r" b="b"/>
                <a:pathLst>
                  <a:path w="99449" h="99449" extrusionOk="0">
                    <a:moveTo>
                      <a:pt x="99449" y="49725"/>
                    </a:moveTo>
                    <a:cubicBezTo>
                      <a:pt x="99449" y="77187"/>
                      <a:pt x="77187" y="99449"/>
                      <a:pt x="49725" y="99449"/>
                    </a:cubicBezTo>
                    <a:cubicBezTo>
                      <a:pt x="22262" y="99449"/>
                      <a:pt x="0" y="77187"/>
                      <a:pt x="0" y="49725"/>
                    </a:cubicBezTo>
                    <a:cubicBezTo>
                      <a:pt x="0" y="22263"/>
                      <a:pt x="22262" y="0"/>
                      <a:pt x="49725" y="0"/>
                    </a:cubicBezTo>
                    <a:cubicBezTo>
                      <a:pt x="77187" y="0"/>
                      <a:pt x="99449" y="22263"/>
                      <a:pt x="99449" y="4972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8337808" y="-2054668"/>
                <a:ext cx="92380" cy="92380"/>
              </a:xfrm>
              <a:custGeom>
                <a:avLst/>
                <a:gdLst/>
                <a:ahLst/>
                <a:cxnLst/>
                <a:rect l="l" t="t" r="r" b="b"/>
                <a:pathLst>
                  <a:path w="92380" h="92380" extrusionOk="0">
                    <a:moveTo>
                      <a:pt x="92381" y="46190"/>
                    </a:moveTo>
                    <a:cubicBezTo>
                      <a:pt x="92381" y="71701"/>
                      <a:pt x="71701" y="92381"/>
                      <a:pt x="46190" y="92381"/>
                    </a:cubicBezTo>
                    <a:cubicBezTo>
                      <a:pt x="20680" y="92381"/>
                      <a:pt x="0" y="71701"/>
                      <a:pt x="0" y="46190"/>
                    </a:cubicBezTo>
                    <a:cubicBezTo>
                      <a:pt x="0" y="20680"/>
                      <a:pt x="20680" y="0"/>
                      <a:pt x="46190" y="0"/>
                    </a:cubicBezTo>
                    <a:cubicBezTo>
                      <a:pt x="71701" y="0"/>
                      <a:pt x="92381" y="20680"/>
                      <a:pt x="92381" y="46190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9644" y="-2876583"/>
                <a:ext cx="99898" cy="99898"/>
              </a:xfrm>
              <a:custGeom>
                <a:avLst/>
                <a:gdLst/>
                <a:ahLst/>
                <a:cxnLst/>
                <a:rect l="l" t="t" r="r" b="b"/>
                <a:pathLst>
                  <a:path w="99898" h="99898" extrusionOk="0">
                    <a:moveTo>
                      <a:pt x="99898" y="49949"/>
                    </a:moveTo>
                    <a:cubicBezTo>
                      <a:pt x="99898" y="77535"/>
                      <a:pt x="77535" y="99898"/>
                      <a:pt x="49949" y="99898"/>
                    </a:cubicBezTo>
                    <a:cubicBezTo>
                      <a:pt x="22363" y="99898"/>
                      <a:pt x="0" y="77535"/>
                      <a:pt x="0" y="49949"/>
                    </a:cubicBezTo>
                    <a:cubicBezTo>
                      <a:pt x="0" y="22363"/>
                      <a:pt x="22363" y="0"/>
                      <a:pt x="49949" y="0"/>
                    </a:cubicBezTo>
                    <a:cubicBezTo>
                      <a:pt x="77535" y="0"/>
                      <a:pt x="99898" y="22363"/>
                      <a:pt x="99898" y="4994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-4602852">
                <a:off x="20160745" y="-3769755"/>
                <a:ext cx="92540" cy="92540"/>
              </a:xfrm>
              <a:custGeom>
                <a:avLst/>
                <a:gdLst/>
                <a:ahLst/>
                <a:cxnLst/>
                <a:rect l="l" t="t" r="r" b="b"/>
                <a:pathLst>
                  <a:path w="92540" h="92540" extrusionOk="0">
                    <a:moveTo>
                      <a:pt x="92540" y="46270"/>
                    </a:moveTo>
                    <a:cubicBezTo>
                      <a:pt x="92540" y="71825"/>
                      <a:pt x="71825" y="92541"/>
                      <a:pt x="46270" y="92541"/>
                    </a:cubicBezTo>
                    <a:cubicBezTo>
                      <a:pt x="20716" y="92541"/>
                      <a:pt x="0" y="71825"/>
                      <a:pt x="0" y="46270"/>
                    </a:cubicBezTo>
                    <a:cubicBezTo>
                      <a:pt x="0" y="20716"/>
                      <a:pt x="20716" y="0"/>
                      <a:pt x="46270" y="0"/>
                    </a:cubicBezTo>
                    <a:cubicBezTo>
                      <a:pt x="71825" y="0"/>
                      <a:pt x="92540" y="20716"/>
                      <a:pt x="92540" y="46270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19586918" y="-3132491"/>
                <a:ext cx="101909" cy="101909"/>
              </a:xfrm>
              <a:custGeom>
                <a:avLst/>
                <a:gdLst/>
                <a:ahLst/>
                <a:cxnLst/>
                <a:rect l="l" t="t" r="r" b="b"/>
                <a:pathLst>
                  <a:path w="101909" h="101909" extrusionOk="0">
                    <a:moveTo>
                      <a:pt x="101910" y="50955"/>
                    </a:moveTo>
                    <a:cubicBezTo>
                      <a:pt x="101910" y="79097"/>
                      <a:pt x="79096" y="101910"/>
                      <a:pt x="50955" y="101910"/>
                    </a:cubicBezTo>
                    <a:cubicBezTo>
                      <a:pt x="22813" y="101910"/>
                      <a:pt x="0" y="79097"/>
                      <a:pt x="0" y="50955"/>
                    </a:cubicBezTo>
                    <a:cubicBezTo>
                      <a:pt x="0" y="22813"/>
                      <a:pt x="22813" y="0"/>
                      <a:pt x="50955" y="0"/>
                    </a:cubicBezTo>
                    <a:cubicBezTo>
                      <a:pt x="79096" y="0"/>
                      <a:pt x="101910" y="22813"/>
                      <a:pt x="101910" y="5095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 rot="-1350026">
                <a:off x="19584675" y="-2505647"/>
                <a:ext cx="106726" cy="106726"/>
              </a:xfrm>
              <a:custGeom>
                <a:avLst/>
                <a:gdLst/>
                <a:ahLst/>
                <a:cxnLst/>
                <a:rect l="l" t="t" r="r" b="b"/>
                <a:pathLst>
                  <a:path w="106726" h="106726" extrusionOk="0">
                    <a:moveTo>
                      <a:pt x="106726" y="53363"/>
                    </a:moveTo>
                    <a:cubicBezTo>
                      <a:pt x="106726" y="82835"/>
                      <a:pt x="82835" y="106726"/>
                      <a:pt x="53363" y="106726"/>
                    </a:cubicBezTo>
                    <a:cubicBezTo>
                      <a:pt x="23892" y="106726"/>
                      <a:pt x="0" y="82835"/>
                      <a:pt x="0" y="53363"/>
                    </a:cubicBezTo>
                    <a:cubicBezTo>
                      <a:pt x="0" y="23892"/>
                      <a:pt x="23892" y="0"/>
                      <a:pt x="53363" y="0"/>
                    </a:cubicBezTo>
                    <a:cubicBezTo>
                      <a:pt x="82835" y="0"/>
                      <a:pt x="106726" y="23892"/>
                      <a:pt x="106726" y="53363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rot="-1350026">
                <a:off x="19729277" y="-3920024"/>
                <a:ext cx="98555" cy="98555"/>
              </a:xfrm>
              <a:custGeom>
                <a:avLst/>
                <a:gdLst/>
                <a:ahLst/>
                <a:cxnLst/>
                <a:rect l="l" t="t" r="r" b="b"/>
                <a:pathLst>
                  <a:path w="98555" h="98555" extrusionOk="0">
                    <a:moveTo>
                      <a:pt x="98555" y="49278"/>
                    </a:moveTo>
                    <a:cubicBezTo>
                      <a:pt x="98555" y="76493"/>
                      <a:pt x="76493" y="98555"/>
                      <a:pt x="49278" y="98555"/>
                    </a:cubicBezTo>
                    <a:cubicBezTo>
                      <a:pt x="22063" y="98555"/>
                      <a:pt x="0" y="76493"/>
                      <a:pt x="0" y="49278"/>
                    </a:cubicBezTo>
                    <a:cubicBezTo>
                      <a:pt x="0" y="22062"/>
                      <a:pt x="22063" y="0"/>
                      <a:pt x="49278" y="0"/>
                    </a:cubicBezTo>
                    <a:cubicBezTo>
                      <a:pt x="76493" y="0"/>
                      <a:pt x="98555" y="22062"/>
                      <a:pt x="98555" y="49278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19086529" y="-3174717"/>
                <a:ext cx="84451" cy="84451"/>
              </a:xfrm>
              <a:custGeom>
                <a:avLst/>
                <a:gdLst/>
                <a:ahLst/>
                <a:cxnLst/>
                <a:rect l="l" t="t" r="r" b="b"/>
                <a:pathLst>
                  <a:path w="84451" h="84451" extrusionOk="0">
                    <a:moveTo>
                      <a:pt x="84452" y="42226"/>
                    </a:moveTo>
                    <a:cubicBezTo>
                      <a:pt x="84452" y="65546"/>
                      <a:pt x="65546" y="84451"/>
                      <a:pt x="42226" y="84451"/>
                    </a:cubicBezTo>
                    <a:cubicBezTo>
                      <a:pt x="18905" y="84451"/>
                      <a:pt x="0" y="65546"/>
                      <a:pt x="0" y="42226"/>
                    </a:cubicBezTo>
                    <a:cubicBezTo>
                      <a:pt x="0" y="18905"/>
                      <a:pt x="18905" y="0"/>
                      <a:pt x="42226" y="0"/>
                    </a:cubicBezTo>
                    <a:cubicBezTo>
                      <a:pt x="65546" y="0"/>
                      <a:pt x="84452" y="18905"/>
                      <a:pt x="84452" y="4222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0074783" y="-2060883"/>
                <a:ext cx="85836" cy="85836"/>
              </a:xfrm>
              <a:custGeom>
                <a:avLst/>
                <a:gdLst/>
                <a:ahLst/>
                <a:cxnLst/>
                <a:rect l="l" t="t" r="r" b="b"/>
                <a:pathLst>
                  <a:path w="85836" h="85836" extrusionOk="0">
                    <a:moveTo>
                      <a:pt x="85836" y="42918"/>
                    </a:moveTo>
                    <a:cubicBezTo>
                      <a:pt x="85836" y="66621"/>
                      <a:pt x="66621" y="85836"/>
                      <a:pt x="42918" y="85836"/>
                    </a:cubicBezTo>
                    <a:cubicBezTo>
                      <a:pt x="19215" y="85836"/>
                      <a:pt x="0" y="66621"/>
                      <a:pt x="0" y="42918"/>
                    </a:cubicBezTo>
                    <a:cubicBezTo>
                      <a:pt x="0" y="19215"/>
                      <a:pt x="19215" y="0"/>
                      <a:pt x="42918" y="0"/>
                    </a:cubicBezTo>
                    <a:cubicBezTo>
                      <a:pt x="66621" y="0"/>
                      <a:pt x="85836" y="19215"/>
                      <a:pt x="85836" y="42918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 rot="-4608856">
                <a:off x="17224408" y="-1873014"/>
                <a:ext cx="113270" cy="113270"/>
              </a:xfrm>
              <a:custGeom>
                <a:avLst/>
                <a:gdLst/>
                <a:ahLst/>
                <a:cxnLst/>
                <a:rect l="l" t="t" r="r" b="b"/>
                <a:pathLst>
                  <a:path w="113270" h="113270" extrusionOk="0">
                    <a:moveTo>
                      <a:pt x="113270" y="56635"/>
                    </a:moveTo>
                    <a:cubicBezTo>
                      <a:pt x="113270" y="87914"/>
                      <a:pt x="87914" y="113271"/>
                      <a:pt x="56635" y="113271"/>
                    </a:cubicBezTo>
                    <a:cubicBezTo>
                      <a:pt x="25356" y="113271"/>
                      <a:pt x="0" y="87914"/>
                      <a:pt x="0" y="56635"/>
                    </a:cubicBezTo>
                    <a:cubicBezTo>
                      <a:pt x="0" y="25357"/>
                      <a:pt x="25356" y="0"/>
                      <a:pt x="56635" y="0"/>
                    </a:cubicBezTo>
                    <a:cubicBezTo>
                      <a:pt x="87914" y="0"/>
                      <a:pt x="113270" y="25357"/>
                      <a:pt x="113270" y="5663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 rot="-2700000">
                <a:off x="15551003" y="-1035391"/>
                <a:ext cx="72387" cy="72387"/>
              </a:xfrm>
              <a:custGeom>
                <a:avLst/>
                <a:gdLst/>
                <a:ahLst/>
                <a:cxnLst/>
                <a:rect l="l" t="t" r="r" b="b"/>
                <a:pathLst>
                  <a:path w="72387" h="72387" extrusionOk="0">
                    <a:moveTo>
                      <a:pt x="72387" y="36194"/>
                    </a:moveTo>
                    <a:cubicBezTo>
                      <a:pt x="72387" y="56183"/>
                      <a:pt x="56183" y="72387"/>
                      <a:pt x="36194" y="72387"/>
                    </a:cubicBezTo>
                    <a:cubicBezTo>
                      <a:pt x="16204" y="72387"/>
                      <a:pt x="0" y="56183"/>
                      <a:pt x="0" y="36194"/>
                    </a:cubicBezTo>
                    <a:cubicBezTo>
                      <a:pt x="0" y="16204"/>
                      <a:pt x="16204" y="0"/>
                      <a:pt x="36194" y="0"/>
                    </a:cubicBezTo>
                    <a:cubicBezTo>
                      <a:pt x="56183" y="0"/>
                      <a:pt x="72387" y="16204"/>
                      <a:pt x="72387" y="36194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 rot="-2700000">
                <a:off x="16668000" y="-775786"/>
                <a:ext cx="80270" cy="80270"/>
              </a:xfrm>
              <a:custGeom>
                <a:avLst/>
                <a:gdLst/>
                <a:ahLst/>
                <a:cxnLst/>
                <a:rect l="l" t="t" r="r" b="b"/>
                <a:pathLst>
                  <a:path w="80270" h="80270" extrusionOk="0">
                    <a:moveTo>
                      <a:pt x="80270" y="40135"/>
                    </a:moveTo>
                    <a:cubicBezTo>
                      <a:pt x="80270" y="62301"/>
                      <a:pt x="62301" y="80271"/>
                      <a:pt x="40135" y="80271"/>
                    </a:cubicBezTo>
                    <a:cubicBezTo>
                      <a:pt x="17969" y="80271"/>
                      <a:pt x="0" y="62301"/>
                      <a:pt x="0" y="40135"/>
                    </a:cubicBezTo>
                    <a:cubicBezTo>
                      <a:pt x="0" y="17969"/>
                      <a:pt x="17969" y="0"/>
                      <a:pt x="40135" y="0"/>
                    </a:cubicBezTo>
                    <a:cubicBezTo>
                      <a:pt x="62301" y="0"/>
                      <a:pt x="80270" y="17969"/>
                      <a:pt x="80270" y="4013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 rot="-2700000">
                <a:off x="16477261" y="-779005"/>
                <a:ext cx="86703" cy="86703"/>
              </a:xfrm>
              <a:custGeom>
                <a:avLst/>
                <a:gdLst/>
                <a:ahLst/>
                <a:cxnLst/>
                <a:rect l="l" t="t" r="r" b="b"/>
                <a:pathLst>
                  <a:path w="86703" h="86703" extrusionOk="0">
                    <a:moveTo>
                      <a:pt x="86704" y="43352"/>
                    </a:moveTo>
                    <a:cubicBezTo>
                      <a:pt x="86704" y="67294"/>
                      <a:pt x="67295" y="86704"/>
                      <a:pt x="43352" y="86704"/>
                    </a:cubicBezTo>
                    <a:cubicBezTo>
                      <a:pt x="19409" y="86704"/>
                      <a:pt x="0" y="67295"/>
                      <a:pt x="0" y="43352"/>
                    </a:cubicBezTo>
                    <a:cubicBezTo>
                      <a:pt x="0" y="19409"/>
                      <a:pt x="19409" y="0"/>
                      <a:pt x="43352" y="0"/>
                    </a:cubicBezTo>
                    <a:cubicBezTo>
                      <a:pt x="67295" y="0"/>
                      <a:pt x="86704" y="19409"/>
                      <a:pt x="86704" y="43352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 rot="-4393600">
                <a:off x="16797807" y="-213746"/>
                <a:ext cx="78269" cy="78269"/>
              </a:xfrm>
              <a:custGeom>
                <a:avLst/>
                <a:gdLst/>
                <a:ahLst/>
                <a:cxnLst/>
                <a:rect l="l" t="t" r="r" b="b"/>
                <a:pathLst>
                  <a:path w="78269" h="78269" extrusionOk="0">
                    <a:moveTo>
                      <a:pt x="78270" y="39135"/>
                    </a:moveTo>
                    <a:cubicBezTo>
                      <a:pt x="78270" y="60749"/>
                      <a:pt x="60749" y="78270"/>
                      <a:pt x="39135" y="78270"/>
                    </a:cubicBezTo>
                    <a:cubicBezTo>
                      <a:pt x="17521" y="78270"/>
                      <a:pt x="0" y="60749"/>
                      <a:pt x="0" y="39135"/>
                    </a:cubicBezTo>
                    <a:cubicBezTo>
                      <a:pt x="0" y="17522"/>
                      <a:pt x="17522" y="0"/>
                      <a:pt x="39135" y="0"/>
                    </a:cubicBezTo>
                    <a:cubicBezTo>
                      <a:pt x="60749" y="0"/>
                      <a:pt x="78270" y="17522"/>
                      <a:pt x="78270" y="3913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310874" y="-216610"/>
                <a:ext cx="83824" cy="83824"/>
              </a:xfrm>
              <a:custGeom>
                <a:avLst/>
                <a:gdLst/>
                <a:ahLst/>
                <a:cxnLst/>
                <a:rect l="l" t="t" r="r" b="b"/>
                <a:pathLst>
                  <a:path w="83824" h="83824" extrusionOk="0">
                    <a:moveTo>
                      <a:pt x="83824" y="41912"/>
                    </a:moveTo>
                    <a:cubicBezTo>
                      <a:pt x="83824" y="65060"/>
                      <a:pt x="65060" y="83824"/>
                      <a:pt x="41912" y="83824"/>
                    </a:cubicBezTo>
                    <a:cubicBezTo>
                      <a:pt x="18765" y="83824"/>
                      <a:pt x="0" y="65060"/>
                      <a:pt x="0" y="41912"/>
                    </a:cubicBezTo>
                    <a:cubicBezTo>
                      <a:pt x="0" y="18765"/>
                      <a:pt x="18765" y="0"/>
                      <a:pt x="41912" y="0"/>
                    </a:cubicBezTo>
                    <a:cubicBezTo>
                      <a:pt x="65060" y="0"/>
                      <a:pt x="83824" y="18765"/>
                      <a:pt x="83824" y="41912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 rot="-2700000">
                <a:off x="15081546" y="-7587"/>
                <a:ext cx="85678" cy="85678"/>
              </a:xfrm>
              <a:custGeom>
                <a:avLst/>
                <a:gdLst/>
                <a:ahLst/>
                <a:cxnLst/>
                <a:rect l="l" t="t" r="r" b="b"/>
                <a:pathLst>
                  <a:path w="85678" h="85678" extrusionOk="0">
                    <a:moveTo>
                      <a:pt x="85678" y="42839"/>
                    </a:moveTo>
                    <a:cubicBezTo>
                      <a:pt x="85678" y="66499"/>
                      <a:pt x="66499" y="85679"/>
                      <a:pt x="42839" y="85679"/>
                    </a:cubicBezTo>
                    <a:cubicBezTo>
                      <a:pt x="19180" y="85679"/>
                      <a:pt x="0" y="66499"/>
                      <a:pt x="0" y="42839"/>
                    </a:cubicBezTo>
                    <a:cubicBezTo>
                      <a:pt x="0" y="19180"/>
                      <a:pt x="19180" y="0"/>
                      <a:pt x="42839" y="0"/>
                    </a:cubicBezTo>
                    <a:cubicBezTo>
                      <a:pt x="66499" y="0"/>
                      <a:pt x="85678" y="19180"/>
                      <a:pt x="85678" y="4283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20568543" y="-5162312"/>
                <a:ext cx="62956" cy="62956"/>
              </a:xfrm>
              <a:custGeom>
                <a:avLst/>
                <a:gdLst/>
                <a:ahLst/>
                <a:cxnLst/>
                <a:rect l="l" t="t" r="r" b="b"/>
                <a:pathLst>
                  <a:path w="62956" h="62956" extrusionOk="0">
                    <a:moveTo>
                      <a:pt x="62956" y="31478"/>
                    </a:moveTo>
                    <a:cubicBezTo>
                      <a:pt x="62956" y="48863"/>
                      <a:pt x="48863" y="62956"/>
                      <a:pt x="31478" y="62956"/>
                    </a:cubicBezTo>
                    <a:cubicBezTo>
                      <a:pt x="14093" y="62956"/>
                      <a:pt x="0" y="48863"/>
                      <a:pt x="0" y="31478"/>
                    </a:cubicBezTo>
                    <a:cubicBezTo>
                      <a:pt x="0" y="14093"/>
                      <a:pt x="14093" y="0"/>
                      <a:pt x="31478" y="0"/>
                    </a:cubicBezTo>
                    <a:cubicBezTo>
                      <a:pt x="48863" y="0"/>
                      <a:pt x="62956" y="14093"/>
                      <a:pt x="62956" y="31478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 rot="-4846898">
                <a:off x="21067097" y="-5765068"/>
                <a:ext cx="87698" cy="87698"/>
              </a:xfrm>
              <a:custGeom>
                <a:avLst/>
                <a:gdLst/>
                <a:ahLst/>
                <a:cxnLst/>
                <a:rect l="l" t="t" r="r" b="b"/>
                <a:pathLst>
                  <a:path w="87698" h="87698" extrusionOk="0">
                    <a:moveTo>
                      <a:pt x="87699" y="43849"/>
                    </a:moveTo>
                    <a:cubicBezTo>
                      <a:pt x="87699" y="68067"/>
                      <a:pt x="68067" y="87699"/>
                      <a:pt x="43849" y="87699"/>
                    </a:cubicBezTo>
                    <a:cubicBezTo>
                      <a:pt x="19632" y="87699"/>
                      <a:pt x="0" y="68067"/>
                      <a:pt x="0" y="43849"/>
                    </a:cubicBezTo>
                    <a:cubicBezTo>
                      <a:pt x="0" y="19632"/>
                      <a:pt x="19632" y="0"/>
                      <a:pt x="43849" y="0"/>
                    </a:cubicBezTo>
                    <a:cubicBezTo>
                      <a:pt x="68067" y="0"/>
                      <a:pt x="87699" y="19632"/>
                      <a:pt x="87699" y="43849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 rot="-4602852">
                <a:off x="19415429" y="-4905687"/>
                <a:ext cx="115451" cy="115451"/>
              </a:xfrm>
              <a:custGeom>
                <a:avLst/>
                <a:gdLst/>
                <a:ahLst/>
                <a:cxnLst/>
                <a:rect l="l" t="t" r="r" b="b"/>
                <a:pathLst>
                  <a:path w="115451" h="115451" extrusionOk="0">
                    <a:moveTo>
                      <a:pt x="115452" y="57726"/>
                    </a:moveTo>
                    <a:cubicBezTo>
                      <a:pt x="115452" y="89607"/>
                      <a:pt x="89607" y="115452"/>
                      <a:pt x="57726" y="115452"/>
                    </a:cubicBezTo>
                    <a:cubicBezTo>
                      <a:pt x="25845" y="115452"/>
                      <a:pt x="0" y="89607"/>
                      <a:pt x="0" y="57726"/>
                    </a:cubicBezTo>
                    <a:cubicBezTo>
                      <a:pt x="0" y="25845"/>
                      <a:pt x="25845" y="0"/>
                      <a:pt x="57726" y="0"/>
                    </a:cubicBezTo>
                    <a:cubicBezTo>
                      <a:pt x="89607" y="0"/>
                      <a:pt x="115452" y="25845"/>
                      <a:pt x="115452" y="5772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551247" y="-4232994"/>
                <a:ext cx="97546" cy="97546"/>
              </a:xfrm>
              <a:custGeom>
                <a:avLst/>
                <a:gdLst/>
                <a:ahLst/>
                <a:cxnLst/>
                <a:rect l="l" t="t" r="r" b="b"/>
                <a:pathLst>
                  <a:path w="97546" h="97546" extrusionOk="0">
                    <a:moveTo>
                      <a:pt x="97547" y="48773"/>
                    </a:moveTo>
                    <a:cubicBezTo>
                      <a:pt x="97547" y="75710"/>
                      <a:pt x="75710" y="97547"/>
                      <a:pt x="48773" y="97547"/>
                    </a:cubicBezTo>
                    <a:cubicBezTo>
                      <a:pt x="21836" y="97547"/>
                      <a:pt x="0" y="75710"/>
                      <a:pt x="0" y="48773"/>
                    </a:cubicBezTo>
                    <a:cubicBezTo>
                      <a:pt x="0" y="21837"/>
                      <a:pt x="21836" y="0"/>
                      <a:pt x="48773" y="0"/>
                    </a:cubicBezTo>
                    <a:cubicBezTo>
                      <a:pt x="75710" y="0"/>
                      <a:pt x="97547" y="21837"/>
                      <a:pt x="97547" y="48773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 rot="-4602852">
                <a:off x="20500016" y="-4753582"/>
                <a:ext cx="102833" cy="102833"/>
              </a:xfrm>
              <a:custGeom>
                <a:avLst/>
                <a:gdLst/>
                <a:ahLst/>
                <a:cxnLst/>
                <a:rect l="l" t="t" r="r" b="b"/>
                <a:pathLst>
                  <a:path w="102833" h="102833" extrusionOk="0">
                    <a:moveTo>
                      <a:pt x="102834" y="51417"/>
                    </a:moveTo>
                    <a:cubicBezTo>
                      <a:pt x="102834" y="79814"/>
                      <a:pt x="79813" y="102834"/>
                      <a:pt x="51417" y="102834"/>
                    </a:cubicBezTo>
                    <a:cubicBezTo>
                      <a:pt x="23020" y="102834"/>
                      <a:pt x="0" y="79814"/>
                      <a:pt x="0" y="51417"/>
                    </a:cubicBezTo>
                    <a:cubicBezTo>
                      <a:pt x="0" y="23020"/>
                      <a:pt x="23020" y="0"/>
                      <a:pt x="51417" y="0"/>
                    </a:cubicBezTo>
                    <a:cubicBezTo>
                      <a:pt x="79813" y="0"/>
                      <a:pt x="102834" y="23020"/>
                      <a:pt x="102834" y="51417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 rot="-4602852">
                <a:off x="20207006" y="-3355325"/>
                <a:ext cx="72750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72750" h="72750" extrusionOk="0">
                    <a:moveTo>
                      <a:pt x="72751" y="36376"/>
                    </a:moveTo>
                    <a:cubicBezTo>
                      <a:pt x="72751" y="56465"/>
                      <a:pt x="56465" y="72751"/>
                      <a:pt x="36375" y="72751"/>
                    </a:cubicBezTo>
                    <a:cubicBezTo>
                      <a:pt x="16286" y="72751"/>
                      <a:pt x="0" y="56465"/>
                      <a:pt x="0" y="36376"/>
                    </a:cubicBezTo>
                    <a:cubicBezTo>
                      <a:pt x="0" y="16286"/>
                      <a:pt x="16286" y="0"/>
                      <a:pt x="36375" y="0"/>
                    </a:cubicBezTo>
                    <a:cubicBezTo>
                      <a:pt x="56465" y="0"/>
                      <a:pt x="72751" y="16286"/>
                      <a:pt x="72751" y="3637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 rot="-2700000">
                <a:off x="20849215" y="-4559663"/>
                <a:ext cx="117009" cy="117009"/>
              </a:xfrm>
              <a:custGeom>
                <a:avLst/>
                <a:gdLst/>
                <a:ahLst/>
                <a:cxnLst/>
                <a:rect l="l" t="t" r="r" b="b"/>
                <a:pathLst>
                  <a:path w="117009" h="117009" extrusionOk="0">
                    <a:moveTo>
                      <a:pt x="117009" y="58505"/>
                    </a:moveTo>
                    <a:cubicBezTo>
                      <a:pt x="117009" y="90816"/>
                      <a:pt x="90816" y="117009"/>
                      <a:pt x="58505" y="117009"/>
                    </a:cubicBezTo>
                    <a:cubicBezTo>
                      <a:pt x="26193" y="117009"/>
                      <a:pt x="0" y="90816"/>
                      <a:pt x="0" y="58505"/>
                    </a:cubicBezTo>
                    <a:cubicBezTo>
                      <a:pt x="0" y="26194"/>
                      <a:pt x="26193" y="0"/>
                      <a:pt x="58505" y="0"/>
                    </a:cubicBezTo>
                    <a:cubicBezTo>
                      <a:pt x="90816" y="0"/>
                      <a:pt x="117009" y="26194"/>
                      <a:pt x="117009" y="58505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0159251" y="-5311666"/>
                <a:ext cx="95287" cy="95287"/>
              </a:xfrm>
              <a:custGeom>
                <a:avLst/>
                <a:gdLst/>
                <a:ahLst/>
                <a:cxnLst/>
                <a:rect l="l" t="t" r="r" b="b"/>
                <a:pathLst>
                  <a:path w="95287" h="95287" extrusionOk="0">
                    <a:moveTo>
                      <a:pt x="95287" y="47644"/>
                    </a:moveTo>
                    <a:cubicBezTo>
                      <a:pt x="95287" y="73956"/>
                      <a:pt x="73956" y="95287"/>
                      <a:pt x="47644" y="95287"/>
                    </a:cubicBezTo>
                    <a:cubicBezTo>
                      <a:pt x="21331" y="95287"/>
                      <a:pt x="0" y="73956"/>
                      <a:pt x="0" y="47644"/>
                    </a:cubicBezTo>
                    <a:cubicBezTo>
                      <a:pt x="0" y="21331"/>
                      <a:pt x="21331" y="0"/>
                      <a:pt x="47644" y="0"/>
                    </a:cubicBezTo>
                    <a:cubicBezTo>
                      <a:pt x="73956" y="0"/>
                      <a:pt x="95287" y="21331"/>
                      <a:pt x="95287" y="47644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19116159" y="-2122190"/>
                <a:ext cx="113712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13712" h="113712" extrusionOk="0">
                    <a:moveTo>
                      <a:pt x="113712" y="56856"/>
                    </a:moveTo>
                    <a:cubicBezTo>
                      <a:pt x="113712" y="88257"/>
                      <a:pt x="88257" y="113712"/>
                      <a:pt x="56856" y="113712"/>
                    </a:cubicBezTo>
                    <a:cubicBezTo>
                      <a:pt x="25455" y="113712"/>
                      <a:pt x="0" y="88257"/>
                      <a:pt x="0" y="56856"/>
                    </a:cubicBezTo>
                    <a:cubicBezTo>
                      <a:pt x="0" y="25455"/>
                      <a:pt x="25455" y="0"/>
                      <a:pt x="56856" y="0"/>
                    </a:cubicBezTo>
                    <a:cubicBezTo>
                      <a:pt x="88257" y="0"/>
                      <a:pt x="113712" y="25455"/>
                      <a:pt x="113712" y="56856"/>
                    </a:cubicBezTo>
                    <a:close/>
                  </a:path>
                </a:pathLst>
              </a:custGeom>
              <a:solidFill>
                <a:schemeClr val="accent3">
                  <a:alpha val="14902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1293100" y="2772345"/>
            <a:ext cx="9606000" cy="11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  <a:defRPr sz="80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>
  <p:cSld name="2_Title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>
            <a:spLocks noGrp="1"/>
          </p:cNvSpPr>
          <p:nvPr>
            <p:ph type="sldNum" idx="12"/>
          </p:nvPr>
        </p:nvSpPr>
        <p:spPr>
          <a:xfrm>
            <a:off x="5143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7"/>
          <p:cNvSpPr>
            <a:spLocks noGrp="1"/>
          </p:cNvSpPr>
          <p:nvPr>
            <p:ph type="pic" idx="3"/>
          </p:nvPr>
        </p:nvSpPr>
        <p:spPr>
          <a:xfrm>
            <a:off x="1752198" y="2828067"/>
            <a:ext cx="1810663" cy="18106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Blank">
  <p:cSld name="10_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Blank">
  <p:cSld name="11_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Blank">
  <p:cSld name="13_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>
            <a:spLocks noGrp="1"/>
          </p:cNvSpPr>
          <p:nvPr>
            <p:ph type="sldNum" idx="12"/>
          </p:nvPr>
        </p:nvSpPr>
        <p:spPr>
          <a:xfrm>
            <a:off x="11219543" y="6125936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5_Title Slide">
  <p:cSld name="15_Title Slide">
    <p:bg>
      <p:bgPr>
        <a:solidFill>
          <a:srgbClr val="F7F3E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/>
        </p:nvSpPr>
        <p:spPr>
          <a:xfrm>
            <a:off x="11432973" y="6372226"/>
            <a:ext cx="5209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1050" b="0" i="0" u="none" strike="noStrike" cap="none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71476" y="6372226"/>
            <a:ext cx="33337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accent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10550424" y="6372226"/>
            <a:ext cx="1143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DM Sans"/>
                <a:ea typeface="DM Sans"/>
                <a:cs typeface="DM Sans"/>
                <a:sym typeface="DM Sans"/>
              </a:rPr>
              <a:t>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11219543" y="6125936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6D6A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Blank">
  <p:cSld name="24_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subTitle" idx="1"/>
          </p:nvPr>
        </p:nvSpPr>
        <p:spPr>
          <a:xfrm>
            <a:off x="1842167" y="2290700"/>
            <a:ext cx="9390000" cy="7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2"/>
          </p:nvPr>
        </p:nvSpPr>
        <p:spPr>
          <a:xfrm>
            <a:off x="1842180" y="3814700"/>
            <a:ext cx="9390000" cy="7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3"/>
          </p:nvPr>
        </p:nvSpPr>
        <p:spPr>
          <a:xfrm>
            <a:off x="1842180" y="5338700"/>
            <a:ext cx="9390000" cy="7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4"/>
          </p:nvPr>
        </p:nvSpPr>
        <p:spPr>
          <a:xfrm>
            <a:off x="1842167" y="1874700"/>
            <a:ext cx="9390000" cy="44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5"/>
          </p:nvPr>
        </p:nvSpPr>
        <p:spPr>
          <a:xfrm>
            <a:off x="1842167" y="3368767"/>
            <a:ext cx="9390000" cy="44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6"/>
          </p:nvPr>
        </p:nvSpPr>
        <p:spPr>
          <a:xfrm>
            <a:off x="1842167" y="4862833"/>
            <a:ext cx="9390000" cy="444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600"/>
              <a:buFont typeface="Bebas Neue"/>
              <a:buNone/>
              <a:defRPr sz="3467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 rot="-4308126">
            <a:off x="5142639" y="301402"/>
            <a:ext cx="7189915" cy="4766281"/>
          </a:xfrm>
          <a:custGeom>
            <a:avLst/>
            <a:gdLst/>
            <a:ahLst/>
            <a:cxnLst/>
            <a:rect l="l" t="t" r="r" b="b"/>
            <a:pathLst>
              <a:path w="6038720" h="4003140" extrusionOk="0">
                <a:moveTo>
                  <a:pt x="4737084" y="0"/>
                </a:moveTo>
                <a:lnTo>
                  <a:pt x="6038720" y="3959438"/>
                </a:lnTo>
                <a:lnTo>
                  <a:pt x="6026911" y="3962475"/>
                </a:lnTo>
                <a:cubicBezTo>
                  <a:pt x="5896614" y="3989138"/>
                  <a:pt x="5761705" y="4003140"/>
                  <a:pt x="5623525" y="4003140"/>
                </a:cubicBezTo>
                <a:lnTo>
                  <a:pt x="2001570" y="4003140"/>
                </a:lnTo>
                <a:cubicBezTo>
                  <a:pt x="896133" y="4003140"/>
                  <a:pt x="0" y="3107007"/>
                  <a:pt x="0" y="2001570"/>
                </a:cubicBezTo>
                <a:cubicBezTo>
                  <a:pt x="0" y="896133"/>
                  <a:pt x="896133" y="0"/>
                  <a:pt x="2001570" y="0"/>
                </a:cubicBezTo>
                <a:close/>
              </a:path>
            </a:pathLst>
          </a:custGeom>
          <a:gradFill>
            <a:gsLst>
              <a:gs pos="0">
                <a:srgbClr val="F9D688"/>
              </a:gs>
              <a:gs pos="100000">
                <a:srgbClr val="F3C18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7"/>
          <p:cNvSpPr/>
          <p:nvPr/>
        </p:nvSpPr>
        <p:spPr>
          <a:xfrm rot="1161436">
            <a:off x="-455914" y="604912"/>
            <a:ext cx="925630" cy="2676376"/>
          </a:xfrm>
          <a:custGeom>
            <a:avLst/>
            <a:gdLst/>
            <a:ahLst/>
            <a:cxnLst/>
            <a:rect l="l" t="t" r="r" b="b"/>
            <a:pathLst>
              <a:path w="925630" h="2676376" extrusionOk="0">
                <a:moveTo>
                  <a:pt x="0" y="41638"/>
                </a:moveTo>
                <a:lnTo>
                  <a:pt x="88538" y="14154"/>
                </a:lnTo>
                <a:cubicBezTo>
                  <a:pt x="133890" y="4874"/>
                  <a:pt x="180848" y="0"/>
                  <a:pt x="228944" y="0"/>
                </a:cubicBezTo>
                <a:cubicBezTo>
                  <a:pt x="613713" y="0"/>
                  <a:pt x="925630" y="311917"/>
                  <a:pt x="925630" y="696686"/>
                </a:cubicBezTo>
                <a:lnTo>
                  <a:pt x="925630" y="2676376"/>
                </a:lnTo>
                <a:close/>
              </a:path>
            </a:pathLst>
          </a:custGeom>
          <a:solidFill>
            <a:srgbClr val="A5A5A5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7"/>
          <p:cNvSpPr>
            <a:spLocks noGrp="1"/>
          </p:cNvSpPr>
          <p:nvPr>
            <p:ph type="pic" idx="2"/>
          </p:nvPr>
        </p:nvSpPr>
        <p:spPr>
          <a:xfrm>
            <a:off x="6821683" y="1463594"/>
            <a:ext cx="3234813" cy="4011562"/>
          </a:xfrm>
          <a:prstGeom prst="rect">
            <a:avLst/>
          </a:prstGeom>
          <a:noFill/>
          <a:ln>
            <a:noFill/>
          </a:ln>
          <a:effectLst>
            <a:outerShdw blurRad="508000" dist="38100" dir="2700000" algn="tl" rotWithShape="0">
              <a:srgbClr val="000000">
                <a:alpha val="23922"/>
              </a:srgbClr>
            </a:outerShdw>
          </a:effectLst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>
            <a:spLocks noGrp="1"/>
          </p:cNvSpPr>
          <p:nvPr>
            <p:ph type="pic" idx="2"/>
          </p:nvPr>
        </p:nvSpPr>
        <p:spPr>
          <a:xfrm>
            <a:off x="3492498" y="3533998"/>
            <a:ext cx="1084942" cy="1084942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8"/>
          <p:cNvSpPr>
            <a:spLocks noGrp="1"/>
          </p:cNvSpPr>
          <p:nvPr>
            <p:ph type="pic" idx="3"/>
          </p:nvPr>
        </p:nvSpPr>
        <p:spPr>
          <a:xfrm>
            <a:off x="2126340" y="4601028"/>
            <a:ext cx="2002972" cy="2002972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8"/>
          <p:cNvSpPr>
            <a:spLocks noGrp="1"/>
          </p:cNvSpPr>
          <p:nvPr>
            <p:ph type="pic" idx="4"/>
          </p:nvPr>
        </p:nvSpPr>
        <p:spPr>
          <a:xfrm>
            <a:off x="4677226" y="3389087"/>
            <a:ext cx="1810660" cy="181066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8"/>
          <p:cNvSpPr>
            <a:spLocks noGrp="1"/>
          </p:cNvSpPr>
          <p:nvPr>
            <p:ph type="pic" idx="5"/>
          </p:nvPr>
        </p:nvSpPr>
        <p:spPr>
          <a:xfrm>
            <a:off x="1030514" y="2119086"/>
            <a:ext cx="2481942" cy="2481942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8"/>
          <p:cNvSpPr>
            <a:spLocks noGrp="1"/>
          </p:cNvSpPr>
          <p:nvPr>
            <p:ph type="pic" idx="6"/>
          </p:nvPr>
        </p:nvSpPr>
        <p:spPr>
          <a:xfrm>
            <a:off x="3330570" y="645425"/>
            <a:ext cx="2776768" cy="277676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0" y="4912019"/>
            <a:ext cx="12192000" cy="1945983"/>
          </a:xfrm>
          <a:custGeom>
            <a:avLst/>
            <a:gdLst/>
            <a:ahLst/>
            <a:cxnLst/>
            <a:rect l="l" t="t" r="r" b="b"/>
            <a:pathLst>
              <a:path w="12192000" h="1945983" extrusionOk="0">
                <a:moveTo>
                  <a:pt x="12192000" y="0"/>
                </a:moveTo>
                <a:lnTo>
                  <a:pt x="12192000" y="1945983"/>
                </a:lnTo>
                <a:lnTo>
                  <a:pt x="0" y="1945983"/>
                </a:lnTo>
                <a:lnTo>
                  <a:pt x="0" y="0"/>
                </a:lnTo>
                <a:lnTo>
                  <a:pt x="141288" y="27199"/>
                </a:lnTo>
                <a:cubicBezTo>
                  <a:pt x="1942678" y="353451"/>
                  <a:pt x="3962534" y="536282"/>
                  <a:pt x="6096000" y="536282"/>
                </a:cubicBezTo>
                <a:cubicBezTo>
                  <a:pt x="8229467" y="536282"/>
                  <a:pt x="10249322" y="353451"/>
                  <a:pt x="12050712" y="27199"/>
                </a:cubicBezTo>
                <a:lnTo>
                  <a:pt x="12192000" y="0"/>
                </a:lnTo>
                <a:close/>
              </a:path>
            </a:pathLst>
          </a:custGeom>
          <a:solidFill>
            <a:srgbClr val="A5A5A5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9"/>
          <p:cNvSpPr>
            <a:spLocks noGrp="1"/>
          </p:cNvSpPr>
          <p:nvPr>
            <p:ph type="pic" idx="2"/>
          </p:nvPr>
        </p:nvSpPr>
        <p:spPr>
          <a:xfrm>
            <a:off x="5003802" y="3524864"/>
            <a:ext cx="5709918" cy="2734472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1262744" y="560955"/>
            <a:ext cx="9666512" cy="58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595959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25" name="Google Shape;125;p19"/>
          <p:cNvGrpSpPr/>
          <p:nvPr/>
        </p:nvGrpSpPr>
        <p:grpSpPr>
          <a:xfrm>
            <a:off x="5943600" y="1210739"/>
            <a:ext cx="304800" cy="106680"/>
            <a:chOff x="5935980" y="1180306"/>
            <a:chExt cx="304800" cy="106680"/>
          </a:xfrm>
        </p:grpSpPr>
        <p:sp>
          <p:nvSpPr>
            <p:cNvPr id="126" name="Google Shape;126;p19"/>
            <p:cNvSpPr/>
            <p:nvPr/>
          </p:nvSpPr>
          <p:spPr>
            <a:xfrm>
              <a:off x="5935980" y="1180306"/>
              <a:ext cx="106680" cy="1066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6134100" y="1180306"/>
              <a:ext cx="106680" cy="10668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2964800" y="736149"/>
            <a:ext cx="6262400" cy="10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unces"/>
              <a:buNone/>
              <a:defRPr sz="60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1"/>
          </p:nvPr>
        </p:nvSpPr>
        <p:spPr>
          <a:xfrm>
            <a:off x="2964800" y="1819033"/>
            <a:ext cx="6262400" cy="571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 idx="2"/>
          </p:nvPr>
        </p:nvSpPr>
        <p:spPr>
          <a:xfrm>
            <a:off x="2964800" y="2539157"/>
            <a:ext cx="6262400" cy="10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unces"/>
              <a:buNone/>
              <a:defRPr sz="6000" b="0" i="0" u="none" strike="noStrike" cap="none">
                <a:solidFill>
                  <a:schemeClr val="dk2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3"/>
          </p:nvPr>
        </p:nvSpPr>
        <p:spPr>
          <a:xfrm>
            <a:off x="2964800" y="3622036"/>
            <a:ext cx="6262400" cy="595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title" idx="4"/>
          </p:nvPr>
        </p:nvSpPr>
        <p:spPr>
          <a:xfrm>
            <a:off x="2964800" y="4342165"/>
            <a:ext cx="6262400" cy="10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unces"/>
              <a:buNone/>
              <a:defRPr sz="60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5"/>
          </p:nvPr>
        </p:nvSpPr>
        <p:spPr>
          <a:xfrm>
            <a:off x="2964800" y="5425063"/>
            <a:ext cx="6262400" cy="595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960000" y="1531417"/>
            <a:ext cx="5259600" cy="2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unces"/>
              <a:buNone/>
              <a:defRPr sz="44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1"/>
          </p:nvPr>
        </p:nvSpPr>
        <p:spPr>
          <a:xfrm>
            <a:off x="960000" y="3838184"/>
            <a:ext cx="5259600" cy="1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>
            <a:spLocks noGrp="1"/>
          </p:cNvSpPr>
          <p:nvPr>
            <p:ph type="pic" idx="2"/>
          </p:nvPr>
        </p:nvSpPr>
        <p:spPr>
          <a:xfrm>
            <a:off x="6866433" y="921384"/>
            <a:ext cx="4094400" cy="50152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950967" y="5550633"/>
            <a:ext cx="10556400" cy="7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aunces"/>
              <a:buNone/>
              <a:defRPr sz="4400" b="0" i="0" u="none" strike="noStrike" cap="none">
                <a:solidFill>
                  <a:schemeClr val="dk2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Slide">
  <p:cSld name="16_Title Slide">
    <p:bg>
      <p:bgPr>
        <a:solidFill>
          <a:srgbClr val="F4F6F9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1432973" y="6372226"/>
            <a:ext cx="5209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7F7F7F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1050" b="0" i="0" u="none" strike="noStrike" cap="none">
              <a:solidFill>
                <a:srgbClr val="7F7F7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71476" y="6372226"/>
            <a:ext cx="33337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rgbClr val="7F7F7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0550424" y="6372226"/>
            <a:ext cx="1143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F7F7F"/>
                </a:solidFill>
                <a:latin typeface="DM Sans"/>
                <a:ea typeface="DM Sans"/>
                <a:cs typeface="DM Sans"/>
                <a:sym typeface="DM Sans"/>
              </a:rPr>
              <a:t>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" descr="A black and grey logo&#10;&#10;AI-generated content may be incorrect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6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Relationship Id="rId9" Type="http://schemas.openxmlformats.org/officeDocument/2006/relationships/comments" Target="../comments/commen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10" Type="http://schemas.openxmlformats.org/officeDocument/2006/relationships/image" Target="../media/image6.png"/><Relationship Id="rId4" Type="http://schemas.openxmlformats.org/officeDocument/2006/relationships/image" Target="../media/image36.jpg"/><Relationship Id="rId9" Type="http://schemas.openxmlformats.org/officeDocument/2006/relationships/image" Target="../media/image40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7.xml"/><Relationship Id="rId3" Type="http://schemas.openxmlformats.org/officeDocument/2006/relationships/image" Target="../media/image1.png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jpe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itting in a chair&#10;&#10;AI-generated content may be incorrect.">
            <a:extLst>
              <a:ext uri="{FF2B5EF4-FFF2-40B4-BE49-F238E27FC236}">
                <a16:creationId xmlns:a16="http://schemas.microsoft.com/office/drawing/2014/main" id="{69ACEFED-42E2-078A-7D73-F4F75D98C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7" y="37725"/>
            <a:ext cx="12046226" cy="678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82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 title="DrMikeBerry.jpg"/>
          <p:cNvPicPr preferRelativeResize="0"/>
          <p:nvPr/>
        </p:nvPicPr>
        <p:blipFill rotWithShape="1">
          <a:blip r:embed="rId3">
            <a:alphaModFix/>
          </a:blip>
          <a:srcRect l="7569" r="7577"/>
          <a:stretch/>
        </p:blipFill>
        <p:spPr>
          <a:xfrm>
            <a:off x="6372550" y="0"/>
            <a:ext cx="58194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4">
            <a:alphaModFix/>
          </a:blip>
          <a:srcRect t="18480"/>
          <a:stretch/>
        </p:blipFill>
        <p:spPr>
          <a:xfrm>
            <a:off x="0" y="3583746"/>
            <a:ext cx="6056925" cy="3274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 title="min-kao-stairs.jpg"/>
          <p:cNvPicPr preferRelativeResize="0"/>
          <p:nvPr/>
        </p:nvPicPr>
        <p:blipFill rotWithShape="1">
          <a:blip r:embed="rId5">
            <a:alphaModFix/>
          </a:blip>
          <a:srcRect t="9834" b="9826"/>
          <a:stretch/>
        </p:blipFill>
        <p:spPr>
          <a:xfrm>
            <a:off x="0" y="0"/>
            <a:ext cx="6056925" cy="324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4" name="Google Shape;164;p26" descr="A black and grey logo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7" title="AdobeStock_63989843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3446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1" name="Google Shape;171;p27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8" name="Google Shape;178;p28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9" title="AdobeStock_96352447.jpeg"/>
          <p:cNvPicPr preferRelativeResize="0"/>
          <p:nvPr/>
        </p:nvPicPr>
        <p:blipFill rotWithShape="1">
          <a:blip r:embed="rId3">
            <a:alphaModFix/>
          </a:blip>
          <a:srcRect t="7528" b="7511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5" name="Google Shape;185;p29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0" title="AdobeStock_1978024460_Editorial_Use_Only.jpeg"/>
          <p:cNvPicPr preferRelativeResize="0"/>
          <p:nvPr/>
        </p:nvPicPr>
        <p:blipFill rotWithShape="1">
          <a:blip r:embed="rId3">
            <a:alphaModFix/>
          </a:blip>
          <a:srcRect t="11124" b="13869"/>
          <a:stretch/>
        </p:blipFill>
        <p:spPr>
          <a:xfrm>
            <a:off x="0" y="-1"/>
            <a:ext cx="12192000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2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 rotWithShape="1">
          <a:blip r:embed="rId3">
            <a:alphaModFix/>
          </a:blip>
          <a:srcRect t="15658" b="1403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0" name="Google Shape;200;p31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>
            <a:spLocks noGrp="1"/>
          </p:cNvSpPr>
          <p:nvPr>
            <p:ph type="title"/>
          </p:nvPr>
        </p:nvSpPr>
        <p:spPr>
          <a:xfrm>
            <a:off x="975600" y="1878700"/>
            <a:ext cx="61314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Technology doesn't pick. </a:t>
            </a:r>
            <a:b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</a:br>
            <a:b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</a:b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People do.</a:t>
            </a:r>
            <a:endParaRPr sz="5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8" name="Google Shape;208;p32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>
            <a:spLocks noGrp="1"/>
          </p:cNvSpPr>
          <p:nvPr>
            <p:ph type="title"/>
          </p:nvPr>
        </p:nvSpPr>
        <p:spPr>
          <a:xfrm>
            <a:off x="915750" y="1099475"/>
            <a:ext cx="10796400" cy="13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Learning Styles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479850" y="2857475"/>
            <a:ext cx="2515800" cy="251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5"/>
              <a:buFont typeface="Arial"/>
              <a:buNone/>
            </a:pPr>
            <a:r>
              <a:rPr lang="en-US" sz="2575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Visual</a:t>
            </a:r>
            <a:endParaRPr sz="2575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3373174" y="2857475"/>
            <a:ext cx="2515800" cy="251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75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Auditory</a:t>
            </a:r>
            <a:endParaRPr sz="5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6266499" y="2857475"/>
            <a:ext cx="2515800" cy="251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75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Reading &amp; Writing</a:t>
            </a:r>
            <a:endParaRPr sz="5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3"/>
          <p:cNvSpPr/>
          <p:nvPr/>
        </p:nvSpPr>
        <p:spPr>
          <a:xfrm>
            <a:off x="9159823" y="2857475"/>
            <a:ext cx="2515800" cy="251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75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Kinesthetic</a:t>
            </a:r>
            <a:endParaRPr sz="5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4" title="AdobeStock_751404966.jpeg"/>
          <p:cNvPicPr preferRelativeResize="0"/>
          <p:nvPr/>
        </p:nvPicPr>
        <p:blipFill rotWithShape="1">
          <a:blip r:embed="rId3">
            <a:alphaModFix/>
          </a:blip>
          <a:srcRect t="7396" b="739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4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4" name="Google Shape;224;p34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/>
          <p:nvPr/>
        </p:nvSpPr>
        <p:spPr>
          <a:xfrm>
            <a:off x="3584400" y="2481525"/>
            <a:ext cx="952500" cy="3759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4"/>
          <p:cNvSpPr txBox="1"/>
          <p:nvPr/>
        </p:nvSpPr>
        <p:spPr>
          <a:xfrm>
            <a:off x="3584400" y="2431393"/>
            <a:ext cx="37098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Build me a polished memo</a:t>
            </a:r>
            <a:endParaRPr sz="2200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5" title="J-FOH-shot.jpg"/>
          <p:cNvPicPr preferRelativeResize="0"/>
          <p:nvPr/>
        </p:nvPicPr>
        <p:blipFill rotWithShape="1">
          <a:blip r:embed="rId3">
            <a:alphaModFix/>
          </a:blip>
          <a:srcRect t="41504" b="2099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5" name="Google Shape;235;p35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6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6" title="I7KxTU8Jm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440" y="1709371"/>
            <a:ext cx="5405162" cy="5148624"/>
          </a:xfrm>
          <a:prstGeom prst="rect">
            <a:avLst/>
          </a:prstGeom>
          <a:noFill/>
          <a:ln>
            <a:noFill/>
          </a:ln>
          <a:effectLst>
            <a:outerShdw blurRad="180093" dist="2001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243" name="Google Shape;243;p36" title="ye9EVhg16x.png"/>
          <p:cNvPicPr preferRelativeResize="0"/>
          <p:nvPr/>
        </p:nvPicPr>
        <p:blipFill rotWithShape="1">
          <a:blip r:embed="rId5">
            <a:alphaModFix/>
          </a:blip>
          <a:srcRect b="23424"/>
          <a:stretch/>
        </p:blipFill>
        <p:spPr>
          <a:xfrm>
            <a:off x="5712759" y="785825"/>
            <a:ext cx="4677803" cy="6072174"/>
          </a:xfrm>
          <a:prstGeom prst="rect">
            <a:avLst/>
          </a:prstGeom>
          <a:noFill/>
          <a:ln>
            <a:noFill/>
          </a:ln>
          <a:effectLst>
            <a:outerShdw blurRad="180093" dist="2001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7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7"/>
          <p:cNvPicPr preferRelativeResize="0"/>
          <p:nvPr/>
        </p:nvPicPr>
        <p:blipFill>
          <a:blip r:embed="rId4">
            <a:alphaModFix/>
          </a:blip>
          <a:srcRect t="12500" b="1250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7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2" name="Google Shape;252;p37" descr="A black and grey logo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47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8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0" y="-216244"/>
            <a:ext cx="12192000" cy="8031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0" name="Google Shape;260;p38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6" y="291678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9" title="AdobeStock_2202043506.jpeg"/>
          <p:cNvPicPr preferRelativeResize="0"/>
          <p:nvPr/>
        </p:nvPicPr>
        <p:blipFill rotWithShape="1">
          <a:blip r:embed="rId3">
            <a:alphaModFix/>
          </a:blip>
          <a:srcRect l="2790" t="201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9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0" title="AdobeStock_1660555122-edit.png"/>
          <p:cNvPicPr preferRelativeResize="0"/>
          <p:nvPr/>
        </p:nvPicPr>
        <p:blipFill rotWithShape="1">
          <a:blip r:embed="rId3">
            <a:alphaModFix/>
          </a:blip>
          <a:srcRect l="169" r="17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/>
          <p:cNvSpPr txBox="1">
            <a:spLocks noGrp="1"/>
          </p:cNvSpPr>
          <p:nvPr>
            <p:ph type="title"/>
          </p:nvPr>
        </p:nvSpPr>
        <p:spPr>
          <a:xfrm>
            <a:off x="395400" y="933450"/>
            <a:ext cx="11401200" cy="1685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60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This is the Duality of AI</a:t>
            </a:r>
            <a:endParaRPr sz="6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0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5" name="Google Shape;275;p40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1" title="AdobeStock_1114617674.jpeg"/>
          <p:cNvPicPr preferRelativeResize="0"/>
          <p:nvPr/>
        </p:nvPicPr>
        <p:blipFill rotWithShape="1">
          <a:blip r:embed="rId3">
            <a:alphaModFix/>
          </a:blip>
          <a:srcRect l="45185" t="17210" r="15544" b="1243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1"/>
          <p:cNvSpPr txBox="1">
            <a:spLocks noGrp="1"/>
          </p:cNvSpPr>
          <p:nvPr>
            <p:ph type="title"/>
          </p:nvPr>
        </p:nvSpPr>
        <p:spPr>
          <a:xfrm>
            <a:off x="395400" y="2586300"/>
            <a:ext cx="11401200" cy="1685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60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AI is not a Field of Dreams</a:t>
            </a:r>
            <a:endParaRPr sz="6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3" name="Google Shape;283;p41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>
            <a:spLocks noGrp="1"/>
          </p:cNvSpPr>
          <p:nvPr>
            <p:ph type="title"/>
          </p:nvPr>
        </p:nvSpPr>
        <p:spPr>
          <a:xfrm>
            <a:off x="903738" y="961025"/>
            <a:ext cx="103845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Three Great Tensions of AI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289" name="Google Shape;289;p42"/>
          <p:cNvGrpSpPr/>
          <p:nvPr/>
        </p:nvGrpSpPr>
        <p:grpSpPr>
          <a:xfrm>
            <a:off x="1039463" y="2406975"/>
            <a:ext cx="10397813" cy="943800"/>
            <a:chOff x="1039463" y="2406975"/>
            <a:chExt cx="10397813" cy="943800"/>
          </a:xfrm>
        </p:grpSpPr>
        <p:sp>
          <p:nvSpPr>
            <p:cNvPr id="290" name="Google Shape;290;p42"/>
            <p:cNvSpPr/>
            <p:nvPr/>
          </p:nvSpPr>
          <p:spPr>
            <a:xfrm>
              <a:off x="1052775" y="2406975"/>
              <a:ext cx="10384500" cy="943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1039463" y="2406975"/>
              <a:ext cx="943800" cy="94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1"/>
                <a:buFont typeface="Arial"/>
                <a:buNone/>
              </a:pPr>
              <a:r>
                <a:rPr lang="en-US" sz="3061" b="1">
                  <a:solidFill>
                    <a:schemeClr val="lt1"/>
                  </a:solidFill>
                  <a:latin typeface="Fraunces"/>
                  <a:ea typeface="Fraunces"/>
                  <a:cs typeface="Fraunces"/>
                  <a:sym typeface="Fraunces"/>
                </a:rPr>
                <a:t>1</a:t>
              </a:r>
              <a:endParaRPr sz="3061" b="1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292" name="Google Shape;292;p42"/>
            <p:cNvSpPr txBox="1"/>
            <p:nvPr/>
          </p:nvSpPr>
          <p:spPr>
            <a:xfrm>
              <a:off x="2297888" y="2532525"/>
              <a:ext cx="8572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lang="en-US" sz="3300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AI will eliminate jobs and create new ones</a:t>
              </a:r>
              <a:endParaRPr sz="330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grpSp>
        <p:nvGrpSpPr>
          <p:cNvPr id="293" name="Google Shape;293;p42"/>
          <p:cNvGrpSpPr/>
          <p:nvPr/>
        </p:nvGrpSpPr>
        <p:grpSpPr>
          <a:xfrm>
            <a:off x="1039463" y="3727363"/>
            <a:ext cx="10432425" cy="943802"/>
            <a:chOff x="1039463" y="3727363"/>
            <a:chExt cx="10432425" cy="943802"/>
          </a:xfrm>
        </p:grpSpPr>
        <p:sp>
          <p:nvSpPr>
            <p:cNvPr id="294" name="Google Shape;294;p42"/>
            <p:cNvSpPr/>
            <p:nvPr/>
          </p:nvSpPr>
          <p:spPr>
            <a:xfrm>
              <a:off x="1052775" y="3727363"/>
              <a:ext cx="10384500" cy="943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1039463" y="3727364"/>
              <a:ext cx="943800" cy="94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1"/>
                <a:buFont typeface="Arial"/>
                <a:buNone/>
              </a:pPr>
              <a:r>
                <a:rPr lang="en-US" sz="3061" b="1">
                  <a:solidFill>
                    <a:schemeClr val="lt1"/>
                  </a:solidFill>
                  <a:latin typeface="Fraunces"/>
                  <a:ea typeface="Fraunces"/>
                  <a:cs typeface="Fraunces"/>
                  <a:sym typeface="Fraunces"/>
                </a:rPr>
                <a:t>2</a:t>
              </a:r>
              <a:endParaRPr sz="3061" b="1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296" name="Google Shape;296;p42"/>
            <p:cNvSpPr txBox="1"/>
            <p:nvPr/>
          </p:nvSpPr>
          <p:spPr>
            <a:xfrm>
              <a:off x="2297888" y="3852913"/>
              <a:ext cx="9174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lang="en-US" sz="3300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AI will create shared prosperity or extract it</a:t>
              </a:r>
              <a:endParaRPr sz="330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grpSp>
        <p:nvGrpSpPr>
          <p:cNvPr id="297" name="Google Shape;297;p42"/>
          <p:cNvGrpSpPr/>
          <p:nvPr/>
        </p:nvGrpSpPr>
        <p:grpSpPr>
          <a:xfrm>
            <a:off x="1039463" y="5047750"/>
            <a:ext cx="10432425" cy="943813"/>
            <a:chOff x="1039463" y="5047750"/>
            <a:chExt cx="10432425" cy="943813"/>
          </a:xfrm>
        </p:grpSpPr>
        <p:sp>
          <p:nvSpPr>
            <p:cNvPr id="298" name="Google Shape;298;p42"/>
            <p:cNvSpPr/>
            <p:nvPr/>
          </p:nvSpPr>
          <p:spPr>
            <a:xfrm>
              <a:off x="1052775" y="5047763"/>
              <a:ext cx="10384500" cy="943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1039463" y="5047750"/>
              <a:ext cx="943800" cy="94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1"/>
                <a:buFont typeface="Arial"/>
                <a:buNone/>
              </a:pPr>
              <a:r>
                <a:rPr lang="en-US" sz="3061" b="1">
                  <a:solidFill>
                    <a:schemeClr val="lt1"/>
                  </a:solidFill>
                  <a:latin typeface="Fraunces"/>
                  <a:ea typeface="Fraunces"/>
                  <a:cs typeface="Fraunces"/>
                  <a:sym typeface="Fraunces"/>
                </a:rPr>
                <a:t>3</a:t>
              </a:r>
              <a:endParaRPr sz="3061" b="1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300" name="Google Shape;300;p42"/>
            <p:cNvSpPr txBox="1"/>
            <p:nvPr/>
          </p:nvSpPr>
          <p:spPr>
            <a:xfrm>
              <a:off x="2297888" y="5173300"/>
              <a:ext cx="9174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lang="en-US" sz="3300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AI will democratize control or concentrate it</a:t>
              </a:r>
              <a:endParaRPr sz="330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3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>
            <a:spLocks noGrp="1"/>
          </p:cNvSpPr>
          <p:nvPr>
            <p:ph type="title"/>
          </p:nvPr>
        </p:nvSpPr>
        <p:spPr>
          <a:xfrm>
            <a:off x="975600" y="1878700"/>
            <a:ext cx="61314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Technology doesn't pick. </a:t>
            </a:r>
            <a:b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</a:br>
            <a:b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</a:b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People do. 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5500" b="0" i="1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We do.</a:t>
            </a:r>
            <a:endParaRPr sz="5500" b="0" i="1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8" name="Google Shape;308;p43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>
            <a:spLocks noGrp="1"/>
          </p:cNvSpPr>
          <p:nvPr>
            <p:ph type="title"/>
          </p:nvPr>
        </p:nvSpPr>
        <p:spPr>
          <a:xfrm>
            <a:off x="903750" y="3324500"/>
            <a:ext cx="103845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AI will eliminate jobs and create new ones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2499000" y="2005275"/>
            <a:ext cx="7194000" cy="827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The First Great Tension</a:t>
            </a:r>
            <a:endParaRPr sz="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/>
        </p:nvSpPr>
        <p:spPr>
          <a:xfrm>
            <a:off x="544350" y="1201950"/>
            <a:ext cx="11103300" cy="47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“Today we stand on the threshold of a new industrial revolution, the revolution of automation. </a:t>
            </a:r>
            <a:endParaRPr sz="33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This is a revolution bright with the hope of a new prosperity for labor and a new abundance for America. </a:t>
            </a:r>
            <a:endParaRPr sz="33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But it is also a revolution which carries the dark menace of industrial dislocation, increasing unemployment, and deepening poverty.”</a:t>
            </a:r>
            <a:endParaRPr sz="3300" b="0" i="0" u="none" strike="noStrike" cap="none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6" title="AdobeStock_252654847.jpeg"/>
          <p:cNvPicPr preferRelativeResize="0"/>
          <p:nvPr/>
        </p:nvPicPr>
        <p:blipFill rotWithShape="1">
          <a:blip r:embed="rId3">
            <a:alphaModFix/>
          </a:blip>
          <a:srcRect t="335" b="13754"/>
          <a:stretch/>
        </p:blipFill>
        <p:spPr>
          <a:xfrm>
            <a:off x="0" y="0"/>
            <a:ext cx="122558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6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6" name="Google Shape;326;p46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47"/>
          <p:cNvSpPr txBox="1">
            <a:spLocks noGrp="1"/>
          </p:cNvSpPr>
          <p:nvPr>
            <p:ph type="title"/>
          </p:nvPr>
        </p:nvSpPr>
        <p:spPr>
          <a:xfrm>
            <a:off x="480475" y="1989750"/>
            <a:ext cx="5372100" cy="28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70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Inherent Tension in Change</a:t>
            </a:r>
            <a:endParaRPr sz="70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333" name="Google Shape;333;p47"/>
          <p:cNvGrpSpPr/>
          <p:nvPr/>
        </p:nvGrpSpPr>
        <p:grpSpPr>
          <a:xfrm>
            <a:off x="6241425" y="850900"/>
            <a:ext cx="5139218" cy="5156199"/>
            <a:chOff x="6241425" y="850900"/>
            <a:chExt cx="5139218" cy="5156199"/>
          </a:xfrm>
        </p:grpSpPr>
        <p:pic>
          <p:nvPicPr>
            <p:cNvPr id="334" name="Google Shape;334;p47" title="Gemini_Generated_Image_vi5m9avi5m9avi5m.jpeg"/>
            <p:cNvPicPr preferRelativeResize="0"/>
            <p:nvPr/>
          </p:nvPicPr>
          <p:blipFill rotWithShape="1">
            <a:blip r:embed="rId3">
              <a:alphaModFix/>
            </a:blip>
            <a:srcRect l="3667" t="20324" r="51225" b="23392"/>
            <a:stretch/>
          </p:blipFill>
          <p:spPr>
            <a:xfrm>
              <a:off x="6241425" y="850900"/>
              <a:ext cx="3628406" cy="2469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47" title="AdobeStock_1029406659.jpe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52243" y="3588745"/>
              <a:ext cx="3628401" cy="24183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47"/>
            <p:cNvSpPr/>
            <p:nvPr/>
          </p:nvSpPr>
          <p:spPr>
            <a:xfrm rot="5400000">
              <a:off x="6988149" y="3719695"/>
              <a:ext cx="606900" cy="345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975" tIns="81975" rIns="81975" bIns="81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55"/>
            </a:p>
          </p:txBody>
        </p:sp>
        <p:sp>
          <p:nvSpPr>
            <p:cNvPr id="337" name="Google Shape;337;p47"/>
            <p:cNvSpPr/>
            <p:nvPr/>
          </p:nvSpPr>
          <p:spPr>
            <a:xfrm rot="5400000">
              <a:off x="6498962" y="3719695"/>
              <a:ext cx="606900" cy="345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975" tIns="81975" rIns="81975" bIns="81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55"/>
            </a:p>
          </p:txBody>
        </p:sp>
      </p:grpSp>
      <p:grpSp>
        <p:nvGrpSpPr>
          <p:cNvPr id="338" name="Google Shape;338;p47"/>
          <p:cNvGrpSpPr/>
          <p:nvPr/>
        </p:nvGrpSpPr>
        <p:grpSpPr>
          <a:xfrm>
            <a:off x="6241425" y="850900"/>
            <a:ext cx="5139218" cy="5156199"/>
            <a:chOff x="6241425" y="6372225"/>
            <a:chExt cx="5139218" cy="5156199"/>
          </a:xfrm>
        </p:grpSpPr>
        <p:pic>
          <p:nvPicPr>
            <p:cNvPr id="339" name="Google Shape;339;p47" title="AdobeStock_295500068.jpeg"/>
            <p:cNvPicPr preferRelativeResize="0"/>
            <p:nvPr/>
          </p:nvPicPr>
          <p:blipFill rotWithShape="1">
            <a:blip r:embed="rId5">
              <a:alphaModFix/>
            </a:blip>
            <a:srcRect l="961" r="951"/>
            <a:stretch/>
          </p:blipFill>
          <p:spPr>
            <a:xfrm>
              <a:off x="6241425" y="6372225"/>
              <a:ext cx="3628406" cy="246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47" title="AdobeStock_558653391.jpe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752243" y="9110070"/>
              <a:ext cx="3628401" cy="24183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47"/>
            <p:cNvSpPr/>
            <p:nvPr/>
          </p:nvSpPr>
          <p:spPr>
            <a:xfrm rot="5400000">
              <a:off x="6988149" y="9241020"/>
              <a:ext cx="606900" cy="345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975" tIns="81975" rIns="81975" bIns="81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55"/>
            </a:p>
          </p:txBody>
        </p:sp>
        <p:sp>
          <p:nvSpPr>
            <p:cNvPr id="342" name="Google Shape;342;p47"/>
            <p:cNvSpPr/>
            <p:nvPr/>
          </p:nvSpPr>
          <p:spPr>
            <a:xfrm rot="5400000">
              <a:off x="6498962" y="9241020"/>
              <a:ext cx="606900" cy="345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975" tIns="81975" rIns="81975" bIns="81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55"/>
            </a:p>
          </p:txBody>
        </p:sp>
      </p:grpSp>
      <p:grpSp>
        <p:nvGrpSpPr>
          <p:cNvPr id="343" name="Google Shape;343;p47"/>
          <p:cNvGrpSpPr/>
          <p:nvPr/>
        </p:nvGrpSpPr>
        <p:grpSpPr>
          <a:xfrm>
            <a:off x="6241425" y="850900"/>
            <a:ext cx="5139218" cy="5156199"/>
            <a:chOff x="6241425" y="6372225"/>
            <a:chExt cx="5139218" cy="5156199"/>
          </a:xfrm>
        </p:grpSpPr>
        <p:pic>
          <p:nvPicPr>
            <p:cNvPr id="344" name="Google Shape;344;p47" title="AdobeStock_2147965355.jpeg"/>
            <p:cNvPicPr preferRelativeResize="0"/>
            <p:nvPr/>
          </p:nvPicPr>
          <p:blipFill rotWithShape="1">
            <a:blip r:embed="rId7">
              <a:alphaModFix/>
            </a:blip>
            <a:srcRect l="8814" r="8814"/>
            <a:stretch/>
          </p:blipFill>
          <p:spPr>
            <a:xfrm>
              <a:off x="6241425" y="6372225"/>
              <a:ext cx="3628406" cy="246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47" title="AdobeStock_46951342.jpe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752243" y="9110070"/>
              <a:ext cx="3628401" cy="24183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47"/>
            <p:cNvSpPr/>
            <p:nvPr/>
          </p:nvSpPr>
          <p:spPr>
            <a:xfrm rot="5400000">
              <a:off x="6988149" y="9241020"/>
              <a:ext cx="606900" cy="345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975" tIns="81975" rIns="81975" bIns="81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55"/>
            </a:p>
          </p:txBody>
        </p:sp>
        <p:sp>
          <p:nvSpPr>
            <p:cNvPr id="347" name="Google Shape;347;p47"/>
            <p:cNvSpPr/>
            <p:nvPr/>
          </p:nvSpPr>
          <p:spPr>
            <a:xfrm rot="5400000">
              <a:off x="6498962" y="9241020"/>
              <a:ext cx="606900" cy="345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1975" tIns="81975" rIns="81975" bIns="819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55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8" title="AdobeStock_77533655.jpeg"/>
          <p:cNvPicPr preferRelativeResize="0"/>
          <p:nvPr/>
        </p:nvPicPr>
        <p:blipFill rotWithShape="1">
          <a:blip r:embed="rId3">
            <a:alphaModFix/>
          </a:blip>
          <a:srcRect b="3102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8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4" name="Google Shape;354;p48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0" name="Google Shape;360;p49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9"/>
          <p:cNvSpPr txBox="1"/>
          <p:nvPr/>
        </p:nvSpPr>
        <p:spPr>
          <a:xfrm>
            <a:off x="2298025" y="473200"/>
            <a:ext cx="76050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Telephone Switchboard Operators</a:t>
            </a:r>
            <a:endParaRPr sz="45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362" name="Google Shape;362;p49"/>
          <p:cNvGrpSpPr/>
          <p:nvPr/>
        </p:nvGrpSpPr>
        <p:grpSpPr>
          <a:xfrm>
            <a:off x="1462375" y="2301938"/>
            <a:ext cx="9267300" cy="3811438"/>
            <a:chOff x="1462375" y="2301938"/>
            <a:chExt cx="9267300" cy="3811438"/>
          </a:xfrm>
        </p:grpSpPr>
        <p:cxnSp>
          <p:nvCxnSpPr>
            <p:cNvPr id="363" name="Google Shape;363;p49"/>
            <p:cNvCxnSpPr/>
            <p:nvPr/>
          </p:nvCxnSpPr>
          <p:spPr>
            <a:xfrm>
              <a:off x="1462375" y="5356820"/>
              <a:ext cx="9267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4" name="Google Shape;364;p49"/>
            <p:cNvSpPr/>
            <p:nvPr/>
          </p:nvSpPr>
          <p:spPr>
            <a:xfrm>
              <a:off x="2141463" y="2301938"/>
              <a:ext cx="1778100" cy="305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9"/>
            <p:cNvSpPr txBox="1"/>
            <p:nvPr/>
          </p:nvSpPr>
          <p:spPr>
            <a:xfrm>
              <a:off x="1813894" y="5497776"/>
              <a:ext cx="243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1950</a:t>
              </a:r>
              <a:endParaRPr sz="28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366" name="Google Shape;366;p49"/>
            <p:cNvSpPr/>
            <p:nvPr/>
          </p:nvSpPr>
          <p:spPr>
            <a:xfrm>
              <a:off x="5042998" y="4767170"/>
              <a:ext cx="1778100" cy="589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9"/>
            <p:cNvSpPr txBox="1"/>
            <p:nvPr/>
          </p:nvSpPr>
          <p:spPr>
            <a:xfrm>
              <a:off x="4715429" y="5497776"/>
              <a:ext cx="243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1984</a:t>
              </a:r>
              <a:endParaRPr sz="28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368" name="Google Shape;368;p49"/>
            <p:cNvSpPr txBox="1"/>
            <p:nvPr/>
          </p:nvSpPr>
          <p:spPr>
            <a:xfrm>
              <a:off x="4715429" y="4177520"/>
              <a:ext cx="243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40k</a:t>
              </a:r>
              <a:endParaRPr sz="28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369" name="Google Shape;369;p49"/>
            <p:cNvSpPr/>
            <p:nvPr/>
          </p:nvSpPr>
          <p:spPr>
            <a:xfrm>
              <a:off x="8272101" y="5291380"/>
              <a:ext cx="1778100" cy="65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9"/>
            <p:cNvSpPr txBox="1"/>
            <p:nvPr/>
          </p:nvSpPr>
          <p:spPr>
            <a:xfrm>
              <a:off x="7944533" y="5497776"/>
              <a:ext cx="243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2026</a:t>
              </a:r>
              <a:endParaRPr sz="28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371" name="Google Shape;371;p49"/>
            <p:cNvSpPr txBox="1"/>
            <p:nvPr/>
          </p:nvSpPr>
          <p:spPr>
            <a:xfrm>
              <a:off x="7944533" y="4701754"/>
              <a:ext cx="243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&lt;2k</a:t>
              </a:r>
              <a:endParaRPr sz="28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372" name="Google Shape;372;p49"/>
            <p:cNvSpPr txBox="1"/>
            <p:nvPr/>
          </p:nvSpPr>
          <p:spPr>
            <a:xfrm>
              <a:off x="1813894" y="2301938"/>
              <a:ext cx="243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1.5M</a:t>
              </a:r>
              <a:endParaRPr sz="28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sp>
        <p:nvSpPr>
          <p:cNvPr id="373" name="Google Shape;373;p49"/>
          <p:cNvSpPr txBox="1"/>
          <p:nvPr/>
        </p:nvSpPr>
        <p:spPr>
          <a:xfrm>
            <a:off x="3747450" y="6372225"/>
            <a:ext cx="4697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 b="0" i="0" u="none" strike="noStrike" cap="none">
                <a:solidFill>
                  <a:srgbClr val="7F7F7F"/>
                </a:solidFill>
                <a:latin typeface="DM Sans"/>
                <a:ea typeface="DM Sans"/>
                <a:cs typeface="DM Sans"/>
                <a:sym typeface="DM Sans"/>
              </a:rPr>
              <a:t>Sources: Federal Reserve Bank of Richmond; Bureau of Labor Statistics </a:t>
            </a:r>
            <a:endParaRPr sz="1000" b="0" i="0" u="none" strike="noStrike" cap="none">
              <a:solidFill>
                <a:srgbClr val="7F7F7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>
            <a:spLocks noGrp="1"/>
          </p:cNvSpPr>
          <p:nvPr>
            <p:ph type="title"/>
          </p:nvPr>
        </p:nvSpPr>
        <p:spPr>
          <a:xfrm>
            <a:off x="476250" y="1817400"/>
            <a:ext cx="11239500" cy="3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i="1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We risk</a:t>
            </a: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 losing the part that makes us human. </a:t>
            </a:r>
            <a:endParaRPr sz="6000">
              <a:solidFill>
                <a:schemeClr val="dk1"/>
              </a:solidFill>
              <a:latin typeface="Fraunces SemiBold"/>
              <a:ea typeface="Fraunces SemiBold"/>
              <a:cs typeface="Fraunces SemiBold"/>
              <a:sym typeface="Fraunce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 txBox="1">
            <a:spLocks noGrp="1"/>
          </p:cNvSpPr>
          <p:nvPr>
            <p:ph type="title"/>
          </p:nvPr>
        </p:nvSpPr>
        <p:spPr>
          <a:xfrm>
            <a:off x="150" y="2599300"/>
            <a:ext cx="12192000" cy="28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AI Can Create Shared Prosperity —or Become Extractive 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384" name="Google Shape;384;p51"/>
          <p:cNvSpPr/>
          <p:nvPr/>
        </p:nvSpPr>
        <p:spPr>
          <a:xfrm>
            <a:off x="2499000" y="1457588"/>
            <a:ext cx="7194000" cy="827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The Second Great Tension</a:t>
            </a:r>
            <a:endParaRPr sz="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52" title="AdobeStock_207700229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012" y="0"/>
            <a:ext cx="122880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2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2" name="Google Shape;392;p52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2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53" title="AdobeStock_66876433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9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1" name="Google Shape;401;p53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4" title="Gemini_Generated_Image_8pi8ku8pi8ku8pi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75" y="0"/>
            <a:ext cx="1229875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4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0" name="Google Shape;410;p54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4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7" name="Google Shape;417;p5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8" name="Google Shape;418;p55" title="IMG_622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5143507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5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6" name="Google Shape;426;p56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8" name="Google Shape;428;p56" title="IMG_622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5143507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6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6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57" title="AdobeStock_2155079333.jpeg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7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57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8" name="Google Shape;438;p57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 txBox="1">
            <a:spLocks noGrp="1"/>
          </p:cNvSpPr>
          <p:nvPr>
            <p:ph type="title"/>
          </p:nvPr>
        </p:nvSpPr>
        <p:spPr>
          <a:xfrm>
            <a:off x="476250" y="1817400"/>
            <a:ext cx="11239500" cy="3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i="1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We risk</a:t>
            </a: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 hollowing out the communities we are supposed to be building up.</a:t>
            </a:r>
            <a:endParaRPr sz="6000">
              <a:solidFill>
                <a:schemeClr val="dk1"/>
              </a:solidFill>
              <a:latin typeface="Fraunces SemiBold"/>
              <a:ea typeface="Fraunces SemiBold"/>
              <a:cs typeface="Fraunces SemiBold"/>
              <a:sym typeface="Fraunce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9"/>
          <p:cNvSpPr txBox="1">
            <a:spLocks noGrp="1"/>
          </p:cNvSpPr>
          <p:nvPr>
            <p:ph type="title"/>
          </p:nvPr>
        </p:nvSpPr>
        <p:spPr>
          <a:xfrm>
            <a:off x="476250" y="2442000"/>
            <a:ext cx="11239500" cy="28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AI Can Democratize Control—or Concentrate It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449" name="Google Shape;449;p59"/>
          <p:cNvSpPr/>
          <p:nvPr/>
        </p:nvSpPr>
        <p:spPr>
          <a:xfrm>
            <a:off x="2499000" y="1614888"/>
            <a:ext cx="7194000" cy="827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The Third Great Tension</a:t>
            </a:r>
            <a:endParaRPr sz="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>
            <a:spLocks noGrp="1"/>
          </p:cNvSpPr>
          <p:nvPr>
            <p:ph type="title"/>
          </p:nvPr>
        </p:nvSpPr>
        <p:spPr>
          <a:xfrm>
            <a:off x="4222750" y="1067850"/>
            <a:ext cx="6731100" cy="47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“You’re going to get a handful of companies that run these closed models that are going to be in control of the APIs and therefore able to tell you what you can build.”</a:t>
            </a:r>
            <a:endParaRPr sz="31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-Mark Zuckerberg</a:t>
            </a:r>
            <a:endParaRPr sz="31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pic>
        <p:nvPicPr>
          <p:cNvPr id="455" name="Google Shape;45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8021" y="1789025"/>
            <a:ext cx="2458121" cy="32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1"/>
          <p:cNvSpPr txBox="1">
            <a:spLocks noGrp="1"/>
          </p:cNvSpPr>
          <p:nvPr>
            <p:ph type="title"/>
          </p:nvPr>
        </p:nvSpPr>
        <p:spPr>
          <a:xfrm>
            <a:off x="4192587" y="1869900"/>
            <a:ext cx="6698400" cy="31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"We see a future where intelligence is a utility, like electricity or water, and people buy it from us on a meter.”</a:t>
            </a:r>
            <a:endParaRPr sz="35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5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-Sam Altman</a:t>
            </a:r>
            <a:endParaRPr sz="35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pic>
        <p:nvPicPr>
          <p:cNvPr id="461" name="Google Shape;461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1004" y="1708150"/>
            <a:ext cx="2612100" cy="3279900"/>
          </a:xfrm>
          <a:prstGeom prst="roundRect">
            <a:avLst>
              <a:gd name="adj" fmla="val 6106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2"/>
          <p:cNvSpPr txBox="1">
            <a:spLocks noGrp="1"/>
          </p:cNvSpPr>
          <p:nvPr>
            <p:ph type="title"/>
          </p:nvPr>
        </p:nvSpPr>
        <p:spPr>
          <a:xfrm>
            <a:off x="461250" y="1604550"/>
            <a:ext cx="11269500" cy="3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The architecture of a technology helps determine the distribution of power around it</a:t>
            </a:r>
            <a:endParaRPr sz="50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63" title="AdobeStock_1660555122-edit.png"/>
          <p:cNvPicPr preferRelativeResize="0"/>
          <p:nvPr/>
        </p:nvPicPr>
        <p:blipFill rotWithShape="1">
          <a:blip r:embed="rId3">
            <a:alphaModFix/>
          </a:blip>
          <a:srcRect l="169" r="17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3" title="AdobeStock_1998842692.jpeg"/>
          <p:cNvPicPr preferRelativeResize="0"/>
          <p:nvPr/>
        </p:nvPicPr>
        <p:blipFill rotWithShape="1">
          <a:blip r:embed="rId4">
            <a:alphaModFix/>
          </a:blip>
          <a:srcRect t="13842" b="1383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3" title="AdobeStock_530508333.jpeg"/>
          <p:cNvPicPr preferRelativeResize="0"/>
          <p:nvPr/>
        </p:nvPicPr>
        <p:blipFill rotWithShape="1">
          <a:blip r:embed="rId5">
            <a:alphaModFix/>
          </a:blip>
          <a:srcRect b="1566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3" title="AdobeStock_475287490.jpeg"/>
          <p:cNvPicPr preferRelativeResize="0"/>
          <p:nvPr/>
        </p:nvPicPr>
        <p:blipFill rotWithShape="1">
          <a:blip r:embed="rId6">
            <a:alphaModFix/>
          </a:blip>
          <a:srcRect t="7961" b="6069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76" name="Google Shape;476;p63" descr="A black and grey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3" title="AdobeStock_1765295523.jpeg"/>
          <p:cNvPicPr preferRelativeResize="0"/>
          <p:nvPr/>
        </p:nvPicPr>
        <p:blipFill rotWithShape="1">
          <a:blip r:embed="rId8">
            <a:alphaModFix/>
          </a:blip>
          <a:srcRect t="9773" b="5832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3" title="AdobeStock_922333117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-60550"/>
            <a:ext cx="12450524" cy="69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80" name="Google Shape;480;p63" descr="A black and grey logo&#10;&#10;AI-generated content may be incorrect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9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9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64" title="AdobeStock_422721722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4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87" name="Google Shape;487;p64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65" title="AdobeStock_512552585.jpeg"/>
          <p:cNvPicPr preferRelativeResize="0"/>
          <p:nvPr/>
        </p:nvPicPr>
        <p:blipFill rotWithShape="1">
          <a:blip r:embed="rId3">
            <a:alphaModFix/>
          </a:blip>
          <a:srcRect t="5241" b="1036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6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6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96" name="Google Shape;496;p65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6"/>
          <p:cNvSpPr txBox="1">
            <a:spLocks noGrp="1"/>
          </p:cNvSpPr>
          <p:nvPr>
            <p:ph type="title"/>
          </p:nvPr>
        </p:nvSpPr>
        <p:spPr>
          <a:xfrm>
            <a:off x="476250" y="1817400"/>
            <a:ext cx="11239500" cy="3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i="1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We risk</a:t>
            </a: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 surrendering our agency to systems we cannot question, change, or leave.</a:t>
            </a:r>
            <a:endParaRPr sz="6000">
              <a:solidFill>
                <a:schemeClr val="dk1"/>
              </a:solidFill>
              <a:latin typeface="Fraunces SemiBold"/>
              <a:ea typeface="Fraunces SemiBold"/>
              <a:cs typeface="Fraunces SemiBold"/>
              <a:sym typeface="Fraunce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7"/>
          <p:cNvSpPr txBox="1">
            <a:spLocks noGrp="1"/>
          </p:cNvSpPr>
          <p:nvPr>
            <p:ph type="title"/>
          </p:nvPr>
        </p:nvSpPr>
        <p:spPr>
          <a:xfrm>
            <a:off x="0" y="1604550"/>
            <a:ext cx="12192000" cy="3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Strategy &amp; Execution</a:t>
            </a:r>
            <a:endParaRPr sz="6000">
              <a:solidFill>
                <a:schemeClr val="dk1"/>
              </a:solidFill>
              <a:latin typeface="Fraunces SemiBold"/>
              <a:ea typeface="Fraunces SemiBold"/>
              <a:cs typeface="Fraunces SemiBold"/>
              <a:sym typeface="Fraunce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 txBox="1">
            <a:spLocks noGrp="1"/>
          </p:cNvSpPr>
          <p:nvPr>
            <p:ph type="title"/>
          </p:nvPr>
        </p:nvSpPr>
        <p:spPr>
          <a:xfrm>
            <a:off x="0" y="1604550"/>
            <a:ext cx="12192000" cy="3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Writing is Thinking</a:t>
            </a:r>
            <a:endParaRPr sz="6000">
              <a:solidFill>
                <a:schemeClr val="dk1"/>
              </a:solidFill>
              <a:latin typeface="Fraunces SemiBold"/>
              <a:ea typeface="Fraunces SemiBold"/>
              <a:cs typeface="Fraunces SemiBold"/>
              <a:sym typeface="Fraunce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69" title="AdobeStock_347842288.jpeg"/>
          <p:cNvPicPr preferRelativeResize="0"/>
          <p:nvPr/>
        </p:nvPicPr>
        <p:blipFill rotWithShape="1">
          <a:blip r:embed="rId3">
            <a:alphaModFix/>
          </a:blip>
          <a:srcRect l="961" r="971"/>
          <a:stretch/>
        </p:blipFill>
        <p:spPr>
          <a:xfrm>
            <a:off x="0" y="0"/>
            <a:ext cx="12192000" cy="69083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7" name="Google Shape;517;p69"/>
          <p:cNvGrpSpPr/>
          <p:nvPr/>
        </p:nvGrpSpPr>
        <p:grpSpPr>
          <a:xfrm>
            <a:off x="2915015" y="1480928"/>
            <a:ext cx="6361983" cy="3896124"/>
            <a:chOff x="2915015" y="1480928"/>
            <a:chExt cx="6361983" cy="3896124"/>
          </a:xfrm>
        </p:grpSpPr>
        <p:sp>
          <p:nvSpPr>
            <p:cNvPr id="518" name="Google Shape;518;p69"/>
            <p:cNvSpPr/>
            <p:nvPr/>
          </p:nvSpPr>
          <p:spPr>
            <a:xfrm>
              <a:off x="4662320" y="4096952"/>
              <a:ext cx="1280400" cy="1280100"/>
            </a:xfrm>
            <a:prstGeom prst="ellipse">
              <a:avLst/>
            </a:prstGeom>
            <a:noFill/>
            <a:ln w="1440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71"/>
                <a:buFont typeface="Arial"/>
                <a:buNone/>
              </a:pPr>
              <a:endParaRPr sz="1071" b="1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19" name="Google Shape;519;p69"/>
            <p:cNvSpPr/>
            <p:nvPr/>
          </p:nvSpPr>
          <p:spPr>
            <a:xfrm>
              <a:off x="6253519" y="4096942"/>
              <a:ext cx="1280400" cy="1280100"/>
            </a:xfrm>
            <a:prstGeom prst="ellipse">
              <a:avLst/>
            </a:prstGeom>
            <a:noFill/>
            <a:ln w="1440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71"/>
                <a:buFont typeface="Arial"/>
                <a:buNone/>
              </a:pPr>
              <a:endParaRPr sz="1071" b="1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20" name="Google Shape;520;p69"/>
            <p:cNvSpPr/>
            <p:nvPr/>
          </p:nvSpPr>
          <p:spPr>
            <a:xfrm>
              <a:off x="3071116" y="4096951"/>
              <a:ext cx="1280400" cy="1280100"/>
            </a:xfrm>
            <a:prstGeom prst="ellipse">
              <a:avLst/>
            </a:prstGeom>
            <a:noFill/>
            <a:ln w="1440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71"/>
                <a:buFont typeface="Arial"/>
                <a:buNone/>
              </a:pPr>
              <a:endParaRPr sz="1071" b="1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21" name="Google Shape;521;p69"/>
            <p:cNvSpPr/>
            <p:nvPr/>
          </p:nvSpPr>
          <p:spPr>
            <a:xfrm rot="2700000">
              <a:off x="3132649" y="1727412"/>
              <a:ext cx="1149331" cy="1091631"/>
            </a:xfrm>
            <a:prstGeom prst="plus">
              <a:avLst>
                <a:gd name="adj" fmla="val 392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11325" tIns="111325" rIns="111325" bIns="111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5"/>
                <a:buFont typeface="Arial"/>
                <a:buNone/>
              </a:pPr>
              <a:endParaRPr sz="17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69"/>
            <p:cNvSpPr/>
            <p:nvPr/>
          </p:nvSpPr>
          <p:spPr>
            <a:xfrm>
              <a:off x="7844721" y="4096942"/>
              <a:ext cx="1280400" cy="1280100"/>
            </a:xfrm>
            <a:prstGeom prst="ellipse">
              <a:avLst/>
            </a:prstGeom>
            <a:noFill/>
            <a:ln w="1440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71"/>
                <a:buFont typeface="Arial"/>
                <a:buNone/>
              </a:pPr>
              <a:endParaRPr sz="1071" b="1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23" name="Google Shape;523;p69"/>
            <p:cNvSpPr/>
            <p:nvPr/>
          </p:nvSpPr>
          <p:spPr>
            <a:xfrm rot="2700000">
              <a:off x="4727728" y="1727412"/>
              <a:ext cx="1149331" cy="1091631"/>
            </a:xfrm>
            <a:prstGeom prst="plus">
              <a:avLst>
                <a:gd name="adj" fmla="val 392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11325" tIns="111325" rIns="111325" bIns="111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5"/>
                <a:buFont typeface="Arial"/>
                <a:buNone/>
              </a:pPr>
              <a:endParaRPr sz="17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69"/>
            <p:cNvSpPr/>
            <p:nvPr/>
          </p:nvSpPr>
          <p:spPr>
            <a:xfrm rot="2700000">
              <a:off x="6248354" y="1727412"/>
              <a:ext cx="1149331" cy="1091631"/>
            </a:xfrm>
            <a:prstGeom prst="plus">
              <a:avLst>
                <a:gd name="adj" fmla="val 392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11325" tIns="111325" rIns="111325" bIns="111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5"/>
                <a:buFont typeface="Arial"/>
                <a:buNone/>
              </a:pPr>
              <a:endParaRPr sz="17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69"/>
            <p:cNvSpPr/>
            <p:nvPr/>
          </p:nvSpPr>
          <p:spPr>
            <a:xfrm rot="2700000">
              <a:off x="7910033" y="1727412"/>
              <a:ext cx="1149331" cy="1091631"/>
            </a:xfrm>
            <a:prstGeom prst="plus">
              <a:avLst>
                <a:gd name="adj" fmla="val 392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11325" tIns="111325" rIns="111325" bIns="1113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5"/>
                <a:buFont typeface="Arial"/>
                <a:buNone/>
              </a:pPr>
              <a:endParaRPr sz="17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6" name="Google Shape;526;p69"/>
            <p:cNvCxnSpPr/>
            <p:nvPr/>
          </p:nvCxnSpPr>
          <p:spPr>
            <a:xfrm rot="10800000">
              <a:off x="3711241" y="2895187"/>
              <a:ext cx="0" cy="969000"/>
            </a:xfrm>
            <a:prstGeom prst="straightConnector1">
              <a:avLst/>
            </a:prstGeom>
            <a:noFill/>
            <a:ln w="34800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7" name="Google Shape;527;p69"/>
            <p:cNvCxnSpPr/>
            <p:nvPr/>
          </p:nvCxnSpPr>
          <p:spPr>
            <a:xfrm rot="10800000">
              <a:off x="5302454" y="2895187"/>
              <a:ext cx="0" cy="969000"/>
            </a:xfrm>
            <a:prstGeom prst="straightConnector1">
              <a:avLst/>
            </a:prstGeom>
            <a:noFill/>
            <a:ln w="34800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8" name="Google Shape;528;p69"/>
            <p:cNvCxnSpPr/>
            <p:nvPr/>
          </p:nvCxnSpPr>
          <p:spPr>
            <a:xfrm rot="10800000">
              <a:off x="6893637" y="2895187"/>
              <a:ext cx="0" cy="969000"/>
            </a:xfrm>
            <a:prstGeom prst="straightConnector1">
              <a:avLst/>
            </a:prstGeom>
            <a:noFill/>
            <a:ln w="34800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9" name="Google Shape;529;p69"/>
            <p:cNvCxnSpPr/>
            <p:nvPr/>
          </p:nvCxnSpPr>
          <p:spPr>
            <a:xfrm rot="10800000">
              <a:off x="8484850" y="2895187"/>
              <a:ext cx="0" cy="969000"/>
            </a:xfrm>
            <a:prstGeom prst="straightConnector1">
              <a:avLst/>
            </a:prstGeom>
            <a:noFill/>
            <a:ln w="34800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30" name="Google Shape;530;p69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1" name="Google Shape;531;p69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70" title="AdobeStock_2049890801.jpeg"/>
          <p:cNvPicPr preferRelativeResize="0"/>
          <p:nvPr/>
        </p:nvPicPr>
        <p:blipFill rotWithShape="1">
          <a:blip r:embed="rId3">
            <a:alphaModFix/>
          </a:blip>
          <a:srcRect l="387" r="39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0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8" name="Google Shape;538;p70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3E9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1"/>
          <p:cNvSpPr txBox="1">
            <a:spLocks noGrp="1"/>
          </p:cNvSpPr>
          <p:nvPr>
            <p:ph type="title"/>
          </p:nvPr>
        </p:nvSpPr>
        <p:spPr>
          <a:xfrm>
            <a:off x="0" y="1604550"/>
            <a:ext cx="12192000" cy="3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AI Agents are Just Files</a:t>
            </a:r>
            <a:endParaRPr sz="6000">
              <a:solidFill>
                <a:schemeClr val="dk1"/>
              </a:solidFill>
              <a:latin typeface="Fraunces SemiBold"/>
              <a:ea typeface="Fraunces SemiBold"/>
              <a:cs typeface="Fraunces SemiBold"/>
              <a:sym typeface="Fraunce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2"/>
          <p:cNvSpPr txBox="1">
            <a:spLocks noGrp="1"/>
          </p:cNvSpPr>
          <p:nvPr>
            <p:ph type="title"/>
          </p:nvPr>
        </p:nvSpPr>
        <p:spPr>
          <a:xfrm>
            <a:off x="903738" y="961025"/>
            <a:ext cx="103845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>
                <a:solidFill>
                  <a:schemeClr val="dk1"/>
                </a:solidFill>
                <a:latin typeface="Fraunces SemiBold"/>
                <a:ea typeface="Fraunces SemiBold"/>
                <a:cs typeface="Fraunces SemiBold"/>
                <a:sym typeface="Fraunces SemiBold"/>
              </a:rPr>
              <a:t>Three Great Tensions of AI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549" name="Google Shape;549;p72"/>
          <p:cNvGrpSpPr/>
          <p:nvPr/>
        </p:nvGrpSpPr>
        <p:grpSpPr>
          <a:xfrm>
            <a:off x="1039463" y="2406975"/>
            <a:ext cx="10397813" cy="943800"/>
            <a:chOff x="1039463" y="2406975"/>
            <a:chExt cx="10397813" cy="943800"/>
          </a:xfrm>
        </p:grpSpPr>
        <p:sp>
          <p:nvSpPr>
            <p:cNvPr id="550" name="Google Shape;550;p72"/>
            <p:cNvSpPr/>
            <p:nvPr/>
          </p:nvSpPr>
          <p:spPr>
            <a:xfrm>
              <a:off x="1052775" y="2406975"/>
              <a:ext cx="10384500" cy="943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2"/>
            <p:cNvSpPr/>
            <p:nvPr/>
          </p:nvSpPr>
          <p:spPr>
            <a:xfrm>
              <a:off x="1039463" y="2406975"/>
              <a:ext cx="943800" cy="94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1"/>
                <a:buFont typeface="Arial"/>
                <a:buNone/>
              </a:pPr>
              <a:r>
                <a:rPr lang="en-US" sz="3061" b="1">
                  <a:solidFill>
                    <a:schemeClr val="lt1"/>
                  </a:solidFill>
                  <a:latin typeface="Fraunces"/>
                  <a:ea typeface="Fraunces"/>
                  <a:cs typeface="Fraunces"/>
                  <a:sym typeface="Fraunces"/>
                </a:rPr>
                <a:t>1</a:t>
              </a:r>
              <a:endParaRPr sz="3061" b="1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52" name="Google Shape;552;p72"/>
            <p:cNvSpPr txBox="1"/>
            <p:nvPr/>
          </p:nvSpPr>
          <p:spPr>
            <a:xfrm>
              <a:off x="2297888" y="2532525"/>
              <a:ext cx="8572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lang="en-US" sz="3300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AI will eliminate jobs and create new ones</a:t>
              </a:r>
              <a:endParaRPr sz="330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grpSp>
        <p:nvGrpSpPr>
          <p:cNvPr id="553" name="Google Shape;553;p72"/>
          <p:cNvGrpSpPr/>
          <p:nvPr/>
        </p:nvGrpSpPr>
        <p:grpSpPr>
          <a:xfrm>
            <a:off x="1039463" y="3727363"/>
            <a:ext cx="10432425" cy="943802"/>
            <a:chOff x="1039463" y="3727363"/>
            <a:chExt cx="10432425" cy="943802"/>
          </a:xfrm>
        </p:grpSpPr>
        <p:sp>
          <p:nvSpPr>
            <p:cNvPr id="554" name="Google Shape;554;p72"/>
            <p:cNvSpPr/>
            <p:nvPr/>
          </p:nvSpPr>
          <p:spPr>
            <a:xfrm>
              <a:off x="1052775" y="3727363"/>
              <a:ext cx="10384500" cy="943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2"/>
            <p:cNvSpPr/>
            <p:nvPr/>
          </p:nvSpPr>
          <p:spPr>
            <a:xfrm>
              <a:off x="1039463" y="3727364"/>
              <a:ext cx="943800" cy="94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1"/>
                <a:buFont typeface="Arial"/>
                <a:buNone/>
              </a:pPr>
              <a:r>
                <a:rPr lang="en-US" sz="3061" b="1">
                  <a:solidFill>
                    <a:schemeClr val="lt1"/>
                  </a:solidFill>
                  <a:latin typeface="Fraunces"/>
                  <a:ea typeface="Fraunces"/>
                  <a:cs typeface="Fraunces"/>
                  <a:sym typeface="Fraunces"/>
                </a:rPr>
                <a:t>2</a:t>
              </a:r>
              <a:endParaRPr sz="3061" b="1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56" name="Google Shape;556;p72"/>
            <p:cNvSpPr txBox="1"/>
            <p:nvPr/>
          </p:nvSpPr>
          <p:spPr>
            <a:xfrm>
              <a:off x="2297888" y="3852913"/>
              <a:ext cx="9174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lang="en-US" sz="3300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AI will create shared prosperity or extract it</a:t>
              </a:r>
              <a:endParaRPr sz="330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grpSp>
        <p:nvGrpSpPr>
          <p:cNvPr id="557" name="Google Shape;557;p72"/>
          <p:cNvGrpSpPr/>
          <p:nvPr/>
        </p:nvGrpSpPr>
        <p:grpSpPr>
          <a:xfrm>
            <a:off x="1039463" y="5047750"/>
            <a:ext cx="10432425" cy="943813"/>
            <a:chOff x="1039463" y="5047750"/>
            <a:chExt cx="10432425" cy="943813"/>
          </a:xfrm>
        </p:grpSpPr>
        <p:sp>
          <p:nvSpPr>
            <p:cNvPr id="558" name="Google Shape;558;p72"/>
            <p:cNvSpPr/>
            <p:nvPr/>
          </p:nvSpPr>
          <p:spPr>
            <a:xfrm>
              <a:off x="1052775" y="5047763"/>
              <a:ext cx="10384500" cy="943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2"/>
            <p:cNvSpPr/>
            <p:nvPr/>
          </p:nvSpPr>
          <p:spPr>
            <a:xfrm>
              <a:off x="1039463" y="5047750"/>
              <a:ext cx="943800" cy="94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1"/>
                <a:buFont typeface="Arial"/>
                <a:buNone/>
              </a:pPr>
              <a:r>
                <a:rPr lang="en-US" sz="3061" b="1">
                  <a:solidFill>
                    <a:schemeClr val="lt1"/>
                  </a:solidFill>
                  <a:latin typeface="Fraunces"/>
                  <a:ea typeface="Fraunces"/>
                  <a:cs typeface="Fraunces"/>
                  <a:sym typeface="Fraunces"/>
                </a:rPr>
                <a:t>3</a:t>
              </a:r>
              <a:endParaRPr sz="3061" b="1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560" name="Google Shape;560;p72"/>
            <p:cNvSpPr txBox="1"/>
            <p:nvPr/>
          </p:nvSpPr>
          <p:spPr>
            <a:xfrm>
              <a:off x="2297888" y="5173300"/>
              <a:ext cx="9174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2000"/>
                </a:spcBef>
                <a:spcAft>
                  <a:spcPts val="2000"/>
                </a:spcAft>
                <a:buNone/>
              </a:pPr>
              <a:r>
                <a:rPr lang="en-US" sz="3300">
                  <a:solidFill>
                    <a:schemeClr val="dk1"/>
                  </a:solidFill>
                  <a:latin typeface="Fraunces"/>
                  <a:ea typeface="Fraunces"/>
                  <a:cs typeface="Fraunces"/>
                  <a:sym typeface="Fraunces"/>
                </a:rPr>
                <a:t>AI will democratize control or concentrate it</a:t>
              </a:r>
              <a:endParaRPr sz="330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73" title="AdobeStock_1660555122-edit.png"/>
          <p:cNvPicPr preferRelativeResize="0"/>
          <p:nvPr/>
        </p:nvPicPr>
        <p:blipFill rotWithShape="1">
          <a:blip r:embed="rId3">
            <a:alphaModFix/>
          </a:blip>
          <a:srcRect l="169" r="17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7" name="Google Shape;567;p73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9" name="Google Shape;569;p73" descr="A black and grey logo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74" title="AdobeStock_252955696.jpeg"/>
          <p:cNvPicPr preferRelativeResize="0"/>
          <p:nvPr/>
        </p:nvPicPr>
        <p:blipFill rotWithShape="1">
          <a:blip r:embed="rId3">
            <a:alphaModFix/>
          </a:blip>
          <a:srcRect b="784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4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6" name="Google Shape;576;p74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4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8" name="Google Shape;578;p74" descr="A black and grey logo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75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75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75"/>
          <p:cNvSpPr txBox="1">
            <a:spLocks noGrp="1"/>
          </p:cNvSpPr>
          <p:nvPr>
            <p:ph type="title"/>
          </p:nvPr>
        </p:nvSpPr>
        <p:spPr>
          <a:xfrm>
            <a:off x="975600" y="1878700"/>
            <a:ext cx="66771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Fraunces"/>
              <a:buAutoNum type="arabicPeriod"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Who gets the tools and a path?</a:t>
            </a:r>
            <a:endParaRPr sz="5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75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76" title="AdobeStock_77718610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345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6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3" name="Google Shape;593;p76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77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77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0" name="Google Shape;600;p77"/>
          <p:cNvSpPr txBox="1">
            <a:spLocks noGrp="1"/>
          </p:cNvSpPr>
          <p:nvPr>
            <p:ph type="title"/>
          </p:nvPr>
        </p:nvSpPr>
        <p:spPr>
          <a:xfrm>
            <a:off x="975600" y="1878700"/>
            <a:ext cx="61314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Fraunces"/>
              <a:buAutoNum type="arabicPeriod" startAt="2"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Who benefits?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   Who pays?</a:t>
            </a:r>
            <a:endParaRPr sz="5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77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78" title="AdobeStock_212402488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6395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8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8" name="Google Shape;608;p78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79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9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5" name="Google Shape;615;p79"/>
          <p:cNvSpPr txBox="1">
            <a:spLocks noGrp="1"/>
          </p:cNvSpPr>
          <p:nvPr>
            <p:ph type="title"/>
          </p:nvPr>
        </p:nvSpPr>
        <p:spPr>
          <a:xfrm>
            <a:off x="665825" y="1878700"/>
            <a:ext cx="70578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Fraunces"/>
              <a:buAutoNum type="arabicPeriod" startAt="3"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Who can understand and question this? </a:t>
            </a:r>
            <a:endParaRPr sz="5500" b="0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4572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US" sz="5500" b="0" i="0" u="none" strike="noStrike" cap="none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Who can leave?</a:t>
            </a:r>
            <a:endParaRPr sz="5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79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80" title="AdobeStock_1660555122-edit.png"/>
          <p:cNvPicPr preferRelativeResize="0"/>
          <p:nvPr/>
        </p:nvPicPr>
        <p:blipFill rotWithShape="1">
          <a:blip r:embed="rId3">
            <a:alphaModFix/>
          </a:blip>
          <a:srcRect l="169" r="17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80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3" name="Google Shape;623;p80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80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5" name="Google Shape;625;p80" descr="A black and grey logo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951" y="23786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1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31" name="Google Shape;631;p81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81"/>
          <p:cNvSpPr txBox="1"/>
          <p:nvPr/>
        </p:nvSpPr>
        <p:spPr>
          <a:xfrm>
            <a:off x="2293500" y="561025"/>
            <a:ext cx="7605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Door Open Test</a:t>
            </a:r>
            <a:endParaRPr sz="4500" b="0" i="0" u="none" strike="noStrike" cap="none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633" name="Google Shape;633;p81"/>
          <p:cNvGrpSpPr/>
          <p:nvPr/>
        </p:nvGrpSpPr>
        <p:grpSpPr>
          <a:xfrm>
            <a:off x="1632862" y="2048163"/>
            <a:ext cx="8926275" cy="1110300"/>
            <a:chOff x="1632862" y="2048163"/>
            <a:chExt cx="8926275" cy="1110300"/>
          </a:xfrm>
        </p:grpSpPr>
        <p:sp>
          <p:nvSpPr>
            <p:cNvPr id="634" name="Google Shape;634;p81"/>
            <p:cNvSpPr/>
            <p:nvPr/>
          </p:nvSpPr>
          <p:spPr>
            <a:xfrm>
              <a:off x="1632862" y="2048168"/>
              <a:ext cx="936600" cy="9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9"/>
                <a:buFont typeface="Arial"/>
                <a:buNone/>
              </a:pPr>
              <a:r>
                <a:rPr lang="en-US" sz="2829" b="1" i="0" u="none" strike="noStrike" cap="non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1</a:t>
              </a:r>
              <a:endParaRPr sz="2829" b="1" i="0" u="none" strike="noStrike" cap="non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635" name="Google Shape;635;p81"/>
            <p:cNvSpPr txBox="1"/>
            <p:nvPr/>
          </p:nvSpPr>
          <p:spPr>
            <a:xfrm>
              <a:off x="2924137" y="2048163"/>
              <a:ext cx="7635000" cy="11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225" tIns="86225" rIns="86225" bIns="862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43"/>
                </a:spcAft>
                <a:buClr>
                  <a:srgbClr val="000000"/>
                </a:buClr>
                <a:buSzPts val="2829"/>
                <a:buFont typeface="Arial"/>
                <a:buNone/>
              </a:pPr>
              <a:r>
                <a:rPr lang="en-US" sz="2829" b="1" i="0" u="none" strike="noStrike" cap="none">
                  <a:solidFill>
                    <a:srgbClr val="222222"/>
                  </a:solidFill>
                  <a:latin typeface="Fraunces"/>
                  <a:ea typeface="Fraunces"/>
                  <a:cs typeface="Fraunces"/>
                  <a:sym typeface="Fraunces"/>
                </a:rPr>
                <a:t>Opportunity. </a:t>
              </a:r>
              <a:r>
                <a:rPr lang="en-US" sz="2829" b="0" i="0" u="none" strike="noStrike" cap="none">
                  <a:solidFill>
                    <a:srgbClr val="222222"/>
                  </a:solidFill>
                  <a:latin typeface="Fraunces"/>
                  <a:ea typeface="Fraunces"/>
                  <a:cs typeface="Fraunces"/>
                  <a:sym typeface="Fraunces"/>
                </a:rPr>
                <a:t>Who gets the tools and a new path, and whose paths close? </a:t>
              </a:r>
              <a:endParaRPr sz="2829" b="0" i="0" u="none" strike="noStrike" cap="none">
                <a:solidFill>
                  <a:srgbClr val="222222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grpSp>
        <p:nvGrpSpPr>
          <p:cNvPr id="636" name="Google Shape;636;p81"/>
          <p:cNvGrpSpPr/>
          <p:nvPr/>
        </p:nvGrpSpPr>
        <p:grpSpPr>
          <a:xfrm>
            <a:off x="1632862" y="3432544"/>
            <a:ext cx="8926275" cy="1110300"/>
            <a:chOff x="1632862" y="3432544"/>
            <a:chExt cx="8926275" cy="1110300"/>
          </a:xfrm>
        </p:grpSpPr>
        <p:sp>
          <p:nvSpPr>
            <p:cNvPr id="637" name="Google Shape;637;p81"/>
            <p:cNvSpPr/>
            <p:nvPr/>
          </p:nvSpPr>
          <p:spPr>
            <a:xfrm>
              <a:off x="1632862" y="3436915"/>
              <a:ext cx="936600" cy="9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9"/>
                <a:buFont typeface="Arial"/>
                <a:buNone/>
              </a:pPr>
              <a:r>
                <a:rPr lang="en-US" sz="2829" b="1" i="0" u="none" strike="noStrike" cap="non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2</a:t>
              </a:r>
              <a:endParaRPr sz="2829" b="1" i="0" u="none" strike="noStrike" cap="non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638" name="Google Shape;638;p81"/>
            <p:cNvSpPr txBox="1"/>
            <p:nvPr/>
          </p:nvSpPr>
          <p:spPr>
            <a:xfrm>
              <a:off x="2924137" y="3432544"/>
              <a:ext cx="7635000" cy="11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225" tIns="86225" rIns="86225" bIns="862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43"/>
                </a:spcAft>
                <a:buClr>
                  <a:srgbClr val="000000"/>
                </a:buClr>
                <a:buSzPts val="2829"/>
                <a:buFont typeface="Arial"/>
                <a:buNone/>
              </a:pPr>
              <a:r>
                <a:rPr lang="en-US" sz="2829" b="1" i="0" u="none" strike="noStrike" cap="none">
                  <a:solidFill>
                    <a:srgbClr val="222222"/>
                  </a:solidFill>
                  <a:latin typeface="Fraunces"/>
                  <a:ea typeface="Fraunces"/>
                  <a:cs typeface="Fraunces"/>
                  <a:sym typeface="Fraunces"/>
                </a:rPr>
                <a:t>Prosperity.                                                                 </a:t>
              </a:r>
              <a:r>
                <a:rPr lang="en-US" sz="2829" b="0" i="0" u="none" strike="noStrike" cap="none">
                  <a:solidFill>
                    <a:srgbClr val="222222"/>
                  </a:solidFill>
                  <a:latin typeface="Fraunces"/>
                  <a:ea typeface="Fraunces"/>
                  <a:cs typeface="Fraunces"/>
                  <a:sym typeface="Fraunces"/>
                </a:rPr>
                <a:t>Who benefits, and who pays?</a:t>
              </a:r>
              <a:endParaRPr sz="2829" b="0" i="0" u="none" strike="noStrike" cap="none">
                <a:solidFill>
                  <a:srgbClr val="222222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  <p:grpSp>
        <p:nvGrpSpPr>
          <p:cNvPr id="639" name="Google Shape;639;p81"/>
          <p:cNvGrpSpPr/>
          <p:nvPr/>
        </p:nvGrpSpPr>
        <p:grpSpPr>
          <a:xfrm>
            <a:off x="1632862" y="4816891"/>
            <a:ext cx="8926275" cy="1110300"/>
            <a:chOff x="1632862" y="4816891"/>
            <a:chExt cx="8926275" cy="1110300"/>
          </a:xfrm>
        </p:grpSpPr>
        <p:sp>
          <p:nvSpPr>
            <p:cNvPr id="640" name="Google Shape;640;p81"/>
            <p:cNvSpPr/>
            <p:nvPr/>
          </p:nvSpPr>
          <p:spPr>
            <a:xfrm>
              <a:off x="1632862" y="4816891"/>
              <a:ext cx="936600" cy="936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9"/>
                <a:buFont typeface="Arial"/>
                <a:buNone/>
              </a:pPr>
              <a:r>
                <a:rPr lang="en-US" sz="2829" b="1" i="0" u="none" strike="noStrike" cap="non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3</a:t>
              </a:r>
              <a:endParaRPr sz="2829" b="1" i="0" u="none" strike="noStrike" cap="non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  <p:sp>
          <p:nvSpPr>
            <p:cNvPr id="641" name="Google Shape;641;p81"/>
            <p:cNvSpPr txBox="1"/>
            <p:nvPr/>
          </p:nvSpPr>
          <p:spPr>
            <a:xfrm>
              <a:off x="2924137" y="4816891"/>
              <a:ext cx="7635000" cy="11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225" tIns="86225" rIns="86225" bIns="862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43"/>
                </a:spcAft>
                <a:buClr>
                  <a:srgbClr val="000000"/>
                </a:buClr>
                <a:buSzPts val="2829"/>
                <a:buFont typeface="Arial"/>
                <a:buNone/>
              </a:pPr>
              <a:r>
                <a:rPr lang="en-US" sz="2829" b="1" i="0" u="none" strike="noStrike" cap="none">
                  <a:solidFill>
                    <a:srgbClr val="222222"/>
                  </a:solidFill>
                  <a:latin typeface="Fraunces"/>
                  <a:ea typeface="Fraunces"/>
                  <a:cs typeface="Fraunces"/>
                  <a:sym typeface="Fraunces"/>
                </a:rPr>
                <a:t>Control. </a:t>
              </a:r>
              <a:r>
                <a:rPr lang="en-US" sz="2829" b="0" i="0" u="none" strike="noStrike" cap="none">
                  <a:solidFill>
                    <a:srgbClr val="222222"/>
                  </a:solidFill>
                  <a:latin typeface="Fraunces"/>
                  <a:ea typeface="Fraunces"/>
                  <a:cs typeface="Fraunces"/>
                  <a:sym typeface="Fraunces"/>
                </a:rPr>
                <a:t>Who can understand and question this, and who is forced out?</a:t>
              </a:r>
              <a:endParaRPr sz="2829" b="0" i="0" u="none" strike="noStrike" cap="none">
                <a:solidFill>
                  <a:srgbClr val="222222"/>
                </a:solidFill>
                <a:latin typeface="Fraunces"/>
                <a:ea typeface="Fraunces"/>
                <a:cs typeface="Fraunces"/>
                <a:sym typeface="Fraunce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2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7" name="Google Shape;647;p82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82" title="LeanIn@TN@GHC.jpg"/>
          <p:cNvPicPr preferRelativeResize="0"/>
          <p:nvPr/>
        </p:nvPicPr>
        <p:blipFill rotWithShape="1">
          <a:blip r:embed="rId4">
            <a:alphaModFix/>
          </a:blip>
          <a:srcRect t="8684" b="1600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82" title="MatthiasBroecheler.jpg"/>
          <p:cNvPicPr preferRelativeResize="0"/>
          <p:nvPr/>
        </p:nvPicPr>
        <p:blipFill rotWithShape="1">
          <a:blip r:embed="rId5">
            <a:alphaModFix/>
          </a:blip>
          <a:srcRect t="24449" b="136"/>
          <a:stretch/>
        </p:blipFill>
        <p:spPr>
          <a:xfrm>
            <a:off x="0" y="0"/>
            <a:ext cx="12192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82" title="StudyGroup@TNGame.jpg"/>
          <p:cNvPicPr preferRelativeResize="0"/>
          <p:nvPr/>
        </p:nvPicPr>
        <p:blipFill rotWithShape="1">
          <a:blip r:embed="rId6">
            <a:alphaModFix/>
          </a:blip>
          <a:srcRect t="2602" b="2240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82" title="swimcoach.jpg"/>
          <p:cNvPicPr preferRelativeResize="0"/>
          <p:nvPr/>
        </p:nvPicPr>
        <p:blipFill rotWithShape="1">
          <a:blip r:embed="rId7">
            <a:alphaModFix/>
          </a:blip>
          <a:srcRect l="10738" t="10544" b="14459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2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53" name="Google Shape;653;p82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6" y="2395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83" title="AdobeStock_118339562.jpeg"/>
          <p:cNvPicPr preferRelativeResize="0"/>
          <p:nvPr/>
        </p:nvPicPr>
        <p:blipFill rotWithShape="1">
          <a:blip r:embed="rId3">
            <a:alphaModFix/>
          </a:blip>
          <a:srcRect t="10648" b="19024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83"/>
          <p:cNvSpPr txBox="1"/>
          <p:nvPr/>
        </p:nvSpPr>
        <p:spPr>
          <a:xfrm>
            <a:off x="371476" y="6372226"/>
            <a:ext cx="333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2026 Denise Gosnell, All rights reserved.</a:t>
            </a:r>
            <a:endParaRPr sz="1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60" name="Google Shape;660;p83" descr="A black and grey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026" y="391953"/>
            <a:ext cx="993198" cy="54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4"/>
          <p:cNvSpPr txBox="1">
            <a:spLocks noGrp="1"/>
          </p:cNvSpPr>
          <p:nvPr>
            <p:ph type="title"/>
          </p:nvPr>
        </p:nvSpPr>
        <p:spPr>
          <a:xfrm>
            <a:off x="1292999" y="1893814"/>
            <a:ext cx="9606000" cy="11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</a:pPr>
            <a:r>
              <a:rPr lang="en-US" dirty="0"/>
              <a:t>Thank You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1026" name="Picture 2" descr="Email icon in Material Design style">
            <a:extLst>
              <a:ext uri="{FF2B5EF4-FFF2-40B4-BE49-F238E27FC236}">
                <a16:creationId xmlns:a16="http://schemas.microsoft.com/office/drawing/2014/main" id="{48D32BFC-A37F-42D7-8BF2-EA69A1FE4A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8" t="16744" r="9433" b="17054"/>
          <a:stretch>
            <a:fillRect/>
          </a:stretch>
        </p:blipFill>
        <p:spPr bwMode="auto">
          <a:xfrm>
            <a:off x="3812037" y="4023439"/>
            <a:ext cx="434869" cy="35302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665;p84">
            <a:extLst>
              <a:ext uri="{FF2B5EF4-FFF2-40B4-BE49-F238E27FC236}">
                <a16:creationId xmlns:a16="http://schemas.microsoft.com/office/drawing/2014/main" id="{6D79A964-86C4-98A8-3EB3-AEB98949B882}"/>
              </a:ext>
            </a:extLst>
          </p:cNvPr>
          <p:cNvSpPr txBox="1">
            <a:spLocks/>
          </p:cNvSpPr>
          <p:nvPr/>
        </p:nvSpPr>
        <p:spPr>
          <a:xfrm>
            <a:off x="4066248" y="4108885"/>
            <a:ext cx="4600354" cy="23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  <a:defRPr sz="8000" b="0" i="0" u="none" strike="noStrike" cap="none" spc="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 err="1"/>
              <a:t>denise@denisegosnell.ai</a:t>
            </a:r>
            <a:endParaRPr lang="en-US" sz="2800" dirty="0">
              <a:solidFill>
                <a:schemeClr val="dk2"/>
              </a:solidFill>
            </a:endParaRPr>
          </a:p>
        </p:txBody>
      </p:sp>
      <p:sp>
        <p:nvSpPr>
          <p:cNvPr id="9" name="Google Shape;665;p84">
            <a:extLst>
              <a:ext uri="{FF2B5EF4-FFF2-40B4-BE49-F238E27FC236}">
                <a16:creationId xmlns:a16="http://schemas.microsoft.com/office/drawing/2014/main" id="{B53C7B8A-45C9-4C83-1AEC-304A96F3BE5B}"/>
              </a:ext>
            </a:extLst>
          </p:cNvPr>
          <p:cNvSpPr txBox="1">
            <a:spLocks/>
          </p:cNvSpPr>
          <p:nvPr/>
        </p:nvSpPr>
        <p:spPr>
          <a:xfrm>
            <a:off x="3179899" y="3438476"/>
            <a:ext cx="5832201" cy="58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  <a:defRPr sz="8000" b="0" i="0" u="none" strike="noStrike" cap="none" spc="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Book me in 2027 👇</a:t>
            </a:r>
            <a:endParaRPr lang="en-US" sz="2800" dirty="0">
              <a:solidFill>
                <a:schemeClr val="dk2"/>
              </a:solidFill>
            </a:endParaRPr>
          </a:p>
        </p:txBody>
      </p:sp>
      <p:pic>
        <p:nvPicPr>
          <p:cNvPr id="13" name="Picture 1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24C5D14-FF0B-18A3-2B90-243025F07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214" y="3552980"/>
            <a:ext cx="3296786" cy="3296786"/>
          </a:xfrm>
          <a:prstGeom prst="rect">
            <a:avLst/>
          </a:prstGeom>
        </p:spPr>
      </p:pic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1B2FECB2-52BD-E4E7-3E0E-E9F5E997630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523" t="13328" r="12412" b="11728"/>
          <a:stretch>
            <a:fillRect/>
          </a:stretch>
        </p:blipFill>
        <p:spPr>
          <a:xfrm>
            <a:off x="4203926" y="4986702"/>
            <a:ext cx="444624" cy="449899"/>
          </a:xfrm>
          <a:prstGeom prst="roundRect">
            <a:avLst/>
          </a:prstGeom>
        </p:spPr>
      </p:pic>
      <p:sp>
        <p:nvSpPr>
          <p:cNvPr id="15" name="Google Shape;665;p84">
            <a:extLst>
              <a:ext uri="{FF2B5EF4-FFF2-40B4-BE49-F238E27FC236}">
                <a16:creationId xmlns:a16="http://schemas.microsoft.com/office/drawing/2014/main" id="{7E6E5C9B-F4FC-1223-8B45-17C8D3EE46C7}"/>
              </a:ext>
            </a:extLst>
          </p:cNvPr>
          <p:cNvSpPr txBox="1">
            <a:spLocks/>
          </p:cNvSpPr>
          <p:nvPr/>
        </p:nvSpPr>
        <p:spPr>
          <a:xfrm>
            <a:off x="4426238" y="5099240"/>
            <a:ext cx="3444949" cy="27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  <a:defRPr sz="8000" b="0" i="0" u="none" strike="noStrike" cap="none" spc="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@</a:t>
            </a:r>
            <a:r>
              <a:rPr lang="en-US" sz="2800" dirty="0" err="1"/>
              <a:t>denisekgosnell</a:t>
            </a:r>
            <a:endParaRPr lang="en-US" sz="2800" dirty="0">
              <a:solidFill>
                <a:schemeClr val="dk2"/>
              </a:solidFill>
            </a:endParaRPr>
          </a:p>
        </p:txBody>
      </p:sp>
      <p:sp>
        <p:nvSpPr>
          <p:cNvPr id="17" name="Google Shape;665;p84">
            <a:extLst>
              <a:ext uri="{FF2B5EF4-FFF2-40B4-BE49-F238E27FC236}">
                <a16:creationId xmlns:a16="http://schemas.microsoft.com/office/drawing/2014/main" id="{472BDBAD-3C42-E695-8A63-9AA3A8205A4A}"/>
              </a:ext>
            </a:extLst>
          </p:cNvPr>
          <p:cNvSpPr txBox="1">
            <a:spLocks/>
          </p:cNvSpPr>
          <p:nvPr/>
        </p:nvSpPr>
        <p:spPr>
          <a:xfrm>
            <a:off x="4643950" y="5671553"/>
            <a:ext cx="3444949" cy="27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aunces"/>
              <a:buNone/>
              <a:defRPr sz="8000" b="0" i="0" u="none" strike="noStrike" cap="none" spc="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6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800" dirty="0"/>
              <a:t>@</a:t>
            </a:r>
            <a:r>
              <a:rPr lang="en-US" sz="2800" dirty="0" err="1"/>
              <a:t>denisegosnell.ai</a:t>
            </a:r>
            <a:endParaRPr lang="en-US" sz="2800" dirty="0">
              <a:solidFill>
                <a:schemeClr val="dk2"/>
              </a:solidFill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35AECF0F-4746-3EC4-CA04-951D009F0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8" y="5549139"/>
            <a:ext cx="444842" cy="44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5B287077-36B9-8D27-5C4F-A64A45B4D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789B24-FD46-CFE1-E817-10BF86778D20}"/>
              </a:ext>
            </a:extLst>
          </p:cNvPr>
          <p:cNvSpPr txBox="1"/>
          <p:nvPr/>
        </p:nvSpPr>
        <p:spPr>
          <a:xfrm>
            <a:off x="4731026" y="139145"/>
            <a:ext cx="7441095" cy="1938992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3000">
                <a:srgbClr val="20003E"/>
              </a:gs>
              <a:gs pos="69000">
                <a:srgbClr val="26004D"/>
              </a:gs>
              <a:gs pos="97000">
                <a:schemeClr val="tx1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9E7DB"/>
                </a:solidFill>
                <a:latin typeface="Bebas Neue" panose="020B0606020202050201" pitchFamily="34" charset="77"/>
              </a:rPr>
              <a:t>Data Engineering Keynote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Bebas Neue" panose="020B0606020202050201" pitchFamily="34" charset="77"/>
              </a:rPr>
              <a:t>Wednesday @ 2pm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5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77AEB5"/>
      </a:accent1>
      <a:accent2>
        <a:srgbClr val="C8B6E2"/>
      </a:accent2>
      <a:accent3>
        <a:srgbClr val="2F4548"/>
      </a:accent3>
      <a:accent4>
        <a:srgbClr val="EC9944"/>
      </a:accent4>
      <a:accent5>
        <a:srgbClr val="8A6FDF"/>
      </a:accent5>
      <a:accent6>
        <a:srgbClr val="6E84A3"/>
      </a:accent6>
      <a:hlink>
        <a:srgbClr val="2F454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7235</Words>
  <Application>Microsoft Macintosh PowerPoint</Application>
  <PresentationFormat>Widescreen</PresentationFormat>
  <Paragraphs>613</Paragraphs>
  <Slides>61</Slides>
  <Notes>61</Notes>
  <HiddenSlides>10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Fraunces</vt:lpstr>
      <vt:lpstr>Open Sans</vt:lpstr>
      <vt:lpstr>DM Sans</vt:lpstr>
      <vt:lpstr>Bebas Neue</vt:lpstr>
      <vt:lpstr>Quicksand</vt:lpstr>
      <vt:lpstr>Roboto SemiBold</vt:lpstr>
      <vt:lpstr>Montserrat</vt:lpstr>
      <vt:lpstr>PT Sans</vt:lpstr>
      <vt:lpstr>Arial</vt:lpstr>
      <vt:lpstr>Fraunces SemiBold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Technology doesn't pick.   People do.</vt:lpstr>
      <vt:lpstr>Learning Styles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is the Duality of AI</vt:lpstr>
      <vt:lpstr>AI is not a Field of Dreams</vt:lpstr>
      <vt:lpstr>Three Great Tensions of AI</vt:lpstr>
      <vt:lpstr>Technology doesn't pick.   People do.  We do.</vt:lpstr>
      <vt:lpstr>AI will eliminate jobs and create new ones</vt:lpstr>
      <vt:lpstr>PowerPoint Presentation</vt:lpstr>
      <vt:lpstr>PowerPoint Presentation</vt:lpstr>
      <vt:lpstr>Inherent Tension in Change</vt:lpstr>
      <vt:lpstr>PowerPoint Presentation</vt:lpstr>
      <vt:lpstr>PowerPoint Presentation</vt:lpstr>
      <vt:lpstr>We risk losing the part that makes us human. </vt:lpstr>
      <vt:lpstr>AI Can Create Shared Prosperity —or Become Extractive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risk hollowing out the communities we are supposed to be building up.</vt:lpstr>
      <vt:lpstr>AI Can Democratize Control—or Concentrate It</vt:lpstr>
      <vt:lpstr>“You’re going to get a handful of companies that run these closed models that are going to be in control of the APIs and therefore able to tell you what you can build.”  -Mark Zuckerberg</vt:lpstr>
      <vt:lpstr>"We see a future where intelligence is a utility, like electricity or water, and people buy it from us on a meter.”  -Sam Altman</vt:lpstr>
      <vt:lpstr>The architecture of a technology helps determine the distribution of power around it</vt:lpstr>
      <vt:lpstr>PowerPoint Presentation</vt:lpstr>
      <vt:lpstr>PowerPoint Presentation</vt:lpstr>
      <vt:lpstr>PowerPoint Presentation</vt:lpstr>
      <vt:lpstr>We risk surrendering our agency to systems we cannot question, change, or leave.</vt:lpstr>
      <vt:lpstr>Strategy &amp; Execution</vt:lpstr>
      <vt:lpstr>Writing is Thinking</vt:lpstr>
      <vt:lpstr>PowerPoint Presentation</vt:lpstr>
      <vt:lpstr>PowerPoint Presentation</vt:lpstr>
      <vt:lpstr>AI Agents are Just Files</vt:lpstr>
      <vt:lpstr>Three Great Tensions of AI</vt:lpstr>
      <vt:lpstr>PowerPoint Presentation</vt:lpstr>
      <vt:lpstr>PowerPoint Presentation</vt:lpstr>
      <vt:lpstr>Who gets the tools and a path?</vt:lpstr>
      <vt:lpstr>PowerPoint Presentation</vt:lpstr>
      <vt:lpstr>Who benefits?    Who pays?</vt:lpstr>
      <vt:lpstr>PowerPoint Presentation</vt:lpstr>
      <vt:lpstr>Who can understand and question this?  Who can leave?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Denise Gosnell</cp:lastModifiedBy>
  <cp:revision>5</cp:revision>
  <dcterms:modified xsi:type="dcterms:W3CDTF">2026-10-23T14:37:14Z</dcterms:modified>
</cp:coreProperties>
</file>