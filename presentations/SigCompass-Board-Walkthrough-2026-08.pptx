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Frame: this is the final status update of the build phase — non-prod code complete — followed by the live demo, what we need from the board during testing, and the strategy discussion. Keep it celebratory but grounded: the engine is real and they will touch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Set the expectation up front that part 4 is a discussion, not a presentation — they should be collecting questions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code complete. The four tiles carry the rigor story from June and July. Counts are the July 10 hand-verified numbers; since then we added the Storybook analytics product and the finished revenue funnel, so the real totals are higher — refresh from the latest build if you want exact figures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 since July 10 was about finishing: the third data product (Storybook analytics), the complete revenue funnel, metric corrections Toggle asked for, and SSO running end to end. As of July 30, every item on Toggle’s list was built, tested and deployed, and all known bugs were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picture we have tracked since June — but now everything the non-prod phase called for is solid. The only dashed box left on this chart is next-phase work (C-360 write-backs into Storybook and marketing tools, on the 2027 roadmap from the February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running today and will be shown live in part 2. The AI Studio bullet is the safety story in one line — worth saying out loud before the demo so questions feel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engineering list. First two have hard estimates (2 days each). The Storybook stream is the one item outside our control — a Cenora dependency; the working session is being scheduled now. The last three are hardening items that run during the testing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teal band is the board’s window. Production comes on Aug 28 and must be in full test by Sep 4 — that is what makes the Sep 29 Owners Meeting a full-data reveal. Alpha (Oct 5 – Nov 13) is a subset of agency owners on production, announced in San Antonio.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repositioning moment (decision with Karen): we are demoing non-prod, so the board cannot check it for 100% currentness yet — that is the Owners Meeting. What they CAN do today is see the engine and understand the business and the direction. Storybook tab = mock data, exactly as seen Friday, because of the upstream stream dependency. Land this before anyone opens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environment here. The next slide is the map of the six stops if you want it on screen while people find seats, or as the fallback if connectivity misbehaves.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stops, ~3 minutes each. Stop 4 (AI Studio) is where you hand the keyboard to a board member and let them ask something real. Stop 5: say “mock data” out loud before showing the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“we built” to “you test.” Three slides: what testing is available, the #1 ask (AI Studio questions), and the bug loop — then the date we reconvene.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modes of testing — exploration, interrogation, stress, and challenge. The strip at the bottom is the logistics; the credentials email carries step-by-step instructions and the bug form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valuable thing a board member can do in August: open the AI Studio and ask it what they actually want to know. Every question is telemetry for the roadmap — and the safety line (PII filtered, in-AWS, nothing stored) removes the hesitation.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intake path: the Monday board form, auto-converted to engineering tickets. 4–24h turnaround target during internal testing (the alpha SLA of 1–3 business days is being finalized). Emphasize: a confusing number is as valuable as a broken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commitment date: week of Sept 29, Owners Meeting, San Antonio — the full-data look. The three tiles are the run-up milestones so the board knows exactly what happens between now and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back to the February board deck (“Closing the Loop: a revenue-focused data strategy”). The next three slides: promise vs. delivery, the flywheel, and today-vs-Sept-29 — then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verbatim from the February strategy deck; right column is what stands deployed today. The Gartner stat lands the point: most data programs die before production — this one is live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flywheel — the one picture to remember. Walk it clockwise from MORE DATA. Revenue growth sits in the middle because it is the output of the loop, not a stop on it. Tie back to Amazon (~35% of revenue from recommendations) and McKinsey (personalization lifts conversions 10–15%) from the February deck if asked for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metaphor and the asymmetry: the board gets the tour now precisely so the owners get a flawless voyage on Sept 29 — with board members as experienced guides rather than fellow first-time passengers.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with Q1 (concrete, personal to each owner’s agency). Q2 surfaces the trust threshold — capture the answers verbatim; they become acceptance criteria. Q3 forces a prioritization signal among the February automation candidates. Let silence do its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of this demo: convert the board from an audience into users and champions. Informed skeptics in August become credible advocates in front of the owners in September. This is the ask to leave ringing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name and the promise. Logistics reminder: credentials email carries everything (access steps, bug form, example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the tech-curious — no need to present it. Hosts are abbreviated; the credentials email carries the exact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777240" y="1874520"/>
            <a:ext cx="8503920" cy="320040"/>
          </a:xfrm>
          <a:prstGeom prst="rect">
            <a:avLst/>
          </a:prstGeom>
          <a:noFill/>
          <a:ln/>
        </p:spPr>
        <p:txBody>
          <a:bodyPr wrap="square" lIns="0" tIns="0" rIns="0" bIns="0" rtlCol="0" anchor="ctr"/>
          <a:lstStyle/>
          <a:p>
            <a:pPr indent="0" marL="0">
              <a:buNone/>
            </a:pPr>
            <a:r>
              <a:rPr lang="en-US" sz="1300" b="1" spc="300" kern="0" dirty="0">
                <a:solidFill>
                  <a:srgbClr val="8FB8E8"/>
                </a:solidFill>
                <a:latin typeface="Calibri" pitchFamily="34" charset="0"/>
                <a:ea typeface="Calibri" pitchFamily="34" charset="-122"/>
                <a:cs typeface="Calibri" pitchFamily="34" charset="-120"/>
              </a:rPr>
              <a:t>SIGNATURE  ·  SIGCOMPASS  ·  PROJECT ARCTURUS</a:t>
            </a:r>
            <a:endParaRPr lang="en-US" sz="1300" dirty="0"/>
          </a:p>
        </p:txBody>
      </p:sp>
      <p:sp>
        <p:nvSpPr>
          <p:cNvPr id="3" name="Text 1"/>
          <p:cNvSpPr/>
          <p:nvPr/>
        </p:nvSpPr>
        <p:spPr>
          <a:xfrm>
            <a:off x="777240" y="2240280"/>
            <a:ext cx="850392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The engine is built.</a:t>
            </a:r>
            <a:endParaRPr lang="en-US" sz="4800" dirty="0"/>
          </a:p>
        </p:txBody>
      </p:sp>
      <p:sp>
        <p:nvSpPr>
          <p:cNvPr id="4" name="Text 2"/>
          <p:cNvSpPr/>
          <p:nvPr/>
        </p:nvSpPr>
        <p:spPr>
          <a:xfrm>
            <a:off x="777240" y="3429000"/>
            <a:ext cx="8229600" cy="685800"/>
          </a:xfrm>
          <a:prstGeom prst="rect">
            <a:avLst/>
          </a:prstGeom>
          <a:noFill/>
          <a:ln/>
        </p:spPr>
        <p:txBody>
          <a:bodyPr wrap="square" lIns="0" tIns="0" rIns="0" bIns="0" rtlCol="0" anchor="ctr"/>
          <a:lstStyle/>
          <a:p>
            <a:pPr indent="0" marL="0">
              <a:buNone/>
            </a:pPr>
            <a:r>
              <a:rPr lang="en-US" sz="1550" i="1" dirty="0">
                <a:solidFill>
                  <a:srgbClr val="C9D4F2"/>
                </a:solidFill>
                <a:latin typeface="Calibri" pitchFamily="34" charset="0"/>
                <a:ea typeface="Calibri" pitchFamily="34" charset="-122"/>
                <a:cs typeface="Calibri" pitchFamily="34" charset="-120"/>
              </a:rPr>
              <a:t>Final non-prod status: code complete. Every feature planned for this phase is built, tested, and deployed — today we walk through it together.</a:t>
            </a:r>
            <a:endParaRPr lang="en-US" sz="1550" dirty="0"/>
          </a:p>
        </p:txBody>
      </p:sp>
      <p:sp>
        <p:nvSpPr>
          <p:cNvPr id="5" name="Text 3"/>
          <p:cNvSpPr/>
          <p:nvPr/>
        </p:nvSpPr>
        <p:spPr>
          <a:xfrm>
            <a:off x="777240" y="5120640"/>
            <a:ext cx="850392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Non-prod code complete</a:t>
            </a:r>
            <a:pPr indent="0" marL="0">
              <a:buNone/>
            </a:pPr>
            <a:r>
              <a:rPr lang="en-US" sz="1150" dirty="0">
                <a:solidFill>
                  <a:srgbClr val="FFFFFF"/>
                </a:solidFill>
                <a:latin typeface="Calibri" pitchFamily="34" charset="0"/>
                <a:ea typeface="Calibri" pitchFamily="34" charset="-122"/>
                <a:cs typeface="Calibri" pitchFamily="34" charset="-120"/>
              </a:rPr>
              <a:t>    ·    </a:t>
            </a:r>
            <a:pPr indent="0" marL="0">
              <a:buNone/>
            </a:pPr>
            <a:r>
              <a:rPr lang="en-US" sz="1150" b="1" dirty="0">
                <a:solidFill>
                  <a:srgbClr val="FFFFFF"/>
                </a:solidFill>
                <a:latin typeface="Calibri" pitchFamily="34" charset="0"/>
                <a:ea typeface="Calibri" pitchFamily="34" charset="-122"/>
                <a:cs typeface="Calibri" pitchFamily="34" charset="-120"/>
              </a:rPr>
              <a:t>3 data products in Toggle</a:t>
            </a:r>
            <a:pPr indent="0" marL="0">
              <a:buNone/>
            </a:pPr>
            <a:r>
              <a:rPr lang="en-US" sz="1150" dirty="0">
                <a:solidFill>
                  <a:srgbClr val="FFFFFF"/>
                </a:solidFill>
                <a:latin typeface="Calibri" pitchFamily="34" charset="0"/>
                <a:ea typeface="Calibri" pitchFamily="34" charset="-122"/>
                <a:cs typeface="Calibri" pitchFamily="34" charset="-120"/>
              </a:rPr>
              <a:t>    ·    </a:t>
            </a:r>
            <a:pPr indent="0" marL="0">
              <a:buNone/>
            </a:pPr>
            <a:r>
              <a:rPr lang="en-US" sz="1150" b="1" dirty="0">
                <a:solidFill>
                  <a:srgbClr val="FFFFFF"/>
                </a:solidFill>
                <a:latin typeface="Calibri" pitchFamily="34" charset="0"/>
                <a:ea typeface="Calibri" pitchFamily="34" charset="-122"/>
                <a:cs typeface="Calibri" pitchFamily="34" charset="-120"/>
              </a:rPr>
              <a:t>SSO end-to-end</a:t>
            </a:r>
            <a:pPr indent="0" marL="0">
              <a:buNone/>
            </a:pPr>
            <a:r>
              <a:rPr lang="en-US" sz="1150" dirty="0">
                <a:solidFill>
                  <a:srgbClr val="FFFFFF"/>
                </a:solidFill>
                <a:latin typeface="Calibri" pitchFamily="34" charset="0"/>
                <a:ea typeface="Calibri" pitchFamily="34" charset="-122"/>
                <a:cs typeface="Calibri" pitchFamily="34" charset="-120"/>
              </a:rPr>
              <a:t>    ·    </a:t>
            </a:r>
            <a:pPr indent="0" marL="0">
              <a:buNone/>
            </a:pPr>
            <a:r>
              <a:rPr lang="en-US" sz="1150" b="1" dirty="0">
                <a:solidFill>
                  <a:srgbClr val="FFFFFF"/>
                </a:solidFill>
                <a:latin typeface="Calibri" pitchFamily="34" charset="0"/>
                <a:ea typeface="Calibri" pitchFamily="34" charset="-122"/>
                <a:cs typeface="Calibri" pitchFamily="34" charset="-120"/>
              </a:rPr>
              <a:t>AI Studio ready</a:t>
            </a:r>
            <a:endParaRPr lang="en-US" sz="1150" dirty="0"/>
          </a:p>
        </p:txBody>
      </p:sp>
      <p:sp>
        <p:nvSpPr>
          <p:cNvPr id="6" name="Text 4"/>
          <p:cNvSpPr/>
          <p:nvPr/>
        </p:nvSpPr>
        <p:spPr>
          <a:xfrm>
            <a:off x="777240" y="6035040"/>
            <a:ext cx="8229600" cy="274320"/>
          </a:xfrm>
          <a:prstGeom prst="rect">
            <a:avLst/>
          </a:prstGeom>
          <a:noFill/>
          <a:ln/>
        </p:spPr>
        <p:txBody>
          <a:bodyPr wrap="square" lIns="0" tIns="0" rIns="0" bIns="0" rtlCol="0" anchor="ctr"/>
          <a:lstStyle/>
          <a:p>
            <a:pPr indent="0" marL="0">
              <a:buNone/>
            </a:pPr>
            <a:r>
              <a:rPr lang="en-US" sz="1050" dirty="0">
                <a:solidFill>
                  <a:srgbClr val="8A94C8"/>
                </a:solidFill>
                <a:latin typeface="Calibri" pitchFamily="34" charset="0"/>
                <a:ea typeface="Calibri" pitchFamily="34" charset="-122"/>
                <a:cs typeface="Calibri" pitchFamily="34" charset="-120"/>
              </a:rPr>
              <a:t>Denise Gosnell, Ph.D.    |    Board Walk-Through    |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2</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TODAY'S WALK-THROUGH</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Agenda</a:t>
            </a:r>
            <a:endParaRPr lang="en-US" sz="3000" dirty="0"/>
          </a:p>
        </p:txBody>
      </p:sp>
      <p:sp>
        <p:nvSpPr>
          <p:cNvPr id="6" name="Shape 4"/>
          <p:cNvSpPr/>
          <p:nvPr/>
        </p:nvSpPr>
        <p:spPr>
          <a:xfrm>
            <a:off x="594360" y="1911096"/>
            <a:ext cx="457200" cy="457200"/>
          </a:xfrm>
          <a:prstGeom prst="ellipse">
            <a:avLst/>
          </a:prstGeom>
          <a:solidFill>
            <a:srgbClr val="1E808F"/>
          </a:solidFill>
          <a:ln/>
        </p:spPr>
      </p:sp>
      <p:sp>
        <p:nvSpPr>
          <p:cNvPr id="7" name="Text 5"/>
          <p:cNvSpPr/>
          <p:nvPr/>
        </p:nvSpPr>
        <p:spPr>
          <a:xfrm>
            <a:off x="594360" y="1900123"/>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280160" y="1783080"/>
            <a:ext cx="7040880" cy="713232"/>
          </a:xfrm>
          <a:prstGeom prst="rect">
            <a:avLst/>
          </a:prstGeom>
          <a:noFill/>
          <a:ln/>
        </p:spPr>
        <p:txBody>
          <a:bodyPr wrap="square" lIns="0" tIns="0" rIns="0" bIns="0" rtlCol="0" anchor="ctr"/>
          <a:lstStyle/>
          <a:p>
            <a:pPr indent="0" marL="0">
              <a:buNone/>
            </a:pPr>
            <a:r>
              <a:rPr lang="en-US" sz="1450" b="1" dirty="0">
                <a:solidFill>
                  <a:srgbClr val="1E2749"/>
                </a:solidFill>
                <a:latin typeface="Calibri" pitchFamily="34" charset="0"/>
                <a:ea typeface="Calibri" pitchFamily="34" charset="-122"/>
                <a:cs typeface="Calibri" pitchFamily="34" charset="-120"/>
              </a:rPr>
              <a:t>The build:  </a:t>
            </a:r>
            <a:pPr indent="0" marL="0">
              <a:buNone/>
            </a:pPr>
            <a:r>
              <a:rPr lang="en-US" sz="1450" dirty="0">
                <a:solidFill>
                  <a:srgbClr val="39415C"/>
                </a:solidFill>
                <a:latin typeface="Calibri" pitchFamily="34" charset="0"/>
                <a:ea typeface="Calibri" pitchFamily="34" charset="-122"/>
                <a:cs typeface="Calibri" pitchFamily="34" charset="-120"/>
              </a:rPr>
              <a:t>Final status: non-prod code complete — what shipped, what remains, the road ahead</a:t>
            </a:r>
            <a:endParaRPr lang="en-US" sz="1450" dirty="0"/>
          </a:p>
        </p:txBody>
      </p:sp>
      <p:sp>
        <p:nvSpPr>
          <p:cNvPr id="9" name="Text 7"/>
          <p:cNvSpPr/>
          <p:nvPr/>
        </p:nvSpPr>
        <p:spPr>
          <a:xfrm>
            <a:off x="8366760" y="1783080"/>
            <a:ext cx="1143000" cy="713232"/>
          </a:xfrm>
          <a:prstGeom prst="rect">
            <a:avLst/>
          </a:prstGeom>
          <a:noFill/>
          <a:ln/>
        </p:spPr>
        <p:txBody>
          <a:bodyPr wrap="square" lIns="0" tIns="0" rIns="0" bIns="0" rtlCol="0" anchor="ctr"/>
          <a:lstStyle/>
          <a:p>
            <a:pPr algn="r" indent="0" marL="0">
              <a:buNone/>
            </a:pPr>
            <a:r>
              <a:rPr lang="en-US" sz="1150" b="1" dirty="0">
                <a:solidFill>
                  <a:srgbClr val="7A8296"/>
                </a:solidFill>
                <a:latin typeface="Calibri" pitchFamily="34" charset="0"/>
                <a:ea typeface="Calibri" pitchFamily="34" charset="-122"/>
                <a:cs typeface="Calibri" pitchFamily="34" charset="-120"/>
              </a:rPr>
              <a:t>10 min</a:t>
            </a:r>
            <a:endParaRPr lang="en-US" sz="1150" dirty="0"/>
          </a:p>
        </p:txBody>
      </p:sp>
      <p:sp>
        <p:nvSpPr>
          <p:cNvPr id="10" name="Shape 8"/>
          <p:cNvSpPr/>
          <p:nvPr/>
        </p:nvSpPr>
        <p:spPr>
          <a:xfrm>
            <a:off x="594360" y="2990088"/>
            <a:ext cx="457200" cy="457200"/>
          </a:xfrm>
          <a:prstGeom prst="ellipse">
            <a:avLst/>
          </a:prstGeom>
          <a:solidFill>
            <a:srgbClr val="1E808F"/>
          </a:solidFill>
          <a:ln/>
        </p:spPr>
      </p:sp>
      <p:sp>
        <p:nvSpPr>
          <p:cNvPr id="11" name="Text 9"/>
          <p:cNvSpPr/>
          <p:nvPr/>
        </p:nvSpPr>
        <p:spPr>
          <a:xfrm>
            <a:off x="594360" y="297911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80160" y="2862072"/>
            <a:ext cx="7040880" cy="713232"/>
          </a:xfrm>
          <a:prstGeom prst="rect">
            <a:avLst/>
          </a:prstGeom>
          <a:noFill/>
          <a:ln/>
        </p:spPr>
        <p:txBody>
          <a:bodyPr wrap="square" lIns="0" tIns="0" rIns="0" bIns="0" rtlCol="0" anchor="ctr"/>
          <a:lstStyle/>
          <a:p>
            <a:pPr indent="0" marL="0">
              <a:buNone/>
            </a:pPr>
            <a:r>
              <a:rPr lang="en-US" sz="1450" b="1" dirty="0">
                <a:solidFill>
                  <a:srgbClr val="1E2749"/>
                </a:solidFill>
                <a:latin typeface="Calibri" pitchFamily="34" charset="0"/>
                <a:ea typeface="Calibri" pitchFamily="34" charset="-122"/>
                <a:cs typeface="Calibri" pitchFamily="34" charset="-120"/>
              </a:rPr>
              <a:t>Live demo:  </a:t>
            </a:r>
            <a:pPr indent="0" marL="0">
              <a:buNone/>
            </a:pPr>
            <a:r>
              <a:rPr lang="en-US" sz="1450" dirty="0">
                <a:solidFill>
                  <a:srgbClr val="39415C"/>
                </a:solidFill>
                <a:latin typeface="Calibri" pitchFamily="34" charset="0"/>
                <a:ea typeface="Calibri" pitchFamily="34" charset="-122"/>
                <a:cs typeface="Calibri" pitchFamily="34" charset="-120"/>
              </a:rPr>
              <a:t>A guided tour of the engine — from SigNet sign-in to the AI Studio</a:t>
            </a:r>
            <a:endParaRPr lang="en-US" sz="1450" dirty="0"/>
          </a:p>
        </p:txBody>
      </p:sp>
      <p:sp>
        <p:nvSpPr>
          <p:cNvPr id="13" name="Text 11"/>
          <p:cNvSpPr/>
          <p:nvPr/>
        </p:nvSpPr>
        <p:spPr>
          <a:xfrm>
            <a:off x="8366760" y="2862072"/>
            <a:ext cx="1143000" cy="713232"/>
          </a:xfrm>
          <a:prstGeom prst="rect">
            <a:avLst/>
          </a:prstGeom>
          <a:noFill/>
          <a:ln/>
        </p:spPr>
        <p:txBody>
          <a:bodyPr wrap="square" lIns="0" tIns="0" rIns="0" bIns="0" rtlCol="0" anchor="ctr"/>
          <a:lstStyle/>
          <a:p>
            <a:pPr algn="r" indent="0" marL="0">
              <a:buNone/>
            </a:pPr>
            <a:r>
              <a:rPr lang="en-US" sz="1150" b="1" dirty="0">
                <a:solidFill>
                  <a:srgbClr val="7A8296"/>
                </a:solidFill>
                <a:latin typeface="Calibri" pitchFamily="34" charset="0"/>
                <a:ea typeface="Calibri" pitchFamily="34" charset="-122"/>
                <a:cs typeface="Calibri" pitchFamily="34" charset="-120"/>
              </a:rPr>
              <a:t>20 min</a:t>
            </a:r>
            <a:endParaRPr lang="en-US" sz="1150" dirty="0"/>
          </a:p>
        </p:txBody>
      </p:sp>
      <p:sp>
        <p:nvSpPr>
          <p:cNvPr id="14" name="Shape 12"/>
          <p:cNvSpPr/>
          <p:nvPr/>
        </p:nvSpPr>
        <p:spPr>
          <a:xfrm>
            <a:off x="594360" y="4069080"/>
            <a:ext cx="457200" cy="457200"/>
          </a:xfrm>
          <a:prstGeom prst="ellipse">
            <a:avLst/>
          </a:prstGeom>
          <a:solidFill>
            <a:srgbClr val="1E808F"/>
          </a:solidFill>
          <a:ln/>
        </p:spPr>
      </p:sp>
      <p:sp>
        <p:nvSpPr>
          <p:cNvPr id="15" name="Text 13"/>
          <p:cNvSpPr/>
          <p:nvPr/>
        </p:nvSpPr>
        <p:spPr>
          <a:xfrm>
            <a:off x="594360" y="4058107"/>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280160" y="3941064"/>
            <a:ext cx="7040880" cy="713232"/>
          </a:xfrm>
          <a:prstGeom prst="rect">
            <a:avLst/>
          </a:prstGeom>
          <a:noFill/>
          <a:ln/>
        </p:spPr>
        <p:txBody>
          <a:bodyPr wrap="square" lIns="0" tIns="0" rIns="0" bIns="0" rtlCol="0" anchor="ctr"/>
          <a:lstStyle/>
          <a:p>
            <a:pPr indent="0" marL="0">
              <a:buNone/>
            </a:pPr>
            <a:r>
              <a:rPr lang="en-US" sz="1450" b="1" dirty="0">
                <a:solidFill>
                  <a:srgbClr val="1E2749"/>
                </a:solidFill>
                <a:latin typeface="Calibri" pitchFamily="34" charset="0"/>
                <a:ea typeface="Calibri" pitchFamily="34" charset="-122"/>
                <a:cs typeface="Calibri" pitchFamily="34" charset="-120"/>
              </a:rPr>
              <a:t>Your part:  </a:t>
            </a:r>
            <a:pPr indent="0" marL="0">
              <a:buNone/>
            </a:pPr>
            <a:r>
              <a:rPr lang="en-US" sz="1450" dirty="0">
                <a:solidFill>
                  <a:srgbClr val="39415C"/>
                </a:solidFill>
                <a:latin typeface="Calibri" pitchFamily="34" charset="0"/>
                <a:ea typeface="Calibri" pitchFamily="34" charset="-122"/>
                <a:cs typeface="Calibri" pitchFamily="34" charset="-120"/>
              </a:rPr>
              <a:t>The testing window: what to try, how to ask the AI questions, how to report bugs</a:t>
            </a:r>
            <a:endParaRPr lang="en-US" sz="1450" dirty="0"/>
          </a:p>
        </p:txBody>
      </p:sp>
      <p:sp>
        <p:nvSpPr>
          <p:cNvPr id="17" name="Text 15"/>
          <p:cNvSpPr/>
          <p:nvPr/>
        </p:nvSpPr>
        <p:spPr>
          <a:xfrm>
            <a:off x="8366760" y="3941064"/>
            <a:ext cx="1143000" cy="713232"/>
          </a:xfrm>
          <a:prstGeom prst="rect">
            <a:avLst/>
          </a:prstGeom>
          <a:noFill/>
          <a:ln/>
        </p:spPr>
        <p:txBody>
          <a:bodyPr wrap="square" lIns="0" tIns="0" rIns="0" bIns="0" rtlCol="0" anchor="ctr"/>
          <a:lstStyle/>
          <a:p>
            <a:pPr algn="r" indent="0" marL="0">
              <a:buNone/>
            </a:pPr>
            <a:r>
              <a:rPr lang="en-US" sz="1150" b="1" dirty="0">
                <a:solidFill>
                  <a:srgbClr val="7A8296"/>
                </a:solidFill>
                <a:latin typeface="Calibri" pitchFamily="34" charset="0"/>
                <a:ea typeface="Calibri" pitchFamily="34" charset="-122"/>
                <a:cs typeface="Calibri" pitchFamily="34" charset="-120"/>
              </a:rPr>
              <a:t>10 min</a:t>
            </a:r>
            <a:endParaRPr lang="en-US" sz="1150" dirty="0"/>
          </a:p>
        </p:txBody>
      </p:sp>
      <p:sp>
        <p:nvSpPr>
          <p:cNvPr id="18" name="Shape 16"/>
          <p:cNvSpPr/>
          <p:nvPr/>
        </p:nvSpPr>
        <p:spPr>
          <a:xfrm>
            <a:off x="594360" y="5148072"/>
            <a:ext cx="457200" cy="457200"/>
          </a:xfrm>
          <a:prstGeom prst="ellipse">
            <a:avLst/>
          </a:prstGeom>
          <a:solidFill>
            <a:srgbClr val="1E808F"/>
          </a:solidFill>
          <a:ln/>
        </p:spPr>
      </p:sp>
      <p:sp>
        <p:nvSpPr>
          <p:cNvPr id="19" name="Text 17"/>
          <p:cNvSpPr/>
          <p:nvPr/>
        </p:nvSpPr>
        <p:spPr>
          <a:xfrm>
            <a:off x="594360" y="5137099"/>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280160" y="5020056"/>
            <a:ext cx="7040880" cy="713232"/>
          </a:xfrm>
          <a:prstGeom prst="rect">
            <a:avLst/>
          </a:prstGeom>
          <a:noFill/>
          <a:ln/>
        </p:spPr>
        <p:txBody>
          <a:bodyPr wrap="square" lIns="0" tIns="0" rIns="0" bIns="0" rtlCol="0" anchor="ctr"/>
          <a:lstStyle/>
          <a:p>
            <a:pPr indent="0" marL="0">
              <a:buNone/>
            </a:pPr>
            <a:r>
              <a:rPr lang="en-US" sz="1450" b="1" dirty="0">
                <a:solidFill>
                  <a:srgbClr val="1E2749"/>
                </a:solidFill>
                <a:latin typeface="Calibri" pitchFamily="34" charset="0"/>
                <a:ea typeface="Calibri" pitchFamily="34" charset="-122"/>
                <a:cs typeface="Calibri" pitchFamily="34" charset="-120"/>
              </a:rPr>
              <a:t>The flywheel:  </a:t>
            </a:r>
            <a:pPr indent="0" marL="0">
              <a:buNone/>
            </a:pPr>
            <a:r>
              <a:rPr lang="en-US" sz="1450" dirty="0">
                <a:solidFill>
                  <a:srgbClr val="39415C"/>
                </a:solidFill>
                <a:latin typeface="Calibri" pitchFamily="34" charset="0"/>
                <a:ea typeface="Calibri" pitchFamily="34" charset="-122"/>
                <a:cs typeface="Calibri" pitchFamily="34" charset="-120"/>
              </a:rPr>
              <a:t>Connecting February's data strategy to what you just saw — then the floor is yours</a:t>
            </a:r>
            <a:endParaRPr lang="en-US" sz="1450" dirty="0"/>
          </a:p>
        </p:txBody>
      </p:sp>
      <p:sp>
        <p:nvSpPr>
          <p:cNvPr id="21" name="Text 19"/>
          <p:cNvSpPr/>
          <p:nvPr/>
        </p:nvSpPr>
        <p:spPr>
          <a:xfrm>
            <a:off x="8366760" y="5020056"/>
            <a:ext cx="1143000" cy="713232"/>
          </a:xfrm>
          <a:prstGeom prst="rect">
            <a:avLst/>
          </a:prstGeom>
          <a:noFill/>
          <a:ln/>
        </p:spPr>
        <p:txBody>
          <a:bodyPr wrap="square" lIns="0" tIns="0" rIns="0" bIns="0" rtlCol="0" anchor="ctr"/>
          <a:lstStyle/>
          <a:p>
            <a:pPr algn="r" indent="0" marL="0">
              <a:buNone/>
            </a:pPr>
            <a:r>
              <a:rPr lang="en-US" sz="1150" b="1" dirty="0">
                <a:solidFill>
                  <a:srgbClr val="7A8296"/>
                </a:solidFill>
                <a:latin typeface="Calibri" pitchFamily="34" charset="0"/>
                <a:ea typeface="Calibri" pitchFamily="34" charset="-122"/>
                <a:cs typeface="Calibri" pitchFamily="34" charset="-120"/>
              </a:rPr>
              <a:t>20 min</a:t>
            </a:r>
            <a:endParaRPr lang="en-US" sz="1150" dirty="0"/>
          </a:p>
        </p:txBody>
      </p:sp>
      <p:sp>
        <p:nvSpPr>
          <p:cNvPr id="22" name="Text 20"/>
          <p:cNvSpPr/>
          <p:nvPr/>
        </p:nvSpPr>
        <p:spPr>
          <a:xfrm>
            <a:off x="502920" y="6400800"/>
            <a:ext cx="9052560" cy="320040"/>
          </a:xfrm>
          <a:prstGeom prst="rect">
            <a:avLst/>
          </a:prstGeom>
          <a:noFill/>
          <a:ln/>
        </p:spPr>
        <p:txBody>
          <a:bodyPr wrap="square" lIns="0" tIns="0" rIns="0" bIns="0" rtlCol="0" anchor="ctr"/>
          <a:lstStyle/>
          <a:p>
            <a:pPr indent="0" marL="0">
              <a:buNone/>
            </a:pPr>
            <a:r>
              <a:rPr lang="en-US" sz="1200" i="1" dirty="0">
                <a:solidFill>
                  <a:srgbClr val="7A8296"/>
                </a:solidFill>
                <a:latin typeface="Calibri" pitchFamily="34" charset="0"/>
                <a:ea typeface="Calibri" pitchFamily="34" charset="-122"/>
                <a:cs typeface="Calibri" pitchFamily="34" charset="-120"/>
              </a:rPr>
              <a:t>One hour of walk-through, one goal: every board member leaves ready to test the engine themselves.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3</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8FB8E8"/>
                </a:solidFill>
                <a:latin typeface="Calibri" pitchFamily="34" charset="0"/>
                <a:ea typeface="Calibri" pitchFamily="34" charset="-122"/>
                <a:cs typeface="Calibri" pitchFamily="34" charset="-120"/>
              </a:rPr>
              <a:t>STATUS SCORECARD</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Where we landed</a:t>
            </a:r>
            <a:endParaRPr lang="en-US" sz="3000" dirty="0"/>
          </a:p>
        </p:txBody>
      </p:sp>
      <p:sp>
        <p:nvSpPr>
          <p:cNvPr id="6" name="Shape 4"/>
          <p:cNvSpPr/>
          <p:nvPr/>
        </p:nvSpPr>
        <p:spPr>
          <a:xfrm>
            <a:off x="502920" y="1920240"/>
            <a:ext cx="2139696" cy="1828800"/>
          </a:xfrm>
          <a:prstGeom prst="roundRect">
            <a:avLst>
              <a:gd name="adj" fmla="val 4500"/>
            </a:avLst>
          </a:prstGeom>
          <a:solidFill>
            <a:srgbClr val="2B3778"/>
          </a:solidFill>
          <a:ln w="12700">
            <a:solidFill>
              <a:srgbClr val="1E808F"/>
            </a:solidFill>
            <a:prstDash val="solid"/>
          </a:ln>
        </p:spPr>
      </p:sp>
      <p:sp>
        <p:nvSpPr>
          <p:cNvPr id="7" name="Text 5"/>
          <p:cNvSpPr/>
          <p:nvPr/>
        </p:nvSpPr>
        <p:spPr>
          <a:xfrm>
            <a:off x="502920" y="2212848"/>
            <a:ext cx="2139696"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141</a:t>
            </a:r>
            <a:endParaRPr lang="en-US" sz="4400" dirty="0"/>
          </a:p>
        </p:txBody>
      </p:sp>
      <p:sp>
        <p:nvSpPr>
          <p:cNvPr id="8" name="Text 6"/>
          <p:cNvSpPr/>
          <p:nvPr/>
        </p:nvSpPr>
        <p:spPr>
          <a:xfrm>
            <a:off x="594360" y="3090672"/>
            <a:ext cx="1956816" cy="457200"/>
          </a:xfrm>
          <a:prstGeom prst="rect">
            <a:avLst/>
          </a:prstGeom>
          <a:noFill/>
          <a:ln/>
        </p:spPr>
        <p:txBody>
          <a:bodyPr wrap="square" lIns="0" tIns="0" rIns="0" bIns="0" rtlCol="0" anchor="ctr"/>
          <a:lstStyle/>
          <a:p>
            <a:pPr algn="ctr" indent="0" marL="0">
              <a:buNone/>
            </a:pPr>
            <a:r>
              <a:rPr lang="en-US" sz="1250" dirty="0">
                <a:solidFill>
                  <a:srgbClr val="C9D4F2"/>
                </a:solidFill>
                <a:latin typeface="Calibri" pitchFamily="34" charset="0"/>
                <a:ea typeface="Calibri" pitchFamily="34" charset="-122"/>
                <a:cs typeface="Calibri" pitchFamily="34" charset="-120"/>
              </a:rPr>
              <a:t>production pipelines</a:t>
            </a:r>
            <a:endParaRPr lang="en-US" sz="1250" dirty="0"/>
          </a:p>
        </p:txBody>
      </p:sp>
      <p:sp>
        <p:nvSpPr>
          <p:cNvPr id="9" name="Shape 7"/>
          <p:cNvSpPr/>
          <p:nvPr/>
        </p:nvSpPr>
        <p:spPr>
          <a:xfrm>
            <a:off x="2807208" y="1920240"/>
            <a:ext cx="2139696" cy="1828800"/>
          </a:xfrm>
          <a:prstGeom prst="roundRect">
            <a:avLst>
              <a:gd name="adj" fmla="val 4500"/>
            </a:avLst>
          </a:prstGeom>
          <a:solidFill>
            <a:srgbClr val="2B3778"/>
          </a:solidFill>
          <a:ln w="12700">
            <a:solidFill>
              <a:srgbClr val="1E808F"/>
            </a:solidFill>
            <a:prstDash val="solid"/>
          </a:ln>
        </p:spPr>
      </p:sp>
      <p:sp>
        <p:nvSpPr>
          <p:cNvPr id="10" name="Text 8"/>
          <p:cNvSpPr/>
          <p:nvPr/>
        </p:nvSpPr>
        <p:spPr>
          <a:xfrm>
            <a:off x="2807208" y="2212848"/>
            <a:ext cx="2139696"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109</a:t>
            </a:r>
            <a:endParaRPr lang="en-US" sz="4400" dirty="0"/>
          </a:p>
        </p:txBody>
      </p:sp>
      <p:sp>
        <p:nvSpPr>
          <p:cNvPr id="11" name="Text 9"/>
          <p:cNvSpPr/>
          <p:nvPr/>
        </p:nvSpPr>
        <p:spPr>
          <a:xfrm>
            <a:off x="2898648" y="3090672"/>
            <a:ext cx="1956816" cy="457200"/>
          </a:xfrm>
          <a:prstGeom prst="rect">
            <a:avLst/>
          </a:prstGeom>
          <a:noFill/>
          <a:ln/>
        </p:spPr>
        <p:txBody>
          <a:bodyPr wrap="square" lIns="0" tIns="0" rIns="0" bIns="0" rtlCol="0" anchor="ctr"/>
          <a:lstStyle/>
          <a:p>
            <a:pPr algn="ctr" indent="0" marL="0">
              <a:buNone/>
            </a:pPr>
            <a:r>
              <a:rPr lang="en-US" sz="1250" dirty="0">
                <a:solidFill>
                  <a:srgbClr val="C9D4F2"/>
                </a:solidFill>
                <a:latin typeface="Calibri" pitchFamily="34" charset="0"/>
                <a:ea typeface="Calibri" pitchFamily="34" charset="-122"/>
                <a:cs typeface="Calibri" pitchFamily="34" charset="-120"/>
              </a:rPr>
              <a:t>test pipelines</a:t>
            </a:r>
            <a:endParaRPr lang="en-US" sz="1250" dirty="0"/>
          </a:p>
        </p:txBody>
      </p:sp>
      <p:sp>
        <p:nvSpPr>
          <p:cNvPr id="12" name="Shape 10"/>
          <p:cNvSpPr/>
          <p:nvPr/>
        </p:nvSpPr>
        <p:spPr>
          <a:xfrm>
            <a:off x="5111496" y="1920240"/>
            <a:ext cx="2139696" cy="1828800"/>
          </a:xfrm>
          <a:prstGeom prst="roundRect">
            <a:avLst>
              <a:gd name="adj" fmla="val 4500"/>
            </a:avLst>
          </a:prstGeom>
          <a:solidFill>
            <a:srgbClr val="2B3778"/>
          </a:solidFill>
          <a:ln w="12700">
            <a:solidFill>
              <a:srgbClr val="1E808F"/>
            </a:solidFill>
            <a:prstDash val="solid"/>
          </a:ln>
        </p:spPr>
      </p:sp>
      <p:sp>
        <p:nvSpPr>
          <p:cNvPr id="13" name="Text 11"/>
          <p:cNvSpPr/>
          <p:nvPr/>
        </p:nvSpPr>
        <p:spPr>
          <a:xfrm>
            <a:off x="5111496" y="2212848"/>
            <a:ext cx="2139696"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605</a:t>
            </a:r>
            <a:endParaRPr lang="en-US" sz="4400" dirty="0"/>
          </a:p>
        </p:txBody>
      </p:sp>
      <p:sp>
        <p:nvSpPr>
          <p:cNvPr id="14" name="Text 12"/>
          <p:cNvSpPr/>
          <p:nvPr/>
        </p:nvSpPr>
        <p:spPr>
          <a:xfrm>
            <a:off x="5202936" y="3090672"/>
            <a:ext cx="1956816" cy="457200"/>
          </a:xfrm>
          <a:prstGeom prst="rect">
            <a:avLst/>
          </a:prstGeom>
          <a:noFill/>
          <a:ln/>
        </p:spPr>
        <p:txBody>
          <a:bodyPr wrap="square" lIns="0" tIns="0" rIns="0" bIns="0" rtlCol="0" anchor="ctr"/>
          <a:lstStyle/>
          <a:p>
            <a:pPr algn="ctr" indent="0" marL="0">
              <a:buNone/>
            </a:pPr>
            <a:r>
              <a:rPr lang="en-US" sz="1250" dirty="0">
                <a:solidFill>
                  <a:srgbClr val="C9D4F2"/>
                </a:solidFill>
                <a:latin typeface="Calibri" pitchFamily="34" charset="0"/>
                <a:ea typeface="Calibri" pitchFamily="34" charset="-122"/>
                <a:cs typeface="Calibri" pitchFamily="34" charset="-120"/>
              </a:rPr>
              <a:t>verified assertions</a:t>
            </a:r>
            <a:endParaRPr lang="en-US" sz="1250" dirty="0"/>
          </a:p>
        </p:txBody>
      </p:sp>
      <p:sp>
        <p:nvSpPr>
          <p:cNvPr id="15" name="Shape 13"/>
          <p:cNvSpPr/>
          <p:nvPr/>
        </p:nvSpPr>
        <p:spPr>
          <a:xfrm>
            <a:off x="7415784" y="1920240"/>
            <a:ext cx="2139696" cy="1828800"/>
          </a:xfrm>
          <a:prstGeom prst="roundRect">
            <a:avLst>
              <a:gd name="adj" fmla="val 4500"/>
            </a:avLst>
          </a:prstGeom>
          <a:solidFill>
            <a:srgbClr val="2B3778"/>
          </a:solidFill>
          <a:ln w="12700">
            <a:solidFill>
              <a:srgbClr val="1E808F"/>
            </a:solidFill>
            <a:prstDash val="solid"/>
          </a:ln>
        </p:spPr>
      </p:sp>
      <p:sp>
        <p:nvSpPr>
          <p:cNvPr id="16" name="Text 14"/>
          <p:cNvSpPr/>
          <p:nvPr/>
        </p:nvSpPr>
        <p:spPr>
          <a:xfrm>
            <a:off x="7415784" y="2212848"/>
            <a:ext cx="2139696"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0</a:t>
            </a:r>
            <a:endParaRPr lang="en-US" sz="4400" dirty="0"/>
          </a:p>
        </p:txBody>
      </p:sp>
      <p:sp>
        <p:nvSpPr>
          <p:cNvPr id="17" name="Text 15"/>
          <p:cNvSpPr/>
          <p:nvPr/>
        </p:nvSpPr>
        <p:spPr>
          <a:xfrm>
            <a:off x="7507224" y="3090672"/>
            <a:ext cx="1956816" cy="457200"/>
          </a:xfrm>
          <a:prstGeom prst="rect">
            <a:avLst/>
          </a:prstGeom>
          <a:noFill/>
          <a:ln/>
        </p:spPr>
        <p:txBody>
          <a:bodyPr wrap="square" lIns="0" tIns="0" rIns="0" bIns="0" rtlCol="0" anchor="ctr"/>
          <a:lstStyle/>
          <a:p>
            <a:pPr algn="ctr" indent="0" marL="0">
              <a:buNone/>
            </a:pPr>
            <a:r>
              <a:rPr lang="en-US" sz="1250" dirty="0">
                <a:solidFill>
                  <a:srgbClr val="C9D4F2"/>
                </a:solidFill>
                <a:latin typeface="Calibri" pitchFamily="34" charset="0"/>
                <a:ea typeface="Calibri" pitchFamily="34" charset="-122"/>
                <a:cs typeface="Calibri" pitchFamily="34" charset="-120"/>
              </a:rPr>
              <a:t>known bugs open</a:t>
            </a:r>
            <a:endParaRPr lang="en-US" sz="1250" dirty="0"/>
          </a:p>
        </p:txBody>
      </p:sp>
      <p:sp>
        <p:nvSpPr>
          <p:cNvPr id="18" name="Text 16"/>
          <p:cNvSpPr/>
          <p:nvPr/>
        </p:nvSpPr>
        <p:spPr>
          <a:xfrm>
            <a:off x="502920" y="4343400"/>
            <a:ext cx="9052560" cy="777240"/>
          </a:xfrm>
          <a:prstGeom prst="rect">
            <a:avLst/>
          </a:prstGeom>
          <a:noFill/>
          <a:ln/>
        </p:spPr>
        <p:txBody>
          <a:bodyPr wrap="square" lIns="0" tIns="0" rIns="0" bIns="0"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Non-prod code complete: the full bronze → silver → gold platform runs in Signature’s AWS, and Toggle renders three data products from it — data quality, revenue, and Storybook analytics.</a:t>
            </a:r>
            <a:endParaRPr lang="en-US" sz="1500" dirty="0"/>
          </a:p>
        </p:txBody>
      </p:sp>
      <p:sp>
        <p:nvSpPr>
          <p:cNvPr id="19" name="Text 17"/>
          <p:cNvSpPr/>
          <p:nvPr/>
        </p:nvSpPr>
        <p:spPr>
          <a:xfrm>
            <a:off x="502920" y="5852160"/>
            <a:ext cx="9052560" cy="365760"/>
          </a:xfrm>
          <a:prstGeom prst="rect">
            <a:avLst/>
          </a:prstGeom>
          <a:noFill/>
          <a:ln/>
        </p:spPr>
        <p:txBody>
          <a:bodyPr wrap="square" lIns="0" tIns="0" rIns="0" bIns="0" rtlCol="0" anchor="ctr"/>
          <a:lstStyle/>
          <a:p>
            <a:pPr algn="ctr" indent="0" marL="0">
              <a:buNone/>
            </a:pPr>
            <a:r>
              <a:rPr lang="en-US" sz="1050" dirty="0">
                <a:solidFill>
                  <a:srgbClr val="A9B7E0"/>
                </a:solidFill>
                <a:latin typeface="Calibri" pitchFamily="34" charset="0"/>
                <a:ea typeface="Calibri" pitchFamily="34" charset="-122"/>
                <a:cs typeface="Calibri" pitchFamily="34" charset="-120"/>
              </a:rPr>
              <a:t>Pipeline and assertion counts are from the July 10 verified build — the platform has only grown since, and every deployed test is green.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4</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MOMENTUM</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What closed since July 10</a:t>
            </a:r>
            <a:endParaRPr lang="en-US" sz="3000" dirty="0"/>
          </a:p>
        </p:txBody>
      </p:sp>
      <p:pic>
        <p:nvPicPr>
          <p:cNvPr id="6" name="Image 0" descr="preencoded.png">    </p:cNvPr>
          <p:cNvPicPr>
            <a:picLocks noChangeAspect="1"/>
          </p:cNvPicPr>
          <p:nvPr/>
        </p:nvPicPr>
        <p:blipFill>
          <a:blip r:embed="rId1"/>
          <a:stretch>
            <a:fillRect/>
          </a:stretch>
        </p:blipFill>
        <p:spPr>
          <a:xfrm>
            <a:off x="548640" y="1737360"/>
            <a:ext cx="274320" cy="274320"/>
          </a:xfrm>
          <a:prstGeom prst="rect">
            <a:avLst/>
          </a:prstGeom>
        </p:spPr>
      </p:pic>
      <p:sp>
        <p:nvSpPr>
          <p:cNvPr id="7" name="Text 4"/>
          <p:cNvSpPr/>
          <p:nvPr/>
        </p:nvSpPr>
        <p:spPr>
          <a:xfrm>
            <a:off x="1005840" y="1691640"/>
            <a:ext cx="5806440" cy="777240"/>
          </a:xfrm>
          <a:prstGeom prst="rect">
            <a:avLst/>
          </a:prstGeom>
          <a:noFill/>
          <a:ln/>
        </p:spPr>
        <p:txBody>
          <a:bodyPr wrap="square" lIns="0" tIns="0" rIns="0" bIns="0" rtlCol="0" anchor="t"/>
          <a:lstStyle/>
          <a:p>
            <a:pPr indent="0" marL="0">
              <a:buNone/>
            </a:pPr>
            <a:r>
              <a:rPr lang="en-US" sz="1250" b="1" dirty="0">
                <a:solidFill>
                  <a:srgbClr val="1E2749"/>
                </a:solidFill>
                <a:latin typeface="Calibri" pitchFamily="34" charset="0"/>
                <a:ea typeface="Calibri" pitchFamily="34" charset="-122"/>
                <a:cs typeface="Calibri" pitchFamily="34" charset="-120"/>
              </a:rPr>
              <a:t>Storybook analytics shipped — </a:t>
            </a:r>
            <a:pPr indent="0" marL="0">
              <a:buNone/>
            </a:pPr>
            <a:r>
              <a:rPr lang="en-US" sz="1250" dirty="0">
                <a:solidFill>
                  <a:srgbClr val="39415C"/>
                </a:solidFill>
                <a:latin typeface="Calibri" pitchFamily="34" charset="0"/>
                <a:ea typeface="Calibri" pitchFamily="34" charset="-122"/>
                <a:cs typeface="Calibri" pitchFamily="34" charset="-120"/>
              </a:rPr>
              <a:t>a third live data product — booking-journey metrics, with real hot-leads-by-family</a:t>
            </a:r>
            <a:endParaRPr lang="en-US" sz="1250" dirty="0"/>
          </a:p>
        </p:txBody>
      </p:sp>
      <p:pic>
        <p:nvPicPr>
          <p:cNvPr id="8" name="Image 1" descr="preencoded.png">    </p:cNvPr>
          <p:cNvPicPr>
            <a:picLocks noChangeAspect="1"/>
          </p:cNvPicPr>
          <p:nvPr/>
        </p:nvPicPr>
        <p:blipFill>
          <a:blip r:embed="rId2"/>
          <a:stretch>
            <a:fillRect/>
          </a:stretch>
        </p:blipFill>
        <p:spPr>
          <a:xfrm>
            <a:off x="548640" y="2578608"/>
            <a:ext cx="274320" cy="274320"/>
          </a:xfrm>
          <a:prstGeom prst="rect">
            <a:avLst/>
          </a:prstGeom>
        </p:spPr>
      </p:pic>
      <p:sp>
        <p:nvSpPr>
          <p:cNvPr id="9" name="Text 5"/>
          <p:cNvSpPr/>
          <p:nvPr/>
        </p:nvSpPr>
        <p:spPr>
          <a:xfrm>
            <a:off x="1005840" y="2532888"/>
            <a:ext cx="5806440" cy="777240"/>
          </a:xfrm>
          <a:prstGeom prst="rect">
            <a:avLst/>
          </a:prstGeom>
          <a:noFill/>
          <a:ln/>
        </p:spPr>
        <p:txBody>
          <a:bodyPr wrap="square" lIns="0" tIns="0" rIns="0" bIns="0" rtlCol="0" anchor="t"/>
          <a:lstStyle/>
          <a:p>
            <a:pPr indent="0" marL="0">
              <a:buNone/>
            </a:pPr>
            <a:r>
              <a:rPr lang="en-US" sz="1250" b="1" dirty="0">
                <a:solidFill>
                  <a:srgbClr val="1E2749"/>
                </a:solidFill>
                <a:latin typeface="Calibri" pitchFamily="34" charset="0"/>
                <a:ea typeface="Calibri" pitchFamily="34" charset="-122"/>
                <a:cs typeface="Calibri" pitchFamily="34" charset="-120"/>
              </a:rPr>
              <a:t>Revenue funnel completed — </a:t>
            </a:r>
            <a:pPr indent="0" marL="0">
              <a:buNone/>
            </a:pPr>
            <a:r>
              <a:rPr lang="en-US" sz="1250" dirty="0">
                <a:solidFill>
                  <a:srgbClr val="39415C"/>
                </a:solidFill>
                <a:latin typeface="Calibri" pitchFamily="34" charset="0"/>
                <a:ea typeface="Calibri" pitchFamily="34" charset="-122"/>
                <a:cs typeface="Calibri" pitchFamily="34" charset="-120"/>
              </a:rPr>
              <a:t>every trip staged Quoted → Confirmed → Travelled, organized by travel-start month</a:t>
            </a:r>
            <a:endParaRPr lang="en-US" sz="1250" dirty="0"/>
          </a:p>
        </p:txBody>
      </p:sp>
      <p:pic>
        <p:nvPicPr>
          <p:cNvPr id="10" name="Image 2" descr="preencoded.png">    </p:cNvPr>
          <p:cNvPicPr>
            <a:picLocks noChangeAspect="1"/>
          </p:cNvPicPr>
          <p:nvPr/>
        </p:nvPicPr>
        <p:blipFill>
          <a:blip r:embed="rId3"/>
          <a:stretch>
            <a:fillRect/>
          </a:stretch>
        </p:blipFill>
        <p:spPr>
          <a:xfrm>
            <a:off x="548640" y="3419856"/>
            <a:ext cx="274320" cy="274320"/>
          </a:xfrm>
          <a:prstGeom prst="rect">
            <a:avLst/>
          </a:prstGeom>
        </p:spPr>
      </p:pic>
      <p:sp>
        <p:nvSpPr>
          <p:cNvPr id="11" name="Text 6"/>
          <p:cNvSpPr/>
          <p:nvPr/>
        </p:nvSpPr>
        <p:spPr>
          <a:xfrm>
            <a:off x="1005840" y="3374136"/>
            <a:ext cx="5806440" cy="777240"/>
          </a:xfrm>
          <a:prstGeom prst="rect">
            <a:avLst/>
          </a:prstGeom>
          <a:noFill/>
          <a:ln/>
        </p:spPr>
        <p:txBody>
          <a:bodyPr wrap="square" lIns="0" tIns="0" rIns="0" bIns="0" rtlCol="0" anchor="t"/>
          <a:lstStyle/>
          <a:p>
            <a:pPr indent="0" marL="0">
              <a:buNone/>
            </a:pPr>
            <a:r>
              <a:rPr lang="en-US" sz="1250" b="1" dirty="0">
                <a:solidFill>
                  <a:srgbClr val="1E2749"/>
                </a:solidFill>
                <a:latin typeface="Calibri" pitchFamily="34" charset="0"/>
                <a:ea typeface="Calibri" pitchFamily="34" charset="-122"/>
                <a:cs typeface="Calibri" pitchFamily="34" charset="-120"/>
              </a:rPr>
              <a:t>Advisor &amp; client metrics fixed and extended — </a:t>
            </a:r>
            <a:pPr indent="0" marL="0">
              <a:buNone/>
            </a:pPr>
            <a:r>
              <a:rPr lang="en-US" sz="1250" dirty="0">
                <a:solidFill>
                  <a:srgbClr val="39415C"/>
                </a:solidFill>
                <a:latin typeface="Calibri" pitchFamily="34" charset="0"/>
                <a:ea typeface="Calibri" pitchFamily="34" charset="-122"/>
                <a:cs typeface="Calibri" pitchFamily="34" charset="-120"/>
              </a:rPr>
              <a:t>distinct advisor counts by month; daily new-client trend with date ranges</a:t>
            </a:r>
            <a:endParaRPr lang="en-US" sz="1250" dirty="0"/>
          </a:p>
        </p:txBody>
      </p:sp>
      <p:pic>
        <p:nvPicPr>
          <p:cNvPr id="12" name="Image 3" descr="preencoded.png">    </p:cNvPr>
          <p:cNvPicPr>
            <a:picLocks noChangeAspect="1"/>
          </p:cNvPicPr>
          <p:nvPr/>
        </p:nvPicPr>
        <p:blipFill>
          <a:blip r:embed="rId4"/>
          <a:stretch>
            <a:fillRect/>
          </a:stretch>
        </p:blipFill>
        <p:spPr>
          <a:xfrm>
            <a:off x="548640" y="4261104"/>
            <a:ext cx="274320" cy="274320"/>
          </a:xfrm>
          <a:prstGeom prst="rect">
            <a:avLst/>
          </a:prstGeom>
        </p:spPr>
      </p:pic>
      <p:sp>
        <p:nvSpPr>
          <p:cNvPr id="13" name="Text 7"/>
          <p:cNvSpPr/>
          <p:nvPr/>
        </p:nvSpPr>
        <p:spPr>
          <a:xfrm>
            <a:off x="1005840" y="4215384"/>
            <a:ext cx="5806440" cy="777240"/>
          </a:xfrm>
          <a:prstGeom prst="rect">
            <a:avLst/>
          </a:prstGeom>
          <a:noFill/>
          <a:ln/>
        </p:spPr>
        <p:txBody>
          <a:bodyPr wrap="square" lIns="0" tIns="0" rIns="0" bIns="0" rtlCol="0" anchor="t"/>
          <a:lstStyle/>
          <a:p>
            <a:pPr indent="0" marL="0">
              <a:buNone/>
            </a:pPr>
            <a:r>
              <a:rPr lang="en-US" sz="1250" b="1" dirty="0">
                <a:solidFill>
                  <a:srgbClr val="1E2749"/>
                </a:solidFill>
                <a:latin typeface="Calibri" pitchFamily="34" charset="0"/>
                <a:ea typeface="Calibri" pitchFamily="34" charset="-122"/>
                <a:cs typeface="Calibri" pitchFamily="34" charset="-120"/>
              </a:rPr>
              <a:t>Data trust hardened — </a:t>
            </a:r>
            <a:pPr indent="0" marL="0">
              <a:buNone/>
            </a:pPr>
            <a:r>
              <a:rPr lang="en-US" sz="1250" dirty="0">
                <a:solidFill>
                  <a:srgbClr val="39415C"/>
                </a:solidFill>
                <a:latin typeface="Calibri" pitchFamily="34" charset="0"/>
                <a:ea typeface="Calibri" pitchFamily="34" charset="-122"/>
                <a:cs typeface="Calibri" pitchFamily="34" charset="-120"/>
              </a:rPr>
              <a:t>junk dates (1899–2079) filtered, supplier names joined in, every observed phone-format error normalized</a:t>
            </a:r>
            <a:endParaRPr lang="en-US" sz="1250" dirty="0"/>
          </a:p>
        </p:txBody>
      </p:sp>
      <p:pic>
        <p:nvPicPr>
          <p:cNvPr id="14" name="Image 4" descr="preencoded.png">    </p:cNvPr>
          <p:cNvPicPr>
            <a:picLocks noChangeAspect="1"/>
          </p:cNvPicPr>
          <p:nvPr/>
        </p:nvPicPr>
        <p:blipFill>
          <a:blip r:embed="rId5"/>
          <a:stretch>
            <a:fillRect/>
          </a:stretch>
        </p:blipFill>
        <p:spPr>
          <a:xfrm>
            <a:off x="548640" y="5102352"/>
            <a:ext cx="274320" cy="274320"/>
          </a:xfrm>
          <a:prstGeom prst="rect">
            <a:avLst/>
          </a:prstGeom>
        </p:spPr>
      </p:pic>
      <p:sp>
        <p:nvSpPr>
          <p:cNvPr id="15" name="Text 8"/>
          <p:cNvSpPr/>
          <p:nvPr/>
        </p:nvSpPr>
        <p:spPr>
          <a:xfrm>
            <a:off x="1005840" y="5056632"/>
            <a:ext cx="5806440" cy="777240"/>
          </a:xfrm>
          <a:prstGeom prst="rect">
            <a:avLst/>
          </a:prstGeom>
          <a:noFill/>
          <a:ln/>
        </p:spPr>
        <p:txBody>
          <a:bodyPr wrap="square" lIns="0" tIns="0" rIns="0" bIns="0" rtlCol="0" anchor="t"/>
          <a:lstStyle/>
          <a:p>
            <a:pPr indent="0" marL="0">
              <a:buNone/>
            </a:pPr>
            <a:r>
              <a:rPr lang="en-US" sz="1250" b="1" dirty="0">
                <a:solidFill>
                  <a:srgbClr val="1E2749"/>
                </a:solidFill>
                <a:latin typeface="Calibri" pitchFamily="34" charset="0"/>
                <a:ea typeface="Calibri" pitchFamily="34" charset="-122"/>
                <a:cs typeface="Calibri" pitchFamily="34" charset="-120"/>
              </a:rPr>
              <a:t>SSO live end-to-end — </a:t>
            </a:r>
            <a:pPr indent="0" marL="0">
              <a:buNone/>
            </a:pPr>
            <a:r>
              <a:rPr lang="en-US" sz="1250" dirty="0">
                <a:solidFill>
                  <a:srgbClr val="39415C"/>
                </a:solidFill>
                <a:latin typeface="Calibri" pitchFamily="34" charset="0"/>
                <a:ea typeface="Calibri" pitchFamily="34" charset="-122"/>
                <a:cs typeface="Calibri" pitchFamily="34" charset="-120"/>
              </a:rPr>
              <a:t>SigNet portal → Cognito → Toggle, with test users and a full SSO test design delivered</a:t>
            </a:r>
            <a:endParaRPr lang="en-US" sz="1250" dirty="0"/>
          </a:p>
        </p:txBody>
      </p:sp>
      <p:pic>
        <p:nvPicPr>
          <p:cNvPr id="16" name="Image 5" descr="preencoded.png">    </p:cNvPr>
          <p:cNvPicPr>
            <a:picLocks noChangeAspect="1"/>
          </p:cNvPicPr>
          <p:nvPr/>
        </p:nvPicPr>
        <p:blipFill>
          <a:blip r:embed="rId6"/>
          <a:stretch>
            <a:fillRect/>
          </a:stretch>
        </p:blipFill>
        <p:spPr>
          <a:xfrm>
            <a:off x="548640" y="5943600"/>
            <a:ext cx="274320" cy="274320"/>
          </a:xfrm>
          <a:prstGeom prst="rect">
            <a:avLst/>
          </a:prstGeom>
        </p:spPr>
      </p:pic>
      <p:sp>
        <p:nvSpPr>
          <p:cNvPr id="17" name="Text 9"/>
          <p:cNvSpPr/>
          <p:nvPr/>
        </p:nvSpPr>
        <p:spPr>
          <a:xfrm>
            <a:off x="1005840" y="5897880"/>
            <a:ext cx="5806440" cy="777240"/>
          </a:xfrm>
          <a:prstGeom prst="rect">
            <a:avLst/>
          </a:prstGeom>
          <a:noFill/>
          <a:ln/>
        </p:spPr>
        <p:txBody>
          <a:bodyPr wrap="square" lIns="0" tIns="0" rIns="0" bIns="0" rtlCol="0" anchor="t"/>
          <a:lstStyle/>
          <a:p>
            <a:pPr indent="0" marL="0">
              <a:buNone/>
            </a:pPr>
            <a:r>
              <a:rPr lang="en-US" sz="1250" b="1" dirty="0">
                <a:solidFill>
                  <a:srgbClr val="1E2749"/>
                </a:solidFill>
                <a:latin typeface="Calibri" pitchFamily="34" charset="0"/>
                <a:ea typeface="Calibri" pitchFamily="34" charset="-122"/>
                <a:cs typeface="Calibri" pitchFamily="34" charset="-120"/>
              </a:rPr>
              <a:t>Toggle’s full request list shipped — </a:t>
            </a:r>
            <a:pPr indent="0" marL="0">
              <a:buNone/>
            </a:pPr>
            <a:r>
              <a:rPr lang="en-US" sz="1250" dirty="0">
                <a:solidFill>
                  <a:srgbClr val="39415C"/>
                </a:solidFill>
                <a:latin typeface="Calibri" pitchFamily="34" charset="0"/>
                <a:ea typeface="Calibri" pitchFamily="34" charset="-122"/>
                <a:cs typeface="Calibri" pitchFamily="34" charset="-120"/>
              </a:rPr>
              <a:t>every item from the front-end team’s lists built, tested, deployed — all known bugs closed</a:t>
            </a:r>
            <a:endParaRPr lang="en-US" sz="1250" dirty="0"/>
          </a:p>
        </p:txBody>
      </p:sp>
      <p:sp>
        <p:nvSpPr>
          <p:cNvPr id="18" name="Shape 10"/>
          <p:cNvSpPr/>
          <p:nvPr/>
        </p:nvSpPr>
        <p:spPr>
          <a:xfrm>
            <a:off x="7178040" y="1691640"/>
            <a:ext cx="2377440" cy="4846320"/>
          </a:xfrm>
          <a:prstGeom prst="roundRect">
            <a:avLst>
              <a:gd name="adj" fmla="val 3846"/>
            </a:avLst>
          </a:prstGeom>
          <a:solidFill>
            <a:srgbClr val="FFFFFF"/>
          </a:solidFill>
          <a:ln w="12700">
            <a:solidFill>
              <a:srgbClr val="E1E4EC"/>
            </a:solidFill>
            <a:prstDash val="solid"/>
          </a:ln>
          <a:effectLst>
            <a:outerShdw sx="100000" sy="100000" kx="0" ky="0" algn="bl" rotWithShape="0" blurRad="76200" dist="25400" dir="5400000">
              <a:srgbClr val="D5D9E4">
                <a:alpha val="50000"/>
              </a:srgbClr>
            </a:outerShdw>
          </a:effectLst>
        </p:spPr>
      </p:sp>
      <p:sp>
        <p:nvSpPr>
          <p:cNvPr id="19" name="Text 11"/>
          <p:cNvSpPr/>
          <p:nvPr/>
        </p:nvSpPr>
        <p:spPr>
          <a:xfrm>
            <a:off x="7360920" y="1874520"/>
            <a:ext cx="2011680" cy="457200"/>
          </a:xfrm>
          <a:prstGeom prst="rect">
            <a:avLst/>
          </a:prstGeom>
          <a:noFill/>
          <a:ln/>
        </p:spPr>
        <p:txBody>
          <a:bodyPr wrap="square" lIns="0" tIns="0" rIns="0" bIns="0" rtlCol="0" anchor="ctr"/>
          <a:lstStyle/>
          <a:p>
            <a:pPr algn="ctr" indent="0" marL="0">
              <a:buNone/>
            </a:pPr>
            <a:r>
              <a:rPr lang="en-US" sz="1000" b="1" spc="150" kern="0" dirty="0">
                <a:solidFill>
                  <a:srgbClr val="1E808F"/>
                </a:solidFill>
                <a:latin typeface="Calibri" pitchFamily="34" charset="0"/>
                <a:ea typeface="Calibri" pitchFamily="34" charset="-122"/>
                <a:cs typeface="Calibri" pitchFamily="34" charset="-120"/>
              </a:rPr>
              <a:t>DATA PRODUCTS LIVE IN TOGGLE</a:t>
            </a:r>
            <a:endParaRPr lang="en-US" sz="1000" dirty="0"/>
          </a:p>
        </p:txBody>
      </p:sp>
      <p:sp>
        <p:nvSpPr>
          <p:cNvPr id="20" name="Text 12"/>
          <p:cNvSpPr/>
          <p:nvPr/>
        </p:nvSpPr>
        <p:spPr>
          <a:xfrm>
            <a:off x="7360920" y="2286000"/>
            <a:ext cx="2011680" cy="822960"/>
          </a:xfrm>
          <a:prstGeom prst="rect">
            <a:avLst/>
          </a:prstGeom>
          <a:noFill/>
          <a:ln/>
        </p:spPr>
        <p:txBody>
          <a:bodyPr wrap="square" lIns="0" tIns="0" rIns="0" bIns="0" rtlCol="0" anchor="ctr"/>
          <a:lstStyle/>
          <a:p>
            <a:pPr algn="ctr" indent="0" marL="0">
              <a:buNone/>
            </a:pPr>
            <a:r>
              <a:rPr lang="en-US" sz="4400" b="1" dirty="0">
                <a:solidFill>
                  <a:srgbClr val="1E2749"/>
                </a:solidFill>
                <a:latin typeface="Cambria" pitchFamily="34" charset="0"/>
                <a:ea typeface="Cambria" pitchFamily="34" charset="-122"/>
                <a:cs typeface="Cambria" pitchFamily="34" charset="-120"/>
              </a:rPr>
              <a:t>1 → 3</a:t>
            </a:r>
            <a:endParaRPr lang="en-US" sz="4400" dirty="0"/>
          </a:p>
        </p:txBody>
      </p:sp>
      <p:sp>
        <p:nvSpPr>
          <p:cNvPr id="21" name="Shape 13"/>
          <p:cNvSpPr/>
          <p:nvPr/>
        </p:nvSpPr>
        <p:spPr>
          <a:xfrm>
            <a:off x="7498080" y="3483864"/>
            <a:ext cx="164592" cy="164592"/>
          </a:xfrm>
          <a:prstGeom prst="ellipse">
            <a:avLst/>
          </a:prstGeom>
          <a:solidFill>
            <a:srgbClr val="1E808F"/>
          </a:solidFill>
          <a:ln/>
        </p:spPr>
      </p:sp>
      <p:sp>
        <p:nvSpPr>
          <p:cNvPr id="22" name="Shape 14"/>
          <p:cNvSpPr/>
          <p:nvPr/>
        </p:nvSpPr>
        <p:spPr>
          <a:xfrm>
            <a:off x="7580376" y="3666744"/>
            <a:ext cx="0" cy="749808"/>
          </a:xfrm>
          <a:prstGeom prst="line">
            <a:avLst/>
          </a:prstGeom>
          <a:noFill/>
          <a:ln w="19050">
            <a:solidFill>
              <a:srgbClr val="E1E4EC"/>
            </a:solidFill>
            <a:prstDash val="solid"/>
          </a:ln>
        </p:spPr>
      </p:sp>
      <p:sp>
        <p:nvSpPr>
          <p:cNvPr id="23" name="Text 15"/>
          <p:cNvSpPr/>
          <p:nvPr/>
        </p:nvSpPr>
        <p:spPr>
          <a:xfrm>
            <a:off x="7818120" y="3319272"/>
            <a:ext cx="1554480" cy="822960"/>
          </a:xfrm>
          <a:prstGeom prst="rect">
            <a:avLst/>
          </a:prstGeom>
          <a:noFill/>
          <a:ln/>
        </p:spPr>
        <p:txBody>
          <a:bodyPr wrap="square" lIns="0" tIns="0" rIns="0" bIns="0" rtlCol="0" anchor="t"/>
          <a:lstStyle/>
          <a:p>
            <a:pPr indent="0" marL="0">
              <a:buNone/>
            </a:pPr>
            <a:r>
              <a:rPr lang="en-US" sz="1200" b="1" dirty="0">
                <a:solidFill>
                  <a:srgbClr val="1E2749"/>
                </a:solidFill>
                <a:latin typeface="Calibri" pitchFamily="34" charset="0"/>
                <a:ea typeface="Calibri" pitchFamily="34" charset="-122"/>
                <a:cs typeface="Calibri" pitchFamily="34" charset="-120"/>
              </a:rPr>
              <a:t>Jun 11
</a:t>
            </a:r>
            <a:pPr indent="0" marL="0">
              <a:buNone/>
            </a:pPr>
            <a:r>
              <a:rPr lang="en-US" sz="1050" dirty="0">
                <a:solidFill>
                  <a:srgbClr val="7A8296"/>
                </a:solidFill>
                <a:latin typeface="Calibri" pitchFamily="34" charset="0"/>
                <a:ea typeface="Calibri" pitchFamily="34" charset="-122"/>
                <a:cs typeface="Calibri" pitchFamily="34" charset="-120"/>
              </a:rPr>
              <a:t>Data quality</a:t>
            </a:r>
            <a:endParaRPr lang="en-US" sz="1200" dirty="0"/>
          </a:p>
        </p:txBody>
      </p:sp>
      <p:sp>
        <p:nvSpPr>
          <p:cNvPr id="24" name="Shape 16"/>
          <p:cNvSpPr/>
          <p:nvPr/>
        </p:nvSpPr>
        <p:spPr>
          <a:xfrm>
            <a:off x="7498080" y="4471416"/>
            <a:ext cx="164592" cy="164592"/>
          </a:xfrm>
          <a:prstGeom prst="ellipse">
            <a:avLst/>
          </a:prstGeom>
          <a:solidFill>
            <a:srgbClr val="1E808F"/>
          </a:solidFill>
          <a:ln/>
        </p:spPr>
      </p:sp>
      <p:sp>
        <p:nvSpPr>
          <p:cNvPr id="25" name="Shape 17"/>
          <p:cNvSpPr/>
          <p:nvPr/>
        </p:nvSpPr>
        <p:spPr>
          <a:xfrm>
            <a:off x="7580376" y="4654296"/>
            <a:ext cx="0" cy="749808"/>
          </a:xfrm>
          <a:prstGeom prst="line">
            <a:avLst/>
          </a:prstGeom>
          <a:noFill/>
          <a:ln w="19050">
            <a:solidFill>
              <a:srgbClr val="E1E4EC"/>
            </a:solidFill>
            <a:prstDash val="solid"/>
          </a:ln>
        </p:spPr>
      </p:sp>
      <p:sp>
        <p:nvSpPr>
          <p:cNvPr id="26" name="Text 18"/>
          <p:cNvSpPr/>
          <p:nvPr/>
        </p:nvSpPr>
        <p:spPr>
          <a:xfrm>
            <a:off x="7818120" y="4306824"/>
            <a:ext cx="1554480" cy="822960"/>
          </a:xfrm>
          <a:prstGeom prst="rect">
            <a:avLst/>
          </a:prstGeom>
          <a:noFill/>
          <a:ln/>
        </p:spPr>
        <p:txBody>
          <a:bodyPr wrap="square" lIns="0" tIns="0" rIns="0" bIns="0" rtlCol="0" anchor="t"/>
          <a:lstStyle/>
          <a:p>
            <a:pPr indent="0" marL="0">
              <a:buNone/>
            </a:pPr>
            <a:r>
              <a:rPr lang="en-US" sz="1200" b="1" dirty="0">
                <a:solidFill>
                  <a:srgbClr val="1E2749"/>
                </a:solidFill>
                <a:latin typeface="Calibri" pitchFamily="34" charset="0"/>
                <a:ea typeface="Calibri" pitchFamily="34" charset="-122"/>
                <a:cs typeface="Calibri" pitchFamily="34" charset="-120"/>
              </a:rPr>
              <a:t>Jul 10
</a:t>
            </a:r>
            <a:pPr indent="0" marL="0">
              <a:buNone/>
            </a:pPr>
            <a:r>
              <a:rPr lang="en-US" sz="1050" dirty="0">
                <a:solidFill>
                  <a:srgbClr val="7A8296"/>
                </a:solidFill>
                <a:latin typeface="Calibri" pitchFamily="34" charset="0"/>
                <a:ea typeface="Calibri" pitchFamily="34" charset="-122"/>
                <a:cs typeface="Calibri" pitchFamily="34" charset="-120"/>
              </a:rPr>
              <a:t>+ Revenue</a:t>
            </a:r>
            <a:endParaRPr lang="en-US" sz="1200" dirty="0"/>
          </a:p>
        </p:txBody>
      </p:sp>
      <p:sp>
        <p:nvSpPr>
          <p:cNvPr id="27" name="Shape 19"/>
          <p:cNvSpPr/>
          <p:nvPr/>
        </p:nvSpPr>
        <p:spPr>
          <a:xfrm>
            <a:off x="7498080" y="5458968"/>
            <a:ext cx="164592" cy="164592"/>
          </a:xfrm>
          <a:prstGeom prst="ellipse">
            <a:avLst/>
          </a:prstGeom>
          <a:solidFill>
            <a:srgbClr val="C9A22B"/>
          </a:solidFill>
          <a:ln/>
        </p:spPr>
      </p:sp>
      <p:sp>
        <p:nvSpPr>
          <p:cNvPr id="28" name="Text 20"/>
          <p:cNvSpPr/>
          <p:nvPr/>
        </p:nvSpPr>
        <p:spPr>
          <a:xfrm>
            <a:off x="7818120" y="5294376"/>
            <a:ext cx="1554480" cy="822960"/>
          </a:xfrm>
          <a:prstGeom prst="rect">
            <a:avLst/>
          </a:prstGeom>
          <a:noFill/>
          <a:ln/>
        </p:spPr>
        <p:txBody>
          <a:bodyPr wrap="square" lIns="0" tIns="0" rIns="0" bIns="0" rtlCol="0" anchor="t"/>
          <a:lstStyle/>
          <a:p>
            <a:pPr indent="0" marL="0">
              <a:buNone/>
            </a:pPr>
            <a:r>
              <a:rPr lang="en-US" sz="1200" b="1" dirty="0">
                <a:solidFill>
                  <a:srgbClr val="1E2749"/>
                </a:solidFill>
                <a:latin typeface="Calibri" pitchFamily="34" charset="0"/>
                <a:ea typeface="Calibri" pitchFamily="34" charset="-122"/>
                <a:cs typeface="Calibri" pitchFamily="34" charset="-120"/>
              </a:rPr>
              <a:t>Aug 7
</a:t>
            </a:r>
            <a:pPr indent="0" marL="0">
              <a:buNone/>
            </a:pPr>
            <a:r>
              <a:rPr lang="en-US" sz="1050" dirty="0">
                <a:solidFill>
                  <a:srgbClr val="7A8296"/>
                </a:solidFill>
                <a:latin typeface="Calibri" pitchFamily="34" charset="0"/>
                <a:ea typeface="Calibri" pitchFamily="34" charset="-122"/>
                <a:cs typeface="Calibri" pitchFamily="34" charset="-120"/>
              </a:rPr>
              <a:t>+ Storybook analytics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5</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MEDALLION — FINAL STATUS</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Every layer, built and deployed</a:t>
            </a:r>
            <a:endParaRPr lang="en-US" sz="3000" dirty="0"/>
          </a:p>
        </p:txBody>
      </p:sp>
      <p:sp>
        <p:nvSpPr>
          <p:cNvPr id="6" name="Shape 4"/>
          <p:cNvSpPr/>
          <p:nvPr/>
        </p:nvSpPr>
        <p:spPr>
          <a:xfrm>
            <a:off x="502920" y="1645920"/>
            <a:ext cx="1051560" cy="932688"/>
          </a:xfrm>
          <a:prstGeom prst="rect">
            <a:avLst/>
          </a:prstGeom>
          <a:solidFill>
            <a:srgbClr val="8A8F9C"/>
          </a:solidFill>
          <a:ln/>
        </p:spPr>
      </p:sp>
      <p:sp>
        <p:nvSpPr>
          <p:cNvPr id="7" name="Text 5"/>
          <p:cNvSpPr/>
          <p:nvPr/>
        </p:nvSpPr>
        <p:spPr>
          <a:xfrm>
            <a:off x="502920" y="1645920"/>
            <a:ext cx="1051560" cy="932688"/>
          </a:xfrm>
          <a:prstGeom prst="rect">
            <a:avLst/>
          </a:prstGeom>
          <a:noFill/>
          <a:ln/>
        </p:spPr>
        <p:txBody>
          <a:bodyPr wrap="square" lIns="508" tIns="508" rIns="508" bIns="508"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RAW
</a:t>
            </a:r>
            <a:pPr algn="ctr" indent="0" marL="0">
              <a:buNone/>
            </a:pPr>
            <a:r>
              <a:rPr lang="en-US" sz="750" dirty="0">
                <a:solidFill>
                  <a:srgbClr val="FFFFFF"/>
                </a:solidFill>
                <a:latin typeface="Calibri" pitchFamily="34" charset="0"/>
                <a:ea typeface="Calibri" pitchFamily="34" charset="-122"/>
                <a:cs typeface="Calibri" pitchFamily="34" charset="-120"/>
              </a:rPr>
              <a:t>sources</a:t>
            </a:r>
            <a:endParaRPr lang="en-US" sz="1250" dirty="0"/>
          </a:p>
        </p:txBody>
      </p:sp>
      <p:sp>
        <p:nvSpPr>
          <p:cNvPr id="8" name="Shape 6"/>
          <p:cNvSpPr/>
          <p:nvPr/>
        </p:nvSpPr>
        <p:spPr>
          <a:xfrm>
            <a:off x="1691640" y="1737360"/>
            <a:ext cx="3867912" cy="749808"/>
          </a:xfrm>
          <a:prstGeom prst="roundRect">
            <a:avLst>
              <a:gd name="adj" fmla="val 8537"/>
            </a:avLst>
          </a:prstGeom>
          <a:solidFill>
            <a:srgbClr val="2F3B74"/>
          </a:solidFill>
          <a:ln/>
        </p:spPr>
      </p:sp>
      <p:sp>
        <p:nvSpPr>
          <p:cNvPr id="9" name="Text 7"/>
          <p:cNvSpPr/>
          <p:nvPr/>
        </p:nvSpPr>
        <p:spPr>
          <a:xfrm>
            <a:off x="1746504" y="1737360"/>
            <a:ext cx="3758184"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Signet CDC — 20+ source tables</a:t>
            </a:r>
            <a:endParaRPr lang="en-US" sz="1050" dirty="0"/>
          </a:p>
        </p:txBody>
      </p:sp>
      <p:sp>
        <p:nvSpPr>
          <p:cNvPr id="10" name="Shape 8"/>
          <p:cNvSpPr/>
          <p:nvPr/>
        </p:nvSpPr>
        <p:spPr>
          <a:xfrm>
            <a:off x="5687568" y="1737360"/>
            <a:ext cx="3867912" cy="749808"/>
          </a:xfrm>
          <a:prstGeom prst="roundRect">
            <a:avLst>
              <a:gd name="adj" fmla="val 8537"/>
            </a:avLst>
          </a:prstGeom>
          <a:solidFill>
            <a:srgbClr val="7B5EA7"/>
          </a:solidFill>
          <a:ln/>
        </p:spPr>
      </p:sp>
      <p:sp>
        <p:nvSpPr>
          <p:cNvPr id="11" name="Text 9"/>
          <p:cNvSpPr/>
          <p:nvPr/>
        </p:nvSpPr>
        <p:spPr>
          <a:xfrm>
            <a:off x="5742432" y="1737360"/>
            <a:ext cx="3758184"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Storybook raw events — live</a:t>
            </a:r>
            <a:endParaRPr lang="en-US" sz="1050" dirty="0"/>
          </a:p>
        </p:txBody>
      </p:sp>
      <p:sp>
        <p:nvSpPr>
          <p:cNvPr id="12" name="Shape 10"/>
          <p:cNvSpPr/>
          <p:nvPr/>
        </p:nvSpPr>
        <p:spPr>
          <a:xfrm>
            <a:off x="502920" y="2724912"/>
            <a:ext cx="1051560" cy="932688"/>
          </a:xfrm>
          <a:prstGeom prst="rect">
            <a:avLst/>
          </a:prstGeom>
          <a:solidFill>
            <a:srgbClr val="A76A37"/>
          </a:solidFill>
          <a:ln/>
        </p:spPr>
      </p:sp>
      <p:sp>
        <p:nvSpPr>
          <p:cNvPr id="13" name="Text 11"/>
          <p:cNvSpPr/>
          <p:nvPr/>
        </p:nvSpPr>
        <p:spPr>
          <a:xfrm>
            <a:off x="502920" y="2724912"/>
            <a:ext cx="1051560" cy="932688"/>
          </a:xfrm>
          <a:prstGeom prst="rect">
            <a:avLst/>
          </a:prstGeom>
          <a:noFill/>
          <a:ln/>
        </p:spPr>
        <p:txBody>
          <a:bodyPr wrap="square" lIns="508" tIns="508" rIns="508" bIns="508"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BRONZE
</a:t>
            </a:r>
            <a:pPr algn="ctr" indent="0" marL="0">
              <a:buNone/>
            </a:pPr>
            <a:r>
              <a:rPr lang="en-US" sz="750" dirty="0">
                <a:solidFill>
                  <a:srgbClr val="FFFFFF"/>
                </a:solidFill>
                <a:latin typeface="Calibri" pitchFamily="34" charset="0"/>
                <a:ea typeface="Calibri" pitchFamily="34" charset="-122"/>
                <a:cs typeface="Calibri" pitchFamily="34" charset="-120"/>
              </a:rPr>
              <a:t>clean / type</a:t>
            </a:r>
            <a:endParaRPr lang="en-US" sz="1250" dirty="0"/>
          </a:p>
        </p:txBody>
      </p:sp>
      <p:sp>
        <p:nvSpPr>
          <p:cNvPr id="14" name="Shape 12"/>
          <p:cNvSpPr/>
          <p:nvPr/>
        </p:nvSpPr>
        <p:spPr>
          <a:xfrm>
            <a:off x="1691640" y="2816352"/>
            <a:ext cx="3867912" cy="749808"/>
          </a:xfrm>
          <a:prstGeom prst="roundRect">
            <a:avLst>
              <a:gd name="adj" fmla="val 8537"/>
            </a:avLst>
          </a:prstGeom>
          <a:solidFill>
            <a:srgbClr val="1E808F"/>
          </a:solidFill>
          <a:ln/>
        </p:spPr>
      </p:sp>
      <p:sp>
        <p:nvSpPr>
          <p:cNvPr id="15" name="Text 13"/>
          <p:cNvSpPr/>
          <p:nvPr/>
        </p:nvSpPr>
        <p:spPr>
          <a:xfrm>
            <a:off x="1746504" y="2816352"/>
            <a:ext cx="3758184"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Signet — normalized &amp; cleaned</a:t>
            </a:r>
            <a:endParaRPr lang="en-US" sz="1050" dirty="0"/>
          </a:p>
        </p:txBody>
      </p:sp>
      <p:sp>
        <p:nvSpPr>
          <p:cNvPr id="16" name="Shape 14"/>
          <p:cNvSpPr/>
          <p:nvPr/>
        </p:nvSpPr>
        <p:spPr>
          <a:xfrm>
            <a:off x="5687568" y="2816352"/>
            <a:ext cx="3867912" cy="749808"/>
          </a:xfrm>
          <a:prstGeom prst="roundRect">
            <a:avLst>
              <a:gd name="adj" fmla="val 8537"/>
            </a:avLst>
          </a:prstGeom>
          <a:solidFill>
            <a:srgbClr val="7B5EA7"/>
          </a:solidFill>
          <a:ln/>
        </p:spPr>
      </p:sp>
      <p:sp>
        <p:nvSpPr>
          <p:cNvPr id="17" name="Text 15"/>
          <p:cNvSpPr/>
          <p:nvPr/>
        </p:nvSpPr>
        <p:spPr>
          <a:xfrm>
            <a:off x="5742432" y="2816352"/>
            <a:ext cx="3758184"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Storybook — normalized &amp; cleaned</a:t>
            </a:r>
            <a:endParaRPr lang="en-US" sz="1050" dirty="0"/>
          </a:p>
        </p:txBody>
      </p:sp>
      <p:sp>
        <p:nvSpPr>
          <p:cNvPr id="18" name="Shape 16"/>
          <p:cNvSpPr/>
          <p:nvPr/>
        </p:nvSpPr>
        <p:spPr>
          <a:xfrm>
            <a:off x="502920" y="3803904"/>
            <a:ext cx="1051560" cy="932688"/>
          </a:xfrm>
          <a:prstGeom prst="rect">
            <a:avLst/>
          </a:prstGeom>
          <a:solidFill>
            <a:srgbClr val="8A8F9C"/>
          </a:solidFill>
          <a:ln/>
        </p:spPr>
      </p:sp>
      <p:sp>
        <p:nvSpPr>
          <p:cNvPr id="19" name="Text 17"/>
          <p:cNvSpPr/>
          <p:nvPr/>
        </p:nvSpPr>
        <p:spPr>
          <a:xfrm>
            <a:off x="502920" y="3803904"/>
            <a:ext cx="1051560" cy="932688"/>
          </a:xfrm>
          <a:prstGeom prst="rect">
            <a:avLst/>
          </a:prstGeom>
          <a:noFill/>
          <a:ln/>
        </p:spPr>
        <p:txBody>
          <a:bodyPr wrap="square" lIns="508" tIns="508" rIns="508" bIns="508"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SILVER
</a:t>
            </a:r>
            <a:pPr algn="ctr" indent="0" marL="0">
              <a:buNone/>
            </a:pPr>
            <a:r>
              <a:rPr lang="en-US" sz="750" dirty="0">
                <a:solidFill>
                  <a:srgbClr val="FFFFFF"/>
                </a:solidFill>
                <a:latin typeface="Calibri" pitchFamily="34" charset="0"/>
                <a:ea typeface="Calibri" pitchFamily="34" charset="-122"/>
                <a:cs typeface="Calibri" pitchFamily="34" charset="-120"/>
              </a:rPr>
              <a:t>foundational APIs</a:t>
            </a:r>
            <a:endParaRPr lang="en-US" sz="1250" dirty="0"/>
          </a:p>
        </p:txBody>
      </p:sp>
      <p:sp>
        <p:nvSpPr>
          <p:cNvPr id="20" name="Shape 18"/>
          <p:cNvSpPr/>
          <p:nvPr/>
        </p:nvSpPr>
        <p:spPr>
          <a:xfrm>
            <a:off x="1691640" y="3895344"/>
            <a:ext cx="1869948" cy="749808"/>
          </a:xfrm>
          <a:prstGeom prst="roundRect">
            <a:avLst>
              <a:gd name="adj" fmla="val 8537"/>
            </a:avLst>
          </a:prstGeom>
          <a:solidFill>
            <a:srgbClr val="2F3B74"/>
          </a:solidFill>
          <a:ln/>
        </p:spPr>
      </p:sp>
      <p:sp>
        <p:nvSpPr>
          <p:cNvPr id="21" name="Text 19"/>
          <p:cNvSpPr/>
          <p:nvPr/>
        </p:nvSpPr>
        <p:spPr>
          <a:xfrm>
            <a:off x="1746504" y="3895344"/>
            <a:ext cx="1760220"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Identity APIs</a:t>
            </a:r>
            <a:endParaRPr lang="en-US" sz="1050" dirty="0"/>
          </a:p>
        </p:txBody>
      </p:sp>
      <p:sp>
        <p:nvSpPr>
          <p:cNvPr id="22" name="Shape 20"/>
          <p:cNvSpPr/>
          <p:nvPr/>
        </p:nvSpPr>
        <p:spPr>
          <a:xfrm>
            <a:off x="3689604" y="3895344"/>
            <a:ext cx="1869948" cy="749808"/>
          </a:xfrm>
          <a:prstGeom prst="roundRect">
            <a:avLst>
              <a:gd name="adj" fmla="val 8537"/>
            </a:avLst>
          </a:prstGeom>
          <a:solidFill>
            <a:srgbClr val="1E808F"/>
          </a:solidFill>
          <a:ln/>
        </p:spPr>
      </p:sp>
      <p:sp>
        <p:nvSpPr>
          <p:cNvPr id="23" name="Text 21"/>
          <p:cNvSpPr/>
          <p:nvPr/>
        </p:nvSpPr>
        <p:spPr>
          <a:xfrm>
            <a:off x="3744468" y="3895344"/>
            <a:ext cx="1760220"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Data-quality metrics</a:t>
            </a:r>
            <a:endParaRPr lang="en-US" sz="1050" dirty="0"/>
          </a:p>
        </p:txBody>
      </p:sp>
      <p:sp>
        <p:nvSpPr>
          <p:cNvPr id="24" name="Shape 22"/>
          <p:cNvSpPr/>
          <p:nvPr/>
        </p:nvSpPr>
        <p:spPr>
          <a:xfrm>
            <a:off x="5687568" y="3895344"/>
            <a:ext cx="1869948" cy="749808"/>
          </a:xfrm>
          <a:prstGeom prst="roundRect">
            <a:avLst>
              <a:gd name="adj" fmla="val 8537"/>
            </a:avLst>
          </a:prstGeom>
          <a:solidFill>
            <a:srgbClr val="1E808F"/>
          </a:solidFill>
          <a:ln/>
        </p:spPr>
      </p:sp>
      <p:sp>
        <p:nvSpPr>
          <p:cNvPr id="25" name="Text 23"/>
          <p:cNvSpPr/>
          <p:nvPr/>
        </p:nvSpPr>
        <p:spPr>
          <a:xfrm>
            <a:off x="5742432" y="3895344"/>
            <a:ext cx="1760220"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Revenue APIs</a:t>
            </a:r>
            <a:endParaRPr lang="en-US" sz="1050" dirty="0"/>
          </a:p>
        </p:txBody>
      </p:sp>
      <p:sp>
        <p:nvSpPr>
          <p:cNvPr id="26" name="Shape 24"/>
          <p:cNvSpPr/>
          <p:nvPr/>
        </p:nvSpPr>
        <p:spPr>
          <a:xfrm>
            <a:off x="7685532" y="3895344"/>
            <a:ext cx="1869948" cy="749808"/>
          </a:xfrm>
          <a:prstGeom prst="roundRect">
            <a:avLst>
              <a:gd name="adj" fmla="val 8537"/>
            </a:avLst>
          </a:prstGeom>
          <a:solidFill>
            <a:srgbClr val="7B5EA7"/>
          </a:solidFill>
          <a:ln/>
        </p:spPr>
      </p:sp>
      <p:sp>
        <p:nvSpPr>
          <p:cNvPr id="27" name="Text 25"/>
          <p:cNvSpPr/>
          <p:nvPr/>
        </p:nvSpPr>
        <p:spPr>
          <a:xfrm>
            <a:off x="7740396" y="3895344"/>
            <a:ext cx="1760220"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Storybook session metrics</a:t>
            </a:r>
            <a:endParaRPr lang="en-US" sz="1050" dirty="0"/>
          </a:p>
        </p:txBody>
      </p:sp>
      <p:sp>
        <p:nvSpPr>
          <p:cNvPr id="28" name="Shape 26"/>
          <p:cNvSpPr/>
          <p:nvPr/>
        </p:nvSpPr>
        <p:spPr>
          <a:xfrm>
            <a:off x="502920" y="4882896"/>
            <a:ext cx="1051560" cy="932688"/>
          </a:xfrm>
          <a:prstGeom prst="rect">
            <a:avLst/>
          </a:prstGeom>
          <a:solidFill>
            <a:srgbClr val="A8861F"/>
          </a:solidFill>
          <a:ln/>
        </p:spPr>
      </p:sp>
      <p:sp>
        <p:nvSpPr>
          <p:cNvPr id="29" name="Text 27"/>
          <p:cNvSpPr/>
          <p:nvPr/>
        </p:nvSpPr>
        <p:spPr>
          <a:xfrm>
            <a:off x="502920" y="4882896"/>
            <a:ext cx="1051560" cy="932688"/>
          </a:xfrm>
          <a:prstGeom prst="rect">
            <a:avLst/>
          </a:prstGeom>
          <a:noFill/>
          <a:ln/>
        </p:spPr>
        <p:txBody>
          <a:bodyPr wrap="square" lIns="508" tIns="508" rIns="508" bIns="508"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GOLD
</a:t>
            </a:r>
            <a:pPr algn="ctr" indent="0" marL="0">
              <a:buNone/>
            </a:pPr>
            <a:r>
              <a:rPr lang="en-US" sz="750" dirty="0">
                <a:solidFill>
                  <a:srgbClr val="FFFFFF"/>
                </a:solidFill>
                <a:latin typeface="Calibri" pitchFamily="34" charset="0"/>
                <a:ea typeface="Calibri" pitchFamily="34" charset="-122"/>
                <a:cs typeface="Calibri" pitchFamily="34" charset="-120"/>
              </a:rPr>
              <a:t>cubes + serving</a:t>
            </a:r>
            <a:endParaRPr lang="en-US" sz="1250" dirty="0"/>
          </a:p>
        </p:txBody>
      </p:sp>
      <p:sp>
        <p:nvSpPr>
          <p:cNvPr id="30" name="Shape 28"/>
          <p:cNvSpPr/>
          <p:nvPr/>
        </p:nvSpPr>
        <p:spPr>
          <a:xfrm>
            <a:off x="1691640" y="4974336"/>
            <a:ext cx="1869948" cy="749808"/>
          </a:xfrm>
          <a:prstGeom prst="roundRect">
            <a:avLst>
              <a:gd name="adj" fmla="val 8537"/>
            </a:avLst>
          </a:prstGeom>
          <a:solidFill>
            <a:srgbClr val="C9A22B"/>
          </a:solidFill>
          <a:ln/>
        </p:spPr>
      </p:sp>
      <p:sp>
        <p:nvSpPr>
          <p:cNvPr id="31" name="Text 29"/>
          <p:cNvSpPr/>
          <p:nvPr/>
        </p:nvSpPr>
        <p:spPr>
          <a:xfrm>
            <a:off x="1746504" y="4974336"/>
            <a:ext cx="1760220"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DQ cube + GraphQL serving</a:t>
            </a:r>
            <a:endParaRPr lang="en-US" sz="1050" dirty="0"/>
          </a:p>
        </p:txBody>
      </p:sp>
      <p:sp>
        <p:nvSpPr>
          <p:cNvPr id="32" name="Shape 30"/>
          <p:cNvSpPr/>
          <p:nvPr/>
        </p:nvSpPr>
        <p:spPr>
          <a:xfrm>
            <a:off x="3689604" y="4974336"/>
            <a:ext cx="1869948" cy="749808"/>
          </a:xfrm>
          <a:prstGeom prst="roundRect">
            <a:avLst>
              <a:gd name="adj" fmla="val 8537"/>
            </a:avLst>
          </a:prstGeom>
          <a:solidFill>
            <a:srgbClr val="C9A22B"/>
          </a:solidFill>
          <a:ln/>
        </p:spPr>
      </p:sp>
      <p:sp>
        <p:nvSpPr>
          <p:cNvPr id="33" name="Text 31"/>
          <p:cNvSpPr/>
          <p:nvPr/>
        </p:nvSpPr>
        <p:spPr>
          <a:xfrm>
            <a:off x="3744468" y="4974336"/>
            <a:ext cx="1760220"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Revenue cube + serving → Toggle</a:t>
            </a:r>
            <a:endParaRPr lang="en-US" sz="1050" dirty="0"/>
          </a:p>
        </p:txBody>
      </p:sp>
      <p:sp>
        <p:nvSpPr>
          <p:cNvPr id="34" name="Shape 32"/>
          <p:cNvSpPr/>
          <p:nvPr/>
        </p:nvSpPr>
        <p:spPr>
          <a:xfrm>
            <a:off x="5687568" y="4974336"/>
            <a:ext cx="1869948" cy="749808"/>
          </a:xfrm>
          <a:prstGeom prst="roundRect">
            <a:avLst>
              <a:gd name="adj" fmla="val 8537"/>
            </a:avLst>
          </a:prstGeom>
          <a:solidFill>
            <a:srgbClr val="C9A22B"/>
          </a:solidFill>
          <a:ln/>
        </p:spPr>
      </p:sp>
      <p:sp>
        <p:nvSpPr>
          <p:cNvPr id="35" name="Text 33"/>
          <p:cNvSpPr/>
          <p:nvPr/>
        </p:nvSpPr>
        <p:spPr>
          <a:xfrm>
            <a:off x="5742432" y="4974336"/>
            <a:ext cx="1760220"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Storybook analytics → Toggle</a:t>
            </a:r>
            <a:endParaRPr lang="en-US" sz="1050" dirty="0"/>
          </a:p>
        </p:txBody>
      </p:sp>
      <p:sp>
        <p:nvSpPr>
          <p:cNvPr id="36" name="Shape 34"/>
          <p:cNvSpPr/>
          <p:nvPr/>
        </p:nvSpPr>
        <p:spPr>
          <a:xfrm>
            <a:off x="7685532" y="4974336"/>
            <a:ext cx="1869948" cy="749808"/>
          </a:xfrm>
          <a:prstGeom prst="roundRect">
            <a:avLst>
              <a:gd name="adj" fmla="val 8537"/>
            </a:avLst>
          </a:prstGeom>
          <a:solidFill>
            <a:srgbClr val="FFFFFF"/>
          </a:solidFill>
          <a:ln w="15875">
            <a:solidFill>
              <a:srgbClr val="7B5EA7"/>
            </a:solidFill>
            <a:prstDash val="dash"/>
          </a:ln>
        </p:spPr>
      </p:sp>
      <p:sp>
        <p:nvSpPr>
          <p:cNvPr id="37" name="Text 35"/>
          <p:cNvSpPr/>
          <p:nvPr/>
        </p:nvSpPr>
        <p:spPr>
          <a:xfrm>
            <a:off x="7740396" y="4974336"/>
            <a:ext cx="1760220" cy="749808"/>
          </a:xfrm>
          <a:prstGeom prst="rect">
            <a:avLst/>
          </a:prstGeom>
          <a:noFill/>
          <a:ln/>
        </p:spPr>
        <p:txBody>
          <a:bodyPr wrap="square" lIns="0" tIns="0" rIns="0" bIns="0" rtlCol="0" anchor="ctr"/>
          <a:lstStyle/>
          <a:p>
            <a:pPr algn="ctr" indent="0" marL="0">
              <a:buNone/>
            </a:pPr>
            <a:r>
              <a:rPr lang="en-US" sz="1000" dirty="0">
                <a:solidFill>
                  <a:srgbClr val="7B5EA7"/>
                </a:solidFill>
                <a:latin typeface="Calibri" pitchFamily="34" charset="0"/>
                <a:ea typeface="Calibri" pitchFamily="34" charset="-122"/>
                <a:cs typeface="Calibri" pitchFamily="34" charset="-120"/>
              </a:rPr>
              <a:t>C-360 write-backs  ·  next phase</a:t>
            </a:r>
            <a:endParaRPr lang="en-US" sz="1000" dirty="0"/>
          </a:p>
        </p:txBody>
      </p:sp>
      <p:sp>
        <p:nvSpPr>
          <p:cNvPr id="38" name="Shape 36"/>
          <p:cNvSpPr/>
          <p:nvPr/>
        </p:nvSpPr>
        <p:spPr>
          <a:xfrm>
            <a:off x="502920" y="6035040"/>
            <a:ext cx="256032" cy="164592"/>
          </a:xfrm>
          <a:prstGeom prst="roundRect">
            <a:avLst>
              <a:gd name="adj" fmla="val 16667"/>
            </a:avLst>
          </a:prstGeom>
          <a:solidFill>
            <a:srgbClr val="1E808F"/>
          </a:solidFill>
          <a:ln/>
        </p:spPr>
      </p:sp>
      <p:sp>
        <p:nvSpPr>
          <p:cNvPr id="39" name="Text 37"/>
          <p:cNvSpPr/>
          <p:nvPr/>
        </p:nvSpPr>
        <p:spPr>
          <a:xfrm>
            <a:off x="832104" y="5961888"/>
            <a:ext cx="1463040" cy="310896"/>
          </a:xfrm>
          <a:prstGeom prst="rect">
            <a:avLst/>
          </a:prstGeom>
          <a:noFill/>
          <a:ln/>
        </p:spPr>
        <p:txBody>
          <a:bodyPr wrap="square" lIns="0" tIns="0" rIns="0" bIns="0" rtlCol="0" anchor="ctr"/>
          <a:lstStyle/>
          <a:p>
            <a:pPr indent="0" marL="0">
              <a:buNone/>
            </a:pPr>
            <a:r>
              <a:rPr lang="en-US" sz="950" dirty="0">
                <a:solidFill>
                  <a:srgbClr val="39415C"/>
                </a:solidFill>
                <a:latin typeface="Calibri" pitchFamily="34" charset="0"/>
                <a:ea typeface="Calibri" pitchFamily="34" charset="-122"/>
                <a:cs typeface="Calibri" pitchFamily="34" charset="-120"/>
              </a:rPr>
              <a:t>Built &amp; deployed</a:t>
            </a:r>
            <a:endParaRPr lang="en-US" sz="950" dirty="0"/>
          </a:p>
        </p:txBody>
      </p:sp>
      <p:sp>
        <p:nvSpPr>
          <p:cNvPr id="40" name="Shape 38"/>
          <p:cNvSpPr/>
          <p:nvPr/>
        </p:nvSpPr>
        <p:spPr>
          <a:xfrm>
            <a:off x="2331720" y="6035040"/>
            <a:ext cx="256032" cy="164592"/>
          </a:xfrm>
          <a:prstGeom prst="roundRect">
            <a:avLst>
              <a:gd name="adj" fmla="val 16667"/>
            </a:avLst>
          </a:prstGeom>
          <a:solidFill>
            <a:srgbClr val="FFFFFF"/>
          </a:solidFill>
          <a:ln w="12700">
            <a:solidFill>
              <a:srgbClr val="7B5EA7"/>
            </a:solidFill>
            <a:prstDash val="dash"/>
          </a:ln>
        </p:spPr>
      </p:sp>
      <p:sp>
        <p:nvSpPr>
          <p:cNvPr id="41" name="Text 39"/>
          <p:cNvSpPr/>
          <p:nvPr/>
        </p:nvSpPr>
        <p:spPr>
          <a:xfrm>
            <a:off x="2660904" y="5961888"/>
            <a:ext cx="1645920" cy="310896"/>
          </a:xfrm>
          <a:prstGeom prst="rect">
            <a:avLst/>
          </a:prstGeom>
          <a:noFill/>
          <a:ln/>
        </p:spPr>
        <p:txBody>
          <a:bodyPr wrap="square" lIns="0" tIns="0" rIns="0" bIns="0" rtlCol="0" anchor="ctr"/>
          <a:lstStyle/>
          <a:p>
            <a:pPr indent="0" marL="0">
              <a:buNone/>
            </a:pPr>
            <a:r>
              <a:rPr lang="en-US" sz="950" dirty="0">
                <a:solidFill>
                  <a:srgbClr val="39415C"/>
                </a:solidFill>
                <a:latin typeface="Calibri" pitchFamily="34" charset="0"/>
                <a:ea typeface="Calibri" pitchFamily="34" charset="-122"/>
                <a:cs typeface="Calibri" pitchFamily="34" charset="-120"/>
              </a:rPr>
              <a:t>Next phase (dashed)</a:t>
            </a:r>
            <a:endParaRPr lang="en-US" sz="950" dirty="0"/>
          </a:p>
        </p:txBody>
      </p:sp>
      <p:sp>
        <p:nvSpPr>
          <p:cNvPr id="42" name="Text 40"/>
          <p:cNvSpPr/>
          <p:nvPr/>
        </p:nvSpPr>
        <p:spPr>
          <a:xfrm>
            <a:off x="4297680" y="5961888"/>
            <a:ext cx="5257800" cy="310896"/>
          </a:xfrm>
          <a:prstGeom prst="rect">
            <a:avLst/>
          </a:prstGeom>
          <a:noFill/>
          <a:ln/>
        </p:spPr>
        <p:txBody>
          <a:bodyPr wrap="square" lIns="0" tIns="0" rIns="0" bIns="0" rtlCol="0" anchor="ctr"/>
          <a:lstStyle/>
          <a:p>
            <a:pPr algn="r" indent="0" marL="0">
              <a:buNone/>
            </a:pPr>
            <a:r>
              <a:rPr lang="en-US" sz="1100" b="1" dirty="0">
                <a:solidFill>
                  <a:srgbClr val="1E2749"/>
                </a:solidFill>
                <a:latin typeface="Calibri" pitchFamily="34" charset="0"/>
                <a:ea typeface="Calibri" pitchFamily="34" charset="-122"/>
                <a:cs typeface="Calibri" pitchFamily="34" charset="-120"/>
              </a:rPr>
              <a:t>TOTAL   </a:t>
            </a:r>
            <a:pPr algn="r" indent="0" marL="0">
              <a:buNone/>
            </a:pPr>
            <a:r>
              <a:rPr lang="en-US" sz="1100" dirty="0">
                <a:solidFill>
                  <a:srgbClr val="39415C"/>
                </a:solidFill>
                <a:latin typeface="Calibri" pitchFamily="34" charset="0"/>
                <a:ea typeface="Calibri" pitchFamily="34" charset="-122"/>
                <a:cs typeface="Calibri" pitchFamily="34" charset="-120"/>
              </a:rPr>
              <a:t>141 pipelines  ·  109 test pipelines  ·  605 assertions  ·  all green</a:t>
            </a:r>
            <a:pPr algn="r" indent="0" marL="0">
              <a:buNone/>
            </a:pPr>
            <a:r>
              <a:rPr lang="en-US" sz="950" dirty="0">
                <a:solidFill>
                  <a:srgbClr val="7A8296"/>
                </a:solidFill>
                <a:latin typeface="Calibri" pitchFamily="34" charset="0"/>
                <a:ea typeface="Calibri" pitchFamily="34" charset="-122"/>
                <a:cs typeface="Calibri" pitchFamily="34" charset="-120"/>
              </a:rPr>
              <a:t>   (Jul 10 count — grown since)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6</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DEPLOYED</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What is live right now</a:t>
            </a:r>
            <a:endParaRPr lang="en-US" sz="3000" dirty="0"/>
          </a:p>
        </p:txBody>
      </p:sp>
      <p:pic>
        <p:nvPicPr>
          <p:cNvPr id="6" name="Image 0" descr="preencoded.png">    </p:cNvPr>
          <p:cNvPicPr>
            <a:picLocks noChangeAspect="1"/>
          </p:cNvPicPr>
          <p:nvPr/>
        </p:nvPicPr>
        <p:blipFill>
          <a:blip r:embed="rId1"/>
          <a:stretch>
            <a:fillRect/>
          </a:stretch>
        </p:blipFill>
        <p:spPr>
          <a:xfrm>
            <a:off x="548640" y="1728216"/>
            <a:ext cx="274320" cy="274320"/>
          </a:xfrm>
          <a:prstGeom prst="rect">
            <a:avLst/>
          </a:prstGeom>
        </p:spPr>
      </p:pic>
      <p:sp>
        <p:nvSpPr>
          <p:cNvPr id="7" name="Text 4"/>
          <p:cNvSpPr/>
          <p:nvPr/>
        </p:nvSpPr>
        <p:spPr>
          <a:xfrm>
            <a:off x="1005840" y="1691640"/>
            <a:ext cx="5577840" cy="777240"/>
          </a:xfrm>
          <a:prstGeom prst="rect">
            <a:avLst/>
          </a:prstGeom>
          <a:noFill/>
          <a:ln/>
        </p:spPr>
        <p:txBody>
          <a:bodyPr wrap="square" lIns="0" tIns="0" rIns="0" bIns="0" rtlCol="0" anchor="t"/>
          <a:lstStyle/>
          <a:p>
            <a:pPr indent="0" marL="0">
              <a:buNone/>
            </a:pPr>
            <a:r>
              <a:rPr lang="en-US" sz="1300" b="1" dirty="0">
                <a:solidFill>
                  <a:srgbClr val="1E2749"/>
                </a:solidFill>
                <a:latin typeface="Calibri" pitchFamily="34" charset="0"/>
                <a:ea typeface="Calibri" pitchFamily="34" charset="-122"/>
                <a:cs typeface="Calibri" pitchFamily="34" charset="-120"/>
              </a:rPr>
              <a:t>Full medallion platform in Signature’s AWS
</a:t>
            </a:r>
            <a:pPr indent="0" marL="0">
              <a:buNone/>
            </a:pPr>
            <a:r>
              <a:rPr lang="en-US" sz="1100" dirty="0">
                <a:solidFill>
                  <a:srgbClr val="39415C"/>
                </a:solidFill>
                <a:latin typeface="Calibri" pitchFamily="34" charset="0"/>
                <a:ea typeface="Calibri" pitchFamily="34" charset="-122"/>
                <a:cs typeface="Calibri" pitchFamily="34" charset="-120"/>
              </a:rPr>
              <a:t>Flink, Kafka, Postgres and the serving APIs run as managed services — data never leaves Signature’s cloud</a:t>
            </a:r>
            <a:endParaRPr lang="en-US" sz="1300" dirty="0"/>
          </a:p>
        </p:txBody>
      </p:sp>
      <p:pic>
        <p:nvPicPr>
          <p:cNvPr id="8" name="Image 1" descr="preencoded.png">    </p:cNvPr>
          <p:cNvPicPr>
            <a:picLocks noChangeAspect="1"/>
          </p:cNvPicPr>
          <p:nvPr/>
        </p:nvPicPr>
        <p:blipFill>
          <a:blip r:embed="rId2"/>
          <a:stretch>
            <a:fillRect/>
          </a:stretch>
        </p:blipFill>
        <p:spPr>
          <a:xfrm>
            <a:off x="548640" y="2551176"/>
            <a:ext cx="274320" cy="274320"/>
          </a:xfrm>
          <a:prstGeom prst="rect">
            <a:avLst/>
          </a:prstGeom>
        </p:spPr>
      </p:pic>
      <p:sp>
        <p:nvSpPr>
          <p:cNvPr id="9" name="Text 5"/>
          <p:cNvSpPr/>
          <p:nvPr/>
        </p:nvSpPr>
        <p:spPr>
          <a:xfrm>
            <a:off x="1005840" y="2514600"/>
            <a:ext cx="5577840" cy="777240"/>
          </a:xfrm>
          <a:prstGeom prst="rect">
            <a:avLst/>
          </a:prstGeom>
          <a:noFill/>
          <a:ln/>
        </p:spPr>
        <p:txBody>
          <a:bodyPr wrap="square" lIns="0" tIns="0" rIns="0" bIns="0" rtlCol="0" anchor="t"/>
          <a:lstStyle/>
          <a:p>
            <a:pPr indent="0" marL="0">
              <a:buNone/>
            </a:pPr>
            <a:r>
              <a:rPr lang="en-US" sz="1300" b="1" dirty="0">
                <a:solidFill>
                  <a:srgbClr val="1E2749"/>
                </a:solidFill>
                <a:latin typeface="Calibri" pitchFamily="34" charset="0"/>
                <a:ea typeface="Calibri" pitchFamily="34" charset="-122"/>
                <a:cs typeface="Calibri" pitchFamily="34" charset="-120"/>
              </a:rPr>
              <a:t>Toggle UI on live non-prod data
</a:t>
            </a:r>
            <a:pPr indent="0" marL="0">
              <a:buNone/>
            </a:pPr>
            <a:r>
              <a:rPr lang="en-US" sz="1100" dirty="0">
                <a:solidFill>
                  <a:srgbClr val="39415C"/>
                </a:solidFill>
                <a:latin typeface="Calibri" pitchFamily="34" charset="0"/>
                <a:ea typeface="Calibri" pitchFamily="34" charset="-122"/>
                <a:cs typeface="Calibri" pitchFamily="34" charset="-120"/>
              </a:rPr>
              <a:t>data-quality, revenue, and Storybook tabs rendering from the platform</a:t>
            </a:r>
            <a:endParaRPr lang="en-US" sz="1300" dirty="0"/>
          </a:p>
        </p:txBody>
      </p:sp>
      <p:pic>
        <p:nvPicPr>
          <p:cNvPr id="10" name="Image 2" descr="preencoded.png">    </p:cNvPr>
          <p:cNvPicPr>
            <a:picLocks noChangeAspect="1"/>
          </p:cNvPicPr>
          <p:nvPr/>
        </p:nvPicPr>
        <p:blipFill>
          <a:blip r:embed="rId3"/>
          <a:stretch>
            <a:fillRect/>
          </a:stretch>
        </p:blipFill>
        <p:spPr>
          <a:xfrm>
            <a:off x="548640" y="3374136"/>
            <a:ext cx="274320" cy="274320"/>
          </a:xfrm>
          <a:prstGeom prst="rect">
            <a:avLst/>
          </a:prstGeom>
        </p:spPr>
      </p:pic>
      <p:sp>
        <p:nvSpPr>
          <p:cNvPr id="11" name="Text 6"/>
          <p:cNvSpPr/>
          <p:nvPr/>
        </p:nvSpPr>
        <p:spPr>
          <a:xfrm>
            <a:off x="1005840" y="3337560"/>
            <a:ext cx="5577840" cy="777240"/>
          </a:xfrm>
          <a:prstGeom prst="rect">
            <a:avLst/>
          </a:prstGeom>
          <a:noFill/>
          <a:ln/>
        </p:spPr>
        <p:txBody>
          <a:bodyPr wrap="square" lIns="0" tIns="0" rIns="0" bIns="0" rtlCol="0" anchor="t"/>
          <a:lstStyle/>
          <a:p>
            <a:pPr indent="0" marL="0">
              <a:buNone/>
            </a:pPr>
            <a:r>
              <a:rPr lang="en-US" sz="1300" b="1" dirty="0">
                <a:solidFill>
                  <a:srgbClr val="1E2749"/>
                </a:solidFill>
                <a:latin typeface="Calibri" pitchFamily="34" charset="0"/>
                <a:ea typeface="Calibri" pitchFamily="34" charset="-122"/>
                <a:cs typeface="Calibri" pitchFamily="34" charset="-120"/>
              </a:rPr>
              <a:t>AI Studio
</a:t>
            </a:r>
            <a:pPr indent="0" marL="0">
              <a:buNone/>
            </a:pPr>
            <a:r>
              <a:rPr lang="en-US" sz="1100" dirty="0">
                <a:solidFill>
                  <a:srgbClr val="39415C"/>
                </a:solidFill>
                <a:latin typeface="Calibri" pitchFamily="34" charset="0"/>
                <a:ea typeface="Calibri" pitchFamily="34" charset="-122"/>
                <a:cs typeface="Calibri" pitchFamily="34" charset="-120"/>
              </a:rPr>
              <a:t>plain-English questions over governed endpoints — PII filtered before the model, Bedrock in-AWS, nothing stored</a:t>
            </a:r>
            <a:endParaRPr lang="en-US" sz="1300" dirty="0"/>
          </a:p>
        </p:txBody>
      </p:sp>
      <p:pic>
        <p:nvPicPr>
          <p:cNvPr id="12" name="Image 3" descr="preencoded.png">    </p:cNvPr>
          <p:cNvPicPr>
            <a:picLocks noChangeAspect="1"/>
          </p:cNvPicPr>
          <p:nvPr/>
        </p:nvPicPr>
        <p:blipFill>
          <a:blip r:embed="rId4"/>
          <a:stretch>
            <a:fillRect/>
          </a:stretch>
        </p:blipFill>
        <p:spPr>
          <a:xfrm>
            <a:off x="548640" y="4197096"/>
            <a:ext cx="274320" cy="274320"/>
          </a:xfrm>
          <a:prstGeom prst="rect">
            <a:avLst/>
          </a:prstGeom>
        </p:spPr>
      </p:pic>
      <p:sp>
        <p:nvSpPr>
          <p:cNvPr id="13" name="Text 7"/>
          <p:cNvSpPr/>
          <p:nvPr/>
        </p:nvSpPr>
        <p:spPr>
          <a:xfrm>
            <a:off x="1005840" y="4160520"/>
            <a:ext cx="5577840" cy="777240"/>
          </a:xfrm>
          <a:prstGeom prst="rect">
            <a:avLst/>
          </a:prstGeom>
          <a:noFill/>
          <a:ln/>
        </p:spPr>
        <p:txBody>
          <a:bodyPr wrap="square" lIns="0" tIns="0" rIns="0" bIns="0" rtlCol="0" anchor="t"/>
          <a:lstStyle/>
          <a:p>
            <a:pPr indent="0" marL="0">
              <a:buNone/>
            </a:pPr>
            <a:r>
              <a:rPr lang="en-US" sz="1300" b="1" dirty="0">
                <a:solidFill>
                  <a:srgbClr val="1E2749"/>
                </a:solidFill>
                <a:latin typeface="Calibri" pitchFamily="34" charset="0"/>
                <a:ea typeface="Calibri" pitchFamily="34" charset="-122"/>
                <a:cs typeface="Calibri" pitchFamily="34" charset="-120"/>
              </a:rPr>
              <a:t>SSO end-to-end
</a:t>
            </a:r>
            <a:pPr indent="0" marL="0">
              <a:buNone/>
            </a:pPr>
            <a:r>
              <a:rPr lang="en-US" sz="1100" dirty="0">
                <a:solidFill>
                  <a:srgbClr val="39415C"/>
                </a:solidFill>
                <a:latin typeface="Calibri" pitchFamily="34" charset="0"/>
                <a:ea typeface="Calibri" pitchFamily="34" charset="-122"/>
                <a:cs typeface="Calibri" pitchFamily="34" charset="-120"/>
              </a:rPr>
              <a:t>one click from the SigNet portal; role-based access via Cognito</a:t>
            </a:r>
            <a:endParaRPr lang="en-US" sz="1300" dirty="0"/>
          </a:p>
        </p:txBody>
      </p:sp>
      <p:pic>
        <p:nvPicPr>
          <p:cNvPr id="14" name="Image 4" descr="preencoded.png">    </p:cNvPr>
          <p:cNvPicPr>
            <a:picLocks noChangeAspect="1"/>
          </p:cNvPicPr>
          <p:nvPr/>
        </p:nvPicPr>
        <p:blipFill>
          <a:blip r:embed="rId5"/>
          <a:stretch>
            <a:fillRect/>
          </a:stretch>
        </p:blipFill>
        <p:spPr>
          <a:xfrm>
            <a:off x="548640" y="5020056"/>
            <a:ext cx="274320" cy="274320"/>
          </a:xfrm>
          <a:prstGeom prst="rect">
            <a:avLst/>
          </a:prstGeom>
        </p:spPr>
      </p:pic>
      <p:sp>
        <p:nvSpPr>
          <p:cNvPr id="15" name="Text 8"/>
          <p:cNvSpPr/>
          <p:nvPr/>
        </p:nvSpPr>
        <p:spPr>
          <a:xfrm>
            <a:off x="1005840" y="4983480"/>
            <a:ext cx="5577840" cy="777240"/>
          </a:xfrm>
          <a:prstGeom prst="rect">
            <a:avLst/>
          </a:prstGeom>
          <a:noFill/>
          <a:ln/>
        </p:spPr>
        <p:txBody>
          <a:bodyPr wrap="square" lIns="0" tIns="0" rIns="0" bIns="0" rtlCol="0" anchor="t"/>
          <a:lstStyle/>
          <a:p>
            <a:pPr indent="0" marL="0">
              <a:buNone/>
            </a:pPr>
            <a:r>
              <a:rPr lang="en-US" sz="1300" b="1" dirty="0">
                <a:solidFill>
                  <a:srgbClr val="1E2749"/>
                </a:solidFill>
                <a:latin typeface="Calibri" pitchFamily="34" charset="0"/>
                <a:ea typeface="Calibri" pitchFamily="34" charset="-122"/>
                <a:cs typeface="Calibri" pitchFamily="34" charset="-120"/>
              </a:rPr>
              <a:t>CSV downloads
</a:t>
            </a:r>
            <a:pPr indent="0" marL="0">
              <a:buNone/>
            </a:pPr>
            <a:r>
              <a:rPr lang="en-US" sz="1100" dirty="0">
                <a:solidFill>
                  <a:srgbClr val="39415C"/>
                </a:solidFill>
                <a:latin typeface="Calibri" pitchFamily="34" charset="0"/>
                <a:ea typeface="Calibri" pitchFamily="34" charset="-122"/>
                <a:cs typeface="Calibri" pitchFamily="34" charset="-120"/>
              </a:rPr>
              <a:t>take any view with you, from every tab</a:t>
            </a:r>
            <a:endParaRPr lang="en-US" sz="1300" dirty="0"/>
          </a:p>
        </p:txBody>
      </p:sp>
      <p:pic>
        <p:nvPicPr>
          <p:cNvPr id="16" name="Image 5" descr="preencoded.png">    </p:cNvPr>
          <p:cNvPicPr>
            <a:picLocks noChangeAspect="1"/>
          </p:cNvPicPr>
          <p:nvPr/>
        </p:nvPicPr>
        <p:blipFill>
          <a:blip r:embed="rId6"/>
          <a:stretch>
            <a:fillRect/>
          </a:stretch>
        </p:blipFill>
        <p:spPr>
          <a:xfrm>
            <a:off x="548640" y="5843016"/>
            <a:ext cx="274320" cy="274320"/>
          </a:xfrm>
          <a:prstGeom prst="rect">
            <a:avLst/>
          </a:prstGeom>
        </p:spPr>
      </p:pic>
      <p:sp>
        <p:nvSpPr>
          <p:cNvPr id="17" name="Text 9"/>
          <p:cNvSpPr/>
          <p:nvPr/>
        </p:nvSpPr>
        <p:spPr>
          <a:xfrm>
            <a:off x="1005840" y="5806440"/>
            <a:ext cx="5577840" cy="777240"/>
          </a:xfrm>
          <a:prstGeom prst="rect">
            <a:avLst/>
          </a:prstGeom>
          <a:noFill/>
          <a:ln/>
        </p:spPr>
        <p:txBody>
          <a:bodyPr wrap="square" lIns="0" tIns="0" rIns="0" bIns="0" rtlCol="0" anchor="t"/>
          <a:lstStyle/>
          <a:p>
            <a:pPr indent="0" marL="0">
              <a:buNone/>
            </a:pPr>
            <a:r>
              <a:rPr lang="en-US" sz="1300" b="1" dirty="0">
                <a:solidFill>
                  <a:srgbClr val="1E2749"/>
                </a:solidFill>
                <a:latin typeface="Calibri" pitchFamily="34" charset="0"/>
                <a:ea typeface="Calibri" pitchFamily="34" charset="-122"/>
                <a:cs typeface="Calibri" pitchFamily="34" charset="-120"/>
              </a:rPr>
              <a:t>Blue-green deploys
</a:t>
            </a:r>
            <a:pPr indent="0" marL="0">
              <a:buNone/>
            </a:pPr>
            <a:r>
              <a:rPr lang="en-US" sz="1100" dirty="0">
                <a:solidFill>
                  <a:srgbClr val="39415C"/>
                </a:solidFill>
                <a:latin typeface="Calibri" pitchFamily="34" charset="0"/>
                <a:ea typeface="Calibri" pitchFamily="34" charset="-122"/>
                <a:cs typeface="Calibri" pitchFamily="34" charset="-120"/>
              </a:rPr>
              <a:t>the full assertion suite re-runs before any change is promoted — rollback is instant</a:t>
            </a:r>
            <a:endParaRPr lang="en-US" sz="1300" dirty="0"/>
          </a:p>
        </p:txBody>
      </p:sp>
      <p:sp>
        <p:nvSpPr>
          <p:cNvPr id="18" name="Shape 10"/>
          <p:cNvSpPr/>
          <p:nvPr/>
        </p:nvSpPr>
        <p:spPr>
          <a:xfrm>
            <a:off x="6949440" y="1691640"/>
            <a:ext cx="2606040" cy="4709160"/>
          </a:xfrm>
          <a:prstGeom prst="roundRect">
            <a:avLst>
              <a:gd name="adj" fmla="val 3509"/>
            </a:avLst>
          </a:prstGeom>
          <a:solidFill>
            <a:srgbClr val="212B5F"/>
          </a:solidFill>
          <a:ln w="12700">
            <a:solidFill>
              <a:srgbClr val="212B5F"/>
            </a:solidFill>
            <a:prstDash val="solid"/>
          </a:ln>
        </p:spPr>
      </p:sp>
      <p:sp>
        <p:nvSpPr>
          <p:cNvPr id="19" name="Text 11"/>
          <p:cNvSpPr/>
          <p:nvPr/>
        </p:nvSpPr>
        <p:spPr>
          <a:xfrm>
            <a:off x="7178040" y="1920240"/>
            <a:ext cx="2148840" cy="502920"/>
          </a:xfrm>
          <a:prstGeom prst="rect">
            <a:avLst/>
          </a:prstGeom>
          <a:noFill/>
          <a:ln/>
        </p:spPr>
        <p:txBody>
          <a:bodyPr wrap="square" lIns="0" tIns="0" rIns="0" bIns="0" rtlCol="0" anchor="ctr"/>
          <a:lstStyle/>
          <a:p>
            <a:pPr indent="0" marL="0">
              <a:buNone/>
            </a:pPr>
            <a:r>
              <a:rPr lang="en-US" sz="1050" b="1" spc="140" kern="0" dirty="0">
                <a:solidFill>
                  <a:srgbClr val="8FB8E8"/>
                </a:solidFill>
                <a:latin typeface="Calibri" pitchFamily="34" charset="0"/>
                <a:ea typeface="Calibri" pitchFamily="34" charset="-122"/>
                <a:cs typeface="Calibri" pitchFamily="34" charset="-120"/>
              </a:rPr>
              <a:t>THREE GOVERNED SERVING ENDPOINTS</a:t>
            </a:r>
            <a:endParaRPr lang="en-US" sz="1050" dirty="0"/>
          </a:p>
        </p:txBody>
      </p:sp>
      <p:sp>
        <p:nvSpPr>
          <p:cNvPr id="20" name="Shape 12"/>
          <p:cNvSpPr/>
          <p:nvPr/>
        </p:nvSpPr>
        <p:spPr>
          <a:xfrm>
            <a:off x="7178040" y="2514600"/>
            <a:ext cx="2148840" cy="932688"/>
          </a:xfrm>
          <a:prstGeom prst="roundRect">
            <a:avLst>
              <a:gd name="adj" fmla="val 6863"/>
            </a:avLst>
          </a:prstGeom>
          <a:solidFill>
            <a:srgbClr val="2B3778"/>
          </a:solidFill>
          <a:ln w="9525">
            <a:solidFill>
              <a:srgbClr val="1E808F"/>
            </a:solidFill>
            <a:prstDash val="solid"/>
          </a:ln>
        </p:spPr>
      </p:sp>
      <p:sp>
        <p:nvSpPr>
          <p:cNvPr id="21" name="Text 13"/>
          <p:cNvSpPr/>
          <p:nvPr/>
        </p:nvSpPr>
        <p:spPr>
          <a:xfrm>
            <a:off x="7333488" y="2587752"/>
            <a:ext cx="1837944" cy="8229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quality
</a:t>
            </a:r>
            <a:pPr indent="0" marL="0">
              <a:buNone/>
            </a:pPr>
            <a:r>
              <a:rPr lang="en-US" sz="950" dirty="0">
                <a:solidFill>
                  <a:srgbClr val="C9D4F2"/>
                </a:solidFill>
                <a:latin typeface="Calibri" pitchFamily="34" charset="0"/>
                <a:ea typeface="Calibri" pitchFamily="34" charset="-122"/>
                <a:cs typeface="Calibri" pitchFamily="34" charset="-120"/>
              </a:rPr>
              <a:t>coverage &amp; completeness
</a:t>
            </a:r>
            <a:pPr indent="0" marL="0">
              <a:buNone/>
            </a:pPr>
            <a:r>
              <a:rPr lang="en-US" sz="850" b="1" dirty="0">
                <a:solidFill>
                  <a:srgbClr val="C9A22B"/>
                </a:solidFill>
                <a:latin typeface="Calibri" pitchFamily="34" charset="0"/>
                <a:ea typeface="Calibri" pitchFamily="34" charset="-122"/>
                <a:cs typeface="Calibri" pitchFamily="34" charset="-120"/>
              </a:rPr>
              <a:t>GraphQL + MCP</a:t>
            </a:r>
            <a:endParaRPr lang="en-US" sz="1250" dirty="0"/>
          </a:p>
        </p:txBody>
      </p:sp>
      <p:sp>
        <p:nvSpPr>
          <p:cNvPr id="22" name="Shape 14"/>
          <p:cNvSpPr/>
          <p:nvPr/>
        </p:nvSpPr>
        <p:spPr>
          <a:xfrm>
            <a:off x="7178040" y="3557016"/>
            <a:ext cx="2148840" cy="932688"/>
          </a:xfrm>
          <a:prstGeom prst="roundRect">
            <a:avLst>
              <a:gd name="adj" fmla="val 6863"/>
            </a:avLst>
          </a:prstGeom>
          <a:solidFill>
            <a:srgbClr val="2B3778"/>
          </a:solidFill>
          <a:ln w="9525">
            <a:solidFill>
              <a:srgbClr val="1E808F"/>
            </a:solidFill>
            <a:prstDash val="solid"/>
          </a:ln>
        </p:spPr>
      </p:sp>
      <p:sp>
        <p:nvSpPr>
          <p:cNvPr id="23" name="Text 15"/>
          <p:cNvSpPr/>
          <p:nvPr/>
        </p:nvSpPr>
        <p:spPr>
          <a:xfrm>
            <a:off x="7333488" y="3630168"/>
            <a:ext cx="1837944" cy="8229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Revenue
</a:t>
            </a:r>
            <a:pPr indent="0" marL="0">
              <a:buNone/>
            </a:pPr>
            <a:r>
              <a:rPr lang="en-US" sz="950" dirty="0">
                <a:solidFill>
                  <a:srgbClr val="C9D4F2"/>
                </a:solidFill>
                <a:latin typeface="Calibri" pitchFamily="34" charset="0"/>
                <a:ea typeface="Calibri" pitchFamily="34" charset="-122"/>
                <a:cs typeface="Calibri" pitchFamily="34" charset="-120"/>
              </a:rPr>
              <a:t>funnel · suppliers · advisors
</a:t>
            </a:r>
            <a:pPr indent="0" marL="0">
              <a:buNone/>
            </a:pPr>
            <a:r>
              <a:rPr lang="en-US" sz="850" b="1" dirty="0">
                <a:solidFill>
                  <a:srgbClr val="C9A22B"/>
                </a:solidFill>
                <a:latin typeface="Calibri" pitchFamily="34" charset="0"/>
                <a:ea typeface="Calibri" pitchFamily="34" charset="-122"/>
                <a:cs typeface="Calibri" pitchFamily="34" charset="-120"/>
              </a:rPr>
              <a:t>GraphQL + MCP</a:t>
            </a:r>
            <a:endParaRPr lang="en-US" sz="1250" dirty="0"/>
          </a:p>
        </p:txBody>
      </p:sp>
      <p:sp>
        <p:nvSpPr>
          <p:cNvPr id="24" name="Shape 16"/>
          <p:cNvSpPr/>
          <p:nvPr/>
        </p:nvSpPr>
        <p:spPr>
          <a:xfrm>
            <a:off x="7178040" y="4599432"/>
            <a:ext cx="2148840" cy="932688"/>
          </a:xfrm>
          <a:prstGeom prst="roundRect">
            <a:avLst>
              <a:gd name="adj" fmla="val 6863"/>
            </a:avLst>
          </a:prstGeom>
          <a:solidFill>
            <a:srgbClr val="2B3778"/>
          </a:solidFill>
          <a:ln w="9525">
            <a:solidFill>
              <a:srgbClr val="1E808F"/>
            </a:solidFill>
            <a:prstDash val="solid"/>
          </a:ln>
        </p:spPr>
      </p:sp>
      <p:sp>
        <p:nvSpPr>
          <p:cNvPr id="25" name="Text 17"/>
          <p:cNvSpPr/>
          <p:nvPr/>
        </p:nvSpPr>
        <p:spPr>
          <a:xfrm>
            <a:off x="7333488" y="4672584"/>
            <a:ext cx="1837944" cy="8229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Storybook analytics
</a:t>
            </a:r>
            <a:pPr indent="0" marL="0">
              <a:buNone/>
            </a:pPr>
            <a:r>
              <a:rPr lang="en-US" sz="950" dirty="0">
                <a:solidFill>
                  <a:srgbClr val="C9D4F2"/>
                </a:solidFill>
                <a:latin typeface="Calibri" pitchFamily="34" charset="0"/>
                <a:ea typeface="Calibri" pitchFamily="34" charset="-122"/>
                <a:cs typeface="Calibri" pitchFamily="34" charset="-120"/>
              </a:rPr>
              <a:t>journeys &amp; hot leads
</a:t>
            </a:r>
            <a:pPr indent="0" marL="0">
              <a:buNone/>
            </a:pPr>
            <a:r>
              <a:rPr lang="en-US" sz="850" b="1" dirty="0">
                <a:solidFill>
                  <a:srgbClr val="C9A22B"/>
                </a:solidFill>
                <a:latin typeface="Calibri" pitchFamily="34" charset="0"/>
                <a:ea typeface="Calibri" pitchFamily="34" charset="-122"/>
                <a:cs typeface="Calibri" pitchFamily="34" charset="-120"/>
              </a:rPr>
              <a:t>GraphQL + MCP</a:t>
            </a:r>
            <a:endParaRPr lang="en-US" sz="1250" dirty="0"/>
          </a:p>
        </p:txBody>
      </p:sp>
      <p:sp>
        <p:nvSpPr>
          <p:cNvPr id="26" name="Text 18"/>
          <p:cNvSpPr/>
          <p:nvPr/>
        </p:nvSpPr>
        <p:spPr>
          <a:xfrm>
            <a:off x="7178040" y="5660136"/>
            <a:ext cx="2148840" cy="640080"/>
          </a:xfrm>
          <a:prstGeom prst="rect">
            <a:avLst/>
          </a:prstGeom>
          <a:noFill/>
          <a:ln/>
        </p:spPr>
        <p:txBody>
          <a:bodyPr wrap="square" lIns="0" tIns="0" rIns="0" bIns="0" rtlCol="0" anchor="ctr"/>
          <a:lstStyle/>
          <a:p>
            <a:pPr indent="0" marL="0">
              <a:buNone/>
            </a:pPr>
            <a:r>
              <a:rPr lang="en-US" sz="900" i="1" dirty="0">
                <a:solidFill>
                  <a:srgbClr val="A9B7E0"/>
                </a:solidFill>
                <a:latin typeface="Calibri" pitchFamily="34" charset="0"/>
                <a:ea typeface="Calibri" pitchFamily="34" charset="-122"/>
                <a:cs typeface="Calibri" pitchFamily="34" charset="-120"/>
              </a:rPr>
              <a:t>Consolidating to a single endpoint is on the optimization list — details in the appendix.</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7</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ENGINEERING HONESTY</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Known engineering work to complete</a:t>
            </a:r>
            <a:endParaRPr lang="en-US" sz="3000" dirty="0"/>
          </a:p>
        </p:txBody>
      </p:sp>
      <p:sp>
        <p:nvSpPr>
          <p:cNvPr id="6" name="Text 4"/>
          <p:cNvSpPr/>
          <p:nvPr/>
        </p:nvSpPr>
        <p:spPr>
          <a:xfrm>
            <a:off x="502920" y="1371600"/>
            <a:ext cx="9052560" cy="384048"/>
          </a:xfrm>
          <a:prstGeom prst="rect">
            <a:avLst/>
          </a:prstGeom>
          <a:noFill/>
          <a:ln/>
        </p:spPr>
        <p:txBody>
          <a:bodyPr wrap="square" lIns="0" tIns="0" rIns="0" bIns="0" rtlCol="0" anchor="ctr"/>
          <a:lstStyle/>
          <a:p>
            <a:pPr indent="0" marL="0">
              <a:buNone/>
            </a:pPr>
            <a:r>
              <a:rPr lang="en-US" sz="1200" i="1" dirty="0">
                <a:solidFill>
                  <a:srgbClr val="7A8296"/>
                </a:solidFill>
                <a:latin typeface="Calibri" pitchFamily="34" charset="0"/>
                <a:ea typeface="Calibri" pitchFamily="34" charset="-122"/>
                <a:cs typeface="Calibri" pitchFamily="34" charset="-120"/>
              </a:rPr>
              <a:t>Code complete means the features are in. These optimizations and hardening items run during the testing window — none of them block your testing.</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9052560" cy="914400"/>
        </p:xfrm>
        <a:graphic>
          <a:graphicData uri="http://schemas.openxmlformats.org/drawingml/2006/table">
            <a:tbl>
              <a:tblPr/>
              <a:tblGrid>
                <a:gridCol w="2514600"/>
                <a:gridCol w="5349240"/>
                <a:gridCol w="118872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Workstream</a:t>
                      </a:r>
                      <a:endParaRPr lang="en-US" sz="115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212B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&amp; why (the ROI)</a:t>
                      </a:r>
                      <a:endParaRPr lang="en-US" sz="115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212B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212B5F"/>
                    </a:solidFill>
                  </a:tcPr>
                </a:tc>
              </a:tr>
              <a:tr h="566928">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Data-catalog import re-architecture</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indent="0" marL="0">
                        <a:buNone/>
                      </a:pPr>
                      <a:r>
                        <a:rPr lang="en-US" sz="1100" dirty="0">
                          <a:solidFill>
                            <a:srgbClr val="39415C"/>
                          </a:solidFill>
                          <a:latin typeface="Calibri" pitchFamily="34" charset="0"/>
                          <a:ea typeface="Calibri" pitchFamily="34" charset="-122"/>
                          <a:cs typeface="Calibri" pitchFamily="34" charset="-120"/>
                        </a:rPr>
                        <a:t>Collapses non-prod data infrastructure from 3 platforms to 1 — lower cost, simpler operations</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5616D"/>
                          </a:solidFill>
                          <a:latin typeface="Calibri" pitchFamily="34" charset="0"/>
                          <a:ea typeface="Calibri" pitchFamily="34" charset="-122"/>
                          <a:cs typeface="Calibri" pitchFamily="34" charset="-120"/>
                        </a:rPr>
                        <a:t>2 days</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E.164 phone-pattern sweep</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c>
                  <a:txBody>
                    <a:bodyPr/>
                    <a:lstStyle/>
                    <a:p>
                      <a:pPr indent="0" marL="0">
                        <a:buNone/>
                      </a:pPr>
                      <a:r>
                        <a:rPr lang="en-US" sz="1100" dirty="0">
                          <a:solidFill>
                            <a:srgbClr val="39415C"/>
                          </a:solidFill>
                          <a:latin typeface="Calibri" pitchFamily="34" charset="0"/>
                          <a:ea typeface="Calibri" pitchFamily="34" charset="-122"/>
                          <a:cs typeface="Calibri" pitchFamily="34" charset="-120"/>
                        </a:rPr>
                        <a:t>Hunt remaining phone-number patterns in the error logs to lift phone-coverage accuracy further</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c>
                  <a:txBody>
                    <a:bodyPr/>
                    <a:lstStyle/>
                    <a:p>
                      <a:pPr algn="ctr" indent="0" marL="0">
                        <a:buNone/>
                      </a:pPr>
                      <a:r>
                        <a:rPr lang="en-US" sz="1100" b="1" dirty="0">
                          <a:solidFill>
                            <a:srgbClr val="15616D"/>
                          </a:solidFill>
                          <a:latin typeface="Calibri" pitchFamily="34" charset="0"/>
                          <a:ea typeface="Calibri" pitchFamily="34" charset="-122"/>
                          <a:cs typeface="Calibri" pitchFamily="34" charset="-120"/>
                        </a:rPr>
                        <a:t>2 days</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r>
              <a:tr h="658368">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Non-prod Storybook event stream</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BF3DC"/>
                    </a:solidFill>
                  </a:tcPr>
                </a:tc>
                <a:tc>
                  <a:txBody>
                    <a:bodyPr/>
                    <a:lstStyle/>
                    <a:p>
                      <a:pPr indent="0" marL="0">
                        <a:buNone/>
                      </a:pPr>
                      <a:r>
                        <a:rPr lang="en-US" sz="1100" dirty="0">
                          <a:solidFill>
                            <a:srgbClr val="39415C"/>
                          </a:solidFill>
                          <a:latin typeface="Calibri" pitchFamily="34" charset="0"/>
                          <a:ea typeface="Calibri" pitchFamily="34" charset="-122"/>
                          <a:cs typeface="Calibri" pitchFamily="34" charset="-120"/>
                        </a:rPr>
                        <a:t>Replaces mock data in the Storybook tab with live events — cross-team dependency on Cenora; coordination underway</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BF3DC"/>
                    </a:solidFill>
                  </a:tcPr>
                </a:tc>
                <a:tc>
                  <a:txBody>
                    <a:bodyPr/>
                    <a:lstStyle/>
                    <a:p>
                      <a:pPr algn="ctr" indent="0" marL="0">
                        <a:buNone/>
                      </a:pPr>
                      <a:r>
                        <a:rPr lang="en-US" sz="1100" b="1" dirty="0">
                          <a:solidFill>
                            <a:srgbClr val="A8861F"/>
                          </a:solidFill>
                          <a:latin typeface="Calibri" pitchFamily="34" charset="0"/>
                          <a:ea typeface="Calibri" pitchFamily="34" charset="-122"/>
                          <a:cs typeface="Calibri" pitchFamily="34" charset="-120"/>
                        </a:rPr>
                        <a:t>External</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BF3DC"/>
                    </a:solidFill>
                  </a:tcPr>
                </a:tc>
              </a:tr>
              <a:tr h="658368">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Auto-ticketing from AI Studio</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c>
                  <a:txBody>
                    <a:bodyPr/>
                    <a:lstStyle/>
                    <a:p>
                      <a:pPr indent="0" marL="0">
                        <a:buNone/>
                      </a:pPr>
                      <a:r>
                        <a:rPr lang="en-US" sz="1100" dirty="0">
                          <a:solidFill>
                            <a:srgbClr val="39415C"/>
                          </a:solidFill>
                          <a:latin typeface="Calibri" pitchFamily="34" charset="0"/>
                          <a:ea typeface="Calibri" pitchFamily="34" charset="-122"/>
                          <a:cs typeface="Calibri" pitchFamily="34" charset="-120"/>
                        </a:rPr>
                        <a:t>Common questions the data can answer but the API doesn’t expose yet become GitHub tickets automatically</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c>
                  <a:txBody>
                    <a:bodyPr/>
                    <a:lstStyle/>
                    <a:p>
                      <a:pPr algn="ctr" indent="0" marL="0">
                        <a:buNone/>
                      </a:pPr>
                      <a:r>
                        <a:rPr lang="en-US" sz="1100" b="1" dirty="0">
                          <a:solidFill>
                            <a:srgbClr val="15616D"/>
                          </a:solidFill>
                          <a:latin typeface="Calibri" pitchFamily="34" charset="0"/>
                          <a:ea typeface="Calibri" pitchFamily="34" charset="-122"/>
                          <a:cs typeface="Calibri" pitchFamily="34" charset="-120"/>
                        </a:rPr>
                        <a:t>In design</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r>
              <a:tr h="566928">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SSO test hardening</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indent="0" marL="0">
                        <a:buNone/>
                      </a:pPr>
                      <a:r>
                        <a:rPr lang="en-US" sz="1100" dirty="0">
                          <a:solidFill>
                            <a:srgbClr val="39415C"/>
                          </a:solidFill>
                          <a:latin typeface="Calibri" pitchFamily="34" charset="0"/>
                          <a:ea typeface="Calibri" pitchFamily="34" charset="-122"/>
                          <a:cs typeface="Calibri" pitchFamily="34" charset="-120"/>
                        </a:rPr>
                        <a:t>Broader automated test coverage across agency and owner roles</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5616D"/>
                          </a:solidFill>
                          <a:latin typeface="Calibri" pitchFamily="34" charset="0"/>
                          <a:ea typeface="Calibri" pitchFamily="34" charset="-122"/>
                          <a:cs typeface="Calibri" pitchFamily="34" charset="-120"/>
                        </a:rPr>
                        <a:t>Scoped</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Prompt-injection attack testing</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c>
                  <a:txBody>
                    <a:bodyPr/>
                    <a:lstStyle/>
                    <a:p>
                      <a:pPr indent="0" marL="0">
                        <a:buNone/>
                      </a:pPr>
                      <a:r>
                        <a:rPr lang="en-US" sz="1100" dirty="0">
                          <a:solidFill>
                            <a:srgbClr val="39415C"/>
                          </a:solidFill>
                          <a:latin typeface="Calibri" pitchFamily="34" charset="0"/>
                          <a:ea typeface="Calibri" pitchFamily="34" charset="-122"/>
                          <a:cs typeface="Calibri" pitchFamily="34" charset="-120"/>
                        </a:rPr>
                        <a:t>Adversarial security testing of the AI Studio before the alpha cohort touches production</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c>
                  <a:txBody>
                    <a:bodyPr/>
                    <a:lstStyle/>
                    <a:p>
                      <a:pPr algn="ctr" indent="0" marL="0">
                        <a:buNone/>
                      </a:pPr>
                      <a:r>
                        <a:rPr lang="en-US" sz="1100" b="1" dirty="0">
                          <a:solidFill>
                            <a:srgbClr val="15616D"/>
                          </a:solidFill>
                          <a:latin typeface="Calibri" pitchFamily="34" charset="0"/>
                          <a:ea typeface="Calibri" pitchFamily="34" charset="-122"/>
                          <a:cs typeface="Calibri" pitchFamily="34" charset="-120"/>
                        </a:rPr>
                        <a:t>Scoped</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r>
            </a:tbl>
          </a:graphicData>
        </a:graphic>
      </p:graphicFrame>
      <p:sp>
        <p:nvSpPr>
          <p:cNvPr id="8" name="Text 5"/>
          <p:cNvSpPr/>
          <p:nvPr/>
        </p:nvSpPr>
        <p:spPr>
          <a:xfrm>
            <a:off x="502920" y="6446520"/>
            <a:ext cx="9052560" cy="502920"/>
          </a:xfrm>
          <a:prstGeom prst="rect">
            <a:avLst/>
          </a:prstGeom>
          <a:noFill/>
          <a:ln/>
        </p:spPr>
        <p:txBody>
          <a:bodyPr wrap="square" lIns="0" tIns="0" rIns="0" bIns="0" rtlCol="0" anchor="ctr"/>
          <a:lstStyle/>
          <a:p>
            <a:pPr indent="0" marL="0">
              <a:buNone/>
            </a:pPr>
            <a:r>
              <a:rPr lang="en-US" sz="1100" b="1" dirty="0">
                <a:solidFill>
                  <a:srgbClr val="A8861F"/>
                </a:solidFill>
                <a:latin typeface="Calibri" pitchFamily="34" charset="0"/>
                <a:ea typeface="Calibri" pitchFamily="34" charset="-122"/>
                <a:cs typeface="Calibri" pitchFamily="34" charset="-120"/>
              </a:rPr>
              <a:t>The one external dependency: </a:t>
            </a:r>
            <a:pPr indent="0" marL="0">
              <a:buNone/>
            </a:pPr>
            <a:r>
              <a:rPr lang="en-US" sz="1100" dirty="0">
                <a:solidFill>
                  <a:srgbClr val="39415C"/>
                </a:solidFill>
                <a:latin typeface="Calibri" pitchFamily="34" charset="0"/>
                <a:ea typeface="Calibri" pitchFamily="34" charset="-122"/>
                <a:cs typeface="Calibri" pitchFamily="34" charset="-120"/>
              </a:rPr>
              <a:t>the Storybook event stream (highlighted). Until it lands, the Storybook tab shows representative mock data — exactly as demoed on Friday.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8</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THE ROAD FROM HERE</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From today to the Owners Meeting</a:t>
            </a:r>
            <a:endParaRPr lang="en-US" sz="3000" dirty="0"/>
          </a:p>
        </p:txBody>
      </p:sp>
      <p:sp>
        <p:nvSpPr>
          <p:cNvPr id="6" name="Shape 4"/>
          <p:cNvSpPr/>
          <p:nvPr/>
        </p:nvSpPr>
        <p:spPr>
          <a:xfrm>
            <a:off x="731520" y="3977640"/>
            <a:ext cx="8595360" cy="0"/>
          </a:xfrm>
          <a:prstGeom prst="line">
            <a:avLst/>
          </a:prstGeom>
          <a:noFill/>
          <a:ln w="25400">
            <a:solidFill>
              <a:srgbClr val="C4CADB"/>
            </a:solidFill>
            <a:prstDash val="solid"/>
          </a:ln>
        </p:spPr>
      </p:sp>
      <p:sp>
        <p:nvSpPr>
          <p:cNvPr id="7" name="Shape 5"/>
          <p:cNvSpPr/>
          <p:nvPr/>
        </p:nvSpPr>
        <p:spPr>
          <a:xfrm>
            <a:off x="1234440" y="4361688"/>
            <a:ext cx="5669280" cy="420624"/>
          </a:xfrm>
          <a:prstGeom prst="roundRect">
            <a:avLst>
              <a:gd name="adj" fmla="val 13043"/>
            </a:avLst>
          </a:prstGeom>
          <a:solidFill>
            <a:srgbClr val="1E808F">
              <a:alpha val="18000"/>
            </a:srgbClr>
          </a:solidFill>
          <a:ln/>
        </p:spPr>
      </p:sp>
      <p:sp>
        <p:nvSpPr>
          <p:cNvPr id="8" name="Text 6"/>
          <p:cNvSpPr/>
          <p:nvPr/>
        </p:nvSpPr>
        <p:spPr>
          <a:xfrm>
            <a:off x="1234440" y="4361688"/>
            <a:ext cx="5669280" cy="420624"/>
          </a:xfrm>
          <a:prstGeom prst="rect">
            <a:avLst/>
          </a:prstGeom>
          <a:noFill/>
          <a:ln/>
        </p:spPr>
        <p:txBody>
          <a:bodyPr wrap="square" lIns="0" tIns="0" rIns="0" bIns="0" rtlCol="0" anchor="ctr"/>
          <a:lstStyle/>
          <a:p>
            <a:pPr algn="ctr" indent="0" marL="0">
              <a:buNone/>
            </a:pPr>
            <a:r>
              <a:rPr lang="en-US" sz="950" b="1" spc="80" kern="0" dirty="0">
                <a:solidFill>
                  <a:srgbClr val="15616D"/>
                </a:solidFill>
                <a:latin typeface="Calibri" pitchFamily="34" charset="0"/>
                <a:ea typeface="Calibri" pitchFamily="34" charset="-122"/>
                <a:cs typeface="Calibri" pitchFamily="34" charset="-120"/>
              </a:rPr>
              <a:t>AUG 7 – SEP 29  ·  INTERNAL (NON-PROD) TESTING WINDOW — YOUR WINDOW</a:t>
            </a:r>
            <a:endParaRPr lang="en-US" sz="950" dirty="0"/>
          </a:p>
        </p:txBody>
      </p:sp>
      <p:sp>
        <p:nvSpPr>
          <p:cNvPr id="9" name="Shape 7"/>
          <p:cNvSpPr/>
          <p:nvPr/>
        </p:nvSpPr>
        <p:spPr>
          <a:xfrm>
            <a:off x="1143000" y="3886200"/>
            <a:ext cx="182880" cy="182880"/>
          </a:xfrm>
          <a:prstGeom prst="ellipse">
            <a:avLst/>
          </a:prstGeom>
          <a:solidFill>
            <a:srgbClr val="212B5F"/>
          </a:solidFill>
          <a:ln/>
        </p:spPr>
      </p:sp>
      <p:sp>
        <p:nvSpPr>
          <p:cNvPr id="10" name="Shape 8"/>
          <p:cNvSpPr/>
          <p:nvPr/>
        </p:nvSpPr>
        <p:spPr>
          <a:xfrm>
            <a:off x="1234440" y="3566160"/>
            <a:ext cx="0" cy="292608"/>
          </a:xfrm>
          <a:prstGeom prst="line">
            <a:avLst/>
          </a:prstGeom>
          <a:noFill/>
          <a:ln w="12700">
            <a:solidFill>
              <a:srgbClr val="C4CADB"/>
            </a:solidFill>
            <a:prstDash val="solid"/>
          </a:ln>
        </p:spPr>
      </p:sp>
      <p:sp>
        <p:nvSpPr>
          <p:cNvPr id="11" name="Text 9"/>
          <p:cNvSpPr/>
          <p:nvPr/>
        </p:nvSpPr>
        <p:spPr>
          <a:xfrm>
            <a:off x="365760" y="2404872"/>
            <a:ext cx="1828800" cy="1143000"/>
          </a:xfrm>
          <a:prstGeom prst="rect">
            <a:avLst/>
          </a:prstGeom>
          <a:noFill/>
          <a:ln/>
        </p:spPr>
        <p:txBody>
          <a:bodyPr wrap="square" lIns="0" tIns="0" rIns="0" bIns="0" rtlCol="0" anchor="b"/>
          <a:lstStyle/>
          <a:p>
            <a:pPr algn="ctr" indent="0" marL="0">
              <a:buNone/>
            </a:pPr>
            <a:r>
              <a:rPr lang="en-US" sz="1200" b="1" dirty="0">
                <a:solidFill>
                  <a:srgbClr val="1E2749"/>
                </a:solidFill>
                <a:latin typeface="Calibri" pitchFamily="34" charset="0"/>
                <a:ea typeface="Calibri" pitchFamily="34" charset="-122"/>
                <a:cs typeface="Calibri" pitchFamily="34" charset="-120"/>
              </a:rPr>
              <a:t>Fri, Aug 7
</a:t>
            </a:r>
            <a:pPr algn="ctr" indent="0" marL="0">
              <a:buNone/>
            </a:pPr>
            <a:r>
              <a:rPr lang="en-US" sz="950" dirty="0">
                <a:solidFill>
                  <a:srgbClr val="7A8296"/>
                </a:solidFill>
                <a:latin typeface="Calibri" pitchFamily="34" charset="0"/>
                <a:ea typeface="Calibri" pitchFamily="34" charset="-122"/>
                <a:cs typeface="Calibri" pitchFamily="34" charset="-120"/>
              </a:rPr>
              <a:t>Non-prod code complete — this walk-through; testing opens</a:t>
            </a:r>
            <a:endParaRPr lang="en-US" sz="1200" dirty="0"/>
          </a:p>
        </p:txBody>
      </p:sp>
      <p:sp>
        <p:nvSpPr>
          <p:cNvPr id="12" name="Shape 10"/>
          <p:cNvSpPr/>
          <p:nvPr/>
        </p:nvSpPr>
        <p:spPr>
          <a:xfrm>
            <a:off x="3154680" y="3886200"/>
            <a:ext cx="182880" cy="182880"/>
          </a:xfrm>
          <a:prstGeom prst="ellipse">
            <a:avLst/>
          </a:prstGeom>
          <a:solidFill>
            <a:srgbClr val="212B5F"/>
          </a:solidFill>
          <a:ln/>
        </p:spPr>
      </p:sp>
      <p:sp>
        <p:nvSpPr>
          <p:cNvPr id="13" name="Shape 11"/>
          <p:cNvSpPr/>
          <p:nvPr/>
        </p:nvSpPr>
        <p:spPr>
          <a:xfrm>
            <a:off x="3246120" y="4389120"/>
            <a:ext cx="0" cy="0"/>
          </a:xfrm>
          <a:prstGeom prst="line">
            <a:avLst/>
          </a:prstGeom>
          <a:noFill/>
          <a:ln w="12700">
            <a:solidFill>
              <a:srgbClr val="C4CADB"/>
            </a:solidFill>
            <a:prstDash val="solid"/>
          </a:ln>
        </p:spPr>
      </p:sp>
      <p:sp>
        <p:nvSpPr>
          <p:cNvPr id="14" name="Text 12"/>
          <p:cNvSpPr/>
          <p:nvPr/>
        </p:nvSpPr>
        <p:spPr>
          <a:xfrm>
            <a:off x="2331720" y="4946904"/>
            <a:ext cx="1828800" cy="1143000"/>
          </a:xfrm>
          <a:prstGeom prst="rect">
            <a:avLst/>
          </a:prstGeom>
          <a:noFill/>
          <a:ln/>
        </p:spPr>
        <p:txBody>
          <a:bodyPr wrap="square" lIns="0" tIns="0" rIns="0" bIns="0" rtlCol="0" anchor="t"/>
          <a:lstStyle/>
          <a:p>
            <a:pPr algn="ctr" indent="0" marL="0">
              <a:buNone/>
            </a:pPr>
            <a:r>
              <a:rPr lang="en-US" sz="1200" b="1" dirty="0">
                <a:solidFill>
                  <a:srgbClr val="1E2749"/>
                </a:solidFill>
                <a:latin typeface="Calibri" pitchFamily="34" charset="0"/>
                <a:ea typeface="Calibri" pitchFamily="34" charset="-122"/>
                <a:cs typeface="Calibri" pitchFamily="34" charset="-120"/>
              </a:rPr>
              <a:t>Fri, Aug 28
</a:t>
            </a:r>
            <a:pPr algn="ctr" indent="0" marL="0">
              <a:buNone/>
            </a:pPr>
            <a:r>
              <a:rPr lang="en-US" sz="950" dirty="0">
                <a:solidFill>
                  <a:srgbClr val="7A8296"/>
                </a:solidFill>
                <a:latin typeface="Calibri" pitchFamily="34" charset="0"/>
                <a:ea typeface="Calibri" pitchFamily="34" charset="-122"/>
                <a:cs typeface="Calibri" pitchFamily="34" charset="-120"/>
              </a:rPr>
              <a:t>Production turned on; production testing begins</a:t>
            </a:r>
            <a:endParaRPr lang="en-US" sz="1200" dirty="0"/>
          </a:p>
        </p:txBody>
      </p:sp>
      <p:sp>
        <p:nvSpPr>
          <p:cNvPr id="15" name="Shape 13"/>
          <p:cNvSpPr/>
          <p:nvPr/>
        </p:nvSpPr>
        <p:spPr>
          <a:xfrm>
            <a:off x="4892040" y="3886200"/>
            <a:ext cx="182880" cy="182880"/>
          </a:xfrm>
          <a:prstGeom prst="ellipse">
            <a:avLst/>
          </a:prstGeom>
          <a:solidFill>
            <a:srgbClr val="212B5F"/>
          </a:solidFill>
          <a:ln/>
        </p:spPr>
      </p:sp>
      <p:sp>
        <p:nvSpPr>
          <p:cNvPr id="16" name="Shape 14"/>
          <p:cNvSpPr/>
          <p:nvPr/>
        </p:nvSpPr>
        <p:spPr>
          <a:xfrm>
            <a:off x="4983480" y="3566160"/>
            <a:ext cx="0" cy="292608"/>
          </a:xfrm>
          <a:prstGeom prst="line">
            <a:avLst/>
          </a:prstGeom>
          <a:noFill/>
          <a:ln w="12700">
            <a:solidFill>
              <a:srgbClr val="C4CADB"/>
            </a:solidFill>
            <a:prstDash val="solid"/>
          </a:ln>
        </p:spPr>
      </p:sp>
      <p:sp>
        <p:nvSpPr>
          <p:cNvPr id="17" name="Text 15"/>
          <p:cNvSpPr/>
          <p:nvPr/>
        </p:nvSpPr>
        <p:spPr>
          <a:xfrm>
            <a:off x="4069080" y="2404872"/>
            <a:ext cx="1828800" cy="1143000"/>
          </a:xfrm>
          <a:prstGeom prst="rect">
            <a:avLst/>
          </a:prstGeom>
          <a:noFill/>
          <a:ln/>
        </p:spPr>
        <p:txBody>
          <a:bodyPr wrap="square" lIns="0" tIns="0" rIns="0" bIns="0" rtlCol="0" anchor="b"/>
          <a:lstStyle/>
          <a:p>
            <a:pPr algn="ctr" indent="0" marL="0">
              <a:buNone/>
            </a:pPr>
            <a:r>
              <a:rPr lang="en-US" sz="1200" b="1" dirty="0">
                <a:solidFill>
                  <a:srgbClr val="1E2749"/>
                </a:solidFill>
                <a:latin typeface="Calibri" pitchFamily="34" charset="0"/>
                <a:ea typeface="Calibri" pitchFamily="34" charset="-122"/>
                <a:cs typeface="Calibri" pitchFamily="34" charset="-120"/>
              </a:rPr>
              <a:t>Fri, Sep 4
</a:t>
            </a:r>
            <a:pPr algn="ctr" indent="0" marL="0">
              <a:buNone/>
            </a:pPr>
            <a:r>
              <a:rPr lang="en-US" sz="950" dirty="0">
                <a:solidFill>
                  <a:srgbClr val="7A8296"/>
                </a:solidFill>
                <a:latin typeface="Calibri" pitchFamily="34" charset="0"/>
                <a:ea typeface="Calibri" pitchFamily="34" charset="-122"/>
                <a:cs typeface="Calibri" pitchFamily="34" charset="-120"/>
              </a:rPr>
              <a:t>Production testing fully underway</a:t>
            </a:r>
            <a:endParaRPr lang="en-US" sz="1200" dirty="0"/>
          </a:p>
        </p:txBody>
      </p:sp>
      <p:sp>
        <p:nvSpPr>
          <p:cNvPr id="18" name="Shape 16"/>
          <p:cNvSpPr/>
          <p:nvPr/>
        </p:nvSpPr>
        <p:spPr>
          <a:xfrm>
            <a:off x="6748272" y="3822192"/>
            <a:ext cx="310896" cy="310896"/>
          </a:xfrm>
          <a:prstGeom prst="ellipse">
            <a:avLst/>
          </a:prstGeom>
          <a:solidFill>
            <a:srgbClr val="C9A22B"/>
          </a:solidFill>
          <a:ln/>
        </p:spPr>
      </p:sp>
      <p:sp>
        <p:nvSpPr>
          <p:cNvPr id="19" name="Shape 17"/>
          <p:cNvSpPr/>
          <p:nvPr/>
        </p:nvSpPr>
        <p:spPr>
          <a:xfrm>
            <a:off x="6903720" y="4846320"/>
            <a:ext cx="0" cy="0"/>
          </a:xfrm>
          <a:prstGeom prst="line">
            <a:avLst/>
          </a:prstGeom>
          <a:noFill/>
          <a:ln w="12700">
            <a:solidFill>
              <a:srgbClr val="C4CADB"/>
            </a:solidFill>
            <a:prstDash val="solid"/>
          </a:ln>
        </p:spPr>
      </p:sp>
      <p:sp>
        <p:nvSpPr>
          <p:cNvPr id="20" name="Text 18"/>
          <p:cNvSpPr/>
          <p:nvPr/>
        </p:nvSpPr>
        <p:spPr>
          <a:xfrm>
            <a:off x="5989320" y="4946904"/>
            <a:ext cx="1828800" cy="1143000"/>
          </a:xfrm>
          <a:prstGeom prst="rect">
            <a:avLst/>
          </a:prstGeom>
          <a:noFill/>
          <a:ln/>
        </p:spPr>
        <p:txBody>
          <a:bodyPr wrap="square" lIns="0" tIns="0" rIns="0" bIns="0" rtlCol="0" anchor="t"/>
          <a:lstStyle/>
          <a:p>
            <a:pPr algn="ctr" indent="0" marL="0">
              <a:buNone/>
            </a:pPr>
            <a:r>
              <a:rPr lang="en-US" sz="1350" b="1" dirty="0">
                <a:solidFill>
                  <a:srgbClr val="A8861F"/>
                </a:solidFill>
                <a:latin typeface="Calibri" pitchFamily="34" charset="0"/>
                <a:ea typeface="Calibri" pitchFamily="34" charset="-122"/>
                <a:cs typeface="Calibri" pitchFamily="34" charset="-120"/>
              </a:rPr>
              <a:t>Week of Sep 29
</a:t>
            </a:r>
            <a:pPr algn="ctr" indent="0" marL="0">
              <a:buNone/>
            </a:pPr>
            <a:r>
              <a:rPr lang="en-US" sz="950" dirty="0">
                <a:solidFill>
                  <a:srgbClr val="A8861F"/>
                </a:solidFill>
                <a:latin typeface="Calibri" pitchFamily="34" charset="0"/>
                <a:ea typeface="Calibri" pitchFamily="34" charset="-122"/>
                <a:cs typeface="Calibri" pitchFamily="34" charset="-120"/>
              </a:rPr>
              <a:t>Owners Meeting, San Antonio — alpha cohort announced</a:t>
            </a:r>
            <a:endParaRPr lang="en-US" sz="1350" dirty="0"/>
          </a:p>
        </p:txBody>
      </p:sp>
      <p:sp>
        <p:nvSpPr>
          <p:cNvPr id="21" name="Shape 19"/>
          <p:cNvSpPr/>
          <p:nvPr/>
        </p:nvSpPr>
        <p:spPr>
          <a:xfrm>
            <a:off x="8686800" y="3886200"/>
            <a:ext cx="182880" cy="182880"/>
          </a:xfrm>
          <a:prstGeom prst="ellipse">
            <a:avLst/>
          </a:prstGeom>
          <a:solidFill>
            <a:srgbClr val="212B5F"/>
          </a:solidFill>
          <a:ln/>
        </p:spPr>
      </p:sp>
      <p:sp>
        <p:nvSpPr>
          <p:cNvPr id="22" name="Shape 20"/>
          <p:cNvSpPr/>
          <p:nvPr/>
        </p:nvSpPr>
        <p:spPr>
          <a:xfrm>
            <a:off x="8778240" y="3566160"/>
            <a:ext cx="0" cy="292608"/>
          </a:xfrm>
          <a:prstGeom prst="line">
            <a:avLst/>
          </a:prstGeom>
          <a:noFill/>
          <a:ln w="12700">
            <a:solidFill>
              <a:srgbClr val="C4CADB"/>
            </a:solidFill>
            <a:prstDash val="solid"/>
          </a:ln>
        </p:spPr>
      </p:sp>
      <p:sp>
        <p:nvSpPr>
          <p:cNvPr id="23" name="Text 21"/>
          <p:cNvSpPr/>
          <p:nvPr/>
        </p:nvSpPr>
        <p:spPr>
          <a:xfrm>
            <a:off x="7863840" y="2404872"/>
            <a:ext cx="1828800" cy="1143000"/>
          </a:xfrm>
          <a:prstGeom prst="rect">
            <a:avLst/>
          </a:prstGeom>
          <a:noFill/>
          <a:ln/>
        </p:spPr>
        <p:txBody>
          <a:bodyPr wrap="square" lIns="0" tIns="0" rIns="0" bIns="0" rtlCol="0" anchor="b"/>
          <a:lstStyle/>
          <a:p>
            <a:pPr algn="ctr" indent="0" marL="0">
              <a:buNone/>
            </a:pPr>
            <a:r>
              <a:rPr lang="en-US" sz="1200" b="1" dirty="0">
                <a:solidFill>
                  <a:srgbClr val="1E2749"/>
                </a:solidFill>
                <a:latin typeface="Calibri" pitchFamily="34" charset="0"/>
                <a:ea typeface="Calibri" pitchFamily="34" charset="-122"/>
                <a:cs typeface="Calibri" pitchFamily="34" charset="-120"/>
              </a:rPr>
              <a:t>Oct 5 – Nov 13
</a:t>
            </a:r>
            <a:pPr algn="ctr" indent="0" marL="0">
              <a:buNone/>
            </a:pPr>
            <a:r>
              <a:rPr lang="en-US" sz="950" dirty="0">
                <a:solidFill>
                  <a:srgbClr val="7A8296"/>
                </a:solidFill>
                <a:latin typeface="Calibri" pitchFamily="34" charset="0"/>
                <a:ea typeface="Calibri" pitchFamily="34" charset="-122"/>
                <a:cs typeface="Calibri" pitchFamily="34" charset="-120"/>
              </a:rPr>
              <a:t>Alpha: agency owners live on production</a:t>
            </a:r>
            <a:endParaRPr lang="en-US" sz="1200" dirty="0"/>
          </a:p>
        </p:txBody>
      </p:sp>
      <p:sp>
        <p:nvSpPr>
          <p:cNvPr id="24" name="Text 22"/>
          <p:cNvSpPr/>
          <p:nvPr/>
        </p:nvSpPr>
        <p:spPr>
          <a:xfrm>
            <a:off x="502920" y="6309360"/>
            <a:ext cx="9052560" cy="365760"/>
          </a:xfrm>
          <a:prstGeom prst="rect">
            <a:avLst/>
          </a:prstGeom>
          <a:noFill/>
          <a:ln/>
        </p:spPr>
        <p:txBody>
          <a:bodyPr wrap="square" lIns="0" tIns="0" rIns="0" bIns="0" rtlCol="0" anchor="ctr"/>
          <a:lstStyle/>
          <a:p>
            <a:pPr algn="ctr" indent="0" marL="0">
              <a:buNone/>
            </a:pPr>
            <a:r>
              <a:rPr lang="en-US" sz="1250" i="1" dirty="0">
                <a:solidFill>
                  <a:srgbClr val="39415C"/>
                </a:solidFill>
                <a:latin typeface="Calibri" pitchFamily="34" charset="0"/>
                <a:ea typeface="Calibri" pitchFamily="34" charset="-122"/>
                <a:cs typeface="Calibri" pitchFamily="34" charset="-120"/>
              </a:rPr>
              <a:t>The only technical difference between non-prod and production is the volume of data — the engine is the same.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9</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C9A22B"/>
                </a:solidFill>
                <a:latin typeface="Calibri" pitchFamily="34" charset="0"/>
                <a:ea typeface="Calibri" pitchFamily="34" charset="-122"/>
                <a:cs typeface="Calibri" pitchFamily="34" charset="-120"/>
              </a:rPr>
              <a:t>THE MESSAGE  ·  HOW WE POSITION TODAY</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What today is — and what it isn’t</a:t>
            </a:r>
            <a:endParaRPr lang="en-US" sz="3000" dirty="0"/>
          </a:p>
        </p:txBody>
      </p:sp>
      <p:sp>
        <p:nvSpPr>
          <p:cNvPr id="6" name="Shape 4"/>
          <p:cNvSpPr/>
          <p:nvPr/>
        </p:nvSpPr>
        <p:spPr>
          <a:xfrm>
            <a:off x="502920" y="1691640"/>
            <a:ext cx="4407408" cy="3794760"/>
          </a:xfrm>
          <a:prstGeom prst="roundRect">
            <a:avLst>
              <a:gd name="adj" fmla="val 2410"/>
            </a:avLst>
          </a:prstGeom>
          <a:solidFill>
            <a:srgbClr val="2B3778"/>
          </a:solidFill>
          <a:ln w="15875">
            <a:solidFill>
              <a:srgbClr val="1E808F"/>
            </a:solidFill>
            <a:prstDash val="solid"/>
          </a:ln>
        </p:spPr>
      </p:sp>
      <p:sp>
        <p:nvSpPr>
          <p:cNvPr id="7" name="Text 5"/>
          <p:cNvSpPr/>
          <p:nvPr/>
        </p:nvSpPr>
        <p:spPr>
          <a:xfrm>
            <a:off x="777240" y="1901952"/>
            <a:ext cx="3840480" cy="502920"/>
          </a:xfrm>
          <a:prstGeom prst="rect">
            <a:avLst/>
          </a:prstGeom>
          <a:noFill/>
          <a:ln/>
        </p:spPr>
        <p:txBody>
          <a:bodyPr wrap="square" lIns="0" tIns="0" rIns="0" bIns="0" rtlCol="0" anchor="ctr"/>
          <a:lstStyle/>
          <a:p>
            <a:pPr indent="0" marL="0">
              <a:buNone/>
            </a:pPr>
            <a:r>
              <a:rPr lang="en-US" sz="1150" b="1" spc="100" kern="0" dirty="0">
                <a:solidFill>
                  <a:srgbClr val="7FD1DE"/>
                </a:solidFill>
                <a:latin typeface="Calibri" pitchFamily="34" charset="0"/>
                <a:ea typeface="Calibri" pitchFamily="34" charset="-122"/>
                <a:cs typeface="Calibri" pitchFamily="34" charset="-120"/>
              </a:rPr>
              <a:t>TODAY — SEE THE ENGINE, JUDGE THE DIRECTION</a:t>
            </a:r>
            <a:endParaRPr lang="en-US" sz="1150" dirty="0"/>
          </a:p>
        </p:txBody>
      </p:sp>
      <p:sp>
        <p:nvSpPr>
          <p:cNvPr id="8" name="Text 6"/>
          <p:cNvSpPr/>
          <p:nvPr/>
        </p:nvSpPr>
        <p:spPr>
          <a:xfrm>
            <a:off x="777240" y="2514600"/>
            <a:ext cx="3886200" cy="27432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The real system — live in Signature’s cloud, not a prototype</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The full UI you’ll put in owners’ hands</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Ask it anything — the AI Studio answers from governed data</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Non-prod = the same engine at reduced data volume</a:t>
            </a:r>
            <a:endParaRPr lang="en-US" sz="1250" dirty="0"/>
          </a:p>
        </p:txBody>
      </p:sp>
      <p:sp>
        <p:nvSpPr>
          <p:cNvPr id="9" name="Shape 7"/>
          <p:cNvSpPr/>
          <p:nvPr/>
        </p:nvSpPr>
        <p:spPr>
          <a:xfrm>
            <a:off x="5138928" y="1691640"/>
            <a:ext cx="4407408" cy="3794760"/>
          </a:xfrm>
          <a:prstGeom prst="roundRect">
            <a:avLst>
              <a:gd name="adj" fmla="val 2410"/>
            </a:avLst>
          </a:prstGeom>
          <a:solidFill>
            <a:srgbClr val="2B3778"/>
          </a:solidFill>
          <a:ln w="15875">
            <a:solidFill>
              <a:srgbClr val="C9A22B"/>
            </a:solidFill>
            <a:prstDash val="solid"/>
          </a:ln>
        </p:spPr>
      </p:sp>
      <p:sp>
        <p:nvSpPr>
          <p:cNvPr id="10" name="Text 8"/>
          <p:cNvSpPr/>
          <p:nvPr/>
        </p:nvSpPr>
        <p:spPr>
          <a:xfrm>
            <a:off x="5413248" y="1901952"/>
            <a:ext cx="3840480" cy="502920"/>
          </a:xfrm>
          <a:prstGeom prst="rect">
            <a:avLst/>
          </a:prstGeom>
          <a:noFill/>
          <a:ln/>
        </p:spPr>
        <p:txBody>
          <a:bodyPr wrap="square" lIns="0" tIns="0" rIns="0" bIns="0" rtlCol="0" anchor="ctr"/>
          <a:lstStyle/>
          <a:p>
            <a:pPr indent="0" marL="0">
              <a:buNone/>
            </a:pPr>
            <a:r>
              <a:rPr lang="en-US" sz="1150" b="1" spc="100" kern="0" dirty="0">
                <a:solidFill>
                  <a:srgbClr val="C9A22B"/>
                </a:solidFill>
                <a:latin typeface="Calibri" pitchFamily="34" charset="0"/>
                <a:ea typeface="Calibri" pitchFamily="34" charset="-122"/>
                <a:cs typeface="Calibri" pitchFamily="34" charset="-120"/>
              </a:rPr>
              <a:t>NOT YET — AND BY DESIGN</a:t>
            </a:r>
            <a:endParaRPr lang="en-US" sz="1150" dirty="0"/>
          </a:p>
        </p:txBody>
      </p:sp>
      <p:sp>
        <p:nvSpPr>
          <p:cNvPr id="11" name="Text 9"/>
          <p:cNvSpPr/>
          <p:nvPr/>
        </p:nvSpPr>
        <p:spPr>
          <a:xfrm>
            <a:off x="5413248" y="2514600"/>
            <a:ext cx="3886200" cy="27432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The numbers are not 100% current — the full-volume, current-data debut belongs to the Owners Meeting, Sept 29</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The Storybook tab runs on representative mock data until the upstream non-prod stream lands (in motion with Cenora) — exactly as shown on Friday</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So: don’t audit today’s figures — audit the engine, the experience, and the direction</a:t>
            </a:r>
            <a:endParaRPr lang="en-US" sz="1250" dirty="0"/>
          </a:p>
        </p:txBody>
      </p:sp>
      <p:sp>
        <p:nvSpPr>
          <p:cNvPr id="12" name="Text 10"/>
          <p:cNvSpPr/>
          <p:nvPr/>
        </p:nvSpPr>
        <p:spPr>
          <a:xfrm>
            <a:off x="914400" y="5897880"/>
            <a:ext cx="8229600" cy="777240"/>
          </a:xfrm>
          <a:prstGeom prst="rect">
            <a:avLst/>
          </a:prstGeom>
          <a:noFill/>
          <a:ln/>
        </p:spPr>
        <p:txBody>
          <a:bodyPr wrap="square" lIns="0" tIns="0" rIns="0" bIns="0" rtlCol="0" anchor="ctr"/>
          <a:lstStyle/>
          <a:p>
            <a:pPr algn="ctr" indent="0" marL="0">
              <a:buNone/>
            </a:pPr>
            <a:r>
              <a:rPr lang="en-US" sz="1600" i="1" dirty="0">
                <a:solidFill>
                  <a:srgbClr val="C9D4F2"/>
                </a:solidFill>
                <a:latin typeface="Cambria" pitchFamily="34" charset="0"/>
                <a:ea typeface="Cambria" pitchFamily="34" charset="-122"/>
                <a:cs typeface="Cambria" pitchFamily="34" charset="-120"/>
              </a:rPr>
              <a:t>“Today is the beautiful tour of the ship before the sailing. The voyage itself — full, current data — departs from San Antonio on September 29.”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10</a:t>
            </a:r>
            <a:endParaRPr lang="en-US" sz="800" dirty="0"/>
          </a:p>
        </p:txBody>
      </p:sp>
      <p:sp>
        <p:nvSpPr>
          <p:cNvPr id="4" name="Text 2"/>
          <p:cNvSpPr/>
          <p:nvPr/>
        </p:nvSpPr>
        <p:spPr>
          <a:xfrm>
            <a:off x="777240" y="2468880"/>
            <a:ext cx="8229600" cy="320040"/>
          </a:xfrm>
          <a:prstGeom prst="rect">
            <a:avLst/>
          </a:prstGeom>
          <a:noFill/>
          <a:ln/>
        </p:spPr>
        <p:txBody>
          <a:bodyPr wrap="square" lIns="0" tIns="0" rIns="0" bIns="0" rtlCol="0" anchor="ctr"/>
          <a:lstStyle/>
          <a:p>
            <a:pPr indent="0" marL="0">
              <a:buNone/>
            </a:pPr>
            <a:r>
              <a:rPr lang="en-US" sz="1300" b="1" spc="300" kern="0" dirty="0">
                <a:solidFill>
                  <a:srgbClr val="8FB8E8"/>
                </a:solidFill>
                <a:latin typeface="Calibri" pitchFamily="34" charset="0"/>
                <a:ea typeface="Calibri" pitchFamily="34" charset="-122"/>
                <a:cs typeface="Calibri" pitchFamily="34" charset="-120"/>
              </a:rPr>
              <a:t>PART 2</a:t>
            </a:r>
            <a:endParaRPr lang="en-US" sz="1300" dirty="0"/>
          </a:p>
        </p:txBody>
      </p:sp>
      <p:sp>
        <p:nvSpPr>
          <p:cNvPr id="5" name="Text 3"/>
          <p:cNvSpPr/>
          <p:nvPr/>
        </p:nvSpPr>
        <p:spPr>
          <a:xfrm>
            <a:off x="777240" y="2834640"/>
            <a:ext cx="8595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Live demo: touring the engine</a:t>
            </a:r>
            <a:endParaRPr lang="en-US" sz="3400" dirty="0"/>
          </a:p>
        </p:txBody>
      </p:sp>
      <p:sp>
        <p:nvSpPr>
          <p:cNvPr id="6" name="Text 4"/>
          <p:cNvSpPr/>
          <p:nvPr/>
        </p:nvSpPr>
        <p:spPr>
          <a:xfrm>
            <a:off x="777240" y="3886200"/>
            <a:ext cx="8229600" cy="457200"/>
          </a:xfrm>
          <a:prstGeom prst="rect">
            <a:avLst/>
          </a:prstGeom>
          <a:noFill/>
          <a:ln/>
        </p:spPr>
        <p:txBody>
          <a:bodyPr wrap="square" lIns="0" tIns="0" rIns="0" bIns="0" rtlCol="0" anchor="ctr"/>
          <a:lstStyle/>
          <a:p>
            <a:pPr indent="0" marL="0">
              <a:buNone/>
            </a:pPr>
            <a:r>
              <a:rPr lang="en-US" sz="1500" i="1" dirty="0">
                <a:solidFill>
                  <a:srgbClr val="C9D4F2"/>
                </a:solidFill>
                <a:latin typeface="Calibri" pitchFamily="34" charset="0"/>
                <a:ea typeface="Calibri" pitchFamily="34" charset="-122"/>
                <a:cs typeface="Calibri" pitchFamily="34" charset="-120"/>
              </a:rPr>
              <a:t>From SigNet sign-in to the AI Studio. Interrupt freely — it’s your engine now.</a:t>
            </a:r>
            <a:endParaRPr lang="en-US" sz="1500" dirty="0"/>
          </a:p>
        </p:txBody>
      </p:sp>
      <p:sp>
        <p:nvSpPr>
          <p:cNvPr id="7" name="Shape 5"/>
          <p:cNvSpPr/>
          <p:nvPr/>
        </p:nvSpPr>
        <p:spPr>
          <a:xfrm>
            <a:off x="8229600" y="1554480"/>
            <a:ext cx="1051560" cy="1051560"/>
          </a:xfrm>
          <a:prstGeom prst="ellipse">
            <a:avLst/>
          </a:prstGeom>
          <a:solidFill>
            <a:srgbClr val="2B3778"/>
          </a:solidFill>
          <a:ln/>
        </p:spPr>
      </p:sp>
      <p:pic>
        <p:nvPicPr>
          <p:cNvPr id="8" name="Image 0" descr="preencoded.png">    </p:cNvPr>
          <p:cNvPicPr>
            <a:picLocks noChangeAspect="1"/>
          </p:cNvPicPr>
          <p:nvPr/>
        </p:nvPicPr>
        <p:blipFill>
          <a:blip r:embed="rId1"/>
          <a:stretch>
            <a:fillRect/>
          </a:stretch>
        </p:blipFill>
        <p:spPr>
          <a:xfrm>
            <a:off x="8503006" y="1827886"/>
            <a:ext cx="504749" cy="5047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11</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THE TOUR</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Six stops</a:t>
            </a:r>
            <a:endParaRPr lang="en-US" sz="3000" dirty="0"/>
          </a:p>
        </p:txBody>
      </p:sp>
      <p:sp>
        <p:nvSpPr>
          <p:cNvPr id="6" name="Shape 4"/>
          <p:cNvSpPr/>
          <p:nvPr/>
        </p:nvSpPr>
        <p:spPr>
          <a:xfrm>
            <a:off x="502920" y="1645920"/>
            <a:ext cx="4480560" cy="1481328"/>
          </a:xfrm>
          <a:prstGeom prst="roundRect">
            <a:avLst>
              <a:gd name="adj" fmla="val 5556"/>
            </a:avLst>
          </a:prstGeom>
          <a:solidFill>
            <a:srgbClr val="FFFFFF"/>
          </a:solidFill>
          <a:ln w="12700">
            <a:solidFill>
              <a:srgbClr val="E1E4EC"/>
            </a:solidFill>
            <a:prstDash val="solid"/>
          </a:ln>
        </p:spPr>
      </p:sp>
      <p:sp>
        <p:nvSpPr>
          <p:cNvPr id="7" name="Shape 5"/>
          <p:cNvSpPr/>
          <p:nvPr/>
        </p:nvSpPr>
        <p:spPr>
          <a:xfrm>
            <a:off x="704088" y="1865376"/>
            <a:ext cx="365760" cy="365760"/>
          </a:xfrm>
          <a:prstGeom prst="ellipse">
            <a:avLst/>
          </a:prstGeom>
          <a:solidFill>
            <a:srgbClr val="1E808F"/>
          </a:solidFill>
          <a:ln/>
        </p:spPr>
      </p:sp>
      <p:sp>
        <p:nvSpPr>
          <p:cNvPr id="8" name="Text 6"/>
          <p:cNvSpPr/>
          <p:nvPr/>
        </p:nvSpPr>
        <p:spPr>
          <a:xfrm>
            <a:off x="704088" y="1854403"/>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Shape 7"/>
          <p:cNvSpPr/>
          <p:nvPr/>
        </p:nvSpPr>
        <p:spPr>
          <a:xfrm>
            <a:off x="704088" y="2395728"/>
            <a:ext cx="502920" cy="502920"/>
          </a:xfrm>
          <a:prstGeom prst="ellipse">
            <a:avLst/>
          </a:prstGeom>
          <a:solidFill>
            <a:srgbClr val="212B5F"/>
          </a:solidFill>
          <a:ln/>
        </p:spPr>
      </p:sp>
      <p:pic>
        <p:nvPicPr>
          <p:cNvPr id="10" name="Image 0" descr="preencoded.png">    </p:cNvPr>
          <p:cNvPicPr>
            <a:picLocks noChangeAspect="1"/>
          </p:cNvPicPr>
          <p:nvPr/>
        </p:nvPicPr>
        <p:blipFill>
          <a:blip r:embed="rId1"/>
          <a:stretch>
            <a:fillRect/>
          </a:stretch>
        </p:blipFill>
        <p:spPr>
          <a:xfrm>
            <a:off x="834847" y="2526487"/>
            <a:ext cx="241402" cy="241402"/>
          </a:xfrm>
          <a:prstGeom prst="rect">
            <a:avLst/>
          </a:prstGeom>
        </p:spPr>
      </p:pic>
      <p:sp>
        <p:nvSpPr>
          <p:cNvPr id="11" name="Text 8"/>
          <p:cNvSpPr/>
          <p:nvPr/>
        </p:nvSpPr>
        <p:spPr>
          <a:xfrm>
            <a:off x="1417320" y="1773936"/>
            <a:ext cx="3383280" cy="1243584"/>
          </a:xfrm>
          <a:prstGeom prst="rect">
            <a:avLst/>
          </a:prstGeom>
          <a:noFill/>
          <a:ln/>
        </p:spPr>
        <p:txBody>
          <a:bodyPr wrap="square" lIns="0" tIns="0" rIns="0" bIns="0" rtlCol="0" anchor="t"/>
          <a:lstStyle/>
          <a:p>
            <a:pPr indent="0" marL="0">
              <a:buNone/>
            </a:pPr>
            <a:r>
              <a:rPr lang="en-US" sz="1350" b="1" dirty="0">
                <a:solidFill>
                  <a:srgbClr val="1E2749"/>
                </a:solidFill>
                <a:latin typeface="Calibri" pitchFamily="34" charset="0"/>
                <a:ea typeface="Calibri" pitchFamily="34" charset="-122"/>
                <a:cs typeface="Calibri" pitchFamily="34" charset="-120"/>
              </a:rPr>
              <a:t>Sign in from SigNet
</a:t>
            </a:r>
            <a:pPr indent="0" marL="0">
              <a:buNone/>
            </a:pPr>
            <a:r>
              <a:rPr lang="en-US" sz="1050" dirty="0">
                <a:solidFill>
                  <a:srgbClr val="39415C"/>
                </a:solidFill>
                <a:latin typeface="Calibri" pitchFamily="34" charset="0"/>
                <a:ea typeface="Calibri" pitchFamily="34" charset="-122"/>
                <a:cs typeface="Calibri" pitchFamily="34" charset="-120"/>
              </a:rPr>
              <a:t>One click, single sign-on, role-based access
</a:t>
            </a:r>
            <a:pPr indent="0" marL="0">
              <a:buNone/>
            </a:pPr>
            <a:r>
              <a:rPr lang="en-US" sz="950" i="1" dirty="0">
                <a:solidFill>
                  <a:srgbClr val="15616D"/>
                </a:solidFill>
                <a:latin typeface="Calibri" pitchFamily="34" charset="0"/>
                <a:ea typeface="Calibri" pitchFamily="34" charset="-122"/>
                <a:cs typeface="Calibri" pitchFamily="34" charset="-120"/>
              </a:rPr>
              <a:t>Watch for: no new passwords, no new portals</a:t>
            </a:r>
            <a:endParaRPr lang="en-US" sz="1350" dirty="0"/>
          </a:p>
        </p:txBody>
      </p:sp>
      <p:sp>
        <p:nvSpPr>
          <p:cNvPr id="12" name="Shape 9"/>
          <p:cNvSpPr/>
          <p:nvPr/>
        </p:nvSpPr>
        <p:spPr>
          <a:xfrm>
            <a:off x="5257800" y="1645920"/>
            <a:ext cx="4480560" cy="1481328"/>
          </a:xfrm>
          <a:prstGeom prst="roundRect">
            <a:avLst>
              <a:gd name="adj" fmla="val 5556"/>
            </a:avLst>
          </a:prstGeom>
          <a:solidFill>
            <a:srgbClr val="FFFFFF"/>
          </a:solidFill>
          <a:ln w="12700">
            <a:solidFill>
              <a:srgbClr val="E1E4EC"/>
            </a:solidFill>
            <a:prstDash val="solid"/>
          </a:ln>
        </p:spPr>
      </p:sp>
      <p:sp>
        <p:nvSpPr>
          <p:cNvPr id="13" name="Shape 10"/>
          <p:cNvSpPr/>
          <p:nvPr/>
        </p:nvSpPr>
        <p:spPr>
          <a:xfrm>
            <a:off x="5458968" y="1865376"/>
            <a:ext cx="365760" cy="365760"/>
          </a:xfrm>
          <a:prstGeom prst="ellipse">
            <a:avLst/>
          </a:prstGeom>
          <a:solidFill>
            <a:srgbClr val="1E808F"/>
          </a:solidFill>
          <a:ln/>
        </p:spPr>
      </p:sp>
      <p:sp>
        <p:nvSpPr>
          <p:cNvPr id="14" name="Text 11"/>
          <p:cNvSpPr/>
          <p:nvPr/>
        </p:nvSpPr>
        <p:spPr>
          <a:xfrm>
            <a:off x="5458968" y="1854403"/>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Shape 12"/>
          <p:cNvSpPr/>
          <p:nvPr/>
        </p:nvSpPr>
        <p:spPr>
          <a:xfrm>
            <a:off x="5458968" y="2395728"/>
            <a:ext cx="502920" cy="502920"/>
          </a:xfrm>
          <a:prstGeom prst="ellipse">
            <a:avLst/>
          </a:prstGeom>
          <a:solidFill>
            <a:srgbClr val="212B5F"/>
          </a:solidFill>
          <a:ln/>
        </p:spPr>
      </p:sp>
      <p:pic>
        <p:nvPicPr>
          <p:cNvPr id="16" name="Image 1" descr="preencoded.png">    </p:cNvPr>
          <p:cNvPicPr>
            <a:picLocks noChangeAspect="1"/>
          </p:cNvPicPr>
          <p:nvPr/>
        </p:nvPicPr>
        <p:blipFill>
          <a:blip r:embed="rId2"/>
          <a:stretch>
            <a:fillRect/>
          </a:stretch>
        </p:blipFill>
        <p:spPr>
          <a:xfrm>
            <a:off x="5589727" y="2526487"/>
            <a:ext cx="241402" cy="241402"/>
          </a:xfrm>
          <a:prstGeom prst="rect">
            <a:avLst/>
          </a:prstGeom>
        </p:spPr>
      </p:pic>
      <p:sp>
        <p:nvSpPr>
          <p:cNvPr id="17" name="Text 13"/>
          <p:cNvSpPr/>
          <p:nvPr/>
        </p:nvSpPr>
        <p:spPr>
          <a:xfrm>
            <a:off x="6172200" y="1773936"/>
            <a:ext cx="3383280" cy="1243584"/>
          </a:xfrm>
          <a:prstGeom prst="rect">
            <a:avLst/>
          </a:prstGeom>
          <a:noFill/>
          <a:ln/>
        </p:spPr>
        <p:txBody>
          <a:bodyPr wrap="square" lIns="0" tIns="0" rIns="0" bIns="0" rtlCol="0" anchor="t"/>
          <a:lstStyle/>
          <a:p>
            <a:pPr indent="0" marL="0">
              <a:buNone/>
            </a:pPr>
            <a:r>
              <a:rPr lang="en-US" sz="1350" b="1" dirty="0">
                <a:solidFill>
                  <a:srgbClr val="1E2749"/>
                </a:solidFill>
                <a:latin typeface="Calibri" pitchFamily="34" charset="0"/>
                <a:ea typeface="Calibri" pitchFamily="34" charset="-122"/>
                <a:cs typeface="Calibri" pitchFamily="34" charset="-120"/>
              </a:rPr>
              <a:t>Data-quality tab
</a:t>
            </a:r>
            <a:pPr indent="0" marL="0">
              <a:buNone/>
            </a:pPr>
            <a:r>
              <a:rPr lang="en-US" sz="1050" dirty="0">
                <a:solidFill>
                  <a:srgbClr val="39415C"/>
                </a:solidFill>
                <a:latin typeface="Calibri" pitchFamily="34" charset="0"/>
                <a:ea typeface="Calibri" pitchFamily="34" charset="-122"/>
                <a:cs typeface="Calibri" pitchFamily="34" charset="-120"/>
              </a:rPr>
              <a:t>Client-record coverage by agency and advisor
</a:t>
            </a:r>
            <a:pPr indent="0" marL="0">
              <a:buNone/>
            </a:pPr>
            <a:r>
              <a:rPr lang="en-US" sz="950" i="1" dirty="0">
                <a:solidFill>
                  <a:srgbClr val="15616D"/>
                </a:solidFill>
                <a:latin typeface="Calibri" pitchFamily="34" charset="0"/>
                <a:ea typeface="Calibri" pitchFamily="34" charset="-122"/>
                <a:cs typeface="Calibri" pitchFamily="34" charset="-120"/>
              </a:rPr>
              <a:t>Watch for: where cleanup pays back fastest</a:t>
            </a:r>
            <a:endParaRPr lang="en-US" sz="1350" dirty="0"/>
          </a:p>
        </p:txBody>
      </p:sp>
      <p:sp>
        <p:nvSpPr>
          <p:cNvPr id="18" name="Shape 14"/>
          <p:cNvSpPr/>
          <p:nvPr/>
        </p:nvSpPr>
        <p:spPr>
          <a:xfrm>
            <a:off x="502920" y="3273552"/>
            <a:ext cx="4480560" cy="1481328"/>
          </a:xfrm>
          <a:prstGeom prst="roundRect">
            <a:avLst>
              <a:gd name="adj" fmla="val 5556"/>
            </a:avLst>
          </a:prstGeom>
          <a:solidFill>
            <a:srgbClr val="FFFFFF"/>
          </a:solidFill>
          <a:ln w="12700">
            <a:solidFill>
              <a:srgbClr val="E1E4EC"/>
            </a:solidFill>
            <a:prstDash val="solid"/>
          </a:ln>
        </p:spPr>
      </p:sp>
      <p:sp>
        <p:nvSpPr>
          <p:cNvPr id="19" name="Shape 15"/>
          <p:cNvSpPr/>
          <p:nvPr/>
        </p:nvSpPr>
        <p:spPr>
          <a:xfrm>
            <a:off x="704088" y="3493008"/>
            <a:ext cx="365760" cy="365760"/>
          </a:xfrm>
          <a:prstGeom prst="ellipse">
            <a:avLst/>
          </a:prstGeom>
          <a:solidFill>
            <a:srgbClr val="1E808F"/>
          </a:solidFill>
          <a:ln/>
        </p:spPr>
      </p:sp>
      <p:sp>
        <p:nvSpPr>
          <p:cNvPr id="20" name="Text 16"/>
          <p:cNvSpPr/>
          <p:nvPr/>
        </p:nvSpPr>
        <p:spPr>
          <a:xfrm>
            <a:off x="704088" y="348203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Shape 17"/>
          <p:cNvSpPr/>
          <p:nvPr/>
        </p:nvSpPr>
        <p:spPr>
          <a:xfrm>
            <a:off x="704088" y="4023360"/>
            <a:ext cx="502920" cy="502920"/>
          </a:xfrm>
          <a:prstGeom prst="ellipse">
            <a:avLst/>
          </a:prstGeom>
          <a:solidFill>
            <a:srgbClr val="212B5F"/>
          </a:solidFill>
          <a:ln/>
        </p:spPr>
      </p:sp>
      <p:pic>
        <p:nvPicPr>
          <p:cNvPr id="22" name="Image 2" descr="preencoded.png">    </p:cNvPr>
          <p:cNvPicPr>
            <a:picLocks noChangeAspect="1"/>
          </p:cNvPicPr>
          <p:nvPr/>
        </p:nvPicPr>
        <p:blipFill>
          <a:blip r:embed="rId3"/>
          <a:stretch>
            <a:fillRect/>
          </a:stretch>
        </p:blipFill>
        <p:spPr>
          <a:xfrm>
            <a:off x="834847" y="4154119"/>
            <a:ext cx="241402" cy="241402"/>
          </a:xfrm>
          <a:prstGeom prst="rect">
            <a:avLst/>
          </a:prstGeom>
        </p:spPr>
      </p:pic>
      <p:sp>
        <p:nvSpPr>
          <p:cNvPr id="23" name="Text 18"/>
          <p:cNvSpPr/>
          <p:nvPr/>
        </p:nvSpPr>
        <p:spPr>
          <a:xfrm>
            <a:off x="1417320" y="3401568"/>
            <a:ext cx="3383280" cy="1243584"/>
          </a:xfrm>
          <a:prstGeom prst="rect">
            <a:avLst/>
          </a:prstGeom>
          <a:noFill/>
          <a:ln/>
        </p:spPr>
        <p:txBody>
          <a:bodyPr wrap="square" lIns="0" tIns="0" rIns="0" bIns="0" rtlCol="0" anchor="t"/>
          <a:lstStyle/>
          <a:p>
            <a:pPr indent="0" marL="0">
              <a:buNone/>
            </a:pPr>
            <a:r>
              <a:rPr lang="en-US" sz="1350" b="1" dirty="0">
                <a:solidFill>
                  <a:srgbClr val="1E2749"/>
                </a:solidFill>
                <a:latin typeface="Calibri" pitchFamily="34" charset="0"/>
                <a:ea typeface="Calibri" pitchFamily="34" charset="-122"/>
                <a:cs typeface="Calibri" pitchFamily="34" charset="-120"/>
              </a:rPr>
              <a:t>Revenue tab
</a:t>
            </a:r>
            <a:pPr indent="0" marL="0">
              <a:buNone/>
            </a:pPr>
            <a:r>
              <a:rPr lang="en-US" sz="1050" dirty="0">
                <a:solidFill>
                  <a:srgbClr val="39415C"/>
                </a:solidFill>
                <a:latin typeface="Calibri" pitchFamily="34" charset="0"/>
                <a:ea typeface="Calibri" pitchFamily="34" charset="-122"/>
                <a:cs typeface="Calibri" pitchFamily="34" charset="-120"/>
              </a:rPr>
              <a:t>Quoted → Confirmed → Travelled by travel month; suppliers by name
</a:t>
            </a:r>
            <a:pPr indent="0" marL="0">
              <a:buNone/>
            </a:pPr>
            <a:r>
              <a:rPr lang="en-US" sz="950" i="1" dirty="0">
                <a:solidFill>
                  <a:srgbClr val="15616D"/>
                </a:solidFill>
                <a:latin typeface="Calibri" pitchFamily="34" charset="0"/>
                <a:ea typeface="Calibri" pitchFamily="34" charset="-122"/>
                <a:cs typeface="Calibri" pitchFamily="34" charset="-120"/>
              </a:rPr>
              <a:t>Watch for: the shape of the funnel</a:t>
            </a:r>
            <a:endParaRPr lang="en-US" sz="1350" dirty="0"/>
          </a:p>
        </p:txBody>
      </p:sp>
      <p:sp>
        <p:nvSpPr>
          <p:cNvPr id="24" name="Shape 19"/>
          <p:cNvSpPr/>
          <p:nvPr/>
        </p:nvSpPr>
        <p:spPr>
          <a:xfrm>
            <a:off x="5257800" y="3273552"/>
            <a:ext cx="4480560" cy="1481328"/>
          </a:xfrm>
          <a:prstGeom prst="roundRect">
            <a:avLst>
              <a:gd name="adj" fmla="val 5556"/>
            </a:avLst>
          </a:prstGeom>
          <a:solidFill>
            <a:srgbClr val="FFFFFF"/>
          </a:solidFill>
          <a:ln w="12700">
            <a:solidFill>
              <a:srgbClr val="E1E4EC"/>
            </a:solidFill>
            <a:prstDash val="solid"/>
          </a:ln>
        </p:spPr>
      </p:sp>
      <p:sp>
        <p:nvSpPr>
          <p:cNvPr id="25" name="Shape 20"/>
          <p:cNvSpPr/>
          <p:nvPr/>
        </p:nvSpPr>
        <p:spPr>
          <a:xfrm>
            <a:off x="5458968" y="3493008"/>
            <a:ext cx="365760" cy="365760"/>
          </a:xfrm>
          <a:prstGeom prst="ellipse">
            <a:avLst/>
          </a:prstGeom>
          <a:solidFill>
            <a:srgbClr val="1E808F"/>
          </a:solidFill>
          <a:ln/>
        </p:spPr>
      </p:sp>
      <p:sp>
        <p:nvSpPr>
          <p:cNvPr id="26" name="Text 21"/>
          <p:cNvSpPr/>
          <p:nvPr/>
        </p:nvSpPr>
        <p:spPr>
          <a:xfrm>
            <a:off x="5458968" y="348203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2"/>
          <p:cNvSpPr/>
          <p:nvPr/>
        </p:nvSpPr>
        <p:spPr>
          <a:xfrm>
            <a:off x="5458968" y="4023360"/>
            <a:ext cx="502920" cy="502920"/>
          </a:xfrm>
          <a:prstGeom prst="ellipse">
            <a:avLst/>
          </a:prstGeom>
          <a:solidFill>
            <a:srgbClr val="212B5F"/>
          </a:solidFill>
          <a:ln/>
        </p:spPr>
      </p:sp>
      <p:pic>
        <p:nvPicPr>
          <p:cNvPr id="28" name="Image 3" descr="preencoded.png">    </p:cNvPr>
          <p:cNvPicPr>
            <a:picLocks noChangeAspect="1"/>
          </p:cNvPicPr>
          <p:nvPr/>
        </p:nvPicPr>
        <p:blipFill>
          <a:blip r:embed="rId4"/>
          <a:stretch>
            <a:fillRect/>
          </a:stretch>
        </p:blipFill>
        <p:spPr>
          <a:xfrm>
            <a:off x="5589727" y="4154119"/>
            <a:ext cx="241402" cy="241402"/>
          </a:xfrm>
          <a:prstGeom prst="rect">
            <a:avLst/>
          </a:prstGeom>
        </p:spPr>
      </p:pic>
      <p:sp>
        <p:nvSpPr>
          <p:cNvPr id="29" name="Text 23"/>
          <p:cNvSpPr/>
          <p:nvPr/>
        </p:nvSpPr>
        <p:spPr>
          <a:xfrm>
            <a:off x="6172200" y="3401568"/>
            <a:ext cx="3383280" cy="1243584"/>
          </a:xfrm>
          <a:prstGeom prst="rect">
            <a:avLst/>
          </a:prstGeom>
          <a:noFill/>
          <a:ln/>
        </p:spPr>
        <p:txBody>
          <a:bodyPr wrap="square" lIns="0" tIns="0" rIns="0" bIns="0" rtlCol="0" anchor="t"/>
          <a:lstStyle/>
          <a:p>
            <a:pPr indent="0" marL="0">
              <a:buNone/>
            </a:pPr>
            <a:r>
              <a:rPr lang="en-US" sz="1350" b="1" dirty="0">
                <a:solidFill>
                  <a:srgbClr val="1E2749"/>
                </a:solidFill>
                <a:latin typeface="Calibri" pitchFamily="34" charset="0"/>
                <a:ea typeface="Calibri" pitchFamily="34" charset="-122"/>
                <a:cs typeface="Calibri" pitchFamily="34" charset="-120"/>
              </a:rPr>
              <a:t>AI Studio
</a:t>
            </a:r>
            <a:pPr indent="0" marL="0">
              <a:buNone/>
            </a:pPr>
            <a:r>
              <a:rPr lang="en-US" sz="1050" dirty="0">
                <a:solidFill>
                  <a:srgbClr val="39415C"/>
                </a:solidFill>
                <a:latin typeface="Calibri" pitchFamily="34" charset="0"/>
                <a:ea typeface="Calibri" pitchFamily="34" charset="-122"/>
                <a:cs typeface="Calibri" pitchFamily="34" charset="-120"/>
              </a:rPr>
              <a:t>Ask questions in plain English
</a:t>
            </a:r>
            <a:pPr indent="0" marL="0">
              <a:buNone/>
            </a:pPr>
            <a:r>
              <a:rPr lang="en-US" sz="950" i="1" dirty="0">
                <a:solidFill>
                  <a:srgbClr val="15616D"/>
                </a:solidFill>
                <a:latin typeface="Calibri" pitchFamily="34" charset="0"/>
                <a:ea typeface="Calibri" pitchFamily="34" charset="-122"/>
                <a:cs typeface="Calibri" pitchFamily="34" charset="-120"/>
              </a:rPr>
              <a:t>Watch for: answers drawn from the same governed APIs as the charts</a:t>
            </a:r>
            <a:endParaRPr lang="en-US" sz="1350" dirty="0"/>
          </a:p>
        </p:txBody>
      </p:sp>
      <p:sp>
        <p:nvSpPr>
          <p:cNvPr id="30" name="Shape 24"/>
          <p:cNvSpPr/>
          <p:nvPr/>
        </p:nvSpPr>
        <p:spPr>
          <a:xfrm>
            <a:off x="502920" y="4901184"/>
            <a:ext cx="4480560" cy="1481328"/>
          </a:xfrm>
          <a:prstGeom prst="roundRect">
            <a:avLst>
              <a:gd name="adj" fmla="val 5556"/>
            </a:avLst>
          </a:prstGeom>
          <a:solidFill>
            <a:srgbClr val="FFFFFF"/>
          </a:solidFill>
          <a:ln w="12700">
            <a:solidFill>
              <a:srgbClr val="E1E4EC"/>
            </a:solidFill>
            <a:prstDash val="solid"/>
          </a:ln>
        </p:spPr>
      </p:sp>
      <p:sp>
        <p:nvSpPr>
          <p:cNvPr id="31" name="Shape 25"/>
          <p:cNvSpPr/>
          <p:nvPr/>
        </p:nvSpPr>
        <p:spPr>
          <a:xfrm>
            <a:off x="704088" y="5120640"/>
            <a:ext cx="365760" cy="365760"/>
          </a:xfrm>
          <a:prstGeom prst="ellipse">
            <a:avLst/>
          </a:prstGeom>
          <a:solidFill>
            <a:srgbClr val="7B5EA7"/>
          </a:solidFill>
          <a:ln/>
        </p:spPr>
      </p:sp>
      <p:sp>
        <p:nvSpPr>
          <p:cNvPr id="32" name="Text 26"/>
          <p:cNvSpPr/>
          <p:nvPr/>
        </p:nvSpPr>
        <p:spPr>
          <a:xfrm>
            <a:off x="704088" y="5109667"/>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Shape 27"/>
          <p:cNvSpPr/>
          <p:nvPr/>
        </p:nvSpPr>
        <p:spPr>
          <a:xfrm>
            <a:off x="704088" y="5650992"/>
            <a:ext cx="502920" cy="502920"/>
          </a:xfrm>
          <a:prstGeom prst="ellipse">
            <a:avLst/>
          </a:prstGeom>
          <a:solidFill>
            <a:srgbClr val="7B5EA7"/>
          </a:solidFill>
          <a:ln/>
        </p:spPr>
      </p:sp>
      <p:pic>
        <p:nvPicPr>
          <p:cNvPr id="34" name="Image 4" descr="preencoded.png">    </p:cNvPr>
          <p:cNvPicPr>
            <a:picLocks noChangeAspect="1"/>
          </p:cNvPicPr>
          <p:nvPr/>
        </p:nvPicPr>
        <p:blipFill>
          <a:blip r:embed="rId5"/>
          <a:stretch>
            <a:fillRect/>
          </a:stretch>
        </p:blipFill>
        <p:spPr>
          <a:xfrm>
            <a:off x="834847" y="5781751"/>
            <a:ext cx="241402" cy="241402"/>
          </a:xfrm>
          <a:prstGeom prst="rect">
            <a:avLst/>
          </a:prstGeom>
        </p:spPr>
      </p:pic>
      <p:sp>
        <p:nvSpPr>
          <p:cNvPr id="35" name="Text 28"/>
          <p:cNvSpPr/>
          <p:nvPr/>
        </p:nvSpPr>
        <p:spPr>
          <a:xfrm>
            <a:off x="1417320" y="5029200"/>
            <a:ext cx="3383280" cy="1243584"/>
          </a:xfrm>
          <a:prstGeom prst="rect">
            <a:avLst/>
          </a:prstGeom>
          <a:noFill/>
          <a:ln/>
        </p:spPr>
        <p:txBody>
          <a:bodyPr wrap="square" lIns="0" tIns="0" rIns="0" bIns="0" rtlCol="0" anchor="t"/>
          <a:lstStyle/>
          <a:p>
            <a:pPr indent="0" marL="0">
              <a:buNone/>
            </a:pPr>
            <a:r>
              <a:rPr lang="en-US" sz="1350" b="1" dirty="0">
                <a:solidFill>
                  <a:srgbClr val="1E2749"/>
                </a:solidFill>
                <a:latin typeface="Calibri" pitchFamily="34" charset="0"/>
                <a:ea typeface="Calibri" pitchFamily="34" charset="-122"/>
                <a:cs typeface="Calibri" pitchFamily="34" charset="-120"/>
              </a:rPr>
              <a:t>Storybook tab
</a:t>
            </a:r>
            <a:pPr indent="0" marL="0">
              <a:buNone/>
            </a:pPr>
            <a:r>
              <a:rPr lang="en-US" sz="1050" dirty="0">
                <a:solidFill>
                  <a:srgbClr val="39415C"/>
                </a:solidFill>
                <a:latin typeface="Calibri" pitchFamily="34" charset="0"/>
                <a:ea typeface="Calibri" pitchFamily="34" charset="-122"/>
                <a:cs typeface="Calibri" pitchFamily="34" charset="-120"/>
              </a:rPr>
              <a:t>Booking-journey analytics and hot leads
</a:t>
            </a:r>
            <a:pPr indent="0" marL="0">
              <a:buNone/>
            </a:pPr>
            <a:r>
              <a:rPr lang="en-US" sz="950" i="1" dirty="0">
                <a:solidFill>
                  <a:srgbClr val="7B5EA7"/>
                </a:solidFill>
                <a:latin typeface="Calibri" pitchFamily="34" charset="0"/>
                <a:ea typeface="Calibri" pitchFamily="34" charset="-122"/>
                <a:cs typeface="Calibri" pitchFamily="34" charset="-120"/>
              </a:rPr>
              <a:t>Mock data today — flagged until the upstream stream lands</a:t>
            </a:r>
            <a:endParaRPr lang="en-US" sz="1350" dirty="0"/>
          </a:p>
        </p:txBody>
      </p:sp>
      <p:sp>
        <p:nvSpPr>
          <p:cNvPr id="36" name="Shape 29"/>
          <p:cNvSpPr/>
          <p:nvPr/>
        </p:nvSpPr>
        <p:spPr>
          <a:xfrm>
            <a:off x="5257800" y="4901184"/>
            <a:ext cx="4480560" cy="1481328"/>
          </a:xfrm>
          <a:prstGeom prst="roundRect">
            <a:avLst>
              <a:gd name="adj" fmla="val 5556"/>
            </a:avLst>
          </a:prstGeom>
          <a:solidFill>
            <a:srgbClr val="FFFFFF"/>
          </a:solidFill>
          <a:ln w="12700">
            <a:solidFill>
              <a:srgbClr val="E1E4EC"/>
            </a:solidFill>
            <a:prstDash val="solid"/>
          </a:ln>
        </p:spPr>
      </p:sp>
      <p:sp>
        <p:nvSpPr>
          <p:cNvPr id="37" name="Shape 30"/>
          <p:cNvSpPr/>
          <p:nvPr/>
        </p:nvSpPr>
        <p:spPr>
          <a:xfrm>
            <a:off x="5458968" y="5120640"/>
            <a:ext cx="365760" cy="365760"/>
          </a:xfrm>
          <a:prstGeom prst="ellipse">
            <a:avLst/>
          </a:prstGeom>
          <a:solidFill>
            <a:srgbClr val="1E808F"/>
          </a:solidFill>
          <a:ln/>
        </p:spPr>
      </p:sp>
      <p:sp>
        <p:nvSpPr>
          <p:cNvPr id="38" name="Text 31"/>
          <p:cNvSpPr/>
          <p:nvPr/>
        </p:nvSpPr>
        <p:spPr>
          <a:xfrm>
            <a:off x="5458968" y="5109667"/>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Shape 32"/>
          <p:cNvSpPr/>
          <p:nvPr/>
        </p:nvSpPr>
        <p:spPr>
          <a:xfrm>
            <a:off x="5458968" y="5650992"/>
            <a:ext cx="502920" cy="502920"/>
          </a:xfrm>
          <a:prstGeom prst="ellipse">
            <a:avLst/>
          </a:prstGeom>
          <a:solidFill>
            <a:srgbClr val="212B5F"/>
          </a:solidFill>
          <a:ln/>
        </p:spPr>
      </p:sp>
      <p:pic>
        <p:nvPicPr>
          <p:cNvPr id="40" name="Image 5" descr="preencoded.png">    </p:cNvPr>
          <p:cNvPicPr>
            <a:picLocks noChangeAspect="1"/>
          </p:cNvPicPr>
          <p:nvPr/>
        </p:nvPicPr>
        <p:blipFill>
          <a:blip r:embed="rId6"/>
          <a:stretch>
            <a:fillRect/>
          </a:stretch>
        </p:blipFill>
        <p:spPr>
          <a:xfrm>
            <a:off x="5589727" y="5781751"/>
            <a:ext cx="241402" cy="241402"/>
          </a:xfrm>
          <a:prstGeom prst="rect">
            <a:avLst/>
          </a:prstGeom>
        </p:spPr>
      </p:pic>
      <p:sp>
        <p:nvSpPr>
          <p:cNvPr id="41" name="Text 33"/>
          <p:cNvSpPr/>
          <p:nvPr/>
        </p:nvSpPr>
        <p:spPr>
          <a:xfrm>
            <a:off x="6172200" y="5029200"/>
            <a:ext cx="3383280" cy="1243584"/>
          </a:xfrm>
          <a:prstGeom prst="rect">
            <a:avLst/>
          </a:prstGeom>
          <a:noFill/>
          <a:ln/>
        </p:spPr>
        <p:txBody>
          <a:bodyPr wrap="square" lIns="0" tIns="0" rIns="0" bIns="0" rtlCol="0" anchor="t"/>
          <a:lstStyle/>
          <a:p>
            <a:pPr indent="0" marL="0">
              <a:buNone/>
            </a:pPr>
            <a:r>
              <a:rPr lang="en-US" sz="1350" b="1" dirty="0">
                <a:solidFill>
                  <a:srgbClr val="1E2749"/>
                </a:solidFill>
                <a:latin typeface="Calibri" pitchFamily="34" charset="0"/>
                <a:ea typeface="Calibri" pitchFamily="34" charset="-122"/>
                <a:cs typeface="Calibri" pitchFamily="34" charset="-120"/>
              </a:rPr>
              <a:t>CSV downloads
</a:t>
            </a:r>
            <a:pPr indent="0" marL="0">
              <a:buNone/>
            </a:pPr>
            <a:r>
              <a:rPr lang="en-US" sz="1050" dirty="0">
                <a:solidFill>
                  <a:srgbClr val="39415C"/>
                </a:solidFill>
                <a:latin typeface="Calibri" pitchFamily="34" charset="0"/>
                <a:ea typeface="Calibri" pitchFamily="34" charset="-122"/>
                <a:cs typeface="Calibri" pitchFamily="34" charset="-120"/>
              </a:rPr>
              <a:t>Take any view with you
</a:t>
            </a:r>
            <a:pPr indent="0" marL="0">
              <a:buNone/>
            </a:pPr>
            <a:r>
              <a:rPr lang="en-US" sz="950" i="1" dirty="0">
                <a:solidFill>
                  <a:srgbClr val="15616D"/>
                </a:solidFill>
                <a:latin typeface="Calibri" pitchFamily="34" charset="0"/>
                <a:ea typeface="Calibri" pitchFamily="34" charset="-122"/>
                <a:cs typeface="Calibri" pitchFamily="34" charset="-120"/>
              </a:rPr>
              <a:t>Watch for: what your team would do with this on Monday</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12</a:t>
            </a:r>
            <a:endParaRPr lang="en-US" sz="800" dirty="0"/>
          </a:p>
        </p:txBody>
      </p:sp>
      <p:sp>
        <p:nvSpPr>
          <p:cNvPr id="4" name="Text 2"/>
          <p:cNvSpPr/>
          <p:nvPr/>
        </p:nvSpPr>
        <p:spPr>
          <a:xfrm>
            <a:off x="777240" y="2468880"/>
            <a:ext cx="8229600" cy="320040"/>
          </a:xfrm>
          <a:prstGeom prst="rect">
            <a:avLst/>
          </a:prstGeom>
          <a:noFill/>
          <a:ln/>
        </p:spPr>
        <p:txBody>
          <a:bodyPr wrap="square" lIns="0" tIns="0" rIns="0" bIns="0" rtlCol="0" anchor="ctr"/>
          <a:lstStyle/>
          <a:p>
            <a:pPr indent="0" marL="0">
              <a:buNone/>
            </a:pPr>
            <a:r>
              <a:rPr lang="en-US" sz="1300" b="1" spc="300" kern="0" dirty="0">
                <a:solidFill>
                  <a:srgbClr val="8FB8E8"/>
                </a:solidFill>
                <a:latin typeface="Calibri" pitchFamily="34" charset="0"/>
                <a:ea typeface="Calibri" pitchFamily="34" charset="-122"/>
                <a:cs typeface="Calibri" pitchFamily="34" charset="-120"/>
              </a:rPr>
              <a:t>PART 3</a:t>
            </a:r>
            <a:endParaRPr lang="en-US" sz="1300" dirty="0"/>
          </a:p>
        </p:txBody>
      </p:sp>
      <p:sp>
        <p:nvSpPr>
          <p:cNvPr id="5" name="Text 3"/>
          <p:cNvSpPr/>
          <p:nvPr/>
        </p:nvSpPr>
        <p:spPr>
          <a:xfrm>
            <a:off x="777240" y="2834640"/>
            <a:ext cx="859536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Now it’s your turn</a:t>
            </a:r>
            <a:endParaRPr lang="en-US" sz="4000" dirty="0"/>
          </a:p>
        </p:txBody>
      </p:sp>
      <p:sp>
        <p:nvSpPr>
          <p:cNvPr id="6" name="Text 4"/>
          <p:cNvSpPr/>
          <p:nvPr/>
        </p:nvSpPr>
        <p:spPr>
          <a:xfrm>
            <a:off x="777240" y="3886200"/>
            <a:ext cx="8412480" cy="548640"/>
          </a:xfrm>
          <a:prstGeom prst="rect">
            <a:avLst/>
          </a:prstGeom>
          <a:noFill/>
          <a:ln/>
        </p:spPr>
        <p:txBody>
          <a:bodyPr wrap="square" lIns="0" tIns="0" rIns="0" bIns="0" rtlCol="0" anchor="ctr"/>
          <a:lstStyle/>
          <a:p>
            <a:pPr indent="0" marL="0">
              <a:buNone/>
            </a:pPr>
            <a:r>
              <a:rPr lang="en-US" sz="1500" i="1" dirty="0">
                <a:solidFill>
                  <a:srgbClr val="C9D4F2"/>
                </a:solidFill>
                <a:latin typeface="Calibri" pitchFamily="34" charset="0"/>
                <a:ea typeface="Calibri" pitchFamily="34" charset="-122"/>
                <a:cs typeface="Calibri" pitchFamily="34" charset="-120"/>
              </a:rPr>
              <a:t>Non-prod testing runs from today through the Owners Meeting — here’s what to test, what to ask, and how to report what you find.</a:t>
            </a:r>
            <a:endParaRPr lang="en-US" sz="1500" dirty="0"/>
          </a:p>
        </p:txBody>
      </p:sp>
      <p:sp>
        <p:nvSpPr>
          <p:cNvPr id="7" name="Shape 5"/>
          <p:cNvSpPr/>
          <p:nvPr/>
        </p:nvSpPr>
        <p:spPr>
          <a:xfrm>
            <a:off x="8229600" y="1554480"/>
            <a:ext cx="1051560" cy="1051560"/>
          </a:xfrm>
          <a:prstGeom prst="ellipse">
            <a:avLst/>
          </a:prstGeom>
          <a:solidFill>
            <a:srgbClr val="2B3778"/>
          </a:solidFill>
          <a:ln/>
        </p:spPr>
      </p:sp>
      <p:pic>
        <p:nvPicPr>
          <p:cNvPr id="8" name="Image 0" descr="preencoded.png">    </p:cNvPr>
          <p:cNvPicPr>
            <a:picLocks noChangeAspect="1"/>
          </p:cNvPicPr>
          <p:nvPr/>
        </p:nvPicPr>
        <p:blipFill>
          <a:blip r:embed="rId1"/>
          <a:stretch>
            <a:fillRect/>
          </a:stretch>
        </p:blipFill>
        <p:spPr>
          <a:xfrm>
            <a:off x="8503006" y="1827886"/>
            <a:ext cx="504749" cy="5047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13</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THE TESTING WINDOW</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What you can test — starting now</a:t>
            </a:r>
            <a:endParaRPr lang="en-US" sz="3000" dirty="0"/>
          </a:p>
        </p:txBody>
      </p:sp>
      <p:sp>
        <p:nvSpPr>
          <p:cNvPr id="6" name="Shape 4"/>
          <p:cNvSpPr/>
          <p:nvPr/>
        </p:nvSpPr>
        <p:spPr>
          <a:xfrm>
            <a:off x="502920" y="1691640"/>
            <a:ext cx="4480560" cy="1783080"/>
          </a:xfrm>
          <a:prstGeom prst="roundRect">
            <a:avLst>
              <a:gd name="adj" fmla="val 4615"/>
            </a:avLst>
          </a:prstGeom>
          <a:solidFill>
            <a:srgbClr val="FFFFFF"/>
          </a:solidFill>
          <a:ln w="12700">
            <a:solidFill>
              <a:srgbClr val="E1E4EC"/>
            </a:solidFill>
            <a:prstDash val="solid"/>
          </a:ln>
        </p:spPr>
      </p:sp>
      <p:sp>
        <p:nvSpPr>
          <p:cNvPr id="7" name="Shape 5"/>
          <p:cNvSpPr/>
          <p:nvPr/>
        </p:nvSpPr>
        <p:spPr>
          <a:xfrm>
            <a:off x="731520" y="1947672"/>
            <a:ext cx="566928" cy="566928"/>
          </a:xfrm>
          <a:prstGeom prst="ellipse">
            <a:avLst/>
          </a:prstGeom>
          <a:solidFill>
            <a:srgbClr val="1E808F"/>
          </a:solidFill>
          <a:ln/>
        </p:spPr>
      </p:sp>
      <p:pic>
        <p:nvPicPr>
          <p:cNvPr id="8" name="Image 0" descr="preencoded.png">    </p:cNvPr>
          <p:cNvPicPr>
            <a:picLocks noChangeAspect="1"/>
          </p:cNvPicPr>
          <p:nvPr/>
        </p:nvPicPr>
        <p:blipFill>
          <a:blip r:embed="rId1"/>
          <a:stretch>
            <a:fillRect/>
          </a:stretch>
        </p:blipFill>
        <p:spPr>
          <a:xfrm>
            <a:off x="878921" y="2095073"/>
            <a:ext cx="272125" cy="272125"/>
          </a:xfrm>
          <a:prstGeom prst="rect">
            <a:avLst/>
          </a:prstGeom>
        </p:spPr>
      </p:pic>
      <p:sp>
        <p:nvSpPr>
          <p:cNvPr id="9" name="Text 6"/>
          <p:cNvSpPr/>
          <p:nvPr/>
        </p:nvSpPr>
        <p:spPr>
          <a:xfrm>
            <a:off x="1508760" y="1892808"/>
            <a:ext cx="3246120" cy="1417320"/>
          </a:xfrm>
          <a:prstGeom prst="rect">
            <a:avLst/>
          </a:prstGeom>
          <a:noFill/>
          <a:ln/>
        </p:spPr>
        <p:txBody>
          <a:bodyPr wrap="square" lIns="0" tIns="0" rIns="0" bIns="0" rtlCol="0" anchor="t"/>
          <a:lstStyle/>
          <a:p>
            <a:pPr indent="0" marL="0">
              <a:buNone/>
            </a:pPr>
            <a:r>
              <a:rPr lang="en-US" sz="1450" b="1" dirty="0">
                <a:solidFill>
                  <a:srgbClr val="1E2749"/>
                </a:solidFill>
                <a:latin typeface="Calibri" pitchFamily="34" charset="0"/>
                <a:ea typeface="Calibri" pitchFamily="34" charset="-122"/>
                <a:cs typeface="Calibri" pitchFamily="34" charset="-120"/>
              </a:rPr>
              <a:t>Explore every dashboard
</a:t>
            </a:r>
            <a:pPr indent="0" marL="0">
              <a:buNone/>
            </a:pPr>
            <a:r>
              <a:rPr lang="en-US" sz="1150" dirty="0">
                <a:solidFill>
                  <a:srgbClr val="39415C"/>
                </a:solidFill>
                <a:latin typeface="Calibri" pitchFamily="34" charset="0"/>
                <a:ea typeface="Calibri" pitchFamily="34" charset="-122"/>
                <a:cs typeface="Calibri" pitchFamily="34" charset="-120"/>
              </a:rPr>
              <a:t>Filter, drill, and compare across the data-quality and revenue tabs — through your own agency lens.</a:t>
            </a:r>
            <a:endParaRPr lang="en-US" sz="1450" dirty="0"/>
          </a:p>
        </p:txBody>
      </p:sp>
      <p:sp>
        <p:nvSpPr>
          <p:cNvPr id="10" name="Shape 7"/>
          <p:cNvSpPr/>
          <p:nvPr/>
        </p:nvSpPr>
        <p:spPr>
          <a:xfrm>
            <a:off x="5257800" y="1691640"/>
            <a:ext cx="4480560" cy="1783080"/>
          </a:xfrm>
          <a:prstGeom prst="roundRect">
            <a:avLst>
              <a:gd name="adj" fmla="val 4615"/>
            </a:avLst>
          </a:prstGeom>
          <a:solidFill>
            <a:srgbClr val="FFFFFF"/>
          </a:solidFill>
          <a:ln w="12700">
            <a:solidFill>
              <a:srgbClr val="E1E4EC"/>
            </a:solidFill>
            <a:prstDash val="solid"/>
          </a:ln>
        </p:spPr>
      </p:sp>
      <p:sp>
        <p:nvSpPr>
          <p:cNvPr id="11" name="Shape 8"/>
          <p:cNvSpPr/>
          <p:nvPr/>
        </p:nvSpPr>
        <p:spPr>
          <a:xfrm>
            <a:off x="5486400" y="1947672"/>
            <a:ext cx="566928" cy="566928"/>
          </a:xfrm>
          <a:prstGeom prst="ellipse">
            <a:avLst/>
          </a:prstGeom>
          <a:solidFill>
            <a:srgbClr val="1E808F"/>
          </a:solidFill>
          <a:ln/>
        </p:spPr>
      </p:sp>
      <p:pic>
        <p:nvPicPr>
          <p:cNvPr id="12" name="Image 1" descr="preencoded.png">    </p:cNvPr>
          <p:cNvPicPr>
            <a:picLocks noChangeAspect="1"/>
          </p:cNvPicPr>
          <p:nvPr/>
        </p:nvPicPr>
        <p:blipFill>
          <a:blip r:embed="rId2"/>
          <a:stretch>
            <a:fillRect/>
          </a:stretch>
        </p:blipFill>
        <p:spPr>
          <a:xfrm>
            <a:off x="5633801" y="2095073"/>
            <a:ext cx="272125" cy="272125"/>
          </a:xfrm>
          <a:prstGeom prst="rect">
            <a:avLst/>
          </a:prstGeom>
        </p:spPr>
      </p:pic>
      <p:sp>
        <p:nvSpPr>
          <p:cNvPr id="13" name="Text 9"/>
          <p:cNvSpPr/>
          <p:nvPr/>
        </p:nvSpPr>
        <p:spPr>
          <a:xfrm>
            <a:off x="6263640" y="1892808"/>
            <a:ext cx="3246120" cy="1417320"/>
          </a:xfrm>
          <a:prstGeom prst="rect">
            <a:avLst/>
          </a:prstGeom>
          <a:noFill/>
          <a:ln/>
        </p:spPr>
        <p:txBody>
          <a:bodyPr wrap="square" lIns="0" tIns="0" rIns="0" bIns="0" rtlCol="0" anchor="t"/>
          <a:lstStyle/>
          <a:p>
            <a:pPr indent="0" marL="0">
              <a:buNone/>
            </a:pPr>
            <a:r>
              <a:rPr lang="en-US" sz="1450" b="1" dirty="0">
                <a:solidFill>
                  <a:srgbClr val="1E2749"/>
                </a:solidFill>
                <a:latin typeface="Calibri" pitchFamily="34" charset="0"/>
                <a:ea typeface="Calibri" pitchFamily="34" charset="-122"/>
                <a:cs typeface="Calibri" pitchFamily="34" charset="-120"/>
              </a:rPr>
              <a:t>Interrogate the AI Studio
</a:t>
            </a:r>
            <a:pPr indent="0" marL="0">
              <a:buNone/>
            </a:pPr>
            <a:r>
              <a:rPr lang="en-US" sz="1150" dirty="0">
                <a:solidFill>
                  <a:srgbClr val="39415C"/>
                </a:solidFill>
                <a:latin typeface="Calibri" pitchFamily="34" charset="0"/>
                <a:ea typeface="Calibri" pitchFamily="34" charset="-122"/>
                <a:cs typeface="Calibri" pitchFamily="34" charset="-120"/>
              </a:rPr>
              <a:t>Ask real business questions in plain English. This is the #1 ask — next slide.</a:t>
            </a:r>
            <a:endParaRPr lang="en-US" sz="1450" dirty="0"/>
          </a:p>
        </p:txBody>
      </p:sp>
      <p:sp>
        <p:nvSpPr>
          <p:cNvPr id="14" name="Shape 10"/>
          <p:cNvSpPr/>
          <p:nvPr/>
        </p:nvSpPr>
        <p:spPr>
          <a:xfrm>
            <a:off x="502920" y="3703320"/>
            <a:ext cx="4480560" cy="1783080"/>
          </a:xfrm>
          <a:prstGeom prst="roundRect">
            <a:avLst>
              <a:gd name="adj" fmla="val 4615"/>
            </a:avLst>
          </a:prstGeom>
          <a:solidFill>
            <a:srgbClr val="FFFFFF"/>
          </a:solidFill>
          <a:ln w="12700">
            <a:solidFill>
              <a:srgbClr val="E1E4EC"/>
            </a:solidFill>
            <a:prstDash val="solid"/>
          </a:ln>
        </p:spPr>
      </p:sp>
      <p:sp>
        <p:nvSpPr>
          <p:cNvPr id="15" name="Shape 11"/>
          <p:cNvSpPr/>
          <p:nvPr/>
        </p:nvSpPr>
        <p:spPr>
          <a:xfrm>
            <a:off x="731520" y="3959352"/>
            <a:ext cx="566928" cy="566928"/>
          </a:xfrm>
          <a:prstGeom prst="ellipse">
            <a:avLst/>
          </a:prstGeom>
          <a:solidFill>
            <a:srgbClr val="1E808F"/>
          </a:solidFill>
          <a:ln/>
        </p:spPr>
      </p:sp>
      <p:pic>
        <p:nvPicPr>
          <p:cNvPr id="16" name="Image 2" descr="preencoded.png">    </p:cNvPr>
          <p:cNvPicPr>
            <a:picLocks noChangeAspect="1"/>
          </p:cNvPicPr>
          <p:nvPr/>
        </p:nvPicPr>
        <p:blipFill>
          <a:blip r:embed="rId3"/>
          <a:stretch>
            <a:fillRect/>
          </a:stretch>
        </p:blipFill>
        <p:spPr>
          <a:xfrm>
            <a:off x="878921" y="4106753"/>
            <a:ext cx="272125" cy="272125"/>
          </a:xfrm>
          <a:prstGeom prst="rect">
            <a:avLst/>
          </a:prstGeom>
        </p:spPr>
      </p:pic>
      <p:sp>
        <p:nvSpPr>
          <p:cNvPr id="17" name="Text 12"/>
          <p:cNvSpPr/>
          <p:nvPr/>
        </p:nvSpPr>
        <p:spPr>
          <a:xfrm>
            <a:off x="1508760" y="3904488"/>
            <a:ext cx="3246120" cy="1417320"/>
          </a:xfrm>
          <a:prstGeom prst="rect">
            <a:avLst/>
          </a:prstGeom>
          <a:noFill/>
          <a:ln/>
        </p:spPr>
        <p:txBody>
          <a:bodyPr wrap="square" lIns="0" tIns="0" rIns="0" bIns="0" rtlCol="0" anchor="t"/>
          <a:lstStyle/>
          <a:p>
            <a:pPr indent="0" marL="0">
              <a:buNone/>
            </a:pPr>
            <a:r>
              <a:rPr lang="en-US" sz="1450" b="1" dirty="0">
                <a:solidFill>
                  <a:srgbClr val="1E2749"/>
                </a:solidFill>
                <a:latin typeface="Calibri" pitchFamily="34" charset="0"/>
                <a:ea typeface="Calibri" pitchFamily="34" charset="-122"/>
                <a:cs typeface="Calibri" pitchFamily="34" charset="-120"/>
              </a:rPr>
              <a:t>Stress the edges
</a:t>
            </a:r>
            <a:pPr indent="0" marL="0">
              <a:buNone/>
            </a:pPr>
            <a:r>
              <a:rPr lang="en-US" sz="1150" dirty="0">
                <a:solidFill>
                  <a:srgbClr val="39415C"/>
                </a:solidFill>
                <a:latin typeface="Calibri" pitchFamily="34" charset="0"/>
                <a:ea typeface="Calibri" pitchFamily="34" charset="-122"/>
                <a:cs typeface="Calibri" pitchFamily="34" charset="-120"/>
              </a:rPr>
              <a:t>Odd filters, big CSV exports, fast tab-switching, second sign-ins. Please try to break it.</a:t>
            </a:r>
            <a:endParaRPr lang="en-US" sz="1450" dirty="0"/>
          </a:p>
        </p:txBody>
      </p:sp>
      <p:sp>
        <p:nvSpPr>
          <p:cNvPr id="18" name="Shape 13"/>
          <p:cNvSpPr/>
          <p:nvPr/>
        </p:nvSpPr>
        <p:spPr>
          <a:xfrm>
            <a:off x="5257800" y="3703320"/>
            <a:ext cx="4480560" cy="1783080"/>
          </a:xfrm>
          <a:prstGeom prst="roundRect">
            <a:avLst>
              <a:gd name="adj" fmla="val 4615"/>
            </a:avLst>
          </a:prstGeom>
          <a:solidFill>
            <a:srgbClr val="FFFFFF"/>
          </a:solidFill>
          <a:ln w="12700">
            <a:solidFill>
              <a:srgbClr val="E1E4EC"/>
            </a:solidFill>
            <a:prstDash val="solid"/>
          </a:ln>
        </p:spPr>
      </p:sp>
      <p:sp>
        <p:nvSpPr>
          <p:cNvPr id="19" name="Shape 14"/>
          <p:cNvSpPr/>
          <p:nvPr/>
        </p:nvSpPr>
        <p:spPr>
          <a:xfrm>
            <a:off x="5486400" y="3959352"/>
            <a:ext cx="566928" cy="566928"/>
          </a:xfrm>
          <a:prstGeom prst="ellipse">
            <a:avLst/>
          </a:prstGeom>
          <a:solidFill>
            <a:srgbClr val="1E808F"/>
          </a:solidFill>
          <a:ln/>
        </p:spPr>
      </p:sp>
      <p:pic>
        <p:nvPicPr>
          <p:cNvPr id="20" name="Image 3" descr="preencoded.png">    </p:cNvPr>
          <p:cNvPicPr>
            <a:picLocks noChangeAspect="1"/>
          </p:cNvPicPr>
          <p:nvPr/>
        </p:nvPicPr>
        <p:blipFill>
          <a:blip r:embed="rId4"/>
          <a:stretch>
            <a:fillRect/>
          </a:stretch>
        </p:blipFill>
        <p:spPr>
          <a:xfrm>
            <a:off x="5633801" y="4106753"/>
            <a:ext cx="272125" cy="272125"/>
          </a:xfrm>
          <a:prstGeom prst="rect">
            <a:avLst/>
          </a:prstGeom>
        </p:spPr>
      </p:pic>
      <p:sp>
        <p:nvSpPr>
          <p:cNvPr id="21" name="Text 15"/>
          <p:cNvSpPr/>
          <p:nvPr/>
        </p:nvSpPr>
        <p:spPr>
          <a:xfrm>
            <a:off x="6263640" y="3904488"/>
            <a:ext cx="3246120" cy="1417320"/>
          </a:xfrm>
          <a:prstGeom prst="rect">
            <a:avLst/>
          </a:prstGeom>
          <a:noFill/>
          <a:ln/>
        </p:spPr>
        <p:txBody>
          <a:bodyPr wrap="square" lIns="0" tIns="0" rIns="0" bIns="0" rtlCol="0" anchor="t"/>
          <a:lstStyle/>
          <a:p>
            <a:pPr indent="0" marL="0">
              <a:buNone/>
            </a:pPr>
            <a:r>
              <a:rPr lang="en-US" sz="1450" b="1" dirty="0">
                <a:solidFill>
                  <a:srgbClr val="1E2749"/>
                </a:solidFill>
                <a:latin typeface="Calibri" pitchFamily="34" charset="0"/>
                <a:ea typeface="Calibri" pitchFamily="34" charset="-122"/>
                <a:cs typeface="Calibri" pitchFamily="34" charset="-120"/>
              </a:rPr>
              <a:t>Challenge the numbers
</a:t>
            </a:r>
            <a:pPr indent="0" marL="0">
              <a:buNone/>
            </a:pPr>
            <a:r>
              <a:rPr lang="en-US" sz="1150" dirty="0">
                <a:solidFill>
                  <a:srgbClr val="39415C"/>
                </a:solidFill>
                <a:latin typeface="Calibri" pitchFamily="34" charset="0"/>
                <a:ea typeface="Calibri" pitchFamily="34" charset="-122"/>
                <a:cs typeface="Calibri" pitchFamily="34" charset="-120"/>
              </a:rPr>
              <a:t>If a figure doesn’t match your intuition, that’s a finding — tell us, and we’ll show the lineage.</a:t>
            </a:r>
            <a:endParaRPr lang="en-US" sz="1450" dirty="0"/>
          </a:p>
        </p:txBody>
      </p:sp>
      <p:sp>
        <p:nvSpPr>
          <p:cNvPr id="22" name="Shape 16"/>
          <p:cNvSpPr/>
          <p:nvPr/>
        </p:nvSpPr>
        <p:spPr>
          <a:xfrm>
            <a:off x="502920" y="5806440"/>
            <a:ext cx="9052560" cy="658368"/>
          </a:xfrm>
          <a:prstGeom prst="roundRect">
            <a:avLst>
              <a:gd name="adj" fmla="val 12500"/>
            </a:avLst>
          </a:prstGeom>
          <a:solidFill>
            <a:srgbClr val="EEF1F7"/>
          </a:solidFill>
          <a:ln/>
        </p:spPr>
      </p:sp>
      <p:sp>
        <p:nvSpPr>
          <p:cNvPr id="23" name="Text 17"/>
          <p:cNvSpPr/>
          <p:nvPr/>
        </p:nvSpPr>
        <p:spPr>
          <a:xfrm>
            <a:off x="777240" y="5806440"/>
            <a:ext cx="8503920" cy="658368"/>
          </a:xfrm>
          <a:prstGeom prst="rect">
            <a:avLst/>
          </a:prstGeom>
          <a:noFill/>
          <a:ln/>
        </p:spPr>
        <p:txBody>
          <a:bodyPr wrap="square" lIns="0" tIns="0" rIns="0" bIns="0" rtlCol="0" anchor="ctr"/>
          <a:lstStyle/>
          <a:p>
            <a:pPr indent="0" marL="0">
              <a:buNone/>
            </a:pPr>
            <a:r>
              <a:rPr lang="en-US" sz="1150" b="1" dirty="0">
                <a:solidFill>
                  <a:srgbClr val="1E2749"/>
                </a:solidFill>
                <a:latin typeface="Calibri" pitchFamily="34" charset="0"/>
                <a:ea typeface="Calibri" pitchFamily="34" charset="-122"/>
                <a:cs typeface="Calibri" pitchFamily="34" charset="-120"/>
              </a:rPr>
              <a:t>Environment: </a:t>
            </a:r>
            <a:pPr indent="0" marL="0">
              <a:buNone/>
            </a:pPr>
            <a:r>
              <a:rPr lang="en-US" sz="1150" dirty="0">
                <a:solidFill>
                  <a:srgbClr val="39415C"/>
                </a:solidFill>
                <a:latin typeface="Calibri" pitchFamily="34" charset="0"/>
                <a:ea typeface="Calibri" pitchFamily="34" charset="-122"/>
                <a:cs typeface="Calibri" pitchFamily="34" charset="-120"/>
              </a:rPr>
              <a:t>non-prod (same engine, reduced data volume)      </a:t>
            </a:r>
            <a:pPr indent="0" marL="0">
              <a:buNone/>
            </a:pPr>
            <a:r>
              <a:rPr lang="en-US" sz="1150" b="1" dirty="0">
                <a:solidFill>
                  <a:srgbClr val="1E2749"/>
                </a:solidFill>
                <a:latin typeface="Calibri" pitchFamily="34" charset="0"/>
                <a:ea typeface="Calibri" pitchFamily="34" charset="-122"/>
                <a:cs typeface="Calibri" pitchFamily="34" charset="-120"/>
              </a:rPr>
              <a:t>Access: </a:t>
            </a:r>
            <a:pPr indent="0" marL="0">
              <a:buNone/>
            </a:pPr>
            <a:r>
              <a:rPr lang="en-US" sz="1150" dirty="0">
                <a:solidFill>
                  <a:srgbClr val="39415C"/>
                </a:solidFill>
                <a:latin typeface="Calibri" pitchFamily="34" charset="0"/>
                <a:ea typeface="Calibri" pitchFamily="34" charset="-122"/>
                <a:cs typeface="Calibri" pitchFamily="34" charset="-120"/>
              </a:rPr>
              <a:t>SSO from SigNet — credentials &amp; instructions arrive by email      </a:t>
            </a:r>
            <a:pPr indent="0" marL="0">
              <a:buNone/>
            </a:pPr>
            <a:r>
              <a:rPr lang="en-US" sz="1150" b="1" dirty="0">
                <a:solidFill>
                  <a:srgbClr val="1E2749"/>
                </a:solidFill>
                <a:latin typeface="Calibri" pitchFamily="34" charset="0"/>
                <a:ea typeface="Calibri" pitchFamily="34" charset="-122"/>
                <a:cs typeface="Calibri" pitchFamily="34" charset="-120"/>
              </a:rPr>
              <a:t>Window: </a:t>
            </a:r>
            <a:pPr indent="0" marL="0">
              <a:buNone/>
            </a:pPr>
            <a:r>
              <a:rPr lang="en-US" sz="1150" dirty="0">
                <a:solidFill>
                  <a:srgbClr val="39415C"/>
                </a:solidFill>
                <a:latin typeface="Calibri" pitchFamily="34" charset="0"/>
                <a:ea typeface="Calibri" pitchFamily="34" charset="-122"/>
                <a:cs typeface="Calibri" pitchFamily="34" charset="-120"/>
              </a:rPr>
              <a:t>Aug 7 → Sep 29</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14</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THE #1 ASK</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Ask questions inside the AI Studio</a:t>
            </a:r>
            <a:endParaRPr lang="en-US" sz="3000" dirty="0"/>
          </a:p>
        </p:txBody>
      </p:sp>
      <p:sp>
        <p:nvSpPr>
          <p:cNvPr id="6" name="Shape 4"/>
          <p:cNvSpPr/>
          <p:nvPr/>
        </p:nvSpPr>
        <p:spPr>
          <a:xfrm>
            <a:off x="502920" y="1783080"/>
            <a:ext cx="530352" cy="530352"/>
          </a:xfrm>
          <a:prstGeom prst="ellipse">
            <a:avLst/>
          </a:prstGeom>
          <a:solidFill>
            <a:srgbClr val="1E808F"/>
          </a:solidFill>
          <a:ln/>
        </p:spPr>
      </p:sp>
      <p:pic>
        <p:nvPicPr>
          <p:cNvPr id="7" name="Image 0" descr="preencoded.png">    </p:cNvPr>
          <p:cNvPicPr>
            <a:picLocks noChangeAspect="1"/>
          </p:cNvPicPr>
          <p:nvPr/>
        </p:nvPicPr>
        <p:blipFill>
          <a:blip r:embed="rId1"/>
          <a:stretch>
            <a:fillRect/>
          </a:stretch>
        </p:blipFill>
        <p:spPr>
          <a:xfrm>
            <a:off x="640812" y="1920972"/>
            <a:ext cx="254569" cy="254569"/>
          </a:xfrm>
          <a:prstGeom prst="rect">
            <a:avLst/>
          </a:prstGeom>
        </p:spPr>
      </p:pic>
      <p:sp>
        <p:nvSpPr>
          <p:cNvPr id="8" name="Text 5"/>
          <p:cNvSpPr/>
          <p:nvPr/>
        </p:nvSpPr>
        <p:spPr>
          <a:xfrm>
            <a:off x="1280160" y="1728216"/>
            <a:ext cx="4160520" cy="1371600"/>
          </a:xfrm>
          <a:prstGeom prst="rect">
            <a:avLst/>
          </a:prstGeom>
          <a:noFill/>
          <a:ln/>
        </p:spPr>
        <p:txBody>
          <a:bodyPr wrap="square" lIns="0" tIns="0" rIns="0" bIns="0" rtlCol="0" anchor="t"/>
          <a:lstStyle/>
          <a:p>
            <a:pPr indent="0" marL="0">
              <a:buNone/>
            </a:pPr>
            <a:r>
              <a:rPr lang="en-US" sz="1400" b="1" dirty="0">
                <a:solidFill>
                  <a:srgbClr val="1E2749"/>
                </a:solidFill>
                <a:latin typeface="Calibri" pitchFamily="34" charset="0"/>
                <a:ea typeface="Calibri" pitchFamily="34" charset="-122"/>
                <a:cs typeface="Calibri" pitchFamily="34" charset="-120"/>
              </a:rPr>
              <a:t>Your questions are the roadmap
</a:t>
            </a:r>
            <a:pPr indent="0" marL="0">
              <a:buNone/>
            </a:pPr>
            <a:r>
              <a:rPr lang="en-US" sz="1150" dirty="0">
                <a:solidFill>
                  <a:srgbClr val="39415C"/>
                </a:solidFill>
                <a:latin typeface="Calibri" pitchFamily="34" charset="0"/>
                <a:ea typeface="Calibri" pitchFamily="34" charset="-122"/>
                <a:cs typeface="Calibri" pitchFamily="34" charset="-120"/>
              </a:rPr>
              <a:t>What you ask determines which views and APIs we expose next.</a:t>
            </a:r>
            <a:endParaRPr lang="en-US" sz="1400" dirty="0"/>
          </a:p>
        </p:txBody>
      </p:sp>
      <p:sp>
        <p:nvSpPr>
          <p:cNvPr id="9" name="Shape 6"/>
          <p:cNvSpPr/>
          <p:nvPr/>
        </p:nvSpPr>
        <p:spPr>
          <a:xfrm>
            <a:off x="502920" y="3264408"/>
            <a:ext cx="530352" cy="530352"/>
          </a:xfrm>
          <a:prstGeom prst="ellipse">
            <a:avLst/>
          </a:prstGeom>
          <a:solidFill>
            <a:srgbClr val="1E808F"/>
          </a:solidFill>
          <a:ln/>
        </p:spPr>
      </p:sp>
      <p:pic>
        <p:nvPicPr>
          <p:cNvPr id="10" name="Image 1" descr="preencoded.png">    </p:cNvPr>
          <p:cNvPicPr>
            <a:picLocks noChangeAspect="1"/>
          </p:cNvPicPr>
          <p:nvPr/>
        </p:nvPicPr>
        <p:blipFill>
          <a:blip r:embed="rId2"/>
          <a:stretch>
            <a:fillRect/>
          </a:stretch>
        </p:blipFill>
        <p:spPr>
          <a:xfrm>
            <a:off x="640812" y="3402300"/>
            <a:ext cx="254569" cy="254569"/>
          </a:xfrm>
          <a:prstGeom prst="rect">
            <a:avLst/>
          </a:prstGeom>
        </p:spPr>
      </p:pic>
      <p:sp>
        <p:nvSpPr>
          <p:cNvPr id="11" name="Text 7"/>
          <p:cNvSpPr/>
          <p:nvPr/>
        </p:nvSpPr>
        <p:spPr>
          <a:xfrm>
            <a:off x="1280160" y="3209544"/>
            <a:ext cx="4160520" cy="1371600"/>
          </a:xfrm>
          <a:prstGeom prst="rect">
            <a:avLst/>
          </a:prstGeom>
          <a:noFill/>
          <a:ln/>
        </p:spPr>
        <p:txBody>
          <a:bodyPr wrap="square" lIns="0" tIns="0" rIns="0" bIns="0" rtlCol="0" anchor="t"/>
          <a:lstStyle/>
          <a:p>
            <a:pPr indent="0" marL="0">
              <a:buNone/>
            </a:pPr>
            <a:r>
              <a:rPr lang="en-US" sz="1400" b="1" dirty="0">
                <a:solidFill>
                  <a:srgbClr val="1E2749"/>
                </a:solidFill>
                <a:latin typeface="Calibri" pitchFamily="34" charset="0"/>
                <a:ea typeface="Calibri" pitchFamily="34" charset="-122"/>
                <a:cs typeface="Calibri" pitchFamily="34" charset="-120"/>
              </a:rPr>
              <a:t>Unanswered ≠ unanswerable
</a:t>
            </a:r>
            <a:pPr indent="0" marL="0">
              <a:buNone/>
            </a:pPr>
            <a:r>
              <a:rPr lang="en-US" sz="1150" dirty="0">
                <a:solidFill>
                  <a:srgbClr val="39415C"/>
                </a:solidFill>
                <a:latin typeface="Calibri" pitchFamily="34" charset="0"/>
                <a:ea typeface="Calibri" pitchFamily="34" charset="-122"/>
                <a:cs typeface="Calibri" pitchFamily="34" charset="-120"/>
              </a:rPr>
              <a:t>If the data can answer but the UI can’t yet, your question becomes an engineering ticket — we’re automating that flow.</a:t>
            </a:r>
            <a:endParaRPr lang="en-US" sz="1400" dirty="0"/>
          </a:p>
        </p:txBody>
      </p:sp>
      <p:sp>
        <p:nvSpPr>
          <p:cNvPr id="12" name="Shape 8"/>
          <p:cNvSpPr/>
          <p:nvPr/>
        </p:nvSpPr>
        <p:spPr>
          <a:xfrm>
            <a:off x="502920" y="4745736"/>
            <a:ext cx="530352" cy="530352"/>
          </a:xfrm>
          <a:prstGeom prst="ellipse">
            <a:avLst/>
          </a:prstGeom>
          <a:solidFill>
            <a:srgbClr val="2F7D4F"/>
          </a:solidFill>
          <a:ln/>
        </p:spPr>
      </p:sp>
      <p:pic>
        <p:nvPicPr>
          <p:cNvPr id="13" name="Image 2" descr="preencoded.png">    </p:cNvPr>
          <p:cNvPicPr>
            <a:picLocks noChangeAspect="1"/>
          </p:cNvPicPr>
          <p:nvPr/>
        </p:nvPicPr>
        <p:blipFill>
          <a:blip r:embed="rId3"/>
          <a:stretch>
            <a:fillRect/>
          </a:stretch>
        </p:blipFill>
        <p:spPr>
          <a:xfrm>
            <a:off x="640812" y="4883628"/>
            <a:ext cx="254569" cy="254569"/>
          </a:xfrm>
          <a:prstGeom prst="rect">
            <a:avLst/>
          </a:prstGeom>
        </p:spPr>
      </p:pic>
      <p:sp>
        <p:nvSpPr>
          <p:cNvPr id="14" name="Text 9"/>
          <p:cNvSpPr/>
          <p:nvPr/>
        </p:nvSpPr>
        <p:spPr>
          <a:xfrm>
            <a:off x="1280160" y="4690872"/>
            <a:ext cx="4160520" cy="1371600"/>
          </a:xfrm>
          <a:prstGeom prst="rect">
            <a:avLst/>
          </a:prstGeom>
          <a:noFill/>
          <a:ln/>
        </p:spPr>
        <p:txBody>
          <a:bodyPr wrap="square" lIns="0" tIns="0" rIns="0" bIns="0" rtlCol="0" anchor="t"/>
          <a:lstStyle/>
          <a:p>
            <a:pPr indent="0" marL="0">
              <a:buNone/>
            </a:pPr>
            <a:r>
              <a:rPr lang="en-US" sz="1400" b="1" dirty="0">
                <a:solidFill>
                  <a:srgbClr val="1E2749"/>
                </a:solidFill>
                <a:latin typeface="Calibri" pitchFamily="34" charset="0"/>
                <a:ea typeface="Calibri" pitchFamily="34" charset="-122"/>
                <a:cs typeface="Calibri" pitchFamily="34" charset="-120"/>
              </a:rPr>
              <a:t>It’s safe to ask anything
</a:t>
            </a:r>
            <a:pPr indent="0" marL="0">
              <a:buNone/>
            </a:pPr>
            <a:r>
              <a:rPr lang="en-US" sz="1150" dirty="0">
                <a:solidFill>
                  <a:srgbClr val="39415C"/>
                </a:solidFill>
                <a:latin typeface="Calibri" pitchFamily="34" charset="0"/>
                <a:ea typeface="Calibri" pitchFamily="34" charset="-122"/>
                <a:cs typeface="Calibri" pitchFamily="34" charset="-120"/>
              </a:rPr>
              <a:t>PII is filtered before any model call; models run on Bedrock inside Signature’s AWS; nothing is stored or used for training.</a:t>
            </a:r>
            <a:endParaRPr lang="en-US" sz="1400" dirty="0"/>
          </a:p>
        </p:txBody>
      </p:sp>
      <p:sp>
        <p:nvSpPr>
          <p:cNvPr id="15" name="Shape 10"/>
          <p:cNvSpPr/>
          <p:nvPr/>
        </p:nvSpPr>
        <p:spPr>
          <a:xfrm>
            <a:off x="5669280" y="1691640"/>
            <a:ext cx="3886200" cy="4754880"/>
          </a:xfrm>
          <a:prstGeom prst="roundRect">
            <a:avLst>
              <a:gd name="adj" fmla="val 2353"/>
            </a:avLst>
          </a:prstGeom>
          <a:solidFill>
            <a:srgbClr val="212B5F"/>
          </a:solidFill>
          <a:ln/>
        </p:spPr>
      </p:sp>
      <p:sp>
        <p:nvSpPr>
          <p:cNvPr id="16" name="Text 11"/>
          <p:cNvSpPr/>
          <p:nvPr/>
        </p:nvSpPr>
        <p:spPr>
          <a:xfrm>
            <a:off x="5943600" y="1874520"/>
            <a:ext cx="3337560" cy="365760"/>
          </a:xfrm>
          <a:prstGeom prst="rect">
            <a:avLst/>
          </a:prstGeom>
          <a:noFill/>
          <a:ln/>
        </p:spPr>
        <p:txBody>
          <a:bodyPr wrap="square" lIns="0" tIns="0" rIns="0" bIns="0" rtlCol="0" anchor="ctr"/>
          <a:lstStyle/>
          <a:p>
            <a:pPr indent="0" marL="0">
              <a:buNone/>
            </a:pPr>
            <a:r>
              <a:rPr lang="en-US" sz="1050" b="1" spc="150" kern="0" dirty="0">
                <a:solidFill>
                  <a:srgbClr val="8FB8E8"/>
                </a:solidFill>
                <a:latin typeface="Calibri" pitchFamily="34" charset="0"/>
                <a:ea typeface="Calibri" pitchFamily="34" charset="-122"/>
                <a:cs typeface="Calibri" pitchFamily="34" charset="-120"/>
              </a:rPr>
              <a:t>TRY THESE ON DAY ONE</a:t>
            </a:r>
            <a:endParaRPr lang="en-US" sz="1050" dirty="0"/>
          </a:p>
        </p:txBody>
      </p:sp>
      <p:sp>
        <p:nvSpPr>
          <p:cNvPr id="17" name="Shape 12"/>
          <p:cNvSpPr/>
          <p:nvPr/>
        </p:nvSpPr>
        <p:spPr>
          <a:xfrm>
            <a:off x="5943600" y="2331720"/>
            <a:ext cx="3337560" cy="676656"/>
          </a:xfrm>
          <a:prstGeom prst="roundRect">
            <a:avLst>
              <a:gd name="adj" fmla="val 16216"/>
            </a:avLst>
          </a:prstGeom>
          <a:solidFill>
            <a:srgbClr val="2B3778"/>
          </a:solidFill>
          <a:ln w="9525">
            <a:solidFill>
              <a:srgbClr val="1E808F"/>
            </a:solidFill>
            <a:prstDash val="solid"/>
          </a:ln>
        </p:spPr>
      </p:sp>
      <p:sp>
        <p:nvSpPr>
          <p:cNvPr id="18" name="Text 13"/>
          <p:cNvSpPr/>
          <p:nvPr/>
        </p:nvSpPr>
        <p:spPr>
          <a:xfrm>
            <a:off x="6108192" y="2331720"/>
            <a:ext cx="3008376" cy="676656"/>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“How did quoted vs. travelled revenue trend by month this year?”</a:t>
            </a:r>
            <a:endParaRPr lang="en-US" sz="1050" dirty="0"/>
          </a:p>
        </p:txBody>
      </p:sp>
      <p:sp>
        <p:nvSpPr>
          <p:cNvPr id="19" name="Shape 14"/>
          <p:cNvSpPr/>
          <p:nvPr/>
        </p:nvSpPr>
        <p:spPr>
          <a:xfrm>
            <a:off x="5943600" y="3118104"/>
            <a:ext cx="3337560" cy="676656"/>
          </a:xfrm>
          <a:prstGeom prst="roundRect">
            <a:avLst>
              <a:gd name="adj" fmla="val 16216"/>
            </a:avLst>
          </a:prstGeom>
          <a:solidFill>
            <a:srgbClr val="2B3778"/>
          </a:solidFill>
          <a:ln w="9525">
            <a:solidFill>
              <a:srgbClr val="1E808F"/>
            </a:solidFill>
            <a:prstDash val="solid"/>
          </a:ln>
        </p:spPr>
      </p:sp>
      <p:sp>
        <p:nvSpPr>
          <p:cNvPr id="20" name="Text 15"/>
          <p:cNvSpPr/>
          <p:nvPr/>
        </p:nvSpPr>
        <p:spPr>
          <a:xfrm>
            <a:off x="6108192" y="3118104"/>
            <a:ext cx="3008376" cy="676656"/>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“Which suppliers drove the most travelled revenue for my agency?”</a:t>
            </a:r>
            <a:endParaRPr lang="en-US" sz="1050" dirty="0"/>
          </a:p>
        </p:txBody>
      </p:sp>
      <p:sp>
        <p:nvSpPr>
          <p:cNvPr id="21" name="Shape 16"/>
          <p:cNvSpPr/>
          <p:nvPr/>
        </p:nvSpPr>
        <p:spPr>
          <a:xfrm>
            <a:off x="5943600" y="3904488"/>
            <a:ext cx="3337560" cy="676656"/>
          </a:xfrm>
          <a:prstGeom prst="roundRect">
            <a:avLst>
              <a:gd name="adj" fmla="val 16216"/>
            </a:avLst>
          </a:prstGeom>
          <a:solidFill>
            <a:srgbClr val="2B3778"/>
          </a:solidFill>
          <a:ln w="9525">
            <a:solidFill>
              <a:srgbClr val="1E808F"/>
            </a:solidFill>
            <a:prstDash val="solid"/>
          </a:ln>
        </p:spPr>
      </p:sp>
      <p:sp>
        <p:nvSpPr>
          <p:cNvPr id="22" name="Text 17"/>
          <p:cNvSpPr/>
          <p:nvPr/>
        </p:nvSpPr>
        <p:spPr>
          <a:xfrm>
            <a:off x="6108192" y="3904488"/>
            <a:ext cx="3008376" cy="676656"/>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“How many new clients did we add each day this month?”</a:t>
            </a:r>
            <a:endParaRPr lang="en-US" sz="1050" dirty="0"/>
          </a:p>
        </p:txBody>
      </p:sp>
      <p:sp>
        <p:nvSpPr>
          <p:cNvPr id="23" name="Shape 18"/>
          <p:cNvSpPr/>
          <p:nvPr/>
        </p:nvSpPr>
        <p:spPr>
          <a:xfrm>
            <a:off x="5943600" y="4690872"/>
            <a:ext cx="3337560" cy="676656"/>
          </a:xfrm>
          <a:prstGeom prst="roundRect">
            <a:avLst>
              <a:gd name="adj" fmla="val 16216"/>
            </a:avLst>
          </a:prstGeom>
          <a:solidFill>
            <a:srgbClr val="2B3778"/>
          </a:solidFill>
          <a:ln w="9525">
            <a:solidFill>
              <a:srgbClr val="1E808F"/>
            </a:solidFill>
            <a:prstDash val="solid"/>
          </a:ln>
        </p:spPr>
      </p:sp>
      <p:sp>
        <p:nvSpPr>
          <p:cNvPr id="24" name="Text 19"/>
          <p:cNvSpPr/>
          <p:nvPr/>
        </p:nvSpPr>
        <p:spPr>
          <a:xfrm>
            <a:off x="6108192" y="4690872"/>
            <a:ext cx="3008376" cy="676656"/>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“What share of my clients have a valid email and phone on file?”</a:t>
            </a:r>
            <a:endParaRPr lang="en-US" sz="1050" dirty="0"/>
          </a:p>
        </p:txBody>
      </p:sp>
      <p:sp>
        <p:nvSpPr>
          <p:cNvPr id="25" name="Shape 20"/>
          <p:cNvSpPr/>
          <p:nvPr/>
        </p:nvSpPr>
        <p:spPr>
          <a:xfrm>
            <a:off x="5943600" y="5477256"/>
            <a:ext cx="3337560" cy="676656"/>
          </a:xfrm>
          <a:prstGeom prst="roundRect">
            <a:avLst>
              <a:gd name="adj" fmla="val 16216"/>
            </a:avLst>
          </a:prstGeom>
          <a:solidFill>
            <a:srgbClr val="2B3778"/>
          </a:solidFill>
          <a:ln w="9525">
            <a:solidFill>
              <a:srgbClr val="1E808F"/>
            </a:solidFill>
            <a:prstDash val="solid"/>
          </a:ln>
        </p:spPr>
      </p:sp>
      <p:sp>
        <p:nvSpPr>
          <p:cNvPr id="26" name="Text 21"/>
          <p:cNvSpPr/>
          <p:nvPr/>
        </p:nvSpPr>
        <p:spPr>
          <a:xfrm>
            <a:off x="6108192" y="5477256"/>
            <a:ext cx="3008376" cy="676656"/>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“Which client families are flagged as hot leads right now?”</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15</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WHEN SOMETHING LOOKS WRONG</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The bug-reporting loop</a:t>
            </a:r>
            <a:endParaRPr lang="en-US" sz="3000" dirty="0"/>
          </a:p>
        </p:txBody>
      </p:sp>
      <p:sp>
        <p:nvSpPr>
          <p:cNvPr id="6" name="Shape 4"/>
          <p:cNvSpPr/>
          <p:nvPr/>
        </p:nvSpPr>
        <p:spPr>
          <a:xfrm>
            <a:off x="502920" y="1828800"/>
            <a:ext cx="2176272" cy="3017520"/>
          </a:xfrm>
          <a:prstGeom prst="roundRect">
            <a:avLst>
              <a:gd name="adj" fmla="val 4202"/>
            </a:avLst>
          </a:prstGeom>
          <a:solidFill>
            <a:srgbClr val="FFFFFF"/>
          </a:solidFill>
          <a:ln w="12700">
            <a:solidFill>
              <a:srgbClr val="E1E4EC"/>
            </a:solidFill>
            <a:prstDash val="solid"/>
          </a:ln>
        </p:spPr>
      </p:sp>
      <p:sp>
        <p:nvSpPr>
          <p:cNvPr id="7" name="Shape 5"/>
          <p:cNvSpPr/>
          <p:nvPr/>
        </p:nvSpPr>
        <p:spPr>
          <a:xfrm>
            <a:off x="1261872" y="2103120"/>
            <a:ext cx="658368" cy="658368"/>
          </a:xfrm>
          <a:prstGeom prst="ellipse">
            <a:avLst/>
          </a:prstGeom>
          <a:solidFill>
            <a:srgbClr val="1E808F"/>
          </a:solidFill>
          <a:ln/>
        </p:spPr>
      </p:sp>
      <p:pic>
        <p:nvPicPr>
          <p:cNvPr id="8" name="Image 0" descr="preencoded.png">    </p:cNvPr>
          <p:cNvPicPr>
            <a:picLocks noChangeAspect="1"/>
          </p:cNvPicPr>
          <p:nvPr/>
        </p:nvPicPr>
        <p:blipFill>
          <a:blip r:embed="rId1"/>
          <a:stretch>
            <a:fillRect/>
          </a:stretch>
        </p:blipFill>
        <p:spPr>
          <a:xfrm>
            <a:off x="1433048" y="2274296"/>
            <a:ext cx="316017" cy="316017"/>
          </a:xfrm>
          <a:prstGeom prst="rect">
            <a:avLst/>
          </a:prstGeom>
        </p:spPr>
      </p:pic>
      <p:sp>
        <p:nvSpPr>
          <p:cNvPr id="9" name="Text 6"/>
          <p:cNvSpPr/>
          <p:nvPr/>
        </p:nvSpPr>
        <p:spPr>
          <a:xfrm>
            <a:off x="640080" y="2926080"/>
            <a:ext cx="1901952" cy="365760"/>
          </a:xfrm>
          <a:prstGeom prst="rect">
            <a:avLst/>
          </a:prstGeom>
          <a:noFill/>
          <a:ln/>
        </p:spPr>
        <p:txBody>
          <a:bodyPr wrap="square" lIns="0" tIns="0" rIns="0" bIns="0" rtlCol="0" anchor="ctr"/>
          <a:lstStyle/>
          <a:p>
            <a:pPr algn="ctr" indent="0" marL="0">
              <a:buNone/>
            </a:pPr>
            <a:r>
              <a:rPr lang="en-US" sz="1400" b="1" dirty="0">
                <a:solidFill>
                  <a:srgbClr val="1E2749"/>
                </a:solidFill>
                <a:latin typeface="Calibri" pitchFamily="34" charset="0"/>
                <a:ea typeface="Calibri" pitchFamily="34" charset="-122"/>
                <a:cs typeface="Calibri" pitchFamily="34" charset="-120"/>
              </a:rPr>
              <a:t>1 · Capture</a:t>
            </a:r>
            <a:endParaRPr lang="en-US" sz="1400" dirty="0"/>
          </a:p>
        </p:txBody>
      </p:sp>
      <p:sp>
        <p:nvSpPr>
          <p:cNvPr id="10" name="Text 7"/>
          <p:cNvSpPr/>
          <p:nvPr/>
        </p:nvSpPr>
        <p:spPr>
          <a:xfrm>
            <a:off x="685800" y="3310128"/>
            <a:ext cx="1810512" cy="1417320"/>
          </a:xfrm>
          <a:prstGeom prst="rect">
            <a:avLst/>
          </a:prstGeom>
          <a:noFill/>
          <a:ln/>
        </p:spPr>
        <p:txBody>
          <a:bodyPr wrap="square" lIns="0" tIns="0" rIns="0" bIns="0" rtlCol="0" anchor="ctr"/>
          <a:lstStyle/>
          <a:p>
            <a:pPr algn="ctr" indent="0" marL="0">
              <a:buNone/>
            </a:pPr>
            <a:r>
              <a:rPr lang="en-US" sz="1050" dirty="0">
                <a:solidFill>
                  <a:srgbClr val="39415C"/>
                </a:solidFill>
                <a:latin typeface="Calibri" pitchFamily="34" charset="0"/>
                <a:ea typeface="Calibri" pitchFamily="34" charset="-122"/>
                <a:cs typeface="Calibri" pitchFamily="34" charset="-120"/>
              </a:rPr>
              <a:t>Screenshot, what you expected, and where you were (tab + filters).</a:t>
            </a:r>
            <a:endParaRPr lang="en-US" sz="1050" dirty="0"/>
          </a:p>
        </p:txBody>
      </p:sp>
      <p:sp>
        <p:nvSpPr>
          <p:cNvPr id="11" name="Shape 8"/>
          <p:cNvSpPr/>
          <p:nvPr/>
        </p:nvSpPr>
        <p:spPr>
          <a:xfrm>
            <a:off x="2798064" y="1828800"/>
            <a:ext cx="2176272" cy="3017520"/>
          </a:xfrm>
          <a:prstGeom prst="roundRect">
            <a:avLst>
              <a:gd name="adj" fmla="val 4202"/>
            </a:avLst>
          </a:prstGeom>
          <a:solidFill>
            <a:srgbClr val="FFFFFF"/>
          </a:solidFill>
          <a:ln w="12700">
            <a:solidFill>
              <a:srgbClr val="E1E4EC"/>
            </a:solidFill>
            <a:prstDash val="solid"/>
          </a:ln>
        </p:spPr>
      </p:sp>
      <p:sp>
        <p:nvSpPr>
          <p:cNvPr id="12" name="Shape 9"/>
          <p:cNvSpPr/>
          <p:nvPr/>
        </p:nvSpPr>
        <p:spPr>
          <a:xfrm>
            <a:off x="3557016" y="2103120"/>
            <a:ext cx="658368" cy="658368"/>
          </a:xfrm>
          <a:prstGeom prst="ellipse">
            <a:avLst/>
          </a:prstGeom>
          <a:solidFill>
            <a:srgbClr val="1E808F"/>
          </a:solidFill>
          <a:ln/>
        </p:spPr>
      </p:sp>
      <p:pic>
        <p:nvPicPr>
          <p:cNvPr id="13" name="Image 1" descr="preencoded.png">    </p:cNvPr>
          <p:cNvPicPr>
            <a:picLocks noChangeAspect="1"/>
          </p:cNvPicPr>
          <p:nvPr/>
        </p:nvPicPr>
        <p:blipFill>
          <a:blip r:embed="rId2"/>
          <a:stretch>
            <a:fillRect/>
          </a:stretch>
        </p:blipFill>
        <p:spPr>
          <a:xfrm>
            <a:off x="3728192" y="2274296"/>
            <a:ext cx="316017" cy="316017"/>
          </a:xfrm>
          <a:prstGeom prst="rect">
            <a:avLst/>
          </a:prstGeom>
        </p:spPr>
      </p:pic>
      <p:sp>
        <p:nvSpPr>
          <p:cNvPr id="14" name="Text 10"/>
          <p:cNvSpPr/>
          <p:nvPr/>
        </p:nvSpPr>
        <p:spPr>
          <a:xfrm>
            <a:off x="2935224" y="2926080"/>
            <a:ext cx="1901952" cy="365760"/>
          </a:xfrm>
          <a:prstGeom prst="rect">
            <a:avLst/>
          </a:prstGeom>
          <a:noFill/>
          <a:ln/>
        </p:spPr>
        <p:txBody>
          <a:bodyPr wrap="square" lIns="0" tIns="0" rIns="0" bIns="0" rtlCol="0" anchor="ctr"/>
          <a:lstStyle/>
          <a:p>
            <a:pPr algn="ctr" indent="0" marL="0">
              <a:buNone/>
            </a:pPr>
            <a:r>
              <a:rPr lang="en-US" sz="1400" b="1" dirty="0">
                <a:solidFill>
                  <a:srgbClr val="1E2749"/>
                </a:solidFill>
                <a:latin typeface="Calibri" pitchFamily="34" charset="0"/>
                <a:ea typeface="Calibri" pitchFamily="34" charset="-122"/>
                <a:cs typeface="Calibri" pitchFamily="34" charset="-120"/>
              </a:rPr>
              <a:t>2 · Submit</a:t>
            </a:r>
            <a:endParaRPr lang="en-US" sz="1400" dirty="0"/>
          </a:p>
        </p:txBody>
      </p:sp>
      <p:sp>
        <p:nvSpPr>
          <p:cNvPr id="15" name="Text 11"/>
          <p:cNvSpPr/>
          <p:nvPr/>
        </p:nvSpPr>
        <p:spPr>
          <a:xfrm>
            <a:off x="2980944" y="3310128"/>
            <a:ext cx="1810512" cy="1417320"/>
          </a:xfrm>
          <a:prstGeom prst="rect">
            <a:avLst/>
          </a:prstGeom>
          <a:noFill/>
          <a:ln/>
        </p:spPr>
        <p:txBody>
          <a:bodyPr wrap="square" lIns="0" tIns="0" rIns="0" bIns="0" rtlCol="0" anchor="ctr"/>
          <a:lstStyle/>
          <a:p>
            <a:pPr algn="ctr" indent="0" marL="0">
              <a:buNone/>
            </a:pPr>
            <a:r>
              <a:rPr lang="en-US" sz="1050" dirty="0">
                <a:solidFill>
                  <a:srgbClr val="39415C"/>
                </a:solidFill>
                <a:latin typeface="Calibri" pitchFamily="34" charset="0"/>
                <a:ea typeface="Calibri" pitchFamily="34" charset="-122"/>
                <a:cs typeface="Calibri" pitchFamily="34" charset="-120"/>
              </a:rPr>
              <a:t>One form — the Monday board form. The link arrives with your credentials email.</a:t>
            </a:r>
            <a:endParaRPr lang="en-US" sz="1050" dirty="0"/>
          </a:p>
        </p:txBody>
      </p:sp>
      <p:sp>
        <p:nvSpPr>
          <p:cNvPr id="16" name="Shape 12"/>
          <p:cNvSpPr/>
          <p:nvPr/>
        </p:nvSpPr>
        <p:spPr>
          <a:xfrm>
            <a:off x="5093208" y="1828800"/>
            <a:ext cx="2176272" cy="3017520"/>
          </a:xfrm>
          <a:prstGeom prst="roundRect">
            <a:avLst>
              <a:gd name="adj" fmla="val 4202"/>
            </a:avLst>
          </a:prstGeom>
          <a:solidFill>
            <a:srgbClr val="FFFFFF"/>
          </a:solidFill>
          <a:ln w="12700">
            <a:solidFill>
              <a:srgbClr val="E1E4EC"/>
            </a:solidFill>
            <a:prstDash val="solid"/>
          </a:ln>
        </p:spPr>
      </p:sp>
      <p:sp>
        <p:nvSpPr>
          <p:cNvPr id="17" name="Shape 13"/>
          <p:cNvSpPr/>
          <p:nvPr/>
        </p:nvSpPr>
        <p:spPr>
          <a:xfrm>
            <a:off x="5852160" y="2103120"/>
            <a:ext cx="658368" cy="658368"/>
          </a:xfrm>
          <a:prstGeom prst="ellipse">
            <a:avLst/>
          </a:prstGeom>
          <a:solidFill>
            <a:srgbClr val="1E808F"/>
          </a:solidFill>
          <a:ln/>
        </p:spPr>
      </p:sp>
      <p:pic>
        <p:nvPicPr>
          <p:cNvPr id="18" name="Image 2" descr="preencoded.png">    </p:cNvPr>
          <p:cNvPicPr>
            <a:picLocks noChangeAspect="1"/>
          </p:cNvPicPr>
          <p:nvPr/>
        </p:nvPicPr>
        <p:blipFill>
          <a:blip r:embed="rId3"/>
          <a:stretch>
            <a:fillRect/>
          </a:stretch>
        </p:blipFill>
        <p:spPr>
          <a:xfrm>
            <a:off x="6023336" y="2274296"/>
            <a:ext cx="316017" cy="316017"/>
          </a:xfrm>
          <a:prstGeom prst="rect">
            <a:avLst/>
          </a:prstGeom>
        </p:spPr>
      </p:pic>
      <p:sp>
        <p:nvSpPr>
          <p:cNvPr id="19" name="Text 14"/>
          <p:cNvSpPr/>
          <p:nvPr/>
        </p:nvSpPr>
        <p:spPr>
          <a:xfrm>
            <a:off x="5230368" y="2926080"/>
            <a:ext cx="1901952" cy="365760"/>
          </a:xfrm>
          <a:prstGeom prst="rect">
            <a:avLst/>
          </a:prstGeom>
          <a:noFill/>
          <a:ln/>
        </p:spPr>
        <p:txBody>
          <a:bodyPr wrap="square" lIns="0" tIns="0" rIns="0" bIns="0" rtlCol="0" anchor="ctr"/>
          <a:lstStyle/>
          <a:p>
            <a:pPr algn="ctr" indent="0" marL="0">
              <a:buNone/>
            </a:pPr>
            <a:r>
              <a:rPr lang="en-US" sz="1400" b="1" dirty="0">
                <a:solidFill>
                  <a:srgbClr val="1E2749"/>
                </a:solidFill>
                <a:latin typeface="Calibri" pitchFamily="34" charset="0"/>
                <a:ea typeface="Calibri" pitchFamily="34" charset="-122"/>
                <a:cs typeface="Calibri" pitchFamily="34" charset="-120"/>
              </a:rPr>
              <a:t>3 · Auto-ticket</a:t>
            </a:r>
            <a:endParaRPr lang="en-US" sz="1400" dirty="0"/>
          </a:p>
        </p:txBody>
      </p:sp>
      <p:sp>
        <p:nvSpPr>
          <p:cNvPr id="20" name="Text 15"/>
          <p:cNvSpPr/>
          <p:nvPr/>
        </p:nvSpPr>
        <p:spPr>
          <a:xfrm>
            <a:off x="5276088" y="3310128"/>
            <a:ext cx="1810512" cy="1417320"/>
          </a:xfrm>
          <a:prstGeom prst="rect">
            <a:avLst/>
          </a:prstGeom>
          <a:noFill/>
          <a:ln/>
        </p:spPr>
        <p:txBody>
          <a:bodyPr wrap="square" lIns="0" tIns="0" rIns="0" bIns="0" rtlCol="0" anchor="ctr"/>
          <a:lstStyle/>
          <a:p>
            <a:pPr algn="ctr" indent="0" marL="0">
              <a:buNone/>
            </a:pPr>
            <a:r>
              <a:rPr lang="en-US" sz="1050" dirty="0">
                <a:solidFill>
                  <a:srgbClr val="39415C"/>
                </a:solidFill>
                <a:latin typeface="Calibri" pitchFamily="34" charset="0"/>
                <a:ea typeface="Calibri" pitchFamily="34" charset="-122"/>
                <a:cs typeface="Calibri" pitchFamily="34" charset="-120"/>
              </a:rPr>
              <a:t>Your submission becomes an engineering ticket automatically. No chasing, no email threads.</a:t>
            </a:r>
            <a:endParaRPr lang="en-US" sz="1050" dirty="0"/>
          </a:p>
        </p:txBody>
      </p:sp>
      <p:sp>
        <p:nvSpPr>
          <p:cNvPr id="21" name="Shape 16"/>
          <p:cNvSpPr/>
          <p:nvPr/>
        </p:nvSpPr>
        <p:spPr>
          <a:xfrm>
            <a:off x="7388352" y="1828800"/>
            <a:ext cx="2176272" cy="3017520"/>
          </a:xfrm>
          <a:prstGeom prst="roundRect">
            <a:avLst>
              <a:gd name="adj" fmla="val 4202"/>
            </a:avLst>
          </a:prstGeom>
          <a:solidFill>
            <a:srgbClr val="FFFFFF"/>
          </a:solidFill>
          <a:ln w="12700">
            <a:solidFill>
              <a:srgbClr val="E1E4EC"/>
            </a:solidFill>
            <a:prstDash val="solid"/>
          </a:ln>
        </p:spPr>
      </p:sp>
      <p:sp>
        <p:nvSpPr>
          <p:cNvPr id="22" name="Shape 17"/>
          <p:cNvSpPr/>
          <p:nvPr/>
        </p:nvSpPr>
        <p:spPr>
          <a:xfrm>
            <a:off x="8147304" y="2103120"/>
            <a:ext cx="658368" cy="658368"/>
          </a:xfrm>
          <a:prstGeom prst="ellipse">
            <a:avLst/>
          </a:prstGeom>
          <a:solidFill>
            <a:srgbClr val="2F7D4F"/>
          </a:solidFill>
          <a:ln/>
        </p:spPr>
      </p:sp>
      <p:pic>
        <p:nvPicPr>
          <p:cNvPr id="23" name="Image 3" descr="preencoded.png">    </p:cNvPr>
          <p:cNvPicPr>
            <a:picLocks noChangeAspect="1"/>
          </p:cNvPicPr>
          <p:nvPr/>
        </p:nvPicPr>
        <p:blipFill>
          <a:blip r:embed="rId4"/>
          <a:stretch>
            <a:fillRect/>
          </a:stretch>
        </p:blipFill>
        <p:spPr>
          <a:xfrm>
            <a:off x="8318480" y="2274296"/>
            <a:ext cx="316017" cy="316017"/>
          </a:xfrm>
          <a:prstGeom prst="rect">
            <a:avLst/>
          </a:prstGeom>
        </p:spPr>
      </p:pic>
      <p:sp>
        <p:nvSpPr>
          <p:cNvPr id="24" name="Text 18"/>
          <p:cNvSpPr/>
          <p:nvPr/>
        </p:nvSpPr>
        <p:spPr>
          <a:xfrm>
            <a:off x="7525512" y="2926080"/>
            <a:ext cx="1901952" cy="365760"/>
          </a:xfrm>
          <a:prstGeom prst="rect">
            <a:avLst/>
          </a:prstGeom>
          <a:noFill/>
          <a:ln/>
        </p:spPr>
        <p:txBody>
          <a:bodyPr wrap="square" lIns="0" tIns="0" rIns="0" bIns="0" rtlCol="0" anchor="ctr"/>
          <a:lstStyle/>
          <a:p>
            <a:pPr algn="ctr" indent="0" marL="0">
              <a:buNone/>
            </a:pPr>
            <a:r>
              <a:rPr lang="en-US" sz="1400" b="1" dirty="0">
                <a:solidFill>
                  <a:srgbClr val="1E2749"/>
                </a:solidFill>
                <a:latin typeface="Calibri" pitchFamily="34" charset="0"/>
                <a:ea typeface="Calibri" pitchFamily="34" charset="-122"/>
                <a:cs typeface="Calibri" pitchFamily="34" charset="-120"/>
              </a:rPr>
              <a:t>4 · Fix &amp; confirm</a:t>
            </a:r>
            <a:endParaRPr lang="en-US" sz="1400" dirty="0"/>
          </a:p>
        </p:txBody>
      </p:sp>
      <p:sp>
        <p:nvSpPr>
          <p:cNvPr id="25" name="Text 19"/>
          <p:cNvSpPr/>
          <p:nvPr/>
        </p:nvSpPr>
        <p:spPr>
          <a:xfrm>
            <a:off x="7571232" y="3310128"/>
            <a:ext cx="1810512" cy="1417320"/>
          </a:xfrm>
          <a:prstGeom prst="rect">
            <a:avLst/>
          </a:prstGeom>
          <a:noFill/>
          <a:ln/>
        </p:spPr>
        <p:txBody>
          <a:bodyPr wrap="square" lIns="0" tIns="0" rIns="0" bIns="0" rtlCol="0" anchor="ctr"/>
          <a:lstStyle/>
          <a:p>
            <a:pPr algn="ctr" indent="0" marL="0">
              <a:buNone/>
            </a:pPr>
            <a:r>
              <a:rPr lang="en-US" sz="1050" dirty="0">
                <a:solidFill>
                  <a:srgbClr val="39415C"/>
                </a:solidFill>
                <a:latin typeface="Calibri" pitchFamily="34" charset="0"/>
                <a:ea typeface="Calibri" pitchFamily="34" charset="-122"/>
                <a:cs typeface="Calibri" pitchFamily="34" charset="-120"/>
              </a:rPr>
              <a:t>Turnaround target of 4–24 hours during internal testing — and we confirm back to you when it’s fixed.</a:t>
            </a:r>
            <a:endParaRPr lang="en-US" sz="1050" dirty="0"/>
          </a:p>
        </p:txBody>
      </p:sp>
      <p:sp>
        <p:nvSpPr>
          <p:cNvPr id="26" name="Shape 20"/>
          <p:cNvSpPr/>
          <p:nvPr/>
        </p:nvSpPr>
        <p:spPr>
          <a:xfrm>
            <a:off x="502920" y="5257800"/>
            <a:ext cx="9052560" cy="868680"/>
          </a:xfrm>
          <a:prstGeom prst="roundRect">
            <a:avLst>
              <a:gd name="adj" fmla="val 9474"/>
            </a:avLst>
          </a:prstGeom>
          <a:solidFill>
            <a:srgbClr val="E4EFF1"/>
          </a:solidFill>
          <a:ln/>
        </p:spPr>
      </p:sp>
      <p:sp>
        <p:nvSpPr>
          <p:cNvPr id="27" name="Text 21"/>
          <p:cNvSpPr/>
          <p:nvPr/>
        </p:nvSpPr>
        <p:spPr>
          <a:xfrm>
            <a:off x="777240" y="5257800"/>
            <a:ext cx="8503920" cy="868680"/>
          </a:xfrm>
          <a:prstGeom prst="rect">
            <a:avLst/>
          </a:prstGeom>
          <a:noFill/>
          <a:ln/>
        </p:spPr>
        <p:txBody>
          <a:bodyPr wrap="square" lIns="0" tIns="0" rIns="0" bIns="0" rtlCol="0" anchor="ctr"/>
          <a:lstStyle/>
          <a:p>
            <a:pPr indent="0" marL="0">
              <a:buNone/>
            </a:pPr>
            <a:r>
              <a:rPr lang="en-US" sz="1200" b="1" dirty="0">
                <a:solidFill>
                  <a:srgbClr val="15616D"/>
                </a:solidFill>
                <a:latin typeface="Calibri" pitchFamily="34" charset="0"/>
                <a:ea typeface="Calibri" pitchFamily="34" charset="-122"/>
                <a:cs typeface="Calibri" pitchFamily="34" charset="-120"/>
              </a:rPr>
              <a:t>Questions are feedback too.  </a:t>
            </a:r>
            <a:pPr indent="0" marL="0">
              <a:buNone/>
            </a:pPr>
            <a:r>
              <a:rPr lang="en-US" sz="1200" dirty="0">
                <a:solidFill>
                  <a:srgbClr val="39415C"/>
                </a:solidFill>
                <a:latin typeface="Calibri" pitchFamily="34" charset="0"/>
                <a:ea typeface="Calibri" pitchFamily="34" charset="-122"/>
                <a:cs typeface="Calibri" pitchFamily="34" charset="-120"/>
              </a:rPr>
              <a:t>“Why is this number X?” regularly uncovers real issues — send it through the same form, or just ask it in the AI Studio.</a:t>
            </a:r>
            <a:endParaRPr lang="en-US" sz="1200" dirty="0"/>
          </a:p>
        </p:txBody>
      </p:sp>
      <p:sp>
        <p:nvSpPr>
          <p:cNvPr id="28" name="Text 22"/>
          <p:cNvSpPr/>
          <p:nvPr/>
        </p:nvSpPr>
        <p:spPr>
          <a:xfrm>
            <a:off x="502920" y="6355080"/>
            <a:ext cx="9052560" cy="320040"/>
          </a:xfrm>
          <a:prstGeom prst="rect">
            <a:avLst/>
          </a:prstGeom>
          <a:noFill/>
          <a:ln/>
        </p:spPr>
        <p:txBody>
          <a:bodyPr wrap="square" lIns="0" tIns="0" rIns="0" bIns="0" rtlCol="0" anchor="ctr"/>
          <a:lstStyle/>
          <a:p>
            <a:pPr indent="0" marL="0">
              <a:buNone/>
            </a:pPr>
            <a:r>
              <a:rPr lang="en-US" sz="1050" i="1" dirty="0">
                <a:solidFill>
                  <a:srgbClr val="7A8296"/>
                </a:solidFill>
                <a:latin typeface="Calibri" pitchFamily="34" charset="0"/>
                <a:ea typeface="Calibri" pitchFamily="34" charset="-122"/>
                <a:cs typeface="Calibri" pitchFamily="34" charset="-120"/>
              </a:rPr>
              <a:t>For the alpha cohort this fall, we’re finalizing a 1–3 business-day SLA; during internal testing you get the fast lane.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16</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C9A22B"/>
                </a:solidFill>
                <a:latin typeface="Calibri" pitchFamily="34" charset="0"/>
                <a:ea typeface="Calibri" pitchFamily="34" charset="-122"/>
                <a:cs typeface="Calibri" pitchFamily="34" charset="-120"/>
              </a:rPr>
              <a:t>SAVE THE DATE</a:t>
            </a:r>
            <a:endParaRPr lang="en-US" sz="1050" dirty="0"/>
          </a:p>
        </p:txBody>
      </p:sp>
      <p:sp>
        <p:nvSpPr>
          <p:cNvPr id="5" name="Shape 3"/>
          <p:cNvSpPr/>
          <p:nvPr/>
        </p:nvSpPr>
        <p:spPr>
          <a:xfrm>
            <a:off x="777240" y="2103120"/>
            <a:ext cx="914400" cy="914400"/>
          </a:xfrm>
          <a:prstGeom prst="ellipse">
            <a:avLst/>
          </a:prstGeom>
          <a:solidFill>
            <a:srgbClr val="2B3778"/>
          </a:solidFill>
          <a:ln/>
        </p:spPr>
      </p:sp>
      <p:pic>
        <p:nvPicPr>
          <p:cNvPr id="6" name="Image 0" descr="preencoded.png">    </p:cNvPr>
          <p:cNvPicPr>
            <a:picLocks noChangeAspect="1"/>
          </p:cNvPicPr>
          <p:nvPr/>
        </p:nvPicPr>
        <p:blipFill>
          <a:blip r:embed="rId1"/>
          <a:stretch>
            <a:fillRect/>
          </a:stretch>
        </p:blipFill>
        <p:spPr>
          <a:xfrm>
            <a:off x="1014984" y="2340864"/>
            <a:ext cx="438912" cy="438912"/>
          </a:xfrm>
          <a:prstGeom prst="rect">
            <a:avLst/>
          </a:prstGeom>
        </p:spPr>
      </p:pic>
      <p:sp>
        <p:nvSpPr>
          <p:cNvPr id="7" name="Text 4"/>
          <p:cNvSpPr/>
          <p:nvPr/>
        </p:nvSpPr>
        <p:spPr>
          <a:xfrm>
            <a:off x="1965960" y="2011680"/>
            <a:ext cx="758952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Week of September 29</a:t>
            </a:r>
            <a:endParaRPr lang="en-US" sz="4000" dirty="0"/>
          </a:p>
        </p:txBody>
      </p:sp>
      <p:sp>
        <p:nvSpPr>
          <p:cNvPr id="8" name="Text 5"/>
          <p:cNvSpPr/>
          <p:nvPr/>
        </p:nvSpPr>
        <p:spPr>
          <a:xfrm>
            <a:off x="1965960" y="2926080"/>
            <a:ext cx="7498080" cy="411480"/>
          </a:xfrm>
          <a:prstGeom prst="rect">
            <a:avLst/>
          </a:prstGeom>
          <a:noFill/>
          <a:ln/>
        </p:spPr>
        <p:txBody>
          <a:bodyPr wrap="square" lIns="0" tIns="0" rIns="0" bIns="0" rtlCol="0" anchor="ctr"/>
          <a:lstStyle/>
          <a:p>
            <a:pPr indent="0" marL="0">
              <a:buNone/>
            </a:pPr>
            <a:r>
              <a:rPr lang="en-US" sz="1600" i="1" dirty="0">
                <a:solidFill>
                  <a:srgbClr val="C9A22B"/>
                </a:solidFill>
                <a:latin typeface="Calibri" pitchFamily="34" charset="0"/>
                <a:ea typeface="Calibri" pitchFamily="34" charset="-122"/>
                <a:cs typeface="Calibri" pitchFamily="34" charset="-120"/>
              </a:rPr>
              <a:t>Owners Meeting  ·  San Antonio — the next time we look at this together.</a:t>
            </a:r>
            <a:endParaRPr lang="en-US" sz="1600" dirty="0"/>
          </a:p>
        </p:txBody>
      </p:sp>
      <p:sp>
        <p:nvSpPr>
          <p:cNvPr id="9" name="Text 6"/>
          <p:cNvSpPr/>
          <p:nvPr/>
        </p:nvSpPr>
        <p:spPr>
          <a:xfrm>
            <a:off x="1965960" y="3429000"/>
            <a:ext cx="7498080" cy="411480"/>
          </a:xfrm>
          <a:prstGeom prst="rect">
            <a:avLst/>
          </a:prstGeom>
          <a:noFill/>
          <a:ln/>
        </p:spPr>
        <p:txBody>
          <a:bodyPr wrap="square" lIns="0" tIns="0" rIns="0" bIns="0" rtlCol="0" anchor="ctr"/>
          <a:lstStyle/>
          <a:p>
            <a:pPr indent="0" marL="0">
              <a:buNone/>
            </a:pPr>
            <a:r>
              <a:rPr lang="en-US" sz="1400" dirty="0">
                <a:solidFill>
                  <a:srgbClr val="C9D4F2"/>
                </a:solidFill>
                <a:latin typeface="Calibri" pitchFamily="34" charset="0"/>
                <a:ea typeface="Calibri" pitchFamily="34" charset="-122"/>
                <a:cs typeface="Calibri" pitchFamily="34" charset="-120"/>
              </a:rPr>
              <a:t>Full production data on stage. The alpha cohort announced. The real thing.</a:t>
            </a:r>
            <a:endParaRPr lang="en-US" sz="1400" dirty="0"/>
          </a:p>
        </p:txBody>
      </p:sp>
      <p:sp>
        <p:nvSpPr>
          <p:cNvPr id="10" name="Shape 7"/>
          <p:cNvSpPr/>
          <p:nvPr/>
        </p:nvSpPr>
        <p:spPr>
          <a:xfrm>
            <a:off x="777240" y="4480560"/>
            <a:ext cx="2788920" cy="960120"/>
          </a:xfrm>
          <a:prstGeom prst="roundRect">
            <a:avLst>
              <a:gd name="adj" fmla="val 8571"/>
            </a:avLst>
          </a:prstGeom>
          <a:solidFill>
            <a:srgbClr val="2B3778"/>
          </a:solidFill>
          <a:ln w="9525">
            <a:solidFill>
              <a:srgbClr val="1E808F"/>
            </a:solidFill>
            <a:prstDash val="solid"/>
          </a:ln>
        </p:spPr>
      </p:sp>
      <p:sp>
        <p:nvSpPr>
          <p:cNvPr id="11" name="Text 8"/>
          <p:cNvSpPr/>
          <p:nvPr/>
        </p:nvSpPr>
        <p:spPr>
          <a:xfrm>
            <a:off x="960120" y="4553712"/>
            <a:ext cx="242316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Aug 28
</a:t>
            </a:r>
            <a:pPr indent="0" marL="0">
              <a:buNone/>
            </a:pPr>
            <a:r>
              <a:rPr lang="en-US" sz="1050" dirty="0">
                <a:solidFill>
                  <a:srgbClr val="C9D4F2"/>
                </a:solidFill>
                <a:latin typeface="Calibri" pitchFamily="34" charset="0"/>
                <a:ea typeface="Calibri" pitchFamily="34" charset="-122"/>
                <a:cs typeface="Calibri" pitchFamily="34" charset="-120"/>
              </a:rPr>
              <a:t>production turned on</a:t>
            </a:r>
            <a:endParaRPr lang="en-US" sz="1500" dirty="0"/>
          </a:p>
        </p:txBody>
      </p:sp>
      <p:sp>
        <p:nvSpPr>
          <p:cNvPr id="12" name="Shape 9"/>
          <p:cNvSpPr/>
          <p:nvPr/>
        </p:nvSpPr>
        <p:spPr>
          <a:xfrm>
            <a:off x="3749040" y="4480560"/>
            <a:ext cx="2788920" cy="960120"/>
          </a:xfrm>
          <a:prstGeom prst="roundRect">
            <a:avLst>
              <a:gd name="adj" fmla="val 8571"/>
            </a:avLst>
          </a:prstGeom>
          <a:solidFill>
            <a:srgbClr val="2B3778"/>
          </a:solidFill>
          <a:ln w="9525">
            <a:solidFill>
              <a:srgbClr val="1E808F"/>
            </a:solidFill>
            <a:prstDash val="solid"/>
          </a:ln>
        </p:spPr>
      </p:sp>
      <p:sp>
        <p:nvSpPr>
          <p:cNvPr id="13" name="Text 10"/>
          <p:cNvSpPr/>
          <p:nvPr/>
        </p:nvSpPr>
        <p:spPr>
          <a:xfrm>
            <a:off x="3931920" y="4553712"/>
            <a:ext cx="242316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Sep 4
</a:t>
            </a:r>
            <a:pPr indent="0" marL="0">
              <a:buNone/>
            </a:pPr>
            <a:r>
              <a:rPr lang="en-US" sz="1050" dirty="0">
                <a:solidFill>
                  <a:srgbClr val="C9D4F2"/>
                </a:solidFill>
                <a:latin typeface="Calibri" pitchFamily="34" charset="0"/>
                <a:ea typeface="Calibri" pitchFamily="34" charset="-122"/>
                <a:cs typeface="Calibri" pitchFamily="34" charset="-120"/>
              </a:rPr>
              <a:t>production testing fully underway</a:t>
            </a:r>
            <a:endParaRPr lang="en-US" sz="1500" dirty="0"/>
          </a:p>
        </p:txBody>
      </p:sp>
      <p:sp>
        <p:nvSpPr>
          <p:cNvPr id="14" name="Shape 11"/>
          <p:cNvSpPr/>
          <p:nvPr/>
        </p:nvSpPr>
        <p:spPr>
          <a:xfrm>
            <a:off x="6720840" y="4480560"/>
            <a:ext cx="2788920" cy="960120"/>
          </a:xfrm>
          <a:prstGeom prst="roundRect">
            <a:avLst>
              <a:gd name="adj" fmla="val 8571"/>
            </a:avLst>
          </a:prstGeom>
          <a:solidFill>
            <a:srgbClr val="2B3778"/>
          </a:solidFill>
          <a:ln w="9525">
            <a:solidFill>
              <a:srgbClr val="1E808F"/>
            </a:solidFill>
            <a:prstDash val="solid"/>
          </a:ln>
        </p:spPr>
      </p:sp>
      <p:sp>
        <p:nvSpPr>
          <p:cNvPr id="15" name="Text 12"/>
          <p:cNvSpPr/>
          <p:nvPr/>
        </p:nvSpPr>
        <p:spPr>
          <a:xfrm>
            <a:off x="6903720" y="4553712"/>
            <a:ext cx="242316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Oct 5
</a:t>
            </a:r>
            <a:pPr indent="0" marL="0">
              <a:buNone/>
            </a:pPr>
            <a:r>
              <a:rPr lang="en-US" sz="1050" dirty="0">
                <a:solidFill>
                  <a:srgbClr val="C9D4F2"/>
                </a:solidFill>
                <a:latin typeface="Calibri" pitchFamily="34" charset="0"/>
                <a:ea typeface="Calibri" pitchFamily="34" charset="-122"/>
                <a:cs typeface="Calibri" pitchFamily="34" charset="-120"/>
              </a:rPr>
              <a:t>alpha cohort goes live</a:t>
            </a:r>
            <a:endParaRPr lang="en-US" sz="1500" dirty="0"/>
          </a:p>
        </p:txBody>
      </p:sp>
      <p:sp>
        <p:nvSpPr>
          <p:cNvPr id="16" name="Text 13"/>
          <p:cNvSpPr/>
          <p:nvPr/>
        </p:nvSpPr>
        <p:spPr>
          <a:xfrm>
            <a:off x="777240" y="5897880"/>
            <a:ext cx="8503920" cy="41148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Between now and then: you test, we harden.</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17</a:t>
            </a:r>
            <a:endParaRPr lang="en-US" sz="800" dirty="0"/>
          </a:p>
        </p:txBody>
      </p:sp>
      <p:sp>
        <p:nvSpPr>
          <p:cNvPr id="4" name="Text 2"/>
          <p:cNvSpPr/>
          <p:nvPr/>
        </p:nvSpPr>
        <p:spPr>
          <a:xfrm>
            <a:off x="777240" y="2468880"/>
            <a:ext cx="8229600" cy="320040"/>
          </a:xfrm>
          <a:prstGeom prst="rect">
            <a:avLst/>
          </a:prstGeom>
          <a:noFill/>
          <a:ln/>
        </p:spPr>
        <p:txBody>
          <a:bodyPr wrap="square" lIns="0" tIns="0" rIns="0" bIns="0" rtlCol="0" anchor="ctr"/>
          <a:lstStyle/>
          <a:p>
            <a:pPr indent="0" marL="0">
              <a:buNone/>
            </a:pPr>
            <a:r>
              <a:rPr lang="en-US" sz="1300" b="1" spc="300" kern="0" dirty="0">
                <a:solidFill>
                  <a:srgbClr val="8FB8E8"/>
                </a:solidFill>
                <a:latin typeface="Calibri" pitchFamily="34" charset="0"/>
                <a:ea typeface="Calibri" pitchFamily="34" charset="-122"/>
                <a:cs typeface="Calibri" pitchFamily="34" charset="-120"/>
              </a:rPr>
              <a:t>PART 4</a:t>
            </a:r>
            <a:endParaRPr lang="en-US" sz="1300" dirty="0"/>
          </a:p>
        </p:txBody>
      </p:sp>
      <p:sp>
        <p:nvSpPr>
          <p:cNvPr id="5" name="Text 3"/>
          <p:cNvSpPr/>
          <p:nvPr/>
        </p:nvSpPr>
        <p:spPr>
          <a:xfrm>
            <a:off x="777240" y="2834640"/>
            <a:ext cx="8595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From data strategy to flywheel</a:t>
            </a:r>
            <a:endParaRPr lang="en-US" sz="3400" dirty="0"/>
          </a:p>
        </p:txBody>
      </p:sp>
      <p:sp>
        <p:nvSpPr>
          <p:cNvPr id="6" name="Text 4"/>
          <p:cNvSpPr/>
          <p:nvPr/>
        </p:nvSpPr>
        <p:spPr>
          <a:xfrm>
            <a:off x="777240" y="3886200"/>
            <a:ext cx="8412480" cy="457200"/>
          </a:xfrm>
          <a:prstGeom prst="rect">
            <a:avLst/>
          </a:prstGeom>
          <a:noFill/>
          <a:ln/>
        </p:spPr>
        <p:txBody>
          <a:bodyPr wrap="square" lIns="0" tIns="0" rIns="0" bIns="0" rtlCol="0" anchor="ctr"/>
          <a:lstStyle/>
          <a:p>
            <a:pPr indent="0" marL="0">
              <a:buNone/>
            </a:pPr>
            <a:r>
              <a:rPr lang="en-US" sz="1500" i="1" dirty="0">
                <a:solidFill>
                  <a:srgbClr val="C9D4F2"/>
                </a:solidFill>
                <a:latin typeface="Calibri" pitchFamily="34" charset="0"/>
                <a:ea typeface="Calibri" pitchFamily="34" charset="-122"/>
                <a:cs typeface="Calibri" pitchFamily="34" charset="-120"/>
              </a:rPr>
              <a:t>Picking up where February’s “Closing the Loop” left off — and then opening the floor.</a:t>
            </a:r>
            <a:endParaRPr lang="en-US" sz="1500" dirty="0"/>
          </a:p>
        </p:txBody>
      </p:sp>
      <p:sp>
        <p:nvSpPr>
          <p:cNvPr id="7" name="Shape 5"/>
          <p:cNvSpPr/>
          <p:nvPr/>
        </p:nvSpPr>
        <p:spPr>
          <a:xfrm>
            <a:off x="8229600" y="1554480"/>
            <a:ext cx="1051560" cy="1051560"/>
          </a:xfrm>
          <a:prstGeom prst="ellipse">
            <a:avLst/>
          </a:prstGeom>
          <a:solidFill>
            <a:srgbClr val="2B3778"/>
          </a:solidFill>
          <a:ln/>
        </p:spPr>
      </p:sp>
      <p:pic>
        <p:nvPicPr>
          <p:cNvPr id="8" name="Image 0" descr="preencoded.png">    </p:cNvPr>
          <p:cNvPicPr>
            <a:picLocks noChangeAspect="1"/>
          </p:cNvPicPr>
          <p:nvPr/>
        </p:nvPicPr>
        <p:blipFill>
          <a:blip r:embed="rId1"/>
          <a:stretch>
            <a:fillRect/>
          </a:stretch>
        </p:blipFill>
        <p:spPr>
          <a:xfrm>
            <a:off x="8503006" y="1827886"/>
            <a:ext cx="504749" cy="5047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18</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CLOSING THE LOOP</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February promised, August delivered</a:t>
            </a:r>
            <a:endParaRPr lang="en-US" sz="3000" dirty="0"/>
          </a:p>
        </p:txBody>
      </p:sp>
      <p:sp>
        <p:nvSpPr>
          <p:cNvPr id="6" name="Shape 4"/>
          <p:cNvSpPr/>
          <p:nvPr/>
        </p:nvSpPr>
        <p:spPr>
          <a:xfrm>
            <a:off x="502920" y="1737360"/>
            <a:ext cx="3977640" cy="841248"/>
          </a:xfrm>
          <a:prstGeom prst="roundRect">
            <a:avLst>
              <a:gd name="adj" fmla="val 8696"/>
            </a:avLst>
          </a:prstGeom>
          <a:solidFill>
            <a:srgbClr val="EEF1F7"/>
          </a:solidFill>
          <a:ln/>
        </p:spPr>
      </p:sp>
      <p:sp>
        <p:nvSpPr>
          <p:cNvPr id="7" name="Text 5"/>
          <p:cNvSpPr/>
          <p:nvPr/>
        </p:nvSpPr>
        <p:spPr>
          <a:xfrm>
            <a:off x="704088" y="1737360"/>
            <a:ext cx="3575304" cy="841248"/>
          </a:xfrm>
          <a:prstGeom prst="rect">
            <a:avLst/>
          </a:prstGeom>
          <a:noFill/>
          <a:ln/>
        </p:spPr>
        <p:txBody>
          <a:bodyPr wrap="square" lIns="0" tIns="0" rIns="0" bIns="0" rtlCol="0" anchor="ctr"/>
          <a:lstStyle/>
          <a:p>
            <a:pPr indent="0" marL="0">
              <a:buNone/>
            </a:pPr>
            <a:r>
              <a:rPr lang="en-US" sz="1200" b="1" i="1" dirty="0">
                <a:solidFill>
                  <a:srgbClr val="212B5F"/>
                </a:solidFill>
                <a:latin typeface="Calibri" pitchFamily="34" charset="0"/>
                <a:ea typeface="Calibri" pitchFamily="34" charset="-122"/>
                <a:cs typeface="Calibri" pitchFamily="34" charset="-120"/>
              </a:rPr>
              <a:t>Start with the revenue decision</a:t>
            </a:r>
            <a:endParaRPr lang="en-US" sz="1200" dirty="0"/>
          </a:p>
        </p:txBody>
      </p:sp>
      <p:sp>
        <p:nvSpPr>
          <p:cNvPr id="8" name="Text 6"/>
          <p:cNvSpPr/>
          <p:nvPr/>
        </p:nvSpPr>
        <p:spPr>
          <a:xfrm>
            <a:off x="4526280" y="1737360"/>
            <a:ext cx="777240" cy="841248"/>
          </a:xfrm>
          <a:prstGeom prst="rect">
            <a:avLst/>
          </a:prstGeom>
          <a:noFill/>
          <a:ln/>
        </p:spPr>
        <p:txBody>
          <a:bodyPr wrap="square" lIns="0" tIns="0" rIns="0" bIns="0" rtlCol="0" anchor="ctr"/>
          <a:lstStyle/>
          <a:p>
            <a:pPr algn="ctr" indent="0" marL="0">
              <a:buNone/>
            </a:pPr>
            <a:r>
              <a:rPr lang="en-US" sz="1900" b="1" dirty="0">
                <a:solidFill>
                  <a:srgbClr val="1E808F"/>
                </a:solidFill>
                <a:latin typeface="Calibri" pitchFamily="34" charset="0"/>
                <a:ea typeface="Calibri" pitchFamily="34" charset="-122"/>
                <a:cs typeface="Calibri" pitchFamily="34" charset="-120"/>
              </a:rPr>
              <a:t>→</a:t>
            </a:r>
            <a:endParaRPr lang="en-US" sz="1900" dirty="0"/>
          </a:p>
        </p:txBody>
      </p:sp>
      <p:sp>
        <p:nvSpPr>
          <p:cNvPr id="9" name="Shape 7"/>
          <p:cNvSpPr/>
          <p:nvPr/>
        </p:nvSpPr>
        <p:spPr>
          <a:xfrm>
            <a:off x="5349240" y="1737360"/>
            <a:ext cx="4160520" cy="841248"/>
          </a:xfrm>
          <a:prstGeom prst="roundRect">
            <a:avLst>
              <a:gd name="adj" fmla="val 8696"/>
            </a:avLst>
          </a:prstGeom>
          <a:solidFill>
            <a:srgbClr val="FFFFFF"/>
          </a:solidFill>
          <a:ln w="12700">
            <a:solidFill>
              <a:srgbClr val="E1E4EC"/>
            </a:solidFill>
            <a:prstDash val="solid"/>
          </a:ln>
        </p:spPr>
      </p:sp>
      <p:sp>
        <p:nvSpPr>
          <p:cNvPr id="10" name="Text 8"/>
          <p:cNvSpPr/>
          <p:nvPr/>
        </p:nvSpPr>
        <p:spPr>
          <a:xfrm>
            <a:off x="5550408" y="1737360"/>
            <a:ext cx="3758184" cy="841248"/>
          </a:xfrm>
          <a:prstGeom prst="rect">
            <a:avLst/>
          </a:prstGeom>
          <a:noFill/>
          <a:ln/>
        </p:spPr>
        <p:txBody>
          <a:bodyPr wrap="square" lIns="0" tIns="0" rIns="0" bIns="0" rtlCol="0" anchor="ctr"/>
          <a:lstStyle/>
          <a:p>
            <a:pPr indent="0" marL="0">
              <a:buNone/>
            </a:pPr>
            <a:r>
              <a:rPr lang="en-US" sz="1150" dirty="0">
                <a:solidFill>
                  <a:srgbClr val="39415C"/>
                </a:solidFill>
                <a:latin typeface="Calibri" pitchFamily="34" charset="0"/>
                <a:ea typeface="Calibri" pitchFamily="34" charset="-122"/>
                <a:cs typeface="Calibri" pitchFamily="34" charset="-120"/>
              </a:rPr>
              <a:t>Revenue is a live data product: the booking funnel, suppliers, and advisors — by travel month</a:t>
            </a:r>
            <a:endParaRPr lang="en-US" sz="1150" dirty="0"/>
          </a:p>
        </p:txBody>
      </p:sp>
      <p:sp>
        <p:nvSpPr>
          <p:cNvPr id="11" name="Shape 9"/>
          <p:cNvSpPr/>
          <p:nvPr/>
        </p:nvSpPr>
        <p:spPr>
          <a:xfrm>
            <a:off x="502920" y="2706624"/>
            <a:ext cx="3977640" cy="841248"/>
          </a:xfrm>
          <a:prstGeom prst="roundRect">
            <a:avLst>
              <a:gd name="adj" fmla="val 8696"/>
            </a:avLst>
          </a:prstGeom>
          <a:solidFill>
            <a:srgbClr val="EEF1F7"/>
          </a:solidFill>
          <a:ln/>
        </p:spPr>
      </p:sp>
      <p:sp>
        <p:nvSpPr>
          <p:cNvPr id="12" name="Text 10"/>
          <p:cNvSpPr/>
          <p:nvPr/>
        </p:nvSpPr>
        <p:spPr>
          <a:xfrm>
            <a:off x="704088" y="2706624"/>
            <a:ext cx="3575304" cy="841248"/>
          </a:xfrm>
          <a:prstGeom prst="rect">
            <a:avLst/>
          </a:prstGeom>
          <a:noFill/>
          <a:ln/>
        </p:spPr>
        <p:txBody>
          <a:bodyPr wrap="square" lIns="0" tIns="0" rIns="0" bIns="0" rtlCol="0" anchor="ctr"/>
          <a:lstStyle/>
          <a:p>
            <a:pPr indent="0" marL="0">
              <a:buNone/>
            </a:pPr>
            <a:r>
              <a:rPr lang="en-US" sz="1200" b="1" i="1" dirty="0">
                <a:solidFill>
                  <a:srgbClr val="212B5F"/>
                </a:solidFill>
                <a:latin typeface="Calibri" pitchFamily="34" charset="0"/>
                <a:ea typeface="Calibri" pitchFamily="34" charset="-122"/>
                <a:cs typeface="Calibri" pitchFamily="34" charset="-120"/>
              </a:rPr>
              <a:t>Build deep, not wide</a:t>
            </a:r>
            <a:endParaRPr lang="en-US" sz="1200" dirty="0"/>
          </a:p>
        </p:txBody>
      </p:sp>
      <p:sp>
        <p:nvSpPr>
          <p:cNvPr id="13" name="Text 11"/>
          <p:cNvSpPr/>
          <p:nvPr/>
        </p:nvSpPr>
        <p:spPr>
          <a:xfrm>
            <a:off x="4526280" y="2706624"/>
            <a:ext cx="777240" cy="841248"/>
          </a:xfrm>
          <a:prstGeom prst="rect">
            <a:avLst/>
          </a:prstGeom>
          <a:noFill/>
          <a:ln/>
        </p:spPr>
        <p:txBody>
          <a:bodyPr wrap="square" lIns="0" tIns="0" rIns="0" bIns="0" rtlCol="0" anchor="ctr"/>
          <a:lstStyle/>
          <a:p>
            <a:pPr algn="ctr" indent="0" marL="0">
              <a:buNone/>
            </a:pPr>
            <a:r>
              <a:rPr lang="en-US" sz="1900" b="1" dirty="0">
                <a:solidFill>
                  <a:srgbClr val="1E808F"/>
                </a:solidFill>
                <a:latin typeface="Calibri" pitchFamily="34" charset="0"/>
                <a:ea typeface="Calibri" pitchFamily="34" charset="-122"/>
                <a:cs typeface="Calibri" pitchFamily="34" charset="-120"/>
              </a:rPr>
              <a:t>→</a:t>
            </a:r>
            <a:endParaRPr lang="en-US" sz="1900" dirty="0"/>
          </a:p>
        </p:txBody>
      </p:sp>
      <p:sp>
        <p:nvSpPr>
          <p:cNvPr id="14" name="Shape 12"/>
          <p:cNvSpPr/>
          <p:nvPr/>
        </p:nvSpPr>
        <p:spPr>
          <a:xfrm>
            <a:off x="5349240" y="2706624"/>
            <a:ext cx="4160520" cy="841248"/>
          </a:xfrm>
          <a:prstGeom prst="roundRect">
            <a:avLst>
              <a:gd name="adj" fmla="val 8696"/>
            </a:avLst>
          </a:prstGeom>
          <a:solidFill>
            <a:srgbClr val="FFFFFF"/>
          </a:solidFill>
          <a:ln w="12700">
            <a:solidFill>
              <a:srgbClr val="E1E4EC"/>
            </a:solidFill>
            <a:prstDash val="solid"/>
          </a:ln>
        </p:spPr>
      </p:sp>
      <p:sp>
        <p:nvSpPr>
          <p:cNvPr id="15" name="Text 13"/>
          <p:cNvSpPr/>
          <p:nvPr/>
        </p:nvSpPr>
        <p:spPr>
          <a:xfrm>
            <a:off x="5550408" y="2706624"/>
            <a:ext cx="3758184" cy="841248"/>
          </a:xfrm>
          <a:prstGeom prst="rect">
            <a:avLst/>
          </a:prstGeom>
          <a:noFill/>
          <a:ln/>
        </p:spPr>
        <p:txBody>
          <a:bodyPr wrap="square" lIns="0" tIns="0" rIns="0" bIns="0" rtlCol="0" anchor="ctr"/>
          <a:lstStyle/>
          <a:p>
            <a:pPr indent="0" marL="0">
              <a:buNone/>
            </a:pPr>
            <a:r>
              <a:rPr lang="en-US" sz="1150" dirty="0">
                <a:solidFill>
                  <a:srgbClr val="39415C"/>
                </a:solidFill>
                <a:latin typeface="Calibri" pitchFamily="34" charset="0"/>
                <a:ea typeface="Calibri" pitchFamily="34" charset="-122"/>
                <a:cs typeface="Calibri" pitchFamily="34" charset="-120"/>
              </a:rPr>
              <a:t>Three deep data products — data quality, revenue, Storybook analytics — not dashboards-for-all</a:t>
            </a:r>
            <a:endParaRPr lang="en-US" sz="1150" dirty="0"/>
          </a:p>
        </p:txBody>
      </p:sp>
      <p:sp>
        <p:nvSpPr>
          <p:cNvPr id="16" name="Shape 14"/>
          <p:cNvSpPr/>
          <p:nvPr/>
        </p:nvSpPr>
        <p:spPr>
          <a:xfrm>
            <a:off x="502920" y="3675888"/>
            <a:ext cx="3977640" cy="841248"/>
          </a:xfrm>
          <a:prstGeom prst="roundRect">
            <a:avLst>
              <a:gd name="adj" fmla="val 8696"/>
            </a:avLst>
          </a:prstGeom>
          <a:solidFill>
            <a:srgbClr val="EEF1F7"/>
          </a:solidFill>
          <a:ln/>
        </p:spPr>
      </p:sp>
      <p:sp>
        <p:nvSpPr>
          <p:cNvPr id="17" name="Text 15"/>
          <p:cNvSpPr/>
          <p:nvPr/>
        </p:nvSpPr>
        <p:spPr>
          <a:xfrm>
            <a:off x="704088" y="3675888"/>
            <a:ext cx="3575304" cy="841248"/>
          </a:xfrm>
          <a:prstGeom prst="rect">
            <a:avLst/>
          </a:prstGeom>
          <a:noFill/>
          <a:ln/>
        </p:spPr>
        <p:txBody>
          <a:bodyPr wrap="square" lIns="0" tIns="0" rIns="0" bIns="0" rtlCol="0" anchor="ctr"/>
          <a:lstStyle/>
          <a:p>
            <a:pPr indent="0" marL="0">
              <a:buNone/>
            </a:pPr>
            <a:r>
              <a:rPr lang="en-US" sz="1200" b="1" i="1" dirty="0">
                <a:solidFill>
                  <a:srgbClr val="212B5F"/>
                </a:solidFill>
                <a:latin typeface="Calibri" pitchFamily="34" charset="0"/>
                <a:ea typeface="Calibri" pitchFamily="34" charset="-122"/>
                <a:cs typeface="Calibri" pitchFamily="34" charset="-120"/>
              </a:rPr>
              <a:t>Automate the infrastructure</a:t>
            </a:r>
            <a:endParaRPr lang="en-US" sz="1200" dirty="0"/>
          </a:p>
        </p:txBody>
      </p:sp>
      <p:sp>
        <p:nvSpPr>
          <p:cNvPr id="18" name="Text 16"/>
          <p:cNvSpPr/>
          <p:nvPr/>
        </p:nvSpPr>
        <p:spPr>
          <a:xfrm>
            <a:off x="4526280" y="3675888"/>
            <a:ext cx="777240" cy="841248"/>
          </a:xfrm>
          <a:prstGeom prst="rect">
            <a:avLst/>
          </a:prstGeom>
          <a:noFill/>
          <a:ln/>
        </p:spPr>
        <p:txBody>
          <a:bodyPr wrap="square" lIns="0" tIns="0" rIns="0" bIns="0" rtlCol="0" anchor="ctr"/>
          <a:lstStyle/>
          <a:p>
            <a:pPr algn="ctr" indent="0" marL="0">
              <a:buNone/>
            </a:pPr>
            <a:r>
              <a:rPr lang="en-US" sz="1900" b="1" dirty="0">
                <a:solidFill>
                  <a:srgbClr val="1E808F"/>
                </a:solidFill>
                <a:latin typeface="Calibri" pitchFamily="34" charset="0"/>
                <a:ea typeface="Calibri" pitchFamily="34" charset="-122"/>
                <a:cs typeface="Calibri" pitchFamily="34" charset="-120"/>
              </a:rPr>
              <a:t>→</a:t>
            </a:r>
            <a:endParaRPr lang="en-US" sz="1900" dirty="0"/>
          </a:p>
        </p:txBody>
      </p:sp>
      <p:sp>
        <p:nvSpPr>
          <p:cNvPr id="19" name="Shape 17"/>
          <p:cNvSpPr/>
          <p:nvPr/>
        </p:nvSpPr>
        <p:spPr>
          <a:xfrm>
            <a:off x="5349240" y="3675888"/>
            <a:ext cx="4160520" cy="841248"/>
          </a:xfrm>
          <a:prstGeom prst="roundRect">
            <a:avLst>
              <a:gd name="adj" fmla="val 8696"/>
            </a:avLst>
          </a:prstGeom>
          <a:solidFill>
            <a:srgbClr val="FFFFFF"/>
          </a:solidFill>
          <a:ln w="12700">
            <a:solidFill>
              <a:srgbClr val="E1E4EC"/>
            </a:solidFill>
            <a:prstDash val="solid"/>
          </a:ln>
        </p:spPr>
      </p:sp>
      <p:sp>
        <p:nvSpPr>
          <p:cNvPr id="20" name="Text 18"/>
          <p:cNvSpPr/>
          <p:nvPr/>
        </p:nvSpPr>
        <p:spPr>
          <a:xfrm>
            <a:off x="5550408" y="3675888"/>
            <a:ext cx="3758184" cy="841248"/>
          </a:xfrm>
          <a:prstGeom prst="rect">
            <a:avLst/>
          </a:prstGeom>
          <a:noFill/>
          <a:ln/>
        </p:spPr>
        <p:txBody>
          <a:bodyPr wrap="square" lIns="0" tIns="0" rIns="0" bIns="0" rtlCol="0" anchor="ctr"/>
          <a:lstStyle/>
          <a:p>
            <a:pPr indent="0" marL="0">
              <a:buNone/>
            </a:pPr>
            <a:r>
              <a:rPr lang="en-US" sz="1150" dirty="0">
                <a:solidFill>
                  <a:srgbClr val="39415C"/>
                </a:solidFill>
                <a:latin typeface="Calibri" pitchFamily="34" charset="0"/>
                <a:ea typeface="Calibri" pitchFamily="34" charset="-122"/>
                <a:cs typeface="Calibri" pitchFamily="34" charset="-120"/>
              </a:rPr>
              <a:t>AI-generated pipelines and APIs: 141 pipelines rebuilt and re-verified on every single change</a:t>
            </a:r>
            <a:endParaRPr lang="en-US" sz="1150" dirty="0"/>
          </a:p>
        </p:txBody>
      </p:sp>
      <p:sp>
        <p:nvSpPr>
          <p:cNvPr id="21" name="Shape 19"/>
          <p:cNvSpPr/>
          <p:nvPr/>
        </p:nvSpPr>
        <p:spPr>
          <a:xfrm>
            <a:off x="502920" y="4645152"/>
            <a:ext cx="3977640" cy="841248"/>
          </a:xfrm>
          <a:prstGeom prst="roundRect">
            <a:avLst>
              <a:gd name="adj" fmla="val 8696"/>
            </a:avLst>
          </a:prstGeom>
          <a:solidFill>
            <a:srgbClr val="EEF1F7"/>
          </a:solidFill>
          <a:ln/>
        </p:spPr>
      </p:sp>
      <p:sp>
        <p:nvSpPr>
          <p:cNvPr id="22" name="Text 20"/>
          <p:cNvSpPr/>
          <p:nvPr/>
        </p:nvSpPr>
        <p:spPr>
          <a:xfrm>
            <a:off x="704088" y="4645152"/>
            <a:ext cx="3575304" cy="841248"/>
          </a:xfrm>
          <a:prstGeom prst="rect">
            <a:avLst/>
          </a:prstGeom>
          <a:noFill/>
          <a:ln/>
        </p:spPr>
        <p:txBody>
          <a:bodyPr wrap="square" lIns="0" tIns="0" rIns="0" bIns="0" rtlCol="0" anchor="ctr"/>
          <a:lstStyle/>
          <a:p>
            <a:pPr indent="0" marL="0">
              <a:buNone/>
            </a:pPr>
            <a:r>
              <a:rPr lang="en-US" sz="1200" b="1" i="1" dirty="0">
                <a:solidFill>
                  <a:srgbClr val="212B5F"/>
                </a:solidFill>
                <a:latin typeface="Calibri" pitchFamily="34" charset="0"/>
                <a:ea typeface="Calibri" pitchFamily="34" charset="-122"/>
                <a:cs typeface="Calibri" pitchFamily="34" charset="-120"/>
              </a:rPr>
              <a:t>Secure · scalable · observable</a:t>
            </a:r>
            <a:endParaRPr lang="en-US" sz="1200" dirty="0"/>
          </a:p>
        </p:txBody>
      </p:sp>
      <p:sp>
        <p:nvSpPr>
          <p:cNvPr id="23" name="Text 21"/>
          <p:cNvSpPr/>
          <p:nvPr/>
        </p:nvSpPr>
        <p:spPr>
          <a:xfrm>
            <a:off x="4526280" y="4645152"/>
            <a:ext cx="777240" cy="841248"/>
          </a:xfrm>
          <a:prstGeom prst="rect">
            <a:avLst/>
          </a:prstGeom>
          <a:noFill/>
          <a:ln/>
        </p:spPr>
        <p:txBody>
          <a:bodyPr wrap="square" lIns="0" tIns="0" rIns="0" bIns="0" rtlCol="0" anchor="ctr"/>
          <a:lstStyle/>
          <a:p>
            <a:pPr algn="ctr" indent="0" marL="0">
              <a:buNone/>
            </a:pPr>
            <a:r>
              <a:rPr lang="en-US" sz="1900" b="1" dirty="0">
                <a:solidFill>
                  <a:srgbClr val="1E808F"/>
                </a:solidFill>
                <a:latin typeface="Calibri" pitchFamily="34" charset="0"/>
                <a:ea typeface="Calibri" pitchFamily="34" charset="-122"/>
                <a:cs typeface="Calibri" pitchFamily="34" charset="-120"/>
              </a:rPr>
              <a:t>→</a:t>
            </a:r>
            <a:endParaRPr lang="en-US" sz="1900" dirty="0"/>
          </a:p>
        </p:txBody>
      </p:sp>
      <p:sp>
        <p:nvSpPr>
          <p:cNvPr id="24" name="Shape 22"/>
          <p:cNvSpPr/>
          <p:nvPr/>
        </p:nvSpPr>
        <p:spPr>
          <a:xfrm>
            <a:off x="5349240" y="4645152"/>
            <a:ext cx="4160520" cy="841248"/>
          </a:xfrm>
          <a:prstGeom prst="roundRect">
            <a:avLst>
              <a:gd name="adj" fmla="val 8696"/>
            </a:avLst>
          </a:prstGeom>
          <a:solidFill>
            <a:srgbClr val="FFFFFF"/>
          </a:solidFill>
          <a:ln w="12700">
            <a:solidFill>
              <a:srgbClr val="E1E4EC"/>
            </a:solidFill>
            <a:prstDash val="solid"/>
          </a:ln>
        </p:spPr>
      </p:sp>
      <p:sp>
        <p:nvSpPr>
          <p:cNvPr id="25" name="Text 23"/>
          <p:cNvSpPr/>
          <p:nvPr/>
        </p:nvSpPr>
        <p:spPr>
          <a:xfrm>
            <a:off x="5550408" y="4645152"/>
            <a:ext cx="3758184" cy="841248"/>
          </a:xfrm>
          <a:prstGeom prst="rect">
            <a:avLst/>
          </a:prstGeom>
          <a:noFill/>
          <a:ln/>
        </p:spPr>
        <p:txBody>
          <a:bodyPr wrap="square" lIns="0" tIns="0" rIns="0" bIns="0" rtlCol="0" anchor="ctr"/>
          <a:lstStyle/>
          <a:p>
            <a:pPr indent="0" marL="0">
              <a:buNone/>
            </a:pPr>
            <a:r>
              <a:rPr lang="en-US" sz="1150" dirty="0">
                <a:solidFill>
                  <a:srgbClr val="39415C"/>
                </a:solidFill>
                <a:latin typeface="Calibri" pitchFamily="34" charset="0"/>
                <a:ea typeface="Calibri" pitchFamily="34" charset="-122"/>
                <a:cs typeface="Calibri" pitchFamily="34" charset="-120"/>
              </a:rPr>
              <a:t>One AWS environment, PII governed at the API layer, 605 self-verifying assertions</a:t>
            </a:r>
            <a:endParaRPr lang="en-US" sz="1150" dirty="0"/>
          </a:p>
        </p:txBody>
      </p:sp>
      <p:sp>
        <p:nvSpPr>
          <p:cNvPr id="26" name="Shape 24"/>
          <p:cNvSpPr/>
          <p:nvPr/>
        </p:nvSpPr>
        <p:spPr>
          <a:xfrm>
            <a:off x="502920" y="5614416"/>
            <a:ext cx="3977640" cy="841248"/>
          </a:xfrm>
          <a:prstGeom prst="roundRect">
            <a:avLst>
              <a:gd name="adj" fmla="val 8696"/>
            </a:avLst>
          </a:prstGeom>
          <a:solidFill>
            <a:srgbClr val="EEF1F7"/>
          </a:solidFill>
          <a:ln/>
        </p:spPr>
      </p:sp>
      <p:sp>
        <p:nvSpPr>
          <p:cNvPr id="27" name="Text 25"/>
          <p:cNvSpPr/>
          <p:nvPr/>
        </p:nvSpPr>
        <p:spPr>
          <a:xfrm>
            <a:off x="704088" y="5614416"/>
            <a:ext cx="3575304" cy="841248"/>
          </a:xfrm>
          <a:prstGeom prst="rect">
            <a:avLst/>
          </a:prstGeom>
          <a:noFill/>
          <a:ln/>
        </p:spPr>
        <p:txBody>
          <a:bodyPr wrap="square" lIns="0" tIns="0" rIns="0" bIns="0" rtlCol="0" anchor="ctr"/>
          <a:lstStyle/>
          <a:p>
            <a:pPr indent="0" marL="0">
              <a:buNone/>
            </a:pPr>
            <a:r>
              <a:rPr lang="en-US" sz="1200" b="1" i="1" dirty="0">
                <a:solidFill>
                  <a:srgbClr val="212B5F"/>
                </a:solidFill>
                <a:latin typeface="Calibri" pitchFamily="34" charset="0"/>
                <a:ea typeface="Calibri" pitchFamily="34" charset="-122"/>
                <a:cs typeface="Calibri" pitchFamily="34" charset="-120"/>
              </a:rPr>
              <a:t>“87% of data projects never reach production”</a:t>
            </a:r>
            <a:endParaRPr lang="en-US" sz="1200" dirty="0"/>
          </a:p>
        </p:txBody>
      </p:sp>
      <p:sp>
        <p:nvSpPr>
          <p:cNvPr id="28" name="Text 26"/>
          <p:cNvSpPr/>
          <p:nvPr/>
        </p:nvSpPr>
        <p:spPr>
          <a:xfrm>
            <a:off x="4526280" y="5614416"/>
            <a:ext cx="777240" cy="841248"/>
          </a:xfrm>
          <a:prstGeom prst="rect">
            <a:avLst/>
          </a:prstGeom>
          <a:noFill/>
          <a:ln/>
        </p:spPr>
        <p:txBody>
          <a:bodyPr wrap="square" lIns="0" tIns="0" rIns="0" bIns="0" rtlCol="0" anchor="ctr"/>
          <a:lstStyle/>
          <a:p>
            <a:pPr algn="ctr" indent="0" marL="0">
              <a:buNone/>
            </a:pPr>
            <a:r>
              <a:rPr lang="en-US" sz="1900" b="1" dirty="0">
                <a:solidFill>
                  <a:srgbClr val="1E808F"/>
                </a:solidFill>
                <a:latin typeface="Calibri" pitchFamily="34" charset="0"/>
                <a:ea typeface="Calibri" pitchFamily="34" charset="-122"/>
                <a:cs typeface="Calibri" pitchFamily="34" charset="-120"/>
              </a:rPr>
              <a:t>→</a:t>
            </a:r>
            <a:endParaRPr lang="en-US" sz="1900" dirty="0"/>
          </a:p>
        </p:txBody>
      </p:sp>
      <p:sp>
        <p:nvSpPr>
          <p:cNvPr id="29" name="Shape 27"/>
          <p:cNvSpPr/>
          <p:nvPr/>
        </p:nvSpPr>
        <p:spPr>
          <a:xfrm>
            <a:off x="5349240" y="5614416"/>
            <a:ext cx="4160520" cy="841248"/>
          </a:xfrm>
          <a:prstGeom prst="roundRect">
            <a:avLst>
              <a:gd name="adj" fmla="val 8696"/>
            </a:avLst>
          </a:prstGeom>
          <a:solidFill>
            <a:srgbClr val="FFFFFF"/>
          </a:solidFill>
          <a:ln w="12700">
            <a:solidFill>
              <a:srgbClr val="E1E4EC"/>
            </a:solidFill>
            <a:prstDash val="solid"/>
          </a:ln>
        </p:spPr>
      </p:sp>
      <p:sp>
        <p:nvSpPr>
          <p:cNvPr id="30" name="Text 28"/>
          <p:cNvSpPr/>
          <p:nvPr/>
        </p:nvSpPr>
        <p:spPr>
          <a:xfrm>
            <a:off x="5550408" y="5614416"/>
            <a:ext cx="3758184" cy="841248"/>
          </a:xfrm>
          <a:prstGeom prst="rect">
            <a:avLst/>
          </a:prstGeom>
          <a:noFill/>
          <a:ln/>
        </p:spPr>
        <p:txBody>
          <a:bodyPr wrap="square" lIns="0" tIns="0" rIns="0" bIns="0" rtlCol="0" anchor="ctr"/>
          <a:lstStyle/>
          <a:p>
            <a:pPr indent="0" marL="0">
              <a:buNone/>
            </a:pPr>
            <a:r>
              <a:rPr lang="en-US" sz="1150" dirty="0">
                <a:solidFill>
                  <a:srgbClr val="39415C"/>
                </a:solidFill>
                <a:latin typeface="Calibri" pitchFamily="34" charset="0"/>
                <a:ea typeface="Calibri" pitchFamily="34" charset="-122"/>
                <a:cs typeface="Calibri" pitchFamily="34" charset="-120"/>
              </a:rPr>
              <a:t>This one is deployed — and you’re about to test it yourselves</a:t>
            </a:r>
            <a:endParaRPr lang="en-US" sz="1150" dirty="0"/>
          </a:p>
        </p:txBody>
      </p:sp>
      <p:sp>
        <p:nvSpPr>
          <p:cNvPr id="31" name="Text 29"/>
          <p:cNvSpPr/>
          <p:nvPr/>
        </p:nvSpPr>
        <p:spPr>
          <a:xfrm>
            <a:off x="502920" y="6629400"/>
            <a:ext cx="9052560" cy="365760"/>
          </a:xfrm>
          <a:prstGeom prst="rect">
            <a:avLst/>
          </a:prstGeom>
          <a:noFill/>
          <a:ln/>
        </p:spPr>
        <p:txBody>
          <a:bodyPr wrap="square" lIns="0" tIns="0" rIns="0" bIns="0" rtlCol="0" anchor="ctr"/>
          <a:lstStyle/>
          <a:p>
            <a:pPr algn="ctr" indent="0" marL="0">
              <a:buNone/>
            </a:pPr>
            <a:r>
              <a:rPr lang="en-US" sz="1500" b="1" i="1" dirty="0">
                <a:solidFill>
                  <a:srgbClr val="1E2749"/>
                </a:solidFill>
                <a:latin typeface="Cambria" pitchFamily="34" charset="0"/>
                <a:ea typeface="Cambria" pitchFamily="34" charset="-122"/>
                <a:cs typeface="Cambria" pitchFamily="34" charset="-120"/>
              </a:rPr>
              <a:t>The internal engine that kickstarts the cooperative’s data flywheel — shipped.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19</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HOW THIS GROWS REVENUE</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The cooperative’s data flywheel</a:t>
            </a:r>
            <a:endParaRPr lang="en-US" sz="3000" dirty="0"/>
          </a:p>
        </p:txBody>
      </p:sp>
      <p:sp>
        <p:nvSpPr>
          <p:cNvPr id="6" name="Shape 4"/>
          <p:cNvSpPr/>
          <p:nvPr/>
        </p:nvSpPr>
        <p:spPr>
          <a:xfrm>
            <a:off x="2542032" y="2523744"/>
            <a:ext cx="4974336" cy="3401568"/>
          </a:xfrm>
          <a:prstGeom prst="ellipse">
            <a:avLst/>
          </a:prstGeom>
          <a:ln w="38100">
            <a:solidFill>
              <a:srgbClr val="1E808F"/>
            </a:solidFill>
            <a:prstDash val="solid"/>
          </a:ln>
        </p:spPr>
      </p:sp>
      <p:sp>
        <p:nvSpPr>
          <p:cNvPr id="7" name="Shape 5"/>
          <p:cNvSpPr/>
          <p:nvPr/>
        </p:nvSpPr>
        <p:spPr>
          <a:xfrm rot="14160000">
            <a:off x="6632445" y="5271716"/>
            <a:ext cx="310896" cy="310896"/>
          </a:xfrm>
          <a:prstGeom prst="triangle">
            <a:avLst/>
          </a:prstGeom>
          <a:solidFill>
            <a:srgbClr val="1E808F"/>
          </a:solidFill>
          <a:ln/>
        </p:spPr>
      </p:sp>
      <p:sp>
        <p:nvSpPr>
          <p:cNvPr id="8" name="Shape 6"/>
          <p:cNvSpPr/>
          <p:nvPr/>
        </p:nvSpPr>
        <p:spPr>
          <a:xfrm rot="18240000">
            <a:off x="3115059" y="5271716"/>
            <a:ext cx="310896" cy="310896"/>
          </a:xfrm>
          <a:prstGeom prst="triangle">
            <a:avLst/>
          </a:prstGeom>
          <a:solidFill>
            <a:srgbClr val="1E808F"/>
          </a:solidFill>
          <a:ln/>
        </p:spPr>
      </p:sp>
      <p:sp>
        <p:nvSpPr>
          <p:cNvPr id="9" name="Shape 7"/>
          <p:cNvSpPr/>
          <p:nvPr/>
        </p:nvSpPr>
        <p:spPr>
          <a:xfrm rot="3360000">
            <a:off x="3115059" y="2866444"/>
            <a:ext cx="310896" cy="310896"/>
          </a:xfrm>
          <a:prstGeom prst="triangle">
            <a:avLst/>
          </a:prstGeom>
          <a:solidFill>
            <a:srgbClr val="1E808F"/>
          </a:solidFill>
          <a:ln/>
        </p:spPr>
      </p:sp>
      <p:sp>
        <p:nvSpPr>
          <p:cNvPr id="10" name="Shape 8"/>
          <p:cNvSpPr/>
          <p:nvPr/>
        </p:nvSpPr>
        <p:spPr>
          <a:xfrm rot="7440000">
            <a:off x="6632445" y="2866444"/>
            <a:ext cx="310896" cy="310896"/>
          </a:xfrm>
          <a:prstGeom prst="triangle">
            <a:avLst/>
          </a:prstGeom>
          <a:solidFill>
            <a:srgbClr val="1E808F"/>
          </a:solidFill>
          <a:ln/>
        </p:spPr>
      </p:sp>
      <p:sp>
        <p:nvSpPr>
          <p:cNvPr id="11" name="Shape 9"/>
          <p:cNvSpPr/>
          <p:nvPr/>
        </p:nvSpPr>
        <p:spPr>
          <a:xfrm>
            <a:off x="4096512" y="3291840"/>
            <a:ext cx="1865376" cy="1865376"/>
          </a:xfrm>
          <a:prstGeom prst="ellipse">
            <a:avLst/>
          </a:prstGeom>
          <a:solidFill>
            <a:srgbClr val="C9A22B"/>
          </a:solidFill>
          <a:ln/>
          <a:effectLst>
            <a:outerShdw sx="100000" sy="100000" kx="0" ky="0" algn="bl" rotWithShape="0" blurRad="101600" dist="25400" dir="5400000">
              <a:srgbClr val="B99417">
                <a:alpha val="35000"/>
              </a:srgbClr>
            </a:outerShdw>
          </a:effectLst>
        </p:spPr>
      </p:sp>
      <p:pic>
        <p:nvPicPr>
          <p:cNvPr id="12" name="Image 0" descr="preencoded.png">    </p:cNvPr>
          <p:cNvPicPr>
            <a:picLocks noChangeAspect="1"/>
          </p:cNvPicPr>
          <p:nvPr/>
        </p:nvPicPr>
        <p:blipFill>
          <a:blip r:embed="rId1"/>
          <a:stretch>
            <a:fillRect/>
          </a:stretch>
        </p:blipFill>
        <p:spPr>
          <a:xfrm>
            <a:off x="4791456" y="3657600"/>
            <a:ext cx="475488" cy="475488"/>
          </a:xfrm>
          <a:prstGeom prst="rect">
            <a:avLst/>
          </a:prstGeom>
        </p:spPr>
      </p:pic>
      <p:sp>
        <p:nvSpPr>
          <p:cNvPr id="13" name="Text 10"/>
          <p:cNvSpPr/>
          <p:nvPr/>
        </p:nvSpPr>
        <p:spPr>
          <a:xfrm>
            <a:off x="4114800" y="4169664"/>
            <a:ext cx="1828800" cy="777240"/>
          </a:xfrm>
          <a:prstGeom prst="rect">
            <a:avLst/>
          </a:prstGeom>
          <a:noFill/>
          <a:ln/>
        </p:spPr>
        <p:txBody>
          <a:bodyPr wrap="square" lIns="0" tIns="0" rIns="0" bIns="0" rtlCol="0" anchor="ctr"/>
          <a:lstStyle/>
          <a:p>
            <a:pPr algn="ctr" indent="0" marL="0">
              <a:buNone/>
            </a:pPr>
            <a:r>
              <a:rPr lang="en-US" sz="1450" b="1" spc="100" kern="0" dirty="0">
                <a:solidFill>
                  <a:srgbClr val="FFFFFF"/>
                </a:solidFill>
                <a:latin typeface="Calibri" pitchFamily="34" charset="0"/>
                <a:ea typeface="Calibri" pitchFamily="34" charset="-122"/>
                <a:cs typeface="Calibri" pitchFamily="34" charset="-120"/>
              </a:rPr>
              <a:t>REVENUE</a:t>
            </a:r>
            <a:endParaRPr lang="en-US" sz="1450" dirty="0"/>
          </a:p>
          <a:p>
            <a:pPr algn="ctr" indent="0" marL="0">
              <a:buNone/>
            </a:pPr>
            <a:r>
              <a:rPr lang="en-US" sz="1450" b="1" spc="100" kern="0" dirty="0">
                <a:solidFill>
                  <a:srgbClr val="FFFFFF"/>
                </a:solidFill>
                <a:latin typeface="Calibri" pitchFamily="34" charset="0"/>
                <a:ea typeface="Calibri" pitchFamily="34" charset="-122"/>
                <a:cs typeface="Calibri" pitchFamily="34" charset="-120"/>
              </a:rPr>
              <a:t>GROWTH</a:t>
            </a:r>
            <a:endParaRPr lang="en-US" sz="1450" dirty="0"/>
          </a:p>
        </p:txBody>
      </p:sp>
      <p:sp>
        <p:nvSpPr>
          <p:cNvPr id="14" name="Shape 11"/>
          <p:cNvSpPr/>
          <p:nvPr/>
        </p:nvSpPr>
        <p:spPr>
          <a:xfrm>
            <a:off x="3858768" y="1920240"/>
            <a:ext cx="2340864" cy="1207008"/>
          </a:xfrm>
          <a:prstGeom prst="roundRect">
            <a:avLst>
              <a:gd name="adj" fmla="val 7576"/>
            </a:avLst>
          </a:prstGeom>
          <a:solidFill>
            <a:srgbClr val="2F3B74"/>
          </a:solidFill>
          <a:ln/>
          <a:effectLst>
            <a:outerShdw sx="100000" sy="100000" kx="0" ky="0" algn="bl" rotWithShape="0" blurRad="76200" dist="25400" dir="5400000">
              <a:srgbClr val="C6CBDA">
                <a:alpha val="50000"/>
              </a:srgbClr>
            </a:outerShdw>
          </a:effectLst>
        </p:spPr>
      </p:sp>
      <p:sp>
        <p:nvSpPr>
          <p:cNvPr id="15" name="Shape 12"/>
          <p:cNvSpPr/>
          <p:nvPr/>
        </p:nvSpPr>
        <p:spPr>
          <a:xfrm>
            <a:off x="3986784" y="2048256"/>
            <a:ext cx="402336" cy="402336"/>
          </a:xfrm>
          <a:prstGeom prst="ellipse">
            <a:avLst/>
          </a:prstGeom>
          <a:solidFill>
            <a:srgbClr val="1E808F"/>
          </a:solidFill>
          <a:ln/>
        </p:spPr>
      </p:sp>
      <p:pic>
        <p:nvPicPr>
          <p:cNvPr id="16" name="Image 1" descr="preencoded.png">    </p:cNvPr>
          <p:cNvPicPr>
            <a:picLocks noChangeAspect="1"/>
          </p:cNvPicPr>
          <p:nvPr/>
        </p:nvPicPr>
        <p:blipFill>
          <a:blip r:embed="rId2"/>
          <a:stretch>
            <a:fillRect/>
          </a:stretch>
        </p:blipFill>
        <p:spPr>
          <a:xfrm>
            <a:off x="4091391" y="2152863"/>
            <a:ext cx="193121" cy="193121"/>
          </a:xfrm>
          <a:prstGeom prst="rect">
            <a:avLst/>
          </a:prstGeom>
        </p:spPr>
      </p:pic>
      <p:sp>
        <p:nvSpPr>
          <p:cNvPr id="17" name="Text 13"/>
          <p:cNvSpPr/>
          <p:nvPr/>
        </p:nvSpPr>
        <p:spPr>
          <a:xfrm>
            <a:off x="4462272" y="2011680"/>
            <a:ext cx="1645920"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MORE DATA</a:t>
            </a:r>
            <a:endParaRPr lang="en-US" sz="1050" dirty="0"/>
          </a:p>
        </p:txBody>
      </p:sp>
      <p:sp>
        <p:nvSpPr>
          <p:cNvPr id="18" name="Text 14"/>
          <p:cNvSpPr/>
          <p:nvPr/>
        </p:nvSpPr>
        <p:spPr>
          <a:xfrm>
            <a:off x="4005072" y="2560320"/>
            <a:ext cx="2048256" cy="512064"/>
          </a:xfrm>
          <a:prstGeom prst="rect">
            <a:avLst/>
          </a:prstGeom>
          <a:noFill/>
          <a:ln/>
        </p:spPr>
        <p:txBody>
          <a:bodyPr wrap="square" lIns="0" tIns="0" rIns="0" bIns="0" rtlCol="0" anchor="t"/>
          <a:lstStyle/>
          <a:p>
            <a:pPr indent="0" marL="0">
              <a:buNone/>
            </a:pPr>
            <a:r>
              <a:rPr lang="en-US" sz="850" dirty="0">
                <a:solidFill>
                  <a:srgbClr val="C9D4F2"/>
                </a:solidFill>
                <a:latin typeface="Calibri" pitchFamily="34" charset="0"/>
                <a:ea typeface="Calibri" pitchFamily="34" charset="-122"/>
                <a:cs typeface="Calibri" pitchFamily="34" charset="-120"/>
              </a:rPr>
              <a:t>every booking, client &amp; session enriches the co-op’s shared asset</a:t>
            </a:r>
            <a:endParaRPr lang="en-US" sz="850" dirty="0"/>
          </a:p>
        </p:txBody>
      </p:sp>
      <p:sp>
        <p:nvSpPr>
          <p:cNvPr id="19" name="Shape 15"/>
          <p:cNvSpPr/>
          <p:nvPr/>
        </p:nvSpPr>
        <p:spPr>
          <a:xfrm>
            <a:off x="6345936" y="3621024"/>
            <a:ext cx="2340864" cy="1207008"/>
          </a:xfrm>
          <a:prstGeom prst="roundRect">
            <a:avLst>
              <a:gd name="adj" fmla="val 7576"/>
            </a:avLst>
          </a:prstGeom>
          <a:solidFill>
            <a:srgbClr val="2F3B74"/>
          </a:solidFill>
          <a:ln/>
          <a:effectLst>
            <a:outerShdw sx="100000" sy="100000" kx="0" ky="0" algn="bl" rotWithShape="0" blurRad="76200" dist="25400" dir="5400000">
              <a:srgbClr val="C6CBDA">
                <a:alpha val="50000"/>
              </a:srgbClr>
            </a:outerShdw>
          </a:effectLst>
        </p:spPr>
      </p:sp>
      <p:sp>
        <p:nvSpPr>
          <p:cNvPr id="20" name="Shape 16"/>
          <p:cNvSpPr/>
          <p:nvPr/>
        </p:nvSpPr>
        <p:spPr>
          <a:xfrm>
            <a:off x="6473952" y="3749040"/>
            <a:ext cx="402336" cy="402336"/>
          </a:xfrm>
          <a:prstGeom prst="ellipse">
            <a:avLst/>
          </a:prstGeom>
          <a:solidFill>
            <a:srgbClr val="1E808F"/>
          </a:solidFill>
          <a:ln/>
        </p:spPr>
      </p:sp>
      <p:pic>
        <p:nvPicPr>
          <p:cNvPr id="21" name="Image 2" descr="preencoded.png">    </p:cNvPr>
          <p:cNvPicPr>
            <a:picLocks noChangeAspect="1"/>
          </p:cNvPicPr>
          <p:nvPr/>
        </p:nvPicPr>
        <p:blipFill>
          <a:blip r:embed="rId3"/>
          <a:stretch>
            <a:fillRect/>
          </a:stretch>
        </p:blipFill>
        <p:spPr>
          <a:xfrm>
            <a:off x="6578559" y="3853647"/>
            <a:ext cx="193121" cy="193121"/>
          </a:xfrm>
          <a:prstGeom prst="rect">
            <a:avLst/>
          </a:prstGeom>
        </p:spPr>
      </p:pic>
      <p:sp>
        <p:nvSpPr>
          <p:cNvPr id="22" name="Text 17"/>
          <p:cNvSpPr/>
          <p:nvPr/>
        </p:nvSpPr>
        <p:spPr>
          <a:xfrm>
            <a:off x="6949440" y="3712464"/>
            <a:ext cx="1645920"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SMARTER CRUISE</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RECOMMENDATIONS</a:t>
            </a:r>
            <a:endParaRPr lang="en-US" sz="1050" dirty="0"/>
          </a:p>
        </p:txBody>
      </p:sp>
      <p:sp>
        <p:nvSpPr>
          <p:cNvPr id="23" name="Text 18"/>
          <p:cNvSpPr/>
          <p:nvPr/>
        </p:nvSpPr>
        <p:spPr>
          <a:xfrm>
            <a:off x="6492240" y="4261104"/>
            <a:ext cx="2048256" cy="512064"/>
          </a:xfrm>
          <a:prstGeom prst="rect">
            <a:avLst/>
          </a:prstGeom>
          <a:noFill/>
          <a:ln/>
        </p:spPr>
        <p:txBody>
          <a:bodyPr wrap="square" lIns="0" tIns="0" rIns="0" bIns="0" rtlCol="0" anchor="t"/>
          <a:lstStyle/>
          <a:p>
            <a:pPr indent="0" marL="0">
              <a:buNone/>
            </a:pPr>
            <a:r>
              <a:rPr lang="en-US" sz="850" dirty="0">
                <a:solidFill>
                  <a:srgbClr val="C9D4F2"/>
                </a:solidFill>
                <a:latin typeface="Calibri" pitchFamily="34" charset="0"/>
                <a:ea typeface="Calibri" pitchFamily="34" charset="-122"/>
                <a:cs typeface="Calibri" pitchFamily="34" charset="-120"/>
              </a:rPr>
              <a:t>the engine turns shared data into next-best-trip guidance</a:t>
            </a:r>
            <a:endParaRPr lang="en-US" sz="850" dirty="0"/>
          </a:p>
        </p:txBody>
      </p:sp>
      <p:sp>
        <p:nvSpPr>
          <p:cNvPr id="24" name="Shape 19"/>
          <p:cNvSpPr/>
          <p:nvPr/>
        </p:nvSpPr>
        <p:spPr>
          <a:xfrm>
            <a:off x="3858768" y="5321808"/>
            <a:ext cx="2340864" cy="1207008"/>
          </a:xfrm>
          <a:prstGeom prst="roundRect">
            <a:avLst>
              <a:gd name="adj" fmla="val 7576"/>
            </a:avLst>
          </a:prstGeom>
          <a:solidFill>
            <a:srgbClr val="2F3B74"/>
          </a:solidFill>
          <a:ln/>
          <a:effectLst>
            <a:outerShdw sx="100000" sy="100000" kx="0" ky="0" algn="bl" rotWithShape="0" blurRad="76200" dist="25400" dir="5400000">
              <a:srgbClr val="C6CBDA">
                <a:alpha val="50000"/>
              </a:srgbClr>
            </a:outerShdw>
          </a:effectLst>
        </p:spPr>
      </p:sp>
      <p:sp>
        <p:nvSpPr>
          <p:cNvPr id="25" name="Shape 20"/>
          <p:cNvSpPr/>
          <p:nvPr/>
        </p:nvSpPr>
        <p:spPr>
          <a:xfrm>
            <a:off x="3986784" y="5449824"/>
            <a:ext cx="402336" cy="402336"/>
          </a:xfrm>
          <a:prstGeom prst="ellipse">
            <a:avLst/>
          </a:prstGeom>
          <a:solidFill>
            <a:srgbClr val="1E808F"/>
          </a:solidFill>
          <a:ln/>
        </p:spPr>
      </p:sp>
      <p:pic>
        <p:nvPicPr>
          <p:cNvPr id="26" name="Image 3" descr="preencoded.png">    </p:cNvPr>
          <p:cNvPicPr>
            <a:picLocks noChangeAspect="1"/>
          </p:cNvPicPr>
          <p:nvPr/>
        </p:nvPicPr>
        <p:blipFill>
          <a:blip r:embed="rId4"/>
          <a:stretch>
            <a:fillRect/>
          </a:stretch>
        </p:blipFill>
        <p:spPr>
          <a:xfrm>
            <a:off x="4091391" y="5554431"/>
            <a:ext cx="193121" cy="193121"/>
          </a:xfrm>
          <a:prstGeom prst="rect">
            <a:avLst/>
          </a:prstGeom>
        </p:spPr>
      </p:pic>
      <p:sp>
        <p:nvSpPr>
          <p:cNvPr id="27" name="Text 21"/>
          <p:cNvSpPr/>
          <p:nvPr/>
        </p:nvSpPr>
        <p:spPr>
          <a:xfrm>
            <a:off x="4462272" y="5413248"/>
            <a:ext cx="1645920"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MORE PERSONAL</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EXPERIENCES</a:t>
            </a:r>
            <a:endParaRPr lang="en-US" sz="1050" dirty="0"/>
          </a:p>
        </p:txBody>
      </p:sp>
      <p:sp>
        <p:nvSpPr>
          <p:cNvPr id="28" name="Text 22"/>
          <p:cNvSpPr/>
          <p:nvPr/>
        </p:nvSpPr>
        <p:spPr>
          <a:xfrm>
            <a:off x="4005072" y="5961888"/>
            <a:ext cx="2048256" cy="512064"/>
          </a:xfrm>
          <a:prstGeom prst="rect">
            <a:avLst/>
          </a:prstGeom>
          <a:noFill/>
          <a:ln/>
        </p:spPr>
        <p:txBody>
          <a:bodyPr wrap="square" lIns="0" tIns="0" rIns="0" bIns="0" rtlCol="0" anchor="t"/>
          <a:lstStyle/>
          <a:p>
            <a:pPr indent="0" marL="0">
              <a:buNone/>
            </a:pPr>
            <a:r>
              <a:rPr lang="en-US" sz="850" dirty="0">
                <a:solidFill>
                  <a:srgbClr val="C9D4F2"/>
                </a:solidFill>
                <a:latin typeface="Calibri" pitchFamily="34" charset="0"/>
                <a:ea typeface="Calibri" pitchFamily="34" charset="-122"/>
                <a:cs typeface="Calibri" pitchFamily="34" charset="-120"/>
              </a:rPr>
              <a:t>advisors meet every client with full context</a:t>
            </a:r>
            <a:endParaRPr lang="en-US" sz="850" dirty="0"/>
          </a:p>
        </p:txBody>
      </p:sp>
      <p:sp>
        <p:nvSpPr>
          <p:cNvPr id="29" name="Shape 23"/>
          <p:cNvSpPr/>
          <p:nvPr/>
        </p:nvSpPr>
        <p:spPr>
          <a:xfrm>
            <a:off x="1371600" y="3621024"/>
            <a:ext cx="2340864" cy="1207008"/>
          </a:xfrm>
          <a:prstGeom prst="roundRect">
            <a:avLst>
              <a:gd name="adj" fmla="val 7576"/>
            </a:avLst>
          </a:prstGeom>
          <a:solidFill>
            <a:srgbClr val="2F3B74"/>
          </a:solidFill>
          <a:ln/>
          <a:effectLst>
            <a:outerShdw sx="100000" sy="100000" kx="0" ky="0" algn="bl" rotWithShape="0" blurRad="76200" dist="25400" dir="5400000">
              <a:srgbClr val="C6CBDA">
                <a:alpha val="50000"/>
              </a:srgbClr>
            </a:outerShdw>
          </a:effectLst>
        </p:spPr>
      </p:sp>
      <p:sp>
        <p:nvSpPr>
          <p:cNvPr id="30" name="Shape 24"/>
          <p:cNvSpPr/>
          <p:nvPr/>
        </p:nvSpPr>
        <p:spPr>
          <a:xfrm>
            <a:off x="1499616" y="3749040"/>
            <a:ext cx="402336" cy="402336"/>
          </a:xfrm>
          <a:prstGeom prst="ellipse">
            <a:avLst/>
          </a:prstGeom>
          <a:solidFill>
            <a:srgbClr val="1E808F"/>
          </a:solidFill>
          <a:ln/>
        </p:spPr>
      </p:sp>
      <p:pic>
        <p:nvPicPr>
          <p:cNvPr id="31" name="Image 4" descr="preencoded.png">    </p:cNvPr>
          <p:cNvPicPr>
            <a:picLocks noChangeAspect="1"/>
          </p:cNvPicPr>
          <p:nvPr/>
        </p:nvPicPr>
        <p:blipFill>
          <a:blip r:embed="rId5"/>
          <a:stretch>
            <a:fillRect/>
          </a:stretch>
        </p:blipFill>
        <p:spPr>
          <a:xfrm>
            <a:off x="1604223" y="3853647"/>
            <a:ext cx="193121" cy="193121"/>
          </a:xfrm>
          <a:prstGeom prst="rect">
            <a:avLst/>
          </a:prstGeom>
        </p:spPr>
      </p:pic>
      <p:sp>
        <p:nvSpPr>
          <p:cNvPr id="32" name="Text 25"/>
          <p:cNvSpPr/>
          <p:nvPr/>
        </p:nvSpPr>
        <p:spPr>
          <a:xfrm>
            <a:off x="1975104" y="3712464"/>
            <a:ext cx="1645920"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MORE BOOKINGS</a:t>
            </a:r>
            <a:endParaRPr lang="en-US" sz="1050" dirty="0"/>
          </a:p>
        </p:txBody>
      </p:sp>
      <p:sp>
        <p:nvSpPr>
          <p:cNvPr id="33" name="Text 26"/>
          <p:cNvSpPr/>
          <p:nvPr/>
        </p:nvSpPr>
        <p:spPr>
          <a:xfrm>
            <a:off x="1517904" y="4261104"/>
            <a:ext cx="2048256" cy="512064"/>
          </a:xfrm>
          <a:prstGeom prst="rect">
            <a:avLst/>
          </a:prstGeom>
          <a:noFill/>
          <a:ln/>
        </p:spPr>
        <p:txBody>
          <a:bodyPr wrap="square" lIns="0" tIns="0" rIns="0" bIns="0" rtlCol="0" anchor="t"/>
          <a:lstStyle/>
          <a:p>
            <a:pPr indent="0" marL="0">
              <a:buNone/>
            </a:pPr>
            <a:r>
              <a:rPr lang="en-US" sz="850" dirty="0">
                <a:solidFill>
                  <a:srgbClr val="C9D4F2"/>
                </a:solidFill>
                <a:latin typeface="Calibri" pitchFamily="34" charset="0"/>
                <a:ea typeface="Calibri" pitchFamily="34" charset="-122"/>
                <a:cs typeface="Calibri" pitchFamily="34" charset="-120"/>
              </a:rPr>
              <a:t>trust converts — booking rates rise</a:t>
            </a:r>
            <a:endParaRPr lang="en-US" sz="850" dirty="0"/>
          </a:p>
        </p:txBody>
      </p:sp>
      <p:sp>
        <p:nvSpPr>
          <p:cNvPr id="34" name="Text 27"/>
          <p:cNvSpPr/>
          <p:nvPr/>
        </p:nvSpPr>
        <p:spPr>
          <a:xfrm>
            <a:off x="685800" y="6537960"/>
            <a:ext cx="8686800" cy="685800"/>
          </a:xfrm>
          <a:prstGeom prst="rect">
            <a:avLst/>
          </a:prstGeom>
          <a:noFill/>
          <a:ln/>
        </p:spPr>
        <p:txBody>
          <a:bodyPr wrap="square" lIns="0" tIns="0" rIns="0" bIns="0" rtlCol="0" anchor="ctr"/>
          <a:lstStyle/>
          <a:p>
            <a:pPr algn="ctr" indent="0" marL="0">
              <a:buNone/>
            </a:pPr>
            <a:r>
              <a:rPr lang="en-US" sz="1150" i="1" dirty="0">
                <a:solidFill>
                  <a:srgbClr val="39415C"/>
                </a:solidFill>
                <a:latin typeface="Calibri" pitchFamily="34" charset="0"/>
                <a:ea typeface="Calibri" pitchFamily="34" charset="-122"/>
                <a:cs typeface="Calibri" pitchFamily="34" charset="-120"/>
              </a:rPr>
              <a:t>Each turn compounds: richer data sharpens recommendations, sharper recommendations create more personal experiences, personal experiences win more bookings — and every booking feeds the data. Member-owned, and it never stops spinning.</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20</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8FB8E8"/>
                </a:solidFill>
                <a:latin typeface="Calibri" pitchFamily="34" charset="0"/>
                <a:ea typeface="Calibri" pitchFamily="34" charset="-122"/>
                <a:cs typeface="Calibri" pitchFamily="34" charset="-120"/>
              </a:rPr>
              <a:t>WHY TODAY MATTERS</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You’ve now seen the engine</a:t>
            </a:r>
            <a:endParaRPr lang="en-US" sz="3000" dirty="0"/>
          </a:p>
        </p:txBody>
      </p:sp>
      <p:sp>
        <p:nvSpPr>
          <p:cNvPr id="6" name="Shape 4"/>
          <p:cNvSpPr/>
          <p:nvPr/>
        </p:nvSpPr>
        <p:spPr>
          <a:xfrm>
            <a:off x="502920" y="1783080"/>
            <a:ext cx="4407408" cy="3566160"/>
          </a:xfrm>
          <a:prstGeom prst="roundRect">
            <a:avLst>
              <a:gd name="adj" fmla="val 2564"/>
            </a:avLst>
          </a:prstGeom>
          <a:solidFill>
            <a:srgbClr val="2B3778"/>
          </a:solidFill>
          <a:ln w="15875">
            <a:solidFill>
              <a:srgbClr val="1E808F"/>
            </a:solidFill>
            <a:prstDash val="solid"/>
          </a:ln>
        </p:spPr>
      </p:sp>
      <p:sp>
        <p:nvSpPr>
          <p:cNvPr id="7" name="Shape 5"/>
          <p:cNvSpPr/>
          <p:nvPr/>
        </p:nvSpPr>
        <p:spPr>
          <a:xfrm>
            <a:off x="777240" y="2057400"/>
            <a:ext cx="603504" cy="603504"/>
          </a:xfrm>
          <a:prstGeom prst="ellipse">
            <a:avLst/>
          </a:prstGeom>
          <a:solidFill>
            <a:srgbClr val="1E808F"/>
          </a:solidFill>
          <a:ln/>
        </p:spPr>
      </p:sp>
      <p:pic>
        <p:nvPicPr>
          <p:cNvPr id="8" name="Image 0" descr="preencoded.png">    </p:cNvPr>
          <p:cNvPicPr>
            <a:picLocks noChangeAspect="1"/>
          </p:cNvPicPr>
          <p:nvPr/>
        </p:nvPicPr>
        <p:blipFill>
          <a:blip r:embed="rId1"/>
          <a:stretch>
            <a:fillRect/>
          </a:stretch>
        </p:blipFill>
        <p:spPr>
          <a:xfrm>
            <a:off x="934151" y="2214311"/>
            <a:ext cx="289682" cy="289682"/>
          </a:xfrm>
          <a:prstGeom prst="rect">
            <a:avLst/>
          </a:prstGeom>
        </p:spPr>
      </p:pic>
      <p:sp>
        <p:nvSpPr>
          <p:cNvPr id="9" name="Text 6"/>
          <p:cNvSpPr/>
          <p:nvPr/>
        </p:nvSpPr>
        <p:spPr>
          <a:xfrm>
            <a:off x="1554480" y="2121408"/>
            <a:ext cx="3108960" cy="457200"/>
          </a:xfrm>
          <a:prstGeom prst="rect">
            <a:avLst/>
          </a:prstGeom>
          <a:noFill/>
          <a:ln/>
        </p:spPr>
        <p:txBody>
          <a:bodyPr wrap="square" lIns="0" tIns="0" rIns="0" bIns="0" rtlCol="0" anchor="ctr"/>
          <a:lstStyle/>
          <a:p>
            <a:pPr indent="0" marL="0">
              <a:buNone/>
            </a:pPr>
            <a:r>
              <a:rPr lang="en-US" sz="1300" b="1" spc="120" kern="0" dirty="0">
                <a:solidFill>
                  <a:srgbClr val="7FD1DE"/>
                </a:solidFill>
                <a:latin typeface="Calibri" pitchFamily="34" charset="0"/>
                <a:ea typeface="Calibri" pitchFamily="34" charset="-122"/>
                <a:cs typeface="Calibri" pitchFamily="34" charset="-120"/>
              </a:rPr>
              <a:t>TODAY — THE TOUR</a:t>
            </a:r>
            <a:endParaRPr lang="en-US" sz="1300" dirty="0"/>
          </a:p>
        </p:txBody>
      </p:sp>
      <p:sp>
        <p:nvSpPr>
          <p:cNvPr id="10" name="Text 7"/>
          <p:cNvSpPr/>
          <p:nvPr/>
        </p:nvSpPr>
        <p:spPr>
          <a:xfrm>
            <a:off x="795528" y="2880360"/>
            <a:ext cx="3840480" cy="23317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The real engine, live in Signature’s cloud</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The full UI and the AI Studio, in your hands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Non-prod data — reduced volume, same machinery</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Your questions start steering the roadmap today</a:t>
            </a:r>
            <a:endParaRPr lang="en-US" sz="1250" dirty="0"/>
          </a:p>
        </p:txBody>
      </p:sp>
      <p:sp>
        <p:nvSpPr>
          <p:cNvPr id="11" name="Shape 8"/>
          <p:cNvSpPr/>
          <p:nvPr/>
        </p:nvSpPr>
        <p:spPr>
          <a:xfrm>
            <a:off x="5138928" y="1783080"/>
            <a:ext cx="4407408" cy="3566160"/>
          </a:xfrm>
          <a:prstGeom prst="roundRect">
            <a:avLst>
              <a:gd name="adj" fmla="val 2564"/>
            </a:avLst>
          </a:prstGeom>
          <a:solidFill>
            <a:srgbClr val="2B3778"/>
          </a:solidFill>
          <a:ln w="15875">
            <a:solidFill>
              <a:srgbClr val="C9A22B"/>
            </a:solidFill>
            <a:prstDash val="solid"/>
          </a:ln>
        </p:spPr>
      </p:sp>
      <p:sp>
        <p:nvSpPr>
          <p:cNvPr id="12" name="Shape 9"/>
          <p:cNvSpPr/>
          <p:nvPr/>
        </p:nvSpPr>
        <p:spPr>
          <a:xfrm>
            <a:off x="5413248" y="2057400"/>
            <a:ext cx="603504" cy="603504"/>
          </a:xfrm>
          <a:prstGeom prst="ellipse">
            <a:avLst/>
          </a:prstGeom>
          <a:solidFill>
            <a:srgbClr val="A8861F"/>
          </a:solidFill>
          <a:ln/>
        </p:spPr>
      </p:sp>
      <p:pic>
        <p:nvPicPr>
          <p:cNvPr id="13" name="Image 1" descr="preencoded.png">    </p:cNvPr>
          <p:cNvPicPr>
            <a:picLocks noChangeAspect="1"/>
          </p:cNvPicPr>
          <p:nvPr/>
        </p:nvPicPr>
        <p:blipFill>
          <a:blip r:embed="rId2"/>
          <a:stretch>
            <a:fillRect/>
          </a:stretch>
        </p:blipFill>
        <p:spPr>
          <a:xfrm>
            <a:off x="5570159" y="2214311"/>
            <a:ext cx="289682" cy="289682"/>
          </a:xfrm>
          <a:prstGeom prst="rect">
            <a:avLst/>
          </a:prstGeom>
        </p:spPr>
      </p:pic>
      <p:sp>
        <p:nvSpPr>
          <p:cNvPr id="14" name="Text 10"/>
          <p:cNvSpPr/>
          <p:nvPr/>
        </p:nvSpPr>
        <p:spPr>
          <a:xfrm>
            <a:off x="6190488" y="2121408"/>
            <a:ext cx="3108960" cy="457200"/>
          </a:xfrm>
          <a:prstGeom prst="rect">
            <a:avLst/>
          </a:prstGeom>
          <a:noFill/>
          <a:ln/>
        </p:spPr>
        <p:txBody>
          <a:bodyPr wrap="square" lIns="0" tIns="0" rIns="0" bIns="0" rtlCol="0" anchor="ctr"/>
          <a:lstStyle/>
          <a:p>
            <a:pPr indent="0" marL="0">
              <a:buNone/>
            </a:pPr>
            <a:r>
              <a:rPr lang="en-US" sz="1300" b="1" spc="120" kern="0" dirty="0">
                <a:solidFill>
                  <a:srgbClr val="C9A22B"/>
                </a:solidFill>
                <a:latin typeface="Calibri" pitchFamily="34" charset="0"/>
                <a:ea typeface="Calibri" pitchFamily="34" charset="-122"/>
                <a:cs typeface="Calibri" pitchFamily="34" charset="-120"/>
              </a:rPr>
              <a:t>SEPT 29 — THE VOYAGE</a:t>
            </a:r>
            <a:endParaRPr lang="en-US" sz="1300" dirty="0"/>
          </a:p>
        </p:txBody>
      </p:sp>
      <p:sp>
        <p:nvSpPr>
          <p:cNvPr id="15" name="Text 11"/>
          <p:cNvSpPr/>
          <p:nvPr/>
        </p:nvSpPr>
        <p:spPr>
          <a:xfrm>
            <a:off x="5431536" y="2880360"/>
            <a:ext cx="3840480" cy="23317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Full production data on the Owners-Meeting stage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San Antonio: the cooperative’s owners see it current</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The alpha cohort announced — owners go hands-on in October</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You walk in already fluent — you’ve been using it since August</a:t>
            </a:r>
            <a:endParaRPr lang="en-US" sz="1250" dirty="0"/>
          </a:p>
        </p:txBody>
      </p:sp>
      <p:sp>
        <p:nvSpPr>
          <p:cNvPr id="16" name="Text 12"/>
          <p:cNvSpPr/>
          <p:nvPr/>
        </p:nvSpPr>
        <p:spPr>
          <a:xfrm>
            <a:off x="914400" y="5715000"/>
            <a:ext cx="8229600" cy="777240"/>
          </a:xfrm>
          <a:prstGeom prst="rect">
            <a:avLst/>
          </a:prstGeom>
          <a:noFill/>
          <a:ln/>
        </p:spPr>
        <p:txBody>
          <a:bodyPr wrap="square" lIns="0" tIns="0" rIns="0" bIns="0" rtlCol="0" anchor="ctr"/>
          <a:lstStyle/>
          <a:p>
            <a:pPr algn="ctr" indent="0" marL="0">
              <a:buNone/>
            </a:pPr>
            <a:r>
              <a:rPr lang="en-US" sz="1600" i="1" dirty="0">
                <a:solidFill>
                  <a:srgbClr val="C9D4F2"/>
                </a:solidFill>
                <a:latin typeface="Cambria" pitchFamily="34" charset="0"/>
                <a:ea typeface="Cambria" pitchFamily="34" charset="-122"/>
                <a:cs typeface="Cambria" pitchFamily="34" charset="-120"/>
              </a:rPr>
              <a:t>“Like touring a beautiful ship before her maiden voyage — every deck is real, every system is running. The itinerary begins September 29.”</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21</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OVER TO YOU</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Three questions to start the discussion</a:t>
            </a:r>
            <a:endParaRPr lang="en-US" sz="3000" dirty="0"/>
          </a:p>
        </p:txBody>
      </p:sp>
      <p:sp>
        <p:nvSpPr>
          <p:cNvPr id="6" name="Shape 4"/>
          <p:cNvSpPr/>
          <p:nvPr/>
        </p:nvSpPr>
        <p:spPr>
          <a:xfrm>
            <a:off x="502920" y="1783080"/>
            <a:ext cx="9052560" cy="1298448"/>
          </a:xfrm>
          <a:prstGeom prst="roundRect">
            <a:avLst>
              <a:gd name="adj" fmla="val 7042"/>
            </a:avLst>
          </a:prstGeom>
          <a:solidFill>
            <a:srgbClr val="FFFFFF"/>
          </a:solidFill>
          <a:ln w="12700">
            <a:solidFill>
              <a:srgbClr val="E1E4EC"/>
            </a:solidFill>
            <a:prstDash val="solid"/>
          </a:ln>
          <a:effectLst>
            <a:outerShdw sx="100000" sy="100000" kx="0" ky="0" algn="bl" rotWithShape="0" blurRad="76200" dist="25400" dir="5400000">
              <a:srgbClr val="D5D9E4">
                <a:alpha val="45000"/>
              </a:srgbClr>
            </a:outerShdw>
          </a:effectLst>
        </p:spPr>
      </p:sp>
      <p:sp>
        <p:nvSpPr>
          <p:cNvPr id="7" name="Shape 5"/>
          <p:cNvSpPr/>
          <p:nvPr/>
        </p:nvSpPr>
        <p:spPr>
          <a:xfrm>
            <a:off x="758952" y="2185416"/>
            <a:ext cx="493776" cy="493776"/>
          </a:xfrm>
          <a:prstGeom prst="ellipse">
            <a:avLst/>
          </a:prstGeom>
          <a:solidFill>
            <a:srgbClr val="1E808F"/>
          </a:solidFill>
          <a:ln/>
        </p:spPr>
      </p:sp>
      <p:sp>
        <p:nvSpPr>
          <p:cNvPr id="8" name="Text 6"/>
          <p:cNvSpPr/>
          <p:nvPr/>
        </p:nvSpPr>
        <p:spPr>
          <a:xfrm>
            <a:off x="758952" y="2174443"/>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54480" y="1892808"/>
            <a:ext cx="7680960" cy="1078992"/>
          </a:xfrm>
          <a:prstGeom prst="rect">
            <a:avLst/>
          </a:prstGeom>
          <a:noFill/>
          <a:ln/>
        </p:spPr>
        <p:txBody>
          <a:bodyPr wrap="square" lIns="0" tIns="0" rIns="0" bIns="0" rtlCol="0" anchor="ctr"/>
          <a:lstStyle/>
          <a:p>
            <a:pPr indent="0" marL="0">
              <a:buNone/>
            </a:pPr>
            <a:r>
              <a:rPr lang="en-US" sz="1550" i="1" dirty="0">
                <a:solidFill>
                  <a:srgbClr val="1E2749"/>
                </a:solidFill>
                <a:latin typeface="Cambria" pitchFamily="34" charset="0"/>
                <a:ea typeface="Cambria" pitchFamily="34" charset="-122"/>
                <a:cs typeface="Cambria" pitchFamily="34" charset="-120"/>
              </a:rPr>
              <a:t>Where would a trusted next-trip recommendation change a real client conversation first in your agency — and who makes that call today?</a:t>
            </a:r>
            <a:endParaRPr lang="en-US" sz="1550" dirty="0"/>
          </a:p>
        </p:txBody>
      </p:sp>
      <p:sp>
        <p:nvSpPr>
          <p:cNvPr id="10" name="Shape 8"/>
          <p:cNvSpPr/>
          <p:nvPr/>
        </p:nvSpPr>
        <p:spPr>
          <a:xfrm>
            <a:off x="502920" y="3264408"/>
            <a:ext cx="9052560" cy="1298448"/>
          </a:xfrm>
          <a:prstGeom prst="roundRect">
            <a:avLst>
              <a:gd name="adj" fmla="val 7042"/>
            </a:avLst>
          </a:prstGeom>
          <a:solidFill>
            <a:srgbClr val="FFFFFF"/>
          </a:solidFill>
          <a:ln w="12700">
            <a:solidFill>
              <a:srgbClr val="E1E4EC"/>
            </a:solidFill>
            <a:prstDash val="solid"/>
          </a:ln>
          <a:effectLst>
            <a:outerShdw sx="100000" sy="100000" kx="0" ky="0" algn="bl" rotWithShape="0" blurRad="76200" dist="25400" dir="5400000">
              <a:srgbClr val="D5D9E4">
                <a:alpha val="45000"/>
              </a:srgbClr>
            </a:outerShdw>
          </a:effectLst>
        </p:spPr>
      </p:sp>
      <p:sp>
        <p:nvSpPr>
          <p:cNvPr id="11" name="Shape 9"/>
          <p:cNvSpPr/>
          <p:nvPr/>
        </p:nvSpPr>
        <p:spPr>
          <a:xfrm>
            <a:off x="758952" y="3666744"/>
            <a:ext cx="493776" cy="493776"/>
          </a:xfrm>
          <a:prstGeom prst="ellipse">
            <a:avLst/>
          </a:prstGeom>
          <a:solidFill>
            <a:srgbClr val="C9A22B"/>
          </a:solidFill>
          <a:ln/>
        </p:spPr>
      </p:sp>
      <p:sp>
        <p:nvSpPr>
          <p:cNvPr id="12" name="Text 10"/>
          <p:cNvSpPr/>
          <p:nvPr/>
        </p:nvSpPr>
        <p:spPr>
          <a:xfrm>
            <a:off x="758952" y="3655771"/>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54480" y="3374136"/>
            <a:ext cx="7680960" cy="1078992"/>
          </a:xfrm>
          <a:prstGeom prst="rect">
            <a:avLst/>
          </a:prstGeom>
          <a:noFill/>
          <a:ln/>
        </p:spPr>
        <p:txBody>
          <a:bodyPr wrap="square" lIns="0" tIns="0" rIns="0" bIns="0" rtlCol="0" anchor="ctr"/>
          <a:lstStyle/>
          <a:p>
            <a:pPr indent="0" marL="0">
              <a:buNone/>
            </a:pPr>
            <a:r>
              <a:rPr lang="en-US" sz="1550" i="1" dirty="0">
                <a:solidFill>
                  <a:srgbClr val="1E2749"/>
                </a:solidFill>
                <a:latin typeface="Cambria" pitchFamily="34" charset="0"/>
                <a:ea typeface="Cambria" pitchFamily="34" charset="-122"/>
                <a:cs typeface="Cambria" pitchFamily="34" charset="-120"/>
              </a:rPr>
              <a:t>What would these numbers have to show — or survive — before you’d run your agency on them?</a:t>
            </a:r>
            <a:endParaRPr lang="en-US" sz="1550" dirty="0"/>
          </a:p>
        </p:txBody>
      </p:sp>
      <p:sp>
        <p:nvSpPr>
          <p:cNvPr id="14" name="Shape 12"/>
          <p:cNvSpPr/>
          <p:nvPr/>
        </p:nvSpPr>
        <p:spPr>
          <a:xfrm>
            <a:off x="502920" y="4745736"/>
            <a:ext cx="9052560" cy="1298448"/>
          </a:xfrm>
          <a:prstGeom prst="roundRect">
            <a:avLst>
              <a:gd name="adj" fmla="val 7042"/>
            </a:avLst>
          </a:prstGeom>
          <a:solidFill>
            <a:srgbClr val="FFFFFF"/>
          </a:solidFill>
          <a:ln w="12700">
            <a:solidFill>
              <a:srgbClr val="E1E4EC"/>
            </a:solidFill>
            <a:prstDash val="solid"/>
          </a:ln>
          <a:effectLst>
            <a:outerShdw sx="100000" sy="100000" kx="0" ky="0" algn="bl" rotWithShape="0" blurRad="76200" dist="25400" dir="5400000">
              <a:srgbClr val="D5D9E4">
                <a:alpha val="45000"/>
              </a:srgbClr>
            </a:outerShdw>
          </a:effectLst>
        </p:spPr>
      </p:sp>
      <p:sp>
        <p:nvSpPr>
          <p:cNvPr id="15" name="Shape 13"/>
          <p:cNvSpPr/>
          <p:nvPr/>
        </p:nvSpPr>
        <p:spPr>
          <a:xfrm>
            <a:off x="758952" y="5148072"/>
            <a:ext cx="493776" cy="493776"/>
          </a:xfrm>
          <a:prstGeom prst="ellipse">
            <a:avLst/>
          </a:prstGeom>
          <a:solidFill>
            <a:srgbClr val="1E808F"/>
          </a:solidFill>
          <a:ln/>
        </p:spPr>
      </p:sp>
      <p:sp>
        <p:nvSpPr>
          <p:cNvPr id="16" name="Text 14"/>
          <p:cNvSpPr/>
          <p:nvPr/>
        </p:nvSpPr>
        <p:spPr>
          <a:xfrm>
            <a:off x="758952" y="5137099"/>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54480" y="4855464"/>
            <a:ext cx="7680960" cy="1078992"/>
          </a:xfrm>
          <a:prstGeom prst="rect">
            <a:avLst/>
          </a:prstGeom>
          <a:noFill/>
          <a:ln/>
        </p:spPr>
        <p:txBody>
          <a:bodyPr wrap="square" lIns="0" tIns="0" rIns="0" bIns="0" rtlCol="0" anchor="ctr"/>
          <a:lstStyle/>
          <a:p>
            <a:pPr indent="0" marL="0">
              <a:buNone/>
            </a:pPr>
            <a:r>
              <a:rPr lang="en-US" sz="1550" i="1" dirty="0">
                <a:solidFill>
                  <a:srgbClr val="1E2749"/>
                </a:solidFill>
                <a:latin typeface="Cambria" pitchFamily="34" charset="0"/>
                <a:ea typeface="Cambria" pitchFamily="34" charset="-122"/>
                <a:cs typeface="Cambria" pitchFamily="34" charset="-120"/>
              </a:rPr>
              <a:t>Which automated decision from February’s strategy should the flywheel power first: next-best-trip, personalized upsell, or lead routing?</a:t>
            </a:r>
            <a:endParaRPr lang="en-US" sz="1550" dirty="0"/>
          </a:p>
        </p:txBody>
      </p:sp>
      <p:sp>
        <p:nvSpPr>
          <p:cNvPr id="18" name="Text 16"/>
          <p:cNvSpPr/>
          <p:nvPr/>
        </p:nvSpPr>
        <p:spPr>
          <a:xfrm>
            <a:off x="502920" y="6400800"/>
            <a:ext cx="9052560" cy="365760"/>
          </a:xfrm>
          <a:prstGeom prst="rect">
            <a:avLst/>
          </a:prstGeom>
          <a:noFill/>
          <a:ln/>
        </p:spPr>
        <p:txBody>
          <a:bodyPr wrap="square" lIns="0" tIns="0" rIns="0" bIns="0" rtlCol="0" anchor="ctr"/>
          <a:lstStyle/>
          <a:p>
            <a:pPr algn="ctr" indent="0" marL="0">
              <a:buNone/>
            </a:pPr>
            <a:r>
              <a:rPr lang="en-US" sz="1250" i="1" dirty="0">
                <a:solidFill>
                  <a:srgbClr val="7A8296"/>
                </a:solidFill>
                <a:latin typeface="Calibri" pitchFamily="34" charset="0"/>
                <a:ea typeface="Calibri" pitchFamily="34" charset="-122"/>
                <a:cs typeface="Calibri" pitchFamily="34" charset="-120"/>
              </a:rPr>
              <a:t>We’re here to listen: the roadmap after September 29 gets built from this conversation.</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22</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C9A22B"/>
                </a:solidFill>
                <a:latin typeface="Calibri" pitchFamily="34" charset="0"/>
                <a:ea typeface="Calibri" pitchFamily="34" charset="-122"/>
                <a:cs typeface="Calibri" pitchFamily="34" charset="-120"/>
              </a:rPr>
              <a:t>THE NORTH STAR</a:t>
            </a:r>
            <a:endParaRPr lang="en-US" sz="1050" dirty="0"/>
          </a:p>
        </p:txBody>
      </p:sp>
      <p:sp>
        <p:nvSpPr>
          <p:cNvPr id="5" name="Text 3"/>
          <p:cNvSpPr/>
          <p:nvPr/>
        </p:nvSpPr>
        <p:spPr>
          <a:xfrm>
            <a:off x="502920" y="713232"/>
            <a:ext cx="9052560" cy="105156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Walk into San Antonio having used it —</a:t>
            </a:r>
            <a:endParaRPr lang="en-US" sz="2700" dirty="0"/>
          </a:p>
          <a:p>
            <a:pPr algn="l" indent="0" marL="0">
              <a:buNone/>
            </a:pPr>
            <a:r>
              <a:rPr lang="en-US" sz="2700" b="1" dirty="0">
                <a:solidFill>
                  <a:srgbClr val="FFFFFF"/>
                </a:solidFill>
                <a:latin typeface="Cambria" pitchFamily="34" charset="0"/>
                <a:ea typeface="Cambria" pitchFamily="34" charset="-122"/>
                <a:cs typeface="Cambria" pitchFamily="34" charset="-120"/>
              </a:rPr>
              <a:t>not just heard about it</a:t>
            </a:r>
            <a:endParaRPr lang="en-US" sz="2700" dirty="0"/>
          </a:p>
        </p:txBody>
      </p:sp>
      <p:sp>
        <p:nvSpPr>
          <p:cNvPr id="6" name="Shape 4"/>
          <p:cNvSpPr/>
          <p:nvPr/>
        </p:nvSpPr>
        <p:spPr>
          <a:xfrm>
            <a:off x="502920" y="2331720"/>
            <a:ext cx="2880360" cy="2880360"/>
          </a:xfrm>
          <a:prstGeom prst="roundRect">
            <a:avLst>
              <a:gd name="adj" fmla="val 3175"/>
            </a:avLst>
          </a:prstGeom>
          <a:solidFill>
            <a:srgbClr val="2B3778"/>
          </a:solidFill>
          <a:ln w="9525">
            <a:solidFill>
              <a:srgbClr val="1E808F"/>
            </a:solidFill>
            <a:prstDash val="solid"/>
          </a:ln>
        </p:spPr>
      </p:sp>
      <p:sp>
        <p:nvSpPr>
          <p:cNvPr id="7" name="Shape 5"/>
          <p:cNvSpPr/>
          <p:nvPr/>
        </p:nvSpPr>
        <p:spPr>
          <a:xfrm>
            <a:off x="1559052" y="2606040"/>
            <a:ext cx="768096" cy="768096"/>
          </a:xfrm>
          <a:prstGeom prst="ellipse">
            <a:avLst/>
          </a:prstGeom>
          <a:solidFill>
            <a:srgbClr val="1E808F"/>
          </a:solidFill>
          <a:ln/>
        </p:spPr>
      </p:sp>
      <p:pic>
        <p:nvPicPr>
          <p:cNvPr id="8" name="Image 0" descr="preencoded.png">    </p:cNvPr>
          <p:cNvPicPr>
            <a:picLocks noChangeAspect="1"/>
          </p:cNvPicPr>
          <p:nvPr/>
        </p:nvPicPr>
        <p:blipFill>
          <a:blip r:embed="rId1"/>
          <a:stretch>
            <a:fillRect/>
          </a:stretch>
        </p:blipFill>
        <p:spPr>
          <a:xfrm>
            <a:off x="1758757" y="2805745"/>
            <a:ext cx="368686" cy="368686"/>
          </a:xfrm>
          <a:prstGeom prst="rect">
            <a:avLst/>
          </a:prstGeom>
        </p:spPr>
      </p:pic>
      <p:sp>
        <p:nvSpPr>
          <p:cNvPr id="9" name="Text 6"/>
          <p:cNvSpPr/>
          <p:nvPr/>
        </p:nvSpPr>
        <p:spPr>
          <a:xfrm>
            <a:off x="685800" y="3566160"/>
            <a:ext cx="251460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Test it yourself</a:t>
            </a:r>
            <a:endParaRPr lang="en-US" sz="1550" dirty="0"/>
          </a:p>
        </p:txBody>
      </p:sp>
      <p:sp>
        <p:nvSpPr>
          <p:cNvPr id="10" name="Text 7"/>
          <p:cNvSpPr/>
          <p:nvPr/>
        </p:nvSpPr>
        <p:spPr>
          <a:xfrm>
            <a:off x="758952" y="4023360"/>
            <a:ext cx="2368296" cy="1097280"/>
          </a:xfrm>
          <a:prstGeom prst="rect">
            <a:avLst/>
          </a:prstGeom>
          <a:noFill/>
          <a:ln/>
        </p:spPr>
        <p:txBody>
          <a:bodyPr wrap="square" lIns="0" tIns="0" rIns="0" bIns="0" rtlCol="0" anchor="ctr"/>
          <a:lstStyle/>
          <a:p>
            <a:pPr algn="ctr" indent="0" marL="0">
              <a:buNone/>
            </a:pPr>
            <a:r>
              <a:rPr lang="en-US" sz="1100" dirty="0">
                <a:solidFill>
                  <a:srgbClr val="C9D4F2"/>
                </a:solidFill>
                <a:latin typeface="Calibri" pitchFamily="34" charset="0"/>
                <a:ea typeface="Calibri" pitchFamily="34" charset="-122"/>
                <a:cs typeface="Calibri" pitchFamily="34" charset="-120"/>
              </a:rPr>
              <a:t>Log in, click around, download. A few minutes a week between now and Sept 29 is enough.</a:t>
            </a:r>
            <a:endParaRPr lang="en-US" sz="1100" dirty="0"/>
          </a:p>
        </p:txBody>
      </p:sp>
      <p:sp>
        <p:nvSpPr>
          <p:cNvPr id="11" name="Shape 8"/>
          <p:cNvSpPr/>
          <p:nvPr/>
        </p:nvSpPr>
        <p:spPr>
          <a:xfrm>
            <a:off x="3589020" y="2331720"/>
            <a:ext cx="2880360" cy="2880360"/>
          </a:xfrm>
          <a:prstGeom prst="roundRect">
            <a:avLst>
              <a:gd name="adj" fmla="val 3175"/>
            </a:avLst>
          </a:prstGeom>
          <a:solidFill>
            <a:srgbClr val="2B3778"/>
          </a:solidFill>
          <a:ln w="9525">
            <a:solidFill>
              <a:srgbClr val="1E808F"/>
            </a:solidFill>
            <a:prstDash val="solid"/>
          </a:ln>
        </p:spPr>
      </p:sp>
      <p:sp>
        <p:nvSpPr>
          <p:cNvPr id="12" name="Shape 9"/>
          <p:cNvSpPr/>
          <p:nvPr/>
        </p:nvSpPr>
        <p:spPr>
          <a:xfrm>
            <a:off x="4645152" y="2606040"/>
            <a:ext cx="768096" cy="768096"/>
          </a:xfrm>
          <a:prstGeom prst="ellipse">
            <a:avLst/>
          </a:prstGeom>
          <a:solidFill>
            <a:srgbClr val="1E808F"/>
          </a:solidFill>
          <a:ln/>
        </p:spPr>
      </p:sp>
      <p:pic>
        <p:nvPicPr>
          <p:cNvPr id="13" name="Image 1" descr="preencoded.png">    </p:cNvPr>
          <p:cNvPicPr>
            <a:picLocks noChangeAspect="1"/>
          </p:cNvPicPr>
          <p:nvPr/>
        </p:nvPicPr>
        <p:blipFill>
          <a:blip r:embed="rId2"/>
          <a:stretch>
            <a:fillRect/>
          </a:stretch>
        </p:blipFill>
        <p:spPr>
          <a:xfrm>
            <a:off x="4844857" y="2805745"/>
            <a:ext cx="368686" cy="368686"/>
          </a:xfrm>
          <a:prstGeom prst="rect">
            <a:avLst/>
          </a:prstGeom>
        </p:spPr>
      </p:pic>
      <p:sp>
        <p:nvSpPr>
          <p:cNvPr id="14" name="Text 10"/>
          <p:cNvSpPr/>
          <p:nvPr/>
        </p:nvSpPr>
        <p:spPr>
          <a:xfrm>
            <a:off x="3771900" y="3566160"/>
            <a:ext cx="251460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Ask it questions</a:t>
            </a:r>
            <a:endParaRPr lang="en-US" sz="1550" dirty="0"/>
          </a:p>
        </p:txBody>
      </p:sp>
      <p:sp>
        <p:nvSpPr>
          <p:cNvPr id="15" name="Text 11"/>
          <p:cNvSpPr/>
          <p:nvPr/>
        </p:nvSpPr>
        <p:spPr>
          <a:xfrm>
            <a:off x="3845052" y="4023360"/>
            <a:ext cx="2368296" cy="1097280"/>
          </a:xfrm>
          <a:prstGeom prst="rect">
            <a:avLst/>
          </a:prstGeom>
          <a:noFill/>
          <a:ln/>
        </p:spPr>
        <p:txBody>
          <a:bodyPr wrap="square" lIns="0" tIns="0" rIns="0" bIns="0" rtlCol="0" anchor="ctr"/>
          <a:lstStyle/>
          <a:p>
            <a:pPr algn="ctr" indent="0" marL="0">
              <a:buNone/>
            </a:pPr>
            <a:r>
              <a:rPr lang="en-US" sz="1100" dirty="0">
                <a:solidFill>
                  <a:srgbClr val="C9D4F2"/>
                </a:solidFill>
                <a:latin typeface="Calibri" pitchFamily="34" charset="0"/>
                <a:ea typeface="Calibri" pitchFamily="34" charset="-122"/>
                <a:cs typeface="Calibri" pitchFamily="34" charset="-120"/>
              </a:rPr>
              <a:t>Every question trains the roadmap — and your hardest questions now become our credibility on stage later.</a:t>
            </a:r>
            <a:endParaRPr lang="en-US" sz="1100" dirty="0"/>
          </a:p>
        </p:txBody>
      </p:sp>
      <p:sp>
        <p:nvSpPr>
          <p:cNvPr id="16" name="Shape 12"/>
          <p:cNvSpPr/>
          <p:nvPr/>
        </p:nvSpPr>
        <p:spPr>
          <a:xfrm>
            <a:off x="6675120" y="2331720"/>
            <a:ext cx="2880360" cy="2880360"/>
          </a:xfrm>
          <a:prstGeom prst="roundRect">
            <a:avLst>
              <a:gd name="adj" fmla="val 3175"/>
            </a:avLst>
          </a:prstGeom>
          <a:solidFill>
            <a:srgbClr val="2B3778"/>
          </a:solidFill>
          <a:ln w="9525">
            <a:solidFill>
              <a:srgbClr val="1E808F"/>
            </a:solidFill>
            <a:prstDash val="solid"/>
          </a:ln>
        </p:spPr>
      </p:sp>
      <p:sp>
        <p:nvSpPr>
          <p:cNvPr id="17" name="Shape 13"/>
          <p:cNvSpPr/>
          <p:nvPr/>
        </p:nvSpPr>
        <p:spPr>
          <a:xfrm>
            <a:off x="7731252" y="2606040"/>
            <a:ext cx="768096" cy="768096"/>
          </a:xfrm>
          <a:prstGeom prst="ellipse">
            <a:avLst/>
          </a:prstGeom>
          <a:solidFill>
            <a:srgbClr val="1E808F"/>
          </a:solidFill>
          <a:ln/>
        </p:spPr>
      </p:sp>
      <p:pic>
        <p:nvPicPr>
          <p:cNvPr id="18" name="Image 2" descr="preencoded.png">    </p:cNvPr>
          <p:cNvPicPr>
            <a:picLocks noChangeAspect="1"/>
          </p:cNvPicPr>
          <p:nvPr/>
        </p:nvPicPr>
        <p:blipFill>
          <a:blip r:embed="rId3"/>
          <a:stretch>
            <a:fillRect/>
          </a:stretch>
        </p:blipFill>
        <p:spPr>
          <a:xfrm>
            <a:off x="7930957" y="2805745"/>
            <a:ext cx="368686" cy="368686"/>
          </a:xfrm>
          <a:prstGeom prst="rect">
            <a:avLst/>
          </a:prstGeom>
        </p:spPr>
      </p:pic>
      <p:sp>
        <p:nvSpPr>
          <p:cNvPr id="19" name="Text 14"/>
          <p:cNvSpPr/>
          <p:nvPr/>
        </p:nvSpPr>
        <p:spPr>
          <a:xfrm>
            <a:off x="6858000" y="3566160"/>
            <a:ext cx="251460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Champion the flywheel</a:t>
            </a:r>
            <a:endParaRPr lang="en-US" sz="1550" dirty="0"/>
          </a:p>
        </p:txBody>
      </p:sp>
      <p:sp>
        <p:nvSpPr>
          <p:cNvPr id="20" name="Text 15"/>
          <p:cNvSpPr/>
          <p:nvPr/>
        </p:nvSpPr>
        <p:spPr>
          <a:xfrm>
            <a:off x="6931152" y="4023360"/>
            <a:ext cx="2368296" cy="1097280"/>
          </a:xfrm>
          <a:prstGeom prst="rect">
            <a:avLst/>
          </a:prstGeom>
          <a:noFill/>
          <a:ln/>
        </p:spPr>
        <p:txBody>
          <a:bodyPr wrap="square" lIns="0" tIns="0" rIns="0" bIns="0" rtlCol="0" anchor="ctr"/>
          <a:lstStyle/>
          <a:p>
            <a:pPr algn="ctr" indent="0" marL="0">
              <a:buNone/>
            </a:pPr>
            <a:r>
              <a:rPr lang="en-US" sz="1100" dirty="0">
                <a:solidFill>
                  <a:srgbClr val="C9D4F2"/>
                </a:solidFill>
                <a:latin typeface="Calibri" pitchFamily="34" charset="0"/>
                <a:ea typeface="Calibri" pitchFamily="34" charset="-122"/>
                <a:cs typeface="Calibri" pitchFamily="34" charset="-120"/>
              </a:rPr>
              <a:t>Leave aligned that the cooperative’s shared data is how members grow revenue — and say so to the owners.</a:t>
            </a:r>
            <a:endParaRPr lang="en-US" sz="1100" dirty="0"/>
          </a:p>
        </p:txBody>
      </p:sp>
      <p:sp>
        <p:nvSpPr>
          <p:cNvPr id="21" name="Text 16"/>
          <p:cNvSpPr/>
          <p:nvPr/>
        </p:nvSpPr>
        <p:spPr>
          <a:xfrm>
            <a:off x="914400" y="5760720"/>
            <a:ext cx="8229600" cy="548640"/>
          </a:xfrm>
          <a:prstGeom prst="rect">
            <a:avLst/>
          </a:prstGeom>
          <a:noFill/>
          <a:ln/>
        </p:spPr>
        <p:txBody>
          <a:bodyPr wrap="square" lIns="0" tIns="0" rIns="0" bIns="0" rtlCol="0" anchor="ctr"/>
          <a:lstStyle/>
          <a:p>
            <a:pPr algn="ctr" indent="0" marL="0">
              <a:buNone/>
            </a:pPr>
            <a:r>
              <a:rPr lang="en-US" sz="1550" i="1" dirty="0">
                <a:solidFill>
                  <a:srgbClr val="FFFFFF"/>
                </a:solidFill>
                <a:latin typeface="Cambria" pitchFamily="34" charset="0"/>
                <a:ea typeface="Cambria" pitchFamily="34" charset="-122"/>
                <a:cs typeface="Cambria" pitchFamily="34" charset="-120"/>
              </a:rPr>
              <a:t>If this room leaves committed to those three things, today did its job — and September 29 takes care of itself.</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12B5F"/>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5B679E"/>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5B679E"/>
                </a:solidFill>
                <a:latin typeface="Calibri" pitchFamily="34" charset="0"/>
                <a:ea typeface="Calibri" pitchFamily="34" charset="-122"/>
                <a:cs typeface="Calibri" pitchFamily="34" charset="-120"/>
              </a:rPr>
              <a:t>23</a:t>
            </a:r>
            <a:endParaRPr lang="en-US" sz="800" dirty="0"/>
          </a:p>
        </p:txBody>
      </p:sp>
      <p:sp>
        <p:nvSpPr>
          <p:cNvPr id="4" name="Shape 2"/>
          <p:cNvSpPr/>
          <p:nvPr/>
        </p:nvSpPr>
        <p:spPr>
          <a:xfrm>
            <a:off x="777240" y="1828800"/>
            <a:ext cx="914400" cy="914400"/>
          </a:xfrm>
          <a:prstGeom prst="ellipse">
            <a:avLst/>
          </a:prstGeom>
          <a:solidFill>
            <a:srgbClr val="2B3778"/>
          </a:solidFill>
          <a:ln/>
        </p:spPr>
      </p:sp>
      <p:pic>
        <p:nvPicPr>
          <p:cNvPr id="5" name="Image 0" descr="preencoded.png">    </p:cNvPr>
          <p:cNvPicPr>
            <a:picLocks noChangeAspect="1"/>
          </p:cNvPicPr>
          <p:nvPr/>
        </p:nvPicPr>
        <p:blipFill>
          <a:blip r:embed="rId1"/>
          <a:stretch>
            <a:fillRect/>
          </a:stretch>
        </p:blipFill>
        <p:spPr>
          <a:xfrm>
            <a:off x="1014984" y="2066544"/>
            <a:ext cx="438912" cy="438912"/>
          </a:xfrm>
          <a:prstGeom prst="rect">
            <a:avLst/>
          </a:prstGeom>
        </p:spPr>
      </p:pic>
      <p:sp>
        <p:nvSpPr>
          <p:cNvPr id="6" name="Text 3"/>
          <p:cNvSpPr/>
          <p:nvPr/>
        </p:nvSpPr>
        <p:spPr>
          <a:xfrm>
            <a:off x="777240" y="2971800"/>
            <a:ext cx="850392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SigCompass</a:t>
            </a:r>
            <a:endParaRPr lang="en-US" sz="4600" dirty="0"/>
          </a:p>
        </p:txBody>
      </p:sp>
      <p:sp>
        <p:nvSpPr>
          <p:cNvPr id="7" name="Text 4"/>
          <p:cNvSpPr/>
          <p:nvPr/>
        </p:nvSpPr>
        <p:spPr>
          <a:xfrm>
            <a:off x="777240" y="3931920"/>
            <a:ext cx="8229600" cy="457200"/>
          </a:xfrm>
          <a:prstGeom prst="rect">
            <a:avLst/>
          </a:prstGeom>
          <a:noFill/>
          <a:ln/>
        </p:spPr>
        <p:txBody>
          <a:bodyPr wrap="square" lIns="0" tIns="0" rIns="0" bIns="0" rtlCol="0" anchor="ctr"/>
          <a:lstStyle/>
          <a:p>
            <a:pPr indent="0" marL="0">
              <a:buNone/>
            </a:pPr>
            <a:r>
              <a:rPr lang="en-US" sz="1700" i="1" dirty="0">
                <a:solidFill>
                  <a:srgbClr val="C9A22B"/>
                </a:solidFill>
                <a:latin typeface="Calibri" pitchFamily="34" charset="0"/>
                <a:ea typeface="Calibri" pitchFamily="34" charset="-122"/>
                <a:cs typeface="Calibri" pitchFamily="34" charset="-120"/>
              </a:rPr>
              <a:t>One cooperative. One direction.</a:t>
            </a:r>
            <a:endParaRPr lang="en-US" sz="1700" dirty="0"/>
          </a:p>
        </p:txBody>
      </p:sp>
      <p:sp>
        <p:nvSpPr>
          <p:cNvPr id="8" name="Text 5"/>
          <p:cNvSpPr/>
          <p:nvPr/>
        </p:nvSpPr>
        <p:spPr>
          <a:xfrm>
            <a:off x="777240" y="4709160"/>
            <a:ext cx="8412480" cy="411480"/>
          </a:xfrm>
          <a:prstGeom prst="rect">
            <a:avLst/>
          </a:prstGeom>
          <a:noFill/>
          <a:ln/>
        </p:spPr>
        <p:txBody>
          <a:bodyPr wrap="square" lIns="0" tIns="0" rIns="0" bIns="0" rtlCol="0" anchor="ctr"/>
          <a:lstStyle/>
          <a:p>
            <a:pPr indent="0" marL="0">
              <a:buNone/>
            </a:pPr>
            <a:r>
              <a:rPr lang="en-US" sz="1400" dirty="0">
                <a:solidFill>
                  <a:srgbClr val="C9D4F2"/>
                </a:solidFill>
                <a:latin typeface="Calibri" pitchFamily="34" charset="0"/>
                <a:ea typeface="Calibri" pitchFamily="34" charset="-122"/>
                <a:cs typeface="Calibri" pitchFamily="34" charset="-120"/>
              </a:rPr>
              <a:t>The engine is running. Testing opens now. The voyage departs September 29 from San Antonio.</a:t>
            </a:r>
            <a:endParaRPr lang="en-US" sz="1400" dirty="0"/>
          </a:p>
        </p:txBody>
      </p:sp>
      <p:sp>
        <p:nvSpPr>
          <p:cNvPr id="9" name="Text 6"/>
          <p:cNvSpPr/>
          <p:nvPr/>
        </p:nvSpPr>
        <p:spPr>
          <a:xfrm>
            <a:off x="777240" y="5623560"/>
            <a:ext cx="8412480" cy="365760"/>
          </a:xfrm>
          <a:prstGeom prst="rect">
            <a:avLst/>
          </a:prstGeom>
          <a:noFill/>
          <a:ln/>
        </p:spPr>
        <p:txBody>
          <a:bodyPr wrap="square" lIns="0" tIns="0" rIns="0" bIns="0" rtlCol="0" anchor="ctr"/>
          <a:lstStyle/>
          <a:p>
            <a:pPr indent="0" marL="0">
              <a:buNone/>
            </a:pPr>
            <a:r>
              <a:rPr lang="en-US" sz="1150" dirty="0">
                <a:solidFill>
                  <a:srgbClr val="8A94C8"/>
                </a:solidFill>
                <a:latin typeface="Calibri" pitchFamily="34" charset="0"/>
                <a:ea typeface="Calibri" pitchFamily="34" charset="-122"/>
                <a:cs typeface="Calibri" pitchFamily="34" charset="-120"/>
              </a:rPr>
              <a:t>Access instructions and the bug form arrive with your credentials email.    </a:t>
            </a:r>
            <a:pPr indent="0" marL="0">
              <a:buNone/>
            </a:pPr>
            <a:r>
              <a:rPr lang="en-US" sz="1150" b="1" dirty="0">
                <a:solidFill>
                  <a:srgbClr val="8A94C8"/>
                </a:solidFill>
                <a:latin typeface="Calibri" pitchFamily="34" charset="0"/>
                <a:ea typeface="Calibri" pitchFamily="34" charset="-122"/>
                <a:cs typeface="Calibri" pitchFamily="34" charset="-120"/>
              </a:rPr>
              <a:t>Questions any time: denise@denisegosnell.ai</a:t>
            </a:r>
            <a:endParaRPr lang="en-US" sz="1150" dirty="0"/>
          </a:p>
        </p:txBody>
      </p:sp>
      <p:sp>
        <p:nvSpPr>
          <p:cNvPr id="10" name="Text 7"/>
          <p:cNvSpPr/>
          <p:nvPr/>
        </p:nvSpPr>
        <p:spPr>
          <a:xfrm>
            <a:off x="777240" y="6309360"/>
            <a:ext cx="8229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Thank you.</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7388352"/>
            <a:ext cx="5943600" cy="228600"/>
          </a:xfrm>
          <a:prstGeom prst="rect">
            <a:avLst/>
          </a:prstGeom>
          <a:noFill/>
          <a:ln/>
        </p:spPr>
        <p:txBody>
          <a:bodyPr wrap="square" lIns="0" tIns="0" rIns="0" bIns="0" rtlCol="0" anchor="ctr"/>
          <a:lstStyle/>
          <a:p>
            <a:pPr algn="l" indent="0" marL="0">
              <a:buNone/>
            </a:pPr>
            <a:r>
              <a:rPr lang="en-US" sz="800" dirty="0">
                <a:solidFill>
                  <a:srgbClr val="A9AFC2"/>
                </a:solidFill>
                <a:latin typeface="Calibri" pitchFamily="34" charset="0"/>
                <a:ea typeface="Calibri" pitchFamily="34" charset="-122"/>
                <a:cs typeface="Calibri" pitchFamily="34" charset="-120"/>
              </a:rPr>
              <a:t>Signature CDP  ·  SigCompass  ·  Board Walk-Through  ·  August 2026</a:t>
            </a:r>
            <a:endParaRPr lang="en-US" sz="800" dirty="0"/>
          </a:p>
        </p:txBody>
      </p:sp>
      <p:sp>
        <p:nvSpPr>
          <p:cNvPr id="3" name="Text 1"/>
          <p:cNvSpPr/>
          <p:nvPr/>
        </p:nvSpPr>
        <p:spPr>
          <a:xfrm>
            <a:off x="9006840" y="7388352"/>
            <a:ext cx="548640" cy="228600"/>
          </a:xfrm>
          <a:prstGeom prst="rect">
            <a:avLst/>
          </a:prstGeom>
          <a:noFill/>
          <a:ln/>
        </p:spPr>
        <p:txBody>
          <a:bodyPr wrap="square" lIns="0" tIns="0" rIns="0" bIns="0" rtlCol="0" anchor="ctr"/>
          <a:lstStyle/>
          <a:p>
            <a:pPr algn="r" indent="0" marL="0">
              <a:buNone/>
            </a:pPr>
            <a:r>
              <a:rPr lang="en-US" sz="800" dirty="0">
                <a:solidFill>
                  <a:srgbClr val="A9AFC2"/>
                </a:solidFill>
                <a:latin typeface="Calibri" pitchFamily="34" charset="0"/>
                <a:ea typeface="Calibri" pitchFamily="34" charset="-122"/>
                <a:cs typeface="Calibri" pitchFamily="34" charset="-120"/>
              </a:rPr>
              <a:t>24</a:t>
            </a:r>
            <a:endParaRPr lang="en-US" sz="800" dirty="0"/>
          </a:p>
        </p:txBody>
      </p:sp>
      <p:sp>
        <p:nvSpPr>
          <p:cNvPr id="4" name="Text 2"/>
          <p:cNvSpPr/>
          <p:nvPr/>
        </p:nvSpPr>
        <p:spPr>
          <a:xfrm>
            <a:off x="502920" y="438912"/>
            <a:ext cx="9052560" cy="274320"/>
          </a:xfrm>
          <a:prstGeom prst="rect">
            <a:avLst/>
          </a:prstGeom>
          <a:noFill/>
          <a:ln/>
        </p:spPr>
        <p:txBody>
          <a:bodyPr wrap="square" lIns="0" tIns="0" rIns="0" bIns="0" rtlCol="0" anchor="ctr"/>
          <a:lstStyle/>
          <a:p>
            <a:pPr algn="l" indent="0" marL="0">
              <a:buNone/>
            </a:pPr>
            <a:r>
              <a:rPr lang="en-US" sz="1050" b="1" spc="240" kern="0" dirty="0">
                <a:solidFill>
                  <a:srgbClr val="1E808F"/>
                </a:solidFill>
                <a:latin typeface="Calibri" pitchFamily="34" charset="0"/>
                <a:ea typeface="Calibri" pitchFamily="34" charset="-122"/>
                <a:cs typeface="Calibri" pitchFamily="34" charset="-120"/>
              </a:rPr>
              <a:t>APPENDIX — FOR YOUR TESTING</a:t>
            </a:r>
            <a:endParaRPr lang="en-US" sz="1050" dirty="0"/>
          </a:p>
        </p:txBody>
      </p:sp>
      <p:sp>
        <p:nvSpPr>
          <p:cNvPr id="5" name="Text 3"/>
          <p:cNvSpPr/>
          <p:nvPr/>
        </p:nvSpPr>
        <p:spPr>
          <a:xfrm>
            <a:off x="502920" y="713232"/>
            <a:ext cx="9052560" cy="566928"/>
          </a:xfrm>
          <a:prstGeom prst="rect">
            <a:avLst/>
          </a:prstGeom>
          <a:noFill/>
          <a:ln/>
        </p:spPr>
        <p:txBody>
          <a:bodyPr wrap="square" lIns="0" tIns="0" rIns="0" bIns="0" rtlCol="0" anchor="ctr"/>
          <a:lstStyle/>
          <a:p>
            <a:pPr algn="l" indent="0" marL="0">
              <a:buNone/>
            </a:pPr>
            <a:r>
              <a:rPr lang="en-US" sz="3000" b="1" dirty="0">
                <a:solidFill>
                  <a:srgbClr val="1E2749"/>
                </a:solidFill>
                <a:latin typeface="Cambria" pitchFamily="34" charset="0"/>
                <a:ea typeface="Cambria" pitchFamily="34" charset="-122"/>
                <a:cs typeface="Cambria" pitchFamily="34" charset="-120"/>
              </a:rPr>
              <a:t>Non-prod access &amp; governed endpoints</a:t>
            </a:r>
            <a:endParaRPr lang="en-US" sz="3000" dirty="0"/>
          </a:p>
        </p:txBody>
      </p:sp>
      <p:sp>
        <p:nvSpPr>
          <p:cNvPr id="6" name="Text 4"/>
          <p:cNvSpPr/>
          <p:nvPr/>
        </p:nvSpPr>
        <p:spPr>
          <a:xfrm>
            <a:off x="502920" y="1737360"/>
            <a:ext cx="9052560" cy="566928"/>
          </a:xfrm>
          <a:prstGeom prst="rect">
            <a:avLst/>
          </a:prstGeom>
          <a:noFill/>
          <a:ln/>
        </p:spPr>
        <p:txBody>
          <a:bodyPr wrap="square" lIns="0" tIns="0" rIns="0" bIns="0" rtlCol="0" anchor="ctr"/>
          <a:lstStyle/>
          <a:p>
            <a:pPr indent="0" marL="0">
              <a:buNone/>
            </a:pPr>
            <a:r>
              <a:rPr lang="en-US" sz="1200" b="1" dirty="0">
                <a:solidFill>
                  <a:srgbClr val="1E2749"/>
                </a:solidFill>
                <a:latin typeface="Calibri" pitchFamily="34" charset="0"/>
                <a:ea typeface="Calibri" pitchFamily="34" charset="-122"/>
                <a:cs typeface="Calibri" pitchFamily="34" charset="-120"/>
              </a:rPr>
              <a:t>Access — </a:t>
            </a:r>
            <a:pPr indent="0" marL="0">
              <a:buNone/>
            </a:pPr>
            <a:r>
              <a:rPr lang="en-US" sz="1200" dirty="0">
                <a:solidFill>
                  <a:srgbClr val="39415C"/>
                </a:solidFill>
                <a:latin typeface="Calibri" pitchFamily="34" charset="0"/>
                <a:ea typeface="Calibri" pitchFamily="34" charset="-122"/>
                <a:cs typeface="Calibri" pitchFamily="34" charset="-120"/>
              </a:rPr>
              <a:t>Sign in through the SigNet portal (single sign-on). Credentials and step-by-step instructions arrive by email with your testing invitation.</a:t>
            </a:r>
            <a:endParaRPr lang="en-US" sz="1200" dirty="0"/>
          </a:p>
        </p:txBody>
      </p:sp>
      <p:sp>
        <p:nvSpPr>
          <p:cNvPr id="7" name="Text 5"/>
          <p:cNvSpPr/>
          <p:nvPr/>
        </p:nvSpPr>
        <p:spPr>
          <a:xfrm>
            <a:off x="502920" y="2395728"/>
            <a:ext cx="9052560" cy="566928"/>
          </a:xfrm>
          <a:prstGeom prst="rect">
            <a:avLst/>
          </a:prstGeom>
          <a:noFill/>
          <a:ln/>
        </p:spPr>
        <p:txBody>
          <a:bodyPr wrap="square" lIns="0" tIns="0" rIns="0" bIns="0" rtlCol="0" anchor="ctr"/>
          <a:lstStyle/>
          <a:p>
            <a:pPr indent="0" marL="0">
              <a:buNone/>
            </a:pPr>
            <a:r>
              <a:rPr lang="en-US" sz="1200" b="1" dirty="0">
                <a:solidFill>
                  <a:srgbClr val="1E2749"/>
                </a:solidFill>
                <a:latin typeface="Calibri" pitchFamily="34" charset="0"/>
                <a:ea typeface="Calibri" pitchFamily="34" charset="-122"/>
                <a:cs typeface="Calibri" pitchFamily="34" charset="-120"/>
              </a:rPr>
              <a:t>Bugs &amp; requests — </a:t>
            </a:r>
            <a:pPr indent="0" marL="0">
              <a:buNone/>
            </a:pPr>
            <a:r>
              <a:rPr lang="en-US" sz="1200" dirty="0">
                <a:solidFill>
                  <a:srgbClr val="39415C"/>
                </a:solidFill>
                <a:latin typeface="Calibri" pitchFamily="34" charset="0"/>
                <a:ea typeface="Calibri" pitchFamily="34" charset="-122"/>
                <a:cs typeface="Calibri" pitchFamily="34" charset="-120"/>
              </a:rPr>
              <a:t>Submit through the Monday board form (link in the same email). Submissions become engineering tickets automatically.</a:t>
            </a:r>
            <a:endParaRPr lang="en-US" sz="1200" dirty="0"/>
          </a:p>
        </p:txBody>
      </p:sp>
      <p:sp>
        <p:nvSpPr>
          <p:cNvPr id="8" name="Text 6"/>
          <p:cNvSpPr/>
          <p:nvPr/>
        </p:nvSpPr>
        <p:spPr>
          <a:xfrm>
            <a:off x="502920" y="3054096"/>
            <a:ext cx="9052560" cy="566928"/>
          </a:xfrm>
          <a:prstGeom prst="rect">
            <a:avLst/>
          </a:prstGeom>
          <a:noFill/>
          <a:ln/>
        </p:spPr>
        <p:txBody>
          <a:bodyPr wrap="square" lIns="0" tIns="0" rIns="0" bIns="0" rtlCol="0" anchor="ctr"/>
          <a:lstStyle/>
          <a:p>
            <a:pPr indent="0" marL="0">
              <a:buNone/>
            </a:pPr>
            <a:r>
              <a:rPr lang="en-US" sz="1200" b="1" dirty="0">
                <a:solidFill>
                  <a:srgbClr val="1E2749"/>
                </a:solidFill>
                <a:latin typeface="Calibri" pitchFamily="34" charset="0"/>
                <a:ea typeface="Calibri" pitchFamily="34" charset="-122"/>
                <a:cs typeface="Calibri" pitchFamily="34" charset="-120"/>
              </a:rPr>
              <a:t>Governance — </a:t>
            </a:r>
            <a:pPr indent="0" marL="0">
              <a:buNone/>
            </a:pPr>
            <a:r>
              <a:rPr lang="en-US" sz="1200" dirty="0">
                <a:solidFill>
                  <a:srgbClr val="39415C"/>
                </a:solidFill>
                <a:latin typeface="Calibri" pitchFamily="34" charset="0"/>
                <a:ea typeface="Calibri" pitchFamily="34" charset="-122"/>
                <a:cs typeface="Calibri" pitchFamily="34" charset="-120"/>
              </a:rPr>
              <a:t>PII is annotated in the data catalog and filtered at the MCP layer; access is role-based via Cognito; LLM calls run on Bedrock inside Signature’s AWS with logging off.</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3931920"/>
          <a:ext cx="9052560" cy="914400"/>
        </p:xfrm>
        <a:graphic>
          <a:graphicData uri="http://schemas.openxmlformats.org/drawingml/2006/table">
            <a:tbl>
              <a:tblPr/>
              <a:tblGrid>
                <a:gridCol w="2011680"/>
                <a:gridCol w="4846320"/>
                <a:gridCol w="21945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 product</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212B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Endpoint host (non-prod)</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212B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Interfaces</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212B5F"/>
                    </a:solidFill>
                  </a:tcPr>
                </a:tc>
              </a:tr>
              <a:tr h="502920">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Data quality</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indent="0" marL="0">
                        <a:buNone/>
                      </a:pPr>
                      <a:r>
                        <a:rPr lang="en-US" sz="950" dirty="0">
                          <a:solidFill>
                            <a:srgbClr val="39415C"/>
                          </a:solidFill>
                          <a:latin typeface="Courier New" pitchFamily="34" charset="0"/>
                          <a:ea typeface="Courier New" pitchFamily="34" charset="-122"/>
                          <a:cs typeface="Courier New" pitchFamily="34" charset="-120"/>
                        </a:rPr>
                        <a:t>toggle-analytics-api-dq-non-prod-…​.api.signature.dev.sqrl.live</a:t>
                      </a:r>
                      <a:endParaRPr lang="en-US" sz="950" dirty="0">
                        <a:latin typeface="Courier New" charset="0"/>
                        <a:ea typeface="Courier New" charset="0"/>
                        <a:cs typeface="Courier New"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indent="0" marL="0">
                        <a:buNone/>
                      </a:pPr>
                      <a:r>
                        <a:rPr lang="en-US" sz="950" b="1" dirty="0">
                          <a:solidFill>
                            <a:srgbClr val="15616D"/>
                          </a:solidFill>
                          <a:latin typeface="Courier New" pitchFamily="34" charset="0"/>
                          <a:ea typeface="Courier New" pitchFamily="34" charset="-122"/>
                          <a:cs typeface="Courier New" pitchFamily="34" charset="-120"/>
                        </a:rPr>
                        <a:t>/v1/graphql   ·   /v1/mcp</a:t>
                      </a:r>
                      <a:endParaRPr lang="en-US" sz="950" dirty="0">
                        <a:latin typeface="Courier New" charset="0"/>
                        <a:ea typeface="Courier New" charset="0"/>
                        <a:cs typeface="Courier New"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Storybook analytics</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c>
                  <a:txBody>
                    <a:bodyPr/>
                    <a:lstStyle/>
                    <a:p>
                      <a:pPr indent="0" marL="0">
                        <a:buNone/>
                      </a:pPr>
                      <a:r>
                        <a:rPr lang="en-US" sz="950" dirty="0">
                          <a:solidFill>
                            <a:srgbClr val="39415C"/>
                          </a:solidFill>
                          <a:latin typeface="Courier New" pitchFamily="34" charset="0"/>
                          <a:ea typeface="Courier New" pitchFamily="34" charset="-122"/>
                          <a:cs typeface="Courier New" pitchFamily="34" charset="-120"/>
                        </a:rPr>
                        <a:t>toggle-analytics-api-sb-non-prod-…​.api.signature.dev.sqrl.live</a:t>
                      </a:r>
                      <a:endParaRPr lang="en-US" sz="950" dirty="0">
                        <a:latin typeface="Courier New" charset="0"/>
                        <a:ea typeface="Courier New" charset="0"/>
                        <a:cs typeface="Courier New"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c>
                  <a:txBody>
                    <a:bodyPr/>
                    <a:lstStyle/>
                    <a:p>
                      <a:pPr indent="0" marL="0">
                        <a:buNone/>
                      </a:pPr>
                      <a:r>
                        <a:rPr lang="en-US" sz="950" b="1" dirty="0">
                          <a:solidFill>
                            <a:srgbClr val="15616D"/>
                          </a:solidFill>
                          <a:latin typeface="Courier New" pitchFamily="34" charset="0"/>
                          <a:ea typeface="Courier New" pitchFamily="34" charset="-122"/>
                          <a:cs typeface="Courier New" pitchFamily="34" charset="-120"/>
                        </a:rPr>
                        <a:t>/v1/graphql   ·   /v1/mcp</a:t>
                      </a:r>
                      <a:endParaRPr lang="en-US" sz="950" dirty="0">
                        <a:latin typeface="Courier New" charset="0"/>
                        <a:ea typeface="Courier New" charset="0"/>
                        <a:cs typeface="Courier New"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1F3F8"/>
                    </a:solidFill>
                  </a:tcPr>
                </a:tc>
              </a:tr>
              <a:tr h="502920">
                <a:tc>
                  <a:txBody>
                    <a:bodyPr/>
                    <a:lstStyle/>
                    <a:p>
                      <a:pPr indent="0" marL="0">
                        <a:buNone/>
                      </a:pPr>
                      <a:r>
                        <a:rPr lang="en-US" sz="1100" b="1" dirty="0">
                          <a:solidFill>
                            <a:srgbClr val="1E2749"/>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indent="0" marL="0">
                        <a:buNone/>
                      </a:pPr>
                      <a:r>
                        <a:rPr lang="en-US" sz="950" dirty="0">
                          <a:solidFill>
                            <a:srgbClr val="39415C"/>
                          </a:solidFill>
                          <a:latin typeface="Courier New" pitchFamily="34" charset="0"/>
                          <a:ea typeface="Courier New" pitchFamily="34" charset="-122"/>
                          <a:cs typeface="Courier New" pitchFamily="34" charset="-120"/>
                        </a:rPr>
                        <a:t>prod-toggle-revenue-apis-…​.api.signature.dev.sqrl.live</a:t>
                      </a:r>
                      <a:endParaRPr lang="en-US" sz="950" dirty="0">
                        <a:latin typeface="Courier New" charset="0"/>
                        <a:ea typeface="Courier New" charset="0"/>
                        <a:cs typeface="Courier New"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c>
                  <a:txBody>
                    <a:bodyPr/>
                    <a:lstStyle/>
                    <a:p>
                      <a:pPr indent="0" marL="0">
                        <a:buNone/>
                      </a:pPr>
                      <a:r>
                        <a:rPr lang="en-US" sz="950" b="1" dirty="0">
                          <a:solidFill>
                            <a:srgbClr val="15616D"/>
                          </a:solidFill>
                          <a:latin typeface="Courier New" pitchFamily="34" charset="0"/>
                          <a:ea typeface="Courier New" pitchFamily="34" charset="-122"/>
                          <a:cs typeface="Courier New" pitchFamily="34" charset="-120"/>
                        </a:rPr>
                        <a:t>/v1/graphql   ·   /v1/mcp</a:t>
                      </a:r>
                      <a:endParaRPr lang="en-US" sz="950" dirty="0">
                        <a:latin typeface="Courier New" charset="0"/>
                        <a:ea typeface="Courier New" charset="0"/>
                        <a:cs typeface="Courier New" charset="0"/>
                      </a:endParaRPr>
                    </a:p>
                  </a:txBody>
                  <a:tcPr marL="82296" marR="82296" marT="82296" marB="82296" anchor="ctr">
                    <a:lnL w="9525" cap="flat" cmpd="sng" algn="ctr">
                      <a:solidFill>
                        <a:srgbClr val="E1E4EC"/>
                      </a:solidFill>
                      <a:prstDash val="solid"/>
                      <a:round/>
                      <a:headEnd type="none" w="med" len="med"/>
                      <a:tailEnd type="none" w="med" len="med"/>
                    </a:lnL>
                    <a:lnR w="9525" cap="flat" cmpd="sng" algn="ctr">
                      <a:solidFill>
                        <a:srgbClr val="E1E4EC"/>
                      </a:solidFill>
                      <a:prstDash val="solid"/>
                      <a:round/>
                      <a:headEnd type="none" w="med" len="med"/>
                      <a:tailEnd type="none" w="med" len="med"/>
                    </a:lnR>
                    <a:lnT w="9525" cap="flat" cmpd="sng" algn="ctr">
                      <a:solidFill>
                        <a:srgbClr val="E1E4EC"/>
                      </a:solidFill>
                      <a:prstDash val="solid"/>
                      <a:round/>
                      <a:headEnd type="none" w="med" len="med"/>
                      <a:tailEnd type="none" w="med" len="med"/>
                    </a:lnT>
                    <a:lnB w="9525" cap="flat" cmpd="sng" algn="ctr">
                      <a:solidFill>
                        <a:srgbClr val="E1E4EC"/>
                      </a:solidFill>
                      <a:prstDash val="solid"/>
                      <a:round/>
                      <a:headEnd type="none" w="med" len="med"/>
                      <a:tailEnd type="none" w="med" len="med"/>
                    </a:lnB>
                    <a:solidFill>
                      <a:srgbClr val="FFFFFF"/>
                    </a:solidFill>
                  </a:tcPr>
                </a:tc>
              </a:tr>
            </a:tbl>
          </a:graphicData>
        </a:graphic>
      </p:graphicFrame>
      <p:sp>
        <p:nvSpPr>
          <p:cNvPr id="10" name="Text 7"/>
          <p:cNvSpPr/>
          <p:nvPr/>
        </p:nvSpPr>
        <p:spPr>
          <a:xfrm>
            <a:off x="502920" y="6126480"/>
            <a:ext cx="9052560" cy="365760"/>
          </a:xfrm>
          <a:prstGeom prst="rect">
            <a:avLst/>
          </a:prstGeom>
          <a:noFill/>
          <a:ln/>
        </p:spPr>
        <p:txBody>
          <a:bodyPr wrap="square" lIns="0" tIns="0" rIns="0" bIns="0" rtlCol="0" anchor="ctr"/>
          <a:lstStyle/>
          <a:p>
            <a:pPr indent="0" marL="0">
              <a:buNone/>
            </a:pPr>
            <a:r>
              <a:rPr lang="en-US" sz="1050" i="1" dirty="0">
                <a:solidFill>
                  <a:srgbClr val="7A8296"/>
                </a:solidFill>
                <a:latin typeface="Calibri" pitchFamily="34" charset="0"/>
                <a:ea typeface="Calibri" pitchFamily="34" charset="-122"/>
                <a:cs typeface="Calibri" pitchFamily="34" charset="-120"/>
              </a:rPr>
              <a:t>Full URLs are in the credentials email; hosts abbreviated here for readability. Endpoint consolidation to a single host is on the optimization list.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SigCompass — Board Walk-Through &amp; Final Non-Prod Status</dc:title>
  <dc:subject>PptxGenJS Presentation</dc:subject>
  <dc:creator>Denise Gosnell</dc:creator>
  <cp:lastModifiedBy>Denise Gosnell</cp:lastModifiedBy>
  <cp:revision>1</cp:revision>
  <dcterms:created xsi:type="dcterms:W3CDTF">2026-08-06T02:42:50Z</dcterms:created>
  <dcterms:modified xsi:type="dcterms:W3CDTF">2026-08-06T02:42:50Z</dcterms:modified>
</cp:coreProperties>
</file>